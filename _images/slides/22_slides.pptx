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</p:sldMasterIdLst>
  <p:notesMasterIdLst>
    <p:notesMasterId r:id="rId79"/>
  </p:notesMasterIdLst>
  <p:sldIdLst>
    <p:sldId id="386" r:id="rId3"/>
    <p:sldId id="268" r:id="rId4"/>
    <p:sldId id="269" r:id="rId5"/>
    <p:sldId id="282" r:id="rId6"/>
    <p:sldId id="283" r:id="rId7"/>
    <p:sldId id="566" r:id="rId8"/>
    <p:sldId id="623" r:id="rId9"/>
    <p:sldId id="624" r:id="rId10"/>
    <p:sldId id="569" r:id="rId11"/>
    <p:sldId id="625" r:id="rId12"/>
    <p:sldId id="627" r:id="rId13"/>
    <p:sldId id="626" r:id="rId14"/>
    <p:sldId id="632" r:id="rId15"/>
    <p:sldId id="633" r:id="rId16"/>
    <p:sldId id="628" r:id="rId17"/>
    <p:sldId id="306" r:id="rId18"/>
    <p:sldId id="315" r:id="rId19"/>
    <p:sldId id="318" r:id="rId20"/>
    <p:sldId id="637" r:id="rId21"/>
    <p:sldId id="636" r:id="rId22"/>
    <p:sldId id="588" r:id="rId23"/>
    <p:sldId id="640" r:id="rId24"/>
    <p:sldId id="284" r:id="rId25"/>
    <p:sldId id="641" r:id="rId26"/>
    <p:sldId id="278" r:id="rId27"/>
    <p:sldId id="337" r:id="rId28"/>
    <p:sldId id="647" r:id="rId29"/>
    <p:sldId id="649" r:id="rId30"/>
    <p:sldId id="648" r:id="rId31"/>
    <p:sldId id="650" r:id="rId32"/>
    <p:sldId id="651" r:id="rId33"/>
    <p:sldId id="285" r:id="rId34"/>
    <p:sldId id="286" r:id="rId35"/>
    <p:sldId id="652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38" r:id="rId51"/>
    <p:sldId id="339" r:id="rId52"/>
    <p:sldId id="325" r:id="rId53"/>
    <p:sldId id="388" r:id="rId54"/>
    <p:sldId id="409" r:id="rId55"/>
    <p:sldId id="390" r:id="rId56"/>
    <p:sldId id="316" r:id="rId57"/>
    <p:sldId id="317" r:id="rId58"/>
    <p:sldId id="653" r:id="rId59"/>
    <p:sldId id="319" r:id="rId60"/>
    <p:sldId id="391" r:id="rId61"/>
    <p:sldId id="392" r:id="rId62"/>
    <p:sldId id="393" r:id="rId63"/>
    <p:sldId id="323" r:id="rId64"/>
    <p:sldId id="324" r:id="rId65"/>
    <p:sldId id="394" r:id="rId66"/>
    <p:sldId id="395" r:id="rId67"/>
    <p:sldId id="396" r:id="rId68"/>
    <p:sldId id="397" r:id="rId69"/>
    <p:sldId id="398" r:id="rId70"/>
    <p:sldId id="399" r:id="rId71"/>
    <p:sldId id="400" r:id="rId72"/>
    <p:sldId id="401" r:id="rId73"/>
    <p:sldId id="402" r:id="rId74"/>
    <p:sldId id="403" r:id="rId75"/>
    <p:sldId id="404" r:id="rId76"/>
    <p:sldId id="405" r:id="rId77"/>
    <p:sldId id="654" r:id="rId7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063CAA5-CFC1-4896-9A38-25641500CDCF}">
          <p14:sldIdLst>
            <p14:sldId id="386"/>
            <p14:sldId id="268"/>
            <p14:sldId id="269"/>
            <p14:sldId id="282"/>
            <p14:sldId id="283"/>
            <p14:sldId id="566"/>
            <p14:sldId id="623"/>
            <p14:sldId id="624"/>
            <p14:sldId id="569"/>
            <p14:sldId id="625"/>
            <p14:sldId id="627"/>
            <p14:sldId id="626"/>
            <p14:sldId id="632"/>
            <p14:sldId id="633"/>
          </p14:sldIdLst>
        </p14:section>
        <p14:section name="Default Section" id="{5635A096-AEEE-4212-95C7-39D20D100310}">
          <p14:sldIdLst>
            <p14:sldId id="628"/>
            <p14:sldId id="306"/>
            <p14:sldId id="315"/>
            <p14:sldId id="318"/>
            <p14:sldId id="637"/>
            <p14:sldId id="636"/>
            <p14:sldId id="588"/>
            <p14:sldId id="640"/>
            <p14:sldId id="284"/>
          </p14:sldIdLst>
        </p14:section>
        <p14:section name="Default Section" id="{6B1BB921-B6FC-2943-9F57-5EDC0B8F4F14}">
          <p14:sldIdLst>
            <p14:sldId id="641"/>
            <p14:sldId id="278"/>
            <p14:sldId id="337"/>
            <p14:sldId id="647"/>
            <p14:sldId id="649"/>
            <p14:sldId id="648"/>
            <p14:sldId id="650"/>
            <p14:sldId id="651"/>
            <p14:sldId id="285"/>
            <p14:sldId id="286"/>
            <p14:sldId id="652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38"/>
            <p14:sldId id="339"/>
            <p14:sldId id="325"/>
            <p14:sldId id="388"/>
            <p14:sldId id="409"/>
            <p14:sldId id="390"/>
            <p14:sldId id="316"/>
            <p14:sldId id="317"/>
            <p14:sldId id="653"/>
            <p14:sldId id="319"/>
            <p14:sldId id="391"/>
            <p14:sldId id="392"/>
            <p14:sldId id="393"/>
            <p14:sldId id="323"/>
            <p14:sldId id="324"/>
            <p14:sldId id="394"/>
            <p14:sldId id="395"/>
            <p14:sldId id="396"/>
            <p14:sldId id="397"/>
            <p14:sldId id="398"/>
            <p14:sldId id="399"/>
            <p14:sldId id="400"/>
            <p14:sldId id="401"/>
            <p14:sldId id="402"/>
            <p14:sldId id="403"/>
            <p14:sldId id="404"/>
            <p14:sldId id="405"/>
            <p14:sldId id="65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26"/>
  </p:normalViewPr>
  <p:slideViewPr>
    <p:cSldViewPr snapToGrid="0" showGuides="1">
      <p:cViewPr varScale="1">
        <p:scale>
          <a:sx n="116" d="100"/>
          <a:sy n="116" d="100"/>
        </p:scale>
        <p:origin x="904" y="192"/>
      </p:cViewPr>
      <p:guideLst>
        <p:guide orient="horz" pos="2183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theme" Target="theme/theme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B02719-461B-4F82-93C5-57B4583A0AE9}" type="datetimeFigureOut">
              <a:rPr lang="en-IN" smtClean="0"/>
              <a:t>25/10/25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6F11A3-5556-448D-B4AF-A186AE2405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6634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6F11A3-5556-448D-B4AF-A186AE24052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22996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6F11A3-5556-448D-B4AF-A186AE24052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96112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6F11A3-5556-448D-B4AF-A186AE24052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992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6F11A3-5556-448D-B4AF-A186AE24052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7402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6380468-96B7-6285-F0AA-0919D173443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7700" y="1214438"/>
            <a:ext cx="10306050" cy="2387600"/>
          </a:xfrm>
        </p:spPr>
        <p:txBody>
          <a:bodyPr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7699" y="3706813"/>
            <a:ext cx="10306049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214117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18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32288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09383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1503" y="1819799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65753" y="1819799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97718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06631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62941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7426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15532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067300" y="995363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54355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91604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800620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303FED-07E7-76C4-13A1-99FFE9E75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C8F87F-F56F-AE76-A684-0B52A675E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Tanmoy Chakraborty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2CE1C-67BD-0403-5A27-B58139AC0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4CB0B6-7364-4DB4-A9F7-5CA3967E8B6A}" type="slidenum">
              <a:rPr lang="en-IN"/>
              <a:pPr>
                <a:defRPr/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12737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7AD37-0281-FB24-731D-FFD0C5D9A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90210-32CB-5F27-65A9-D7729E46F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Tanmoy Chakraborty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BCA71-F981-E417-CCB1-52BF445A4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BDD956-8DD1-4712-B259-3593B02F3338}" type="slidenum">
              <a:rPr lang="en-IN"/>
              <a:pPr>
                <a:defRPr/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58717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5D58B-8061-97F3-A9AA-9065C2010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D7A2BC-4828-49A3-E789-E59DD72C8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Tanmoy Chakraborty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FA6B37-EDF4-5D91-B971-D199B285C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031C9E-3200-47A5-BB56-B709C2FCD541}" type="slidenum">
              <a:rPr lang="en-IN"/>
              <a:pPr>
                <a:defRPr/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68972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DA36FF4-9352-011A-2BB2-F3995141F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13BF0EA-C950-D6D2-2BB6-CCC651A0B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Tanmoy Chakraborty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287E94C-08C2-EBEC-7662-536F78F00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F98326-3654-475C-B366-15B4AF75F7C8}" type="slidenum">
              <a:rPr lang="en-IN"/>
              <a:pPr>
                <a:defRPr/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05007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FCEB6182-51AC-37BA-92E3-E00E1A92E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7FE3235-72EF-E9FF-650F-CC54DD55A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Tanmoy Chakraborty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625E108-FD63-B995-75F8-74142261A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D3C3BE-6B28-4F77-9BC1-36B585999499}" type="slidenum">
              <a:rPr lang="en-IN"/>
              <a:pPr>
                <a:defRPr/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56248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9B71A34-C7F8-9996-1C1C-9E3CF215F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A654E7E-CBB4-5EB0-A494-B57404BB8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Tanmoy Chakraborty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56EF28B-D2F9-AE7E-CD23-9E2F14B10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1502C4-42E8-49E5-82F8-7C913190E775}" type="slidenum">
              <a:rPr lang="en-IN"/>
              <a:pPr>
                <a:defRPr/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27991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6DF79F1-0F63-3E24-91F1-FA92F55BB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A910580-B649-0FAD-EFB8-FF4CFAC31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Tanmoy Chakraborty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AF0AD58-6F45-C4B2-F3E1-171BBD3D9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5E5809-FE59-43E9-81AE-2BBC87D1BAF7}" type="slidenum">
              <a:rPr lang="en-IN"/>
              <a:pPr>
                <a:defRPr/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41875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E4B98B2-63FF-19A5-E264-B282642A1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7D2491B-3B69-005F-07F6-1DE42AE7F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Tanmoy Chakraborty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5E00DBF-4031-F56D-066A-7B22DA158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B957E9-77A8-4507-8FE3-DCE89B0FBE2F}" type="slidenum">
              <a:rPr lang="en-IN"/>
              <a:pPr>
                <a:defRPr/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75138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1C30AE0-1A9E-322E-4C45-001667C1C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474471C-0835-63A4-7407-61C9B7091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Tanmoy Chakraborty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FC0B6AE-C97A-383B-7017-EE62C82B1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437BE7-9AB5-4154-9CBF-7369B0B62339}" type="slidenum">
              <a:rPr lang="en-IN"/>
              <a:pPr>
                <a:defRPr/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76627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E83E1-E8D1-F299-41C1-AC1ABE18E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06A7E-EE0F-6EAB-FBE9-2840324BD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Tanmoy Chakraborty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B0CB2-B0B5-FFCA-002F-F8A6031A5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A4C49C-9E72-4217-A6A5-3C8AF3F4E478}" type="slidenum">
              <a:rPr lang="en-IN"/>
              <a:pPr>
                <a:defRPr/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88048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5B30E8-0640-287B-B6C2-1E1F986E5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C1F5AB-9B68-FC31-5F11-A4034D241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Tanmoy Chakraborty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ECAF8-02D5-852E-49C8-EFE26F680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05A166-174A-49B9-A1F4-DF4C701D773D}" type="slidenum">
              <a:rPr lang="en-IN"/>
              <a:pPr>
                <a:defRPr/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75872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hyperlink" Target="https://www.lcs2.in/" TargetMode="Externa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hyperlink" Target="https://home.iitd.ac.in/" TargetMode="Externa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hyperlink" Target="https://lcs2-iitd.github.io/ELL881-AIL821-2401/" TargetMode="Externa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0C433764-9E9D-6AFC-BFAA-E925848F77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41325" y="258763"/>
            <a:ext cx="11307763" cy="132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DA5AC691-D762-D441-BB3D-E5D18B37DD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41325" y="1808163"/>
            <a:ext cx="11307763" cy="435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ECC3B6C4-FC12-E4B1-F3AD-4DA9C365F124}"/>
              </a:ext>
            </a:extLst>
          </p:cNvPr>
          <p:cNvSpPr txBox="1">
            <a:spLocks/>
          </p:cNvSpPr>
          <p:nvPr userDrawn="1"/>
        </p:nvSpPr>
        <p:spPr>
          <a:xfrm>
            <a:off x="5338763" y="6384925"/>
            <a:ext cx="1512887" cy="395288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/>
              <a:t>Tanmoy Chakraborty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F82E085-134B-4407-4487-7605ED6A8D00}"/>
              </a:ext>
            </a:extLst>
          </p:cNvPr>
          <p:cNvGrpSpPr/>
          <p:nvPr userDrawn="1"/>
        </p:nvGrpSpPr>
        <p:grpSpPr>
          <a:xfrm>
            <a:off x="-9594" y="6015195"/>
            <a:ext cx="12192000" cy="842804"/>
            <a:chOff x="-6750" y="4518475"/>
            <a:chExt cx="9144000" cy="655200"/>
          </a:xfrm>
        </p:grpSpPr>
        <p:sp>
          <p:nvSpPr>
            <p:cNvPr id="9" name="Google Shape;93;p16">
              <a:extLst>
                <a:ext uri="{FF2B5EF4-FFF2-40B4-BE49-F238E27FC236}">
                  <a16:creationId xmlns:a16="http://schemas.microsoft.com/office/drawing/2014/main" id="{DFB23A75-5753-43EF-B5AE-376E8ED7A8A0}"/>
                </a:ext>
              </a:extLst>
            </p:cNvPr>
            <p:cNvSpPr/>
            <p:nvPr/>
          </p:nvSpPr>
          <p:spPr>
            <a:xfrm>
              <a:off x="4241850" y="4518475"/>
              <a:ext cx="646800" cy="655200"/>
            </a:xfrm>
            <a:prstGeom prst="ellipse">
              <a:avLst/>
            </a:prstGeom>
            <a:solidFill>
              <a:srgbClr val="C217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0">
                <a:latin typeface="+mn-lt"/>
              </a:endParaRP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A8B3B23-3B67-E34D-1CA4-E553190FCF6F}"/>
                </a:ext>
              </a:extLst>
            </p:cNvPr>
            <p:cNvGrpSpPr/>
            <p:nvPr/>
          </p:nvGrpSpPr>
          <p:grpSpPr>
            <a:xfrm>
              <a:off x="-6750" y="4559717"/>
              <a:ext cx="9144000" cy="611898"/>
              <a:chOff x="-6750" y="4559717"/>
              <a:chExt cx="9144000" cy="611898"/>
            </a:xfrm>
          </p:grpSpPr>
          <p:sp>
            <p:nvSpPr>
              <p:cNvPr id="12" name="Google Shape;87;p16">
                <a:extLst>
                  <a:ext uri="{FF2B5EF4-FFF2-40B4-BE49-F238E27FC236}">
                    <a16:creationId xmlns:a16="http://schemas.microsoft.com/office/drawing/2014/main" id="{9A9890F5-3371-66F9-E739-3630550F55AC}"/>
                  </a:ext>
                </a:extLst>
              </p:cNvPr>
              <p:cNvSpPr/>
              <p:nvPr/>
            </p:nvSpPr>
            <p:spPr>
              <a:xfrm>
                <a:off x="-6750" y="4719515"/>
                <a:ext cx="9144000" cy="452100"/>
              </a:xfrm>
              <a:prstGeom prst="rect">
                <a:avLst/>
              </a:prstGeom>
              <a:solidFill>
                <a:srgbClr val="C2171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0">
                  <a:latin typeface="+mn-lt"/>
                </a:endParaRPr>
              </a:p>
            </p:txBody>
          </p:sp>
          <p:pic>
            <p:nvPicPr>
              <p:cNvPr id="13" name="Google Shape;88;p16">
                <a:hlinkClick r:id="rId13"/>
                <a:extLst>
                  <a:ext uri="{FF2B5EF4-FFF2-40B4-BE49-F238E27FC236}">
                    <a16:creationId xmlns:a16="http://schemas.microsoft.com/office/drawing/2014/main" id="{D9AEEF7B-63B4-AD2E-B486-64BC8BF39D8B}"/>
                  </a:ext>
                </a:extLst>
              </p:cNvPr>
              <p:cNvPicPr preferRelativeResize="0"/>
              <p:nvPr/>
            </p:nvPicPr>
            <p:blipFill rotWithShape="1">
              <a:blip r:embed="rId14">
                <a:alphaModFix/>
              </a:blip>
              <a:srcRect l="6644" t="26809" r="12028" b="26864"/>
              <a:stretch/>
            </p:blipFill>
            <p:spPr>
              <a:xfrm>
                <a:off x="5902225" y="4776900"/>
                <a:ext cx="493875" cy="2813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" name="Google Shape;91;p16">
                <a:extLst>
                  <a:ext uri="{FF2B5EF4-FFF2-40B4-BE49-F238E27FC236}">
                    <a16:creationId xmlns:a16="http://schemas.microsoft.com/office/drawing/2014/main" id="{EC88CDE9-AB7C-C67A-6F72-3007F8C10BB8}"/>
                  </a:ext>
                </a:extLst>
              </p:cNvPr>
              <p:cNvSpPr txBox="1"/>
              <p:nvPr/>
            </p:nvSpPr>
            <p:spPr>
              <a:xfrm>
                <a:off x="6448379" y="4776875"/>
                <a:ext cx="1604914" cy="28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b="0" dirty="0">
                    <a:solidFill>
                      <a:schemeClr val="lt1"/>
                    </a:solidFill>
                    <a:latin typeface="+mn-lt"/>
                  </a:rPr>
                  <a:t>Tanmoy Chakraborty</a:t>
                </a:r>
                <a:endParaRPr sz="1200" b="0" dirty="0">
                  <a:solidFill>
                    <a:schemeClr val="lt1"/>
                  </a:solidFill>
                  <a:latin typeface="+mn-lt"/>
                </a:endParaRPr>
              </a:p>
            </p:txBody>
          </p:sp>
          <p:sp>
            <p:nvSpPr>
              <p:cNvPr id="16" name="Google Shape;92;p16">
                <a:hlinkClick r:id="rId15"/>
                <a:extLst>
                  <a:ext uri="{FF2B5EF4-FFF2-40B4-BE49-F238E27FC236}">
                    <a16:creationId xmlns:a16="http://schemas.microsoft.com/office/drawing/2014/main" id="{C0B4BF11-6619-5FC3-64CD-E33B2F3461E6}"/>
                  </a:ext>
                </a:extLst>
              </p:cNvPr>
              <p:cNvSpPr txBox="1"/>
              <p:nvPr/>
            </p:nvSpPr>
            <p:spPr>
              <a:xfrm>
                <a:off x="607700" y="4776850"/>
                <a:ext cx="2620574" cy="28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b="0" dirty="0">
                    <a:solidFill>
                      <a:schemeClr val="lt1"/>
                    </a:solidFill>
                    <a:latin typeface="+mn-lt"/>
                  </a:rPr>
                  <a:t>LLMs: Introduction and Recent Advances</a:t>
                </a:r>
                <a:endParaRPr sz="1200" b="0" dirty="0">
                  <a:solidFill>
                    <a:schemeClr val="lt1"/>
                  </a:solidFill>
                  <a:latin typeface="+mn-lt"/>
                </a:endParaRPr>
              </a:p>
            </p:txBody>
          </p:sp>
          <p:pic>
            <p:nvPicPr>
              <p:cNvPr id="17" name="Google Shape;94;p16">
                <a:hlinkClick r:id="rId16"/>
                <a:extLst>
                  <a:ext uri="{FF2B5EF4-FFF2-40B4-BE49-F238E27FC236}">
                    <a16:creationId xmlns:a16="http://schemas.microsoft.com/office/drawing/2014/main" id="{1EF95B29-C125-4760-3A0D-C76302DC0F38}"/>
                  </a:ext>
                </a:extLst>
              </p:cNvPr>
              <p:cNvPicPr preferRelativeResize="0"/>
              <p:nvPr/>
            </p:nvPicPr>
            <p:blipFill>
              <a:blip r:embed="rId17">
                <a:alphaModFix/>
              </a:blip>
              <a:stretch>
                <a:fillRect/>
              </a:stretch>
            </p:blipFill>
            <p:spPr>
              <a:xfrm>
                <a:off x="4285625" y="4559717"/>
                <a:ext cx="572744" cy="57269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" name="Google Shape;95;p16">
                <a:hlinkClick r:id="rId15"/>
                <a:extLst>
                  <a:ext uri="{FF2B5EF4-FFF2-40B4-BE49-F238E27FC236}">
                    <a16:creationId xmlns:a16="http://schemas.microsoft.com/office/drawing/2014/main" id="{A112F2D8-F120-7C48-D9BC-7CD31CF5F048}"/>
                  </a:ext>
                </a:extLst>
              </p:cNvPr>
              <p:cNvPicPr preferRelativeResize="0"/>
              <p:nvPr/>
            </p:nvPicPr>
            <p:blipFill rotWithShape="1">
              <a:blip r:embed="rId18">
                <a:alphaModFix/>
              </a:blip>
              <a:srcRect l="23961" t="24578" r="25207" b="27096"/>
              <a:stretch/>
            </p:blipFill>
            <p:spPr>
              <a:xfrm>
                <a:off x="311700" y="4776875"/>
                <a:ext cx="296000" cy="2814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247038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Aptos Display" panose="020B000402020202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Aptos Display" panose="020B000402020202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Aptos Display" panose="020B000402020202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Aptos Display" panose="020B000402020202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Aptos Display" panose="020B000402020202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Aptos Display" panose="020B000402020202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Aptos Display" panose="020B000402020202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Aptos Display" panose="020B000402020202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" userDrawn="1">
          <p15:clr>
            <a:srgbClr val="F26B43"/>
          </p15:clr>
        </p15:guide>
        <p15:guide id="2" pos="279" userDrawn="1">
          <p15:clr>
            <a:srgbClr val="F26B43"/>
          </p15:clr>
        </p15:guide>
        <p15:guide id="3" pos="7401" userDrawn="1">
          <p15:clr>
            <a:srgbClr val="F26B43"/>
          </p15:clr>
        </p15:guide>
        <p15:guide id="4" orient="horz" pos="1003" userDrawn="1">
          <p15:clr>
            <a:srgbClr val="F26B43"/>
          </p15:clr>
        </p15:guide>
        <p15:guide id="5" orient="horz" pos="1139" userDrawn="1">
          <p15:clr>
            <a:srgbClr val="F26B43"/>
          </p15:clr>
        </p15:guide>
        <p15:guide id="6" orient="horz" pos="3884" userDrawn="1">
          <p15:clr>
            <a:srgbClr val="F26B43"/>
          </p15:clr>
        </p15:guide>
        <p15:guide id="7" orient="horz" pos="395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>
            <a:extLst>
              <a:ext uri="{FF2B5EF4-FFF2-40B4-BE49-F238E27FC236}">
                <a16:creationId xmlns:a16="http://schemas.microsoft.com/office/drawing/2014/main" id="{45F4FB52-0A69-A46A-74F4-DBBD91AEF6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IN" altLang="en-US"/>
          </a:p>
        </p:txBody>
      </p:sp>
      <p:sp>
        <p:nvSpPr>
          <p:cNvPr id="2051" name="Text Placeholder 2">
            <a:extLst>
              <a:ext uri="{FF2B5EF4-FFF2-40B4-BE49-F238E27FC236}">
                <a16:creationId xmlns:a16="http://schemas.microsoft.com/office/drawing/2014/main" id="{4AA14C15-F71D-7E69-6F3D-454952BCFB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I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11B1F5-DBB6-FABD-710C-D2355AF6B6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6FA1CD-C4D4-71C5-0690-FB3B7C1BAE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IN"/>
              <a:t>Tanmoy Chakraborty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89968-9390-5A43-866E-7D7645B91D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A65F4845-0A4E-472D-939A-68F3AEF3EF26}" type="slidenum">
              <a:rPr lang="en-IN"/>
              <a:pPr>
                <a:defRPr/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7814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Aptos Display" panose="020B00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Aptos Display" panose="020B00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Aptos Display" panose="020B00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Aptos Display" panose="020B00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Aptos Display" panose="020B00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Aptos Display" panose="020B00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Aptos Display" panose="020B00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Aptos Display" panose="020B0004020202020204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anmoychak.com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21.png"/><Relationship Id="rId18" Type="http://schemas.openxmlformats.org/officeDocument/2006/relationships/image" Target="../media/image25.jpg"/><Relationship Id="rId3" Type="http://schemas.openxmlformats.org/officeDocument/2006/relationships/image" Target="../media/image14.jpg"/><Relationship Id="rId21" Type="http://schemas.openxmlformats.org/officeDocument/2006/relationships/image" Target="../media/image28.png"/><Relationship Id="rId7" Type="http://schemas.openxmlformats.org/officeDocument/2006/relationships/image" Target="../media/image16.png"/><Relationship Id="rId12" Type="http://schemas.openxmlformats.org/officeDocument/2006/relationships/image" Target="../media/image20.png"/><Relationship Id="rId17" Type="http://schemas.openxmlformats.org/officeDocument/2006/relationships/image" Target="../media/image24.jpg"/><Relationship Id="rId2" Type="http://schemas.openxmlformats.org/officeDocument/2006/relationships/image" Target="../media/image13.jpg"/><Relationship Id="rId16" Type="http://schemas.openxmlformats.org/officeDocument/2006/relationships/image" Target="../media/image23.jpg"/><Relationship Id="rId20" Type="http://schemas.openxmlformats.org/officeDocument/2006/relationships/image" Target="../media/image2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9.png"/><Relationship Id="rId5" Type="http://schemas.openxmlformats.org/officeDocument/2006/relationships/image" Target="../media/image11.png"/><Relationship Id="rId15" Type="http://schemas.openxmlformats.org/officeDocument/2006/relationships/image" Target="../media/image22.jpg"/><Relationship Id="rId10" Type="http://schemas.openxmlformats.org/officeDocument/2006/relationships/image" Target="../media/image18.png"/><Relationship Id="rId19" Type="http://schemas.openxmlformats.org/officeDocument/2006/relationships/image" Target="../media/image26.jpg"/><Relationship Id="rId4" Type="http://schemas.openxmlformats.org/officeDocument/2006/relationships/image" Target="../media/image15.jpg"/><Relationship Id="rId9" Type="http://schemas.openxmlformats.org/officeDocument/2006/relationships/image" Target="../media/image17.png"/><Relationship Id="rId14" Type="http://schemas.openxmlformats.org/officeDocument/2006/relationships/image" Target="../media/image8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3.jpg"/><Relationship Id="rId3" Type="http://schemas.openxmlformats.org/officeDocument/2006/relationships/image" Target="../media/image9.png"/><Relationship Id="rId7" Type="http://schemas.openxmlformats.org/officeDocument/2006/relationships/image" Target="../media/image18.png"/><Relationship Id="rId12" Type="http://schemas.openxmlformats.org/officeDocument/2006/relationships/image" Target="../media/image22.jpg"/><Relationship Id="rId17" Type="http://schemas.openxmlformats.org/officeDocument/2006/relationships/image" Target="../media/image28.png"/><Relationship Id="rId2" Type="http://schemas.openxmlformats.org/officeDocument/2006/relationships/image" Target="../media/image11.png"/><Relationship Id="rId16" Type="http://schemas.openxmlformats.org/officeDocument/2006/relationships/image" Target="../media/image2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8.jpg"/><Relationship Id="rId5" Type="http://schemas.openxmlformats.org/officeDocument/2006/relationships/image" Target="../media/image10.png"/><Relationship Id="rId15" Type="http://schemas.openxmlformats.org/officeDocument/2006/relationships/image" Target="../media/image25.jpg"/><Relationship Id="rId10" Type="http://schemas.openxmlformats.org/officeDocument/2006/relationships/image" Target="../media/image21.png"/><Relationship Id="rId4" Type="http://schemas.openxmlformats.org/officeDocument/2006/relationships/image" Target="../media/image16.png"/><Relationship Id="rId9" Type="http://schemas.openxmlformats.org/officeDocument/2006/relationships/image" Target="../media/image20.png"/><Relationship Id="rId14" Type="http://schemas.openxmlformats.org/officeDocument/2006/relationships/image" Target="../media/image24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g"/><Relationship Id="rId13" Type="http://schemas.openxmlformats.org/officeDocument/2006/relationships/image" Target="../media/image37.png"/><Relationship Id="rId18" Type="http://schemas.openxmlformats.org/officeDocument/2006/relationships/image" Target="../media/image42.png"/><Relationship Id="rId26" Type="http://schemas.openxmlformats.org/officeDocument/2006/relationships/image" Target="../media/image50.jpg"/><Relationship Id="rId3" Type="http://schemas.openxmlformats.org/officeDocument/2006/relationships/image" Target="../media/image31.jpg"/><Relationship Id="rId21" Type="http://schemas.openxmlformats.org/officeDocument/2006/relationships/image" Target="../media/image45.jpg"/><Relationship Id="rId7" Type="http://schemas.openxmlformats.org/officeDocument/2006/relationships/image" Target="../media/image25.jp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5" Type="http://schemas.openxmlformats.org/officeDocument/2006/relationships/image" Target="../media/image49.jpg"/><Relationship Id="rId2" Type="http://schemas.openxmlformats.org/officeDocument/2006/relationships/image" Target="../media/image30.jpg"/><Relationship Id="rId16" Type="http://schemas.openxmlformats.org/officeDocument/2006/relationships/image" Target="../media/image40.png"/><Relationship Id="rId20" Type="http://schemas.openxmlformats.org/officeDocument/2006/relationships/image" Target="../media/image44.jpg"/><Relationship Id="rId29" Type="http://schemas.openxmlformats.org/officeDocument/2006/relationships/image" Target="../media/image5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jpg"/><Relationship Id="rId11" Type="http://schemas.openxmlformats.org/officeDocument/2006/relationships/image" Target="../media/image35.jpg"/><Relationship Id="rId24" Type="http://schemas.openxmlformats.org/officeDocument/2006/relationships/image" Target="../media/image48.jpg"/><Relationship Id="rId32" Type="http://schemas.openxmlformats.org/officeDocument/2006/relationships/image" Target="../media/image56.jpg"/><Relationship Id="rId5" Type="http://schemas.openxmlformats.org/officeDocument/2006/relationships/image" Target="../media/image23.jpg"/><Relationship Id="rId15" Type="http://schemas.openxmlformats.org/officeDocument/2006/relationships/image" Target="../media/image39.png"/><Relationship Id="rId23" Type="http://schemas.openxmlformats.org/officeDocument/2006/relationships/image" Target="../media/image47.png"/><Relationship Id="rId28" Type="http://schemas.openxmlformats.org/officeDocument/2006/relationships/image" Target="../media/image52.png"/><Relationship Id="rId10" Type="http://schemas.openxmlformats.org/officeDocument/2006/relationships/image" Target="../media/image34.png"/><Relationship Id="rId19" Type="http://schemas.openxmlformats.org/officeDocument/2006/relationships/image" Target="../media/image43.jpg"/><Relationship Id="rId31" Type="http://schemas.openxmlformats.org/officeDocument/2006/relationships/image" Target="../media/image55.jpg"/><Relationship Id="rId4" Type="http://schemas.openxmlformats.org/officeDocument/2006/relationships/image" Target="../media/image32.png"/><Relationship Id="rId9" Type="http://schemas.openxmlformats.org/officeDocument/2006/relationships/image" Target="../media/image33.jpg"/><Relationship Id="rId14" Type="http://schemas.openxmlformats.org/officeDocument/2006/relationships/image" Target="../media/image38.png"/><Relationship Id="rId22" Type="http://schemas.openxmlformats.org/officeDocument/2006/relationships/image" Target="../media/image46.png"/><Relationship Id="rId27" Type="http://schemas.openxmlformats.org/officeDocument/2006/relationships/image" Target="../media/image51.png"/><Relationship Id="rId30" Type="http://schemas.openxmlformats.org/officeDocument/2006/relationships/image" Target="../media/image54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18" Type="http://schemas.openxmlformats.org/officeDocument/2006/relationships/image" Target="../media/image44.jpg"/><Relationship Id="rId26" Type="http://schemas.openxmlformats.org/officeDocument/2006/relationships/image" Target="../media/image52.png"/><Relationship Id="rId3" Type="http://schemas.openxmlformats.org/officeDocument/2006/relationships/image" Target="../media/image23.jpg"/><Relationship Id="rId21" Type="http://schemas.openxmlformats.org/officeDocument/2006/relationships/image" Target="../media/image47.png"/><Relationship Id="rId7" Type="http://schemas.openxmlformats.org/officeDocument/2006/relationships/image" Target="../media/image33.jpg"/><Relationship Id="rId12" Type="http://schemas.openxmlformats.org/officeDocument/2006/relationships/image" Target="../media/image38.png"/><Relationship Id="rId17" Type="http://schemas.openxmlformats.org/officeDocument/2006/relationships/image" Target="../media/image43.jpg"/><Relationship Id="rId25" Type="http://schemas.openxmlformats.org/officeDocument/2006/relationships/image" Target="../media/image51.png"/><Relationship Id="rId2" Type="http://schemas.openxmlformats.org/officeDocument/2006/relationships/image" Target="../media/image32.png"/><Relationship Id="rId16" Type="http://schemas.openxmlformats.org/officeDocument/2006/relationships/image" Target="../media/image42.png"/><Relationship Id="rId20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jpg"/><Relationship Id="rId11" Type="http://schemas.openxmlformats.org/officeDocument/2006/relationships/image" Target="../media/image37.png"/><Relationship Id="rId24" Type="http://schemas.openxmlformats.org/officeDocument/2006/relationships/image" Target="../media/image50.jpg"/><Relationship Id="rId5" Type="http://schemas.openxmlformats.org/officeDocument/2006/relationships/image" Target="../media/image25.jpg"/><Relationship Id="rId15" Type="http://schemas.openxmlformats.org/officeDocument/2006/relationships/image" Target="../media/image41.png"/><Relationship Id="rId23" Type="http://schemas.openxmlformats.org/officeDocument/2006/relationships/image" Target="../media/image49.jpg"/><Relationship Id="rId28" Type="http://schemas.openxmlformats.org/officeDocument/2006/relationships/image" Target="../media/image54.jpg"/><Relationship Id="rId10" Type="http://schemas.openxmlformats.org/officeDocument/2006/relationships/image" Target="../media/image36.png"/><Relationship Id="rId19" Type="http://schemas.openxmlformats.org/officeDocument/2006/relationships/image" Target="../media/image45.jpg"/><Relationship Id="rId4" Type="http://schemas.openxmlformats.org/officeDocument/2006/relationships/image" Target="../media/image24.jpg"/><Relationship Id="rId9" Type="http://schemas.openxmlformats.org/officeDocument/2006/relationships/image" Target="../media/image35.jpg"/><Relationship Id="rId14" Type="http://schemas.openxmlformats.org/officeDocument/2006/relationships/image" Target="../media/image40.png"/><Relationship Id="rId22" Type="http://schemas.openxmlformats.org/officeDocument/2006/relationships/image" Target="../media/image48.jpg"/><Relationship Id="rId27" Type="http://schemas.openxmlformats.org/officeDocument/2006/relationships/image" Target="../media/image53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0.jpg"/><Relationship Id="rId18" Type="http://schemas.openxmlformats.org/officeDocument/2006/relationships/image" Target="../media/image43.jpg"/><Relationship Id="rId26" Type="http://schemas.openxmlformats.org/officeDocument/2006/relationships/image" Target="../media/image66.jpg"/><Relationship Id="rId3" Type="http://schemas.openxmlformats.org/officeDocument/2006/relationships/image" Target="../media/image60.jpg"/><Relationship Id="rId21" Type="http://schemas.openxmlformats.org/officeDocument/2006/relationships/image" Target="../media/image48.jpg"/><Relationship Id="rId34" Type="http://schemas.openxmlformats.org/officeDocument/2006/relationships/image" Target="../media/image74.jpg"/><Relationship Id="rId7" Type="http://schemas.openxmlformats.org/officeDocument/2006/relationships/image" Target="../media/image63.png"/><Relationship Id="rId12" Type="http://schemas.openxmlformats.org/officeDocument/2006/relationships/image" Target="../media/image65.png"/><Relationship Id="rId17" Type="http://schemas.openxmlformats.org/officeDocument/2006/relationships/image" Target="../media/image54.jpg"/><Relationship Id="rId25" Type="http://schemas.openxmlformats.org/officeDocument/2006/relationships/image" Target="../media/image32.png"/><Relationship Id="rId33" Type="http://schemas.openxmlformats.org/officeDocument/2006/relationships/image" Target="../media/image73.jpg"/><Relationship Id="rId2" Type="http://schemas.openxmlformats.org/officeDocument/2006/relationships/image" Target="../media/image59.jpg"/><Relationship Id="rId16" Type="http://schemas.openxmlformats.org/officeDocument/2006/relationships/image" Target="../media/image42.png"/><Relationship Id="rId20" Type="http://schemas.openxmlformats.org/officeDocument/2006/relationships/image" Target="../media/image45.jpg"/><Relationship Id="rId29" Type="http://schemas.openxmlformats.org/officeDocument/2006/relationships/image" Target="../media/image69.jp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5.jpg"/><Relationship Id="rId11" Type="http://schemas.openxmlformats.org/officeDocument/2006/relationships/image" Target="../media/image53.jpg"/><Relationship Id="rId24" Type="http://schemas.openxmlformats.org/officeDocument/2006/relationships/image" Target="../media/image47.png"/><Relationship Id="rId32" Type="http://schemas.openxmlformats.org/officeDocument/2006/relationships/image" Target="../media/image72.jpg"/><Relationship Id="rId5" Type="http://schemas.openxmlformats.org/officeDocument/2006/relationships/image" Target="../media/image62.jpg"/><Relationship Id="rId15" Type="http://schemas.openxmlformats.org/officeDocument/2006/relationships/image" Target="../media/image41.png"/><Relationship Id="rId23" Type="http://schemas.openxmlformats.org/officeDocument/2006/relationships/image" Target="../media/image46.png"/><Relationship Id="rId28" Type="http://schemas.openxmlformats.org/officeDocument/2006/relationships/image" Target="../media/image68.jpg"/><Relationship Id="rId10" Type="http://schemas.openxmlformats.org/officeDocument/2006/relationships/image" Target="../media/image39.png"/><Relationship Id="rId19" Type="http://schemas.openxmlformats.org/officeDocument/2006/relationships/image" Target="../media/image44.jpg"/><Relationship Id="rId31" Type="http://schemas.openxmlformats.org/officeDocument/2006/relationships/image" Target="../media/image71.jpg"/><Relationship Id="rId4" Type="http://schemas.openxmlformats.org/officeDocument/2006/relationships/image" Target="../media/image61.jpg"/><Relationship Id="rId9" Type="http://schemas.openxmlformats.org/officeDocument/2006/relationships/image" Target="../media/image38.png"/><Relationship Id="rId14" Type="http://schemas.openxmlformats.org/officeDocument/2006/relationships/image" Target="../media/image40.png"/><Relationship Id="rId22" Type="http://schemas.openxmlformats.org/officeDocument/2006/relationships/image" Target="../media/image49.jpg"/><Relationship Id="rId27" Type="http://schemas.openxmlformats.org/officeDocument/2006/relationships/image" Target="../media/image67.jpg"/><Relationship Id="rId30" Type="http://schemas.openxmlformats.org/officeDocument/2006/relationships/image" Target="../media/image70.jpg"/><Relationship Id="rId8" Type="http://schemas.openxmlformats.org/officeDocument/2006/relationships/image" Target="../media/image6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3.jpg"/><Relationship Id="rId7" Type="http://schemas.openxmlformats.org/officeDocument/2006/relationships/image" Target="../media/image41.png"/><Relationship Id="rId2" Type="http://schemas.openxmlformats.org/officeDocument/2006/relationships/image" Target="../media/image7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70.jpg"/><Relationship Id="rId5" Type="http://schemas.openxmlformats.org/officeDocument/2006/relationships/image" Target="../media/image48.jpg"/><Relationship Id="rId10" Type="http://schemas.openxmlformats.org/officeDocument/2006/relationships/image" Target="../media/image77.jpg"/><Relationship Id="rId4" Type="http://schemas.openxmlformats.org/officeDocument/2006/relationships/image" Target="../media/image44.jpg"/><Relationship Id="rId9" Type="http://schemas.openxmlformats.org/officeDocument/2006/relationships/image" Target="../media/image5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g"/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406.1078v3.pdf" TargetMode="External"/><Relationship Id="rId2" Type="http://schemas.openxmlformats.org/officeDocument/2006/relationships/image" Target="../media/image5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2.jpg"/><Relationship Id="rId4" Type="http://schemas.openxmlformats.org/officeDocument/2006/relationships/image" Target="../media/image81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6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7" Type="http://schemas.openxmlformats.org/officeDocument/2006/relationships/image" Target="../media/image91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jp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jpg"/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jpg"/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jpg"/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jpg"/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jpg"/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jpg"/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jpg"/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jpg"/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jpg"/><Relationship Id="rId1" Type="http://schemas.openxmlformats.org/officeDocument/2006/relationships/slideLayout" Target="../slideLayouts/slideLayout18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jpg"/><Relationship Id="rId1" Type="http://schemas.openxmlformats.org/officeDocument/2006/relationships/slideLayout" Target="../slideLayouts/slideLayout1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jpg"/><Relationship Id="rId1" Type="http://schemas.openxmlformats.org/officeDocument/2006/relationships/slideLayout" Target="../slideLayouts/slideLayout18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jpg"/><Relationship Id="rId1" Type="http://schemas.openxmlformats.org/officeDocument/2006/relationships/slideLayout" Target="../slideLayouts/slideLayout1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jp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5.jp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4" Type="http://schemas.openxmlformats.org/officeDocument/2006/relationships/image" Target="../media/image98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5" Type="http://schemas.openxmlformats.org/officeDocument/2006/relationships/image" Target="../media/image102.png"/><Relationship Id="rId4" Type="http://schemas.openxmlformats.org/officeDocument/2006/relationships/image" Target="../media/image98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5" Type="http://schemas.openxmlformats.org/officeDocument/2006/relationships/image" Target="../media/image103.png"/><Relationship Id="rId4" Type="http://schemas.openxmlformats.org/officeDocument/2006/relationships/image" Target="../media/image98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5" Type="http://schemas.openxmlformats.org/officeDocument/2006/relationships/image" Target="../media/image104.png"/><Relationship Id="rId4" Type="http://schemas.openxmlformats.org/officeDocument/2006/relationships/image" Target="../media/image98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5" Type="http://schemas.openxmlformats.org/officeDocument/2006/relationships/image" Target="../media/image104.png"/><Relationship Id="rId4" Type="http://schemas.openxmlformats.org/officeDocument/2006/relationships/image" Target="../media/image98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3" Type="http://schemas.openxmlformats.org/officeDocument/2006/relationships/image" Target="../media/image97.png"/><Relationship Id="rId7" Type="http://schemas.openxmlformats.org/officeDocument/2006/relationships/image" Target="../media/image105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4" Type="http://schemas.openxmlformats.org/officeDocument/2006/relationships/image" Target="../media/image98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3" Type="http://schemas.openxmlformats.org/officeDocument/2006/relationships/image" Target="../media/image97.png"/><Relationship Id="rId7" Type="http://schemas.openxmlformats.org/officeDocument/2006/relationships/image" Target="../media/image105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4" Type="http://schemas.openxmlformats.org/officeDocument/2006/relationships/image" Target="../media/image98.png"/><Relationship Id="rId9" Type="http://schemas.openxmlformats.org/officeDocument/2006/relationships/image" Target="../media/image107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3" Type="http://schemas.openxmlformats.org/officeDocument/2006/relationships/image" Target="../media/image97.png"/><Relationship Id="rId7" Type="http://schemas.openxmlformats.org/officeDocument/2006/relationships/image" Target="../media/image89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5" Type="http://schemas.openxmlformats.org/officeDocument/2006/relationships/image" Target="../media/image108.png"/><Relationship Id="rId4" Type="http://schemas.openxmlformats.org/officeDocument/2006/relationships/image" Target="../media/image98.png"/><Relationship Id="rId9" Type="http://schemas.openxmlformats.org/officeDocument/2006/relationships/image" Target="../media/image110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image" Target="../media/image97.png"/><Relationship Id="rId7" Type="http://schemas.openxmlformats.org/officeDocument/2006/relationships/image" Target="../media/image112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11" Type="http://schemas.openxmlformats.org/officeDocument/2006/relationships/image" Target="../media/image115.png"/><Relationship Id="rId5" Type="http://schemas.openxmlformats.org/officeDocument/2006/relationships/image" Target="../media/image111.png"/><Relationship Id="rId10" Type="http://schemas.openxmlformats.org/officeDocument/2006/relationships/image" Target="../media/image114.png"/><Relationship Id="rId4" Type="http://schemas.openxmlformats.org/officeDocument/2006/relationships/image" Target="../media/image98.png"/><Relationship Id="rId9" Type="http://schemas.openxmlformats.org/officeDocument/2006/relationships/image" Target="../media/image113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13" Type="http://schemas.openxmlformats.org/officeDocument/2006/relationships/image" Target="../media/image118.png"/><Relationship Id="rId3" Type="http://schemas.openxmlformats.org/officeDocument/2006/relationships/image" Target="../media/image97.png"/><Relationship Id="rId7" Type="http://schemas.openxmlformats.org/officeDocument/2006/relationships/image" Target="../media/image116.png"/><Relationship Id="rId12" Type="http://schemas.openxmlformats.org/officeDocument/2006/relationships/image" Target="../media/image11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11" Type="http://schemas.openxmlformats.org/officeDocument/2006/relationships/image" Target="../media/image90.png"/><Relationship Id="rId5" Type="http://schemas.openxmlformats.org/officeDocument/2006/relationships/image" Target="../media/image111.png"/><Relationship Id="rId10" Type="http://schemas.openxmlformats.org/officeDocument/2006/relationships/image" Target="../media/image114.png"/><Relationship Id="rId4" Type="http://schemas.openxmlformats.org/officeDocument/2006/relationships/image" Target="../media/image98.png"/><Relationship Id="rId9" Type="http://schemas.openxmlformats.org/officeDocument/2006/relationships/image" Target="../media/image113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13" Type="http://schemas.openxmlformats.org/officeDocument/2006/relationships/image" Target="../media/image119.png"/><Relationship Id="rId3" Type="http://schemas.openxmlformats.org/officeDocument/2006/relationships/image" Target="../media/image97.png"/><Relationship Id="rId7" Type="http://schemas.openxmlformats.org/officeDocument/2006/relationships/image" Target="../media/image116.png"/><Relationship Id="rId12" Type="http://schemas.openxmlformats.org/officeDocument/2006/relationships/image" Target="../media/image86.png"/><Relationship Id="rId2" Type="http://schemas.openxmlformats.org/officeDocument/2006/relationships/image" Target="../media/image96.png"/><Relationship Id="rId16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11" Type="http://schemas.openxmlformats.org/officeDocument/2006/relationships/image" Target="../media/image87.png"/><Relationship Id="rId5" Type="http://schemas.openxmlformats.org/officeDocument/2006/relationships/image" Target="../media/image111.png"/><Relationship Id="rId15" Type="http://schemas.openxmlformats.org/officeDocument/2006/relationships/image" Target="../media/image117.png"/><Relationship Id="rId10" Type="http://schemas.openxmlformats.org/officeDocument/2006/relationships/image" Target="../media/image114.png"/><Relationship Id="rId4" Type="http://schemas.openxmlformats.org/officeDocument/2006/relationships/image" Target="../media/image98.png"/><Relationship Id="rId9" Type="http://schemas.openxmlformats.org/officeDocument/2006/relationships/image" Target="../media/image113.png"/><Relationship Id="rId14" Type="http://schemas.openxmlformats.org/officeDocument/2006/relationships/image" Target="../media/image90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3" Type="http://schemas.openxmlformats.org/officeDocument/2006/relationships/image" Target="../media/image97.png"/><Relationship Id="rId7" Type="http://schemas.openxmlformats.org/officeDocument/2006/relationships/image" Target="../media/image121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5" Type="http://schemas.openxmlformats.org/officeDocument/2006/relationships/image" Target="../media/image111.png"/><Relationship Id="rId4" Type="http://schemas.openxmlformats.org/officeDocument/2006/relationships/image" Target="../media/image98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jpg"/><Relationship Id="rId2" Type="http://schemas.openxmlformats.org/officeDocument/2006/relationships/image" Target="../media/image12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6.jpg"/><Relationship Id="rId4" Type="http://schemas.openxmlformats.org/officeDocument/2006/relationships/image" Target="../media/image125.jp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hyperlink" Target="http://ruder.io/deep-learning-nlp-best-practices/index.html#attention" TargetMode="External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pdf/1703.03906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3">
            <a:extLst>
              <a:ext uri="{FF2B5EF4-FFF2-40B4-BE49-F238E27FC236}">
                <a16:creationId xmlns:a16="http://schemas.microsoft.com/office/drawing/2014/main" id="{B318B256-D44F-7C34-3FEC-0B2BCFB85A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8183" y="2917514"/>
            <a:ext cx="1022971" cy="1022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F324B02-195C-57A5-E7A8-058592807440}"/>
              </a:ext>
            </a:extLst>
          </p:cNvPr>
          <p:cNvSpPr txBox="1">
            <a:spLocks/>
          </p:cNvSpPr>
          <p:nvPr/>
        </p:nvSpPr>
        <p:spPr>
          <a:xfrm>
            <a:off x="-136634" y="-159697"/>
            <a:ext cx="12192000" cy="2463583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j-ea"/>
                <a:cs typeface="+mj-cs"/>
              </a:rPr>
              <a:t>Language Models </a:t>
            </a: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j-ea"/>
                <a:cs typeface="+mj-cs"/>
              </a:rPr>
              <a:t>&amp; Neural Networks</a:t>
            </a:r>
          </a:p>
        </p:txBody>
      </p:sp>
      <p:sp>
        <p:nvSpPr>
          <p:cNvPr id="2" name="TextBox 6">
            <a:extLst>
              <a:ext uri="{FF2B5EF4-FFF2-40B4-BE49-F238E27FC236}">
                <a16:creationId xmlns:a16="http://schemas.microsoft.com/office/drawing/2014/main" id="{197DF213-017A-96AD-D574-7EC190D5F7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4630" y="4554113"/>
            <a:ext cx="4410075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ptos Display" panose="020B00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ptos Display" panose="020B00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 Display" panose="020B00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ptos Display" panose="020B00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Aptos Display" panose="020B00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Aptos Display" panose="020B00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Aptos Display" panose="020B00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Aptos Display" panose="020B00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Aptos Display" panose="020B00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Tanmoy Chakraborty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Associate Professor, IIT Delhi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ptos Display"/>
                <a:ea typeface="+mn-ea"/>
                <a:cs typeface="+mn-cs"/>
                <a:hlinkClick r:id="rId3"/>
              </a:rPr>
              <a:t>https://tanmoychak.com/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DBCB62-A2A7-B5B3-BF33-FC6119027C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6804" y="3854520"/>
            <a:ext cx="1937844" cy="271923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41325" y="955948"/>
            <a:ext cx="1130776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Language</a:t>
            </a:r>
            <a:r>
              <a:rPr spc="-25" dirty="0"/>
              <a:t> </a:t>
            </a:r>
            <a:r>
              <a:rPr spc="-5" dirty="0"/>
              <a:t>Modeling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97617" y="1758286"/>
            <a:ext cx="11351471" cy="167161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spcBef>
                <a:spcPts val="675"/>
              </a:spcBef>
              <a:buClr>
                <a:srgbClr val="8C1515"/>
              </a:buClr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sz="2400" b="1" spc="-5" dirty="0">
                <a:solidFill>
                  <a:schemeClr val="accent1"/>
                </a:solidFill>
                <a:cs typeface="Calibri"/>
              </a:rPr>
              <a:t>Language</a:t>
            </a:r>
            <a:r>
              <a:rPr sz="2400" b="1" spc="5" dirty="0">
                <a:solidFill>
                  <a:schemeClr val="accent1"/>
                </a:solidFill>
                <a:cs typeface="Calibri"/>
              </a:rPr>
              <a:t> </a:t>
            </a:r>
            <a:r>
              <a:rPr sz="2400" b="1" spc="-5" dirty="0">
                <a:solidFill>
                  <a:schemeClr val="accent1"/>
                </a:solidFill>
                <a:cs typeface="Calibri"/>
              </a:rPr>
              <a:t>Modeling</a:t>
            </a:r>
            <a:r>
              <a:rPr sz="2400" b="1" spc="5" dirty="0">
                <a:solidFill>
                  <a:schemeClr val="accent1"/>
                </a:solidFill>
                <a:cs typeface="Calibri"/>
              </a:rPr>
              <a:t> </a:t>
            </a:r>
            <a:r>
              <a:rPr sz="2400" spc="-5" dirty="0">
                <a:cs typeface="Calibri"/>
              </a:rPr>
              <a:t>is</a:t>
            </a:r>
            <a:r>
              <a:rPr sz="2400" spc="5" dirty="0">
                <a:cs typeface="Calibri"/>
              </a:rPr>
              <a:t> </a:t>
            </a:r>
            <a:r>
              <a:rPr sz="2400" dirty="0">
                <a:cs typeface="Calibri"/>
              </a:rPr>
              <a:t>the</a:t>
            </a:r>
            <a:r>
              <a:rPr sz="2400" spc="15" dirty="0">
                <a:cs typeface="Calibri"/>
              </a:rPr>
              <a:t> </a:t>
            </a:r>
            <a:r>
              <a:rPr sz="2400" dirty="0">
                <a:cs typeface="Calibri"/>
              </a:rPr>
              <a:t>task</a:t>
            </a:r>
            <a:r>
              <a:rPr sz="2400" spc="5" dirty="0">
                <a:cs typeface="Calibri"/>
              </a:rPr>
              <a:t> </a:t>
            </a:r>
            <a:r>
              <a:rPr sz="2400" spc="-5" dirty="0">
                <a:cs typeface="Calibri"/>
              </a:rPr>
              <a:t>of</a:t>
            </a:r>
            <a:r>
              <a:rPr sz="2400" spc="5" dirty="0">
                <a:cs typeface="Calibri"/>
              </a:rPr>
              <a:t> </a:t>
            </a:r>
            <a:r>
              <a:rPr sz="2400" spc="-5" dirty="0">
                <a:cs typeface="Calibri"/>
              </a:rPr>
              <a:t>predicting</a:t>
            </a:r>
            <a:r>
              <a:rPr sz="2400" spc="15" dirty="0">
                <a:cs typeface="Calibri"/>
              </a:rPr>
              <a:t> </a:t>
            </a:r>
            <a:r>
              <a:rPr sz="2400" dirty="0">
                <a:cs typeface="Calibri"/>
              </a:rPr>
              <a:t>what</a:t>
            </a:r>
            <a:r>
              <a:rPr sz="2400" spc="15" dirty="0">
                <a:cs typeface="Calibri"/>
              </a:rPr>
              <a:t> </a:t>
            </a:r>
            <a:r>
              <a:rPr sz="2400" spc="-5" dirty="0">
                <a:cs typeface="Calibri"/>
              </a:rPr>
              <a:t>word</a:t>
            </a:r>
            <a:r>
              <a:rPr sz="2400" spc="10" dirty="0">
                <a:cs typeface="Calibri"/>
              </a:rPr>
              <a:t> </a:t>
            </a:r>
            <a:r>
              <a:rPr sz="2400" dirty="0">
                <a:cs typeface="Calibri"/>
              </a:rPr>
              <a:t>comes</a:t>
            </a:r>
            <a:r>
              <a:rPr sz="2400" spc="5" dirty="0">
                <a:cs typeface="Calibri"/>
              </a:rPr>
              <a:t> </a:t>
            </a:r>
            <a:r>
              <a:rPr sz="2400" dirty="0">
                <a:cs typeface="Calibri"/>
              </a:rPr>
              <a:t>next</a:t>
            </a:r>
          </a:p>
          <a:p>
            <a:pPr marL="3670300">
              <a:spcBef>
                <a:spcPts val="414"/>
              </a:spcBef>
              <a:tabLst>
                <a:tab pos="7653655" algn="l"/>
              </a:tabLst>
            </a:pPr>
            <a:endParaRPr lang="en-US" sz="2400" i="1" dirty="0">
              <a:cs typeface="Calibri"/>
            </a:endParaRPr>
          </a:p>
          <a:p>
            <a:pPr marL="3670300">
              <a:lnSpc>
                <a:spcPts val="2710"/>
              </a:lnSpc>
              <a:spcBef>
                <a:spcPts val="414"/>
              </a:spcBef>
              <a:tabLst>
                <a:tab pos="7653655" algn="l"/>
              </a:tabLst>
            </a:pPr>
            <a:endParaRPr lang="en-IN" sz="2300" u="heavy" spc="-5" dirty="0">
              <a:uFill>
                <a:solidFill>
                  <a:srgbClr val="000000"/>
                </a:solidFill>
              </a:uFill>
              <a:latin typeface="Times New Roman"/>
              <a:cs typeface="Times New Roman"/>
            </a:endParaRPr>
          </a:p>
          <a:p>
            <a:pPr marL="3670300">
              <a:lnSpc>
                <a:spcPts val="2710"/>
              </a:lnSpc>
              <a:spcBef>
                <a:spcPts val="414"/>
              </a:spcBef>
              <a:tabLst>
                <a:tab pos="7653655" algn="l"/>
              </a:tabLst>
            </a:pPr>
            <a:endParaRPr lang="en-US" sz="2300" u="heavy" spc="-5" dirty="0">
              <a:uFill>
                <a:solidFill>
                  <a:srgbClr val="000000"/>
                </a:solidFill>
              </a:uFill>
              <a:latin typeface="Times New Roman"/>
              <a:cs typeface="Times New Roman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9DC5FD8-82A6-0101-1618-5054685EF351}"/>
              </a:ext>
            </a:extLst>
          </p:cNvPr>
          <p:cNvGrpSpPr/>
          <p:nvPr/>
        </p:nvGrpSpPr>
        <p:grpSpPr>
          <a:xfrm>
            <a:off x="2257736" y="2313468"/>
            <a:ext cx="9709851" cy="3724905"/>
            <a:chOff x="911257" y="2012499"/>
            <a:chExt cx="9479771" cy="3499244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6BE3CDD-C09A-8CCB-2024-DF39F6855EBB}"/>
                </a:ext>
              </a:extLst>
            </p:cNvPr>
            <p:cNvGrpSpPr/>
            <p:nvPr/>
          </p:nvGrpSpPr>
          <p:grpSpPr>
            <a:xfrm>
              <a:off x="911257" y="2012499"/>
              <a:ext cx="9479771" cy="3499244"/>
              <a:chOff x="339080" y="828934"/>
              <a:chExt cx="9479771" cy="3499244"/>
            </a:xfrm>
          </p:grpSpPr>
          <p:sp>
            <p:nvSpPr>
              <p:cNvPr id="11" name="Google Shape;72;p16">
                <a:extLst>
                  <a:ext uri="{FF2B5EF4-FFF2-40B4-BE49-F238E27FC236}">
                    <a16:creationId xmlns:a16="http://schemas.microsoft.com/office/drawing/2014/main" id="{2EB14F92-D93E-31F5-3132-4B866DFBC90A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851878" y="2043984"/>
                <a:ext cx="3384672" cy="73378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spcFirstLastPara="1" vert="horz" wrap="square" lIns="91425" tIns="91425" rIns="91425" bIns="91425" numCol="1" anchor="t" anchorCtr="0" compatLnSpc="1">
                <a:prstTxWarp prst="textNoShape">
                  <a:avLst/>
                </a:prstTxWarp>
                <a:normAutofit/>
              </a:bodyPr>
              <a:lstStyle>
                <a:lvl1pPr marL="228600" indent="-228600" algn="l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None/>
                </a:pPr>
                <a:r>
                  <a:rPr lang="en-US" sz="1800" dirty="0">
                    <a:solidFill>
                      <a:schemeClr val="accent5"/>
                    </a:solidFill>
                  </a:rPr>
                  <a:t>I like pizza with loads of  </a:t>
                </a:r>
                <a:r>
                  <a:rPr lang="en-US" sz="1800" dirty="0">
                    <a:solidFill>
                      <a:schemeClr val="accent1"/>
                    </a:solidFill>
                  </a:rPr>
                  <a:t>______</a:t>
                </a:r>
                <a:r>
                  <a:rPr lang="en-US" sz="1800" dirty="0"/>
                  <a:t>.</a:t>
                </a:r>
              </a:p>
            </p:txBody>
          </p:sp>
          <p:cxnSp>
            <p:nvCxnSpPr>
              <p:cNvPr id="17" name="Google Shape;73;p16">
                <a:extLst>
                  <a:ext uri="{FF2B5EF4-FFF2-40B4-BE49-F238E27FC236}">
                    <a16:creationId xmlns:a16="http://schemas.microsoft.com/office/drawing/2014/main" id="{3A7926E2-EB2B-78B1-75FD-7541670DEC92}"/>
                  </a:ext>
                </a:extLst>
              </p:cNvPr>
              <p:cNvCxnSpPr/>
              <p:nvPr/>
            </p:nvCxnSpPr>
            <p:spPr>
              <a:xfrm rot="10800000" flipH="1">
                <a:off x="3990025" y="1040275"/>
                <a:ext cx="2101200" cy="1191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18" name="Google Shape;74;p16">
                <a:extLst>
                  <a:ext uri="{FF2B5EF4-FFF2-40B4-BE49-F238E27FC236}">
                    <a16:creationId xmlns:a16="http://schemas.microsoft.com/office/drawing/2014/main" id="{B9226D08-4CEC-0620-7444-B31E5216F21F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6183897" y="828934"/>
                <a:ext cx="1118162" cy="4479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spcFirstLastPara="1" vert="horz" wrap="square" lIns="91425" tIns="91425" rIns="91425" bIns="91425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228600" indent="-228600" algn="l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spcBef>
                    <a:spcPts val="0"/>
                  </a:spcBef>
                  <a:spcAft>
                    <a:spcPts val="1200"/>
                  </a:spcAft>
                  <a:buSzPts val="1018"/>
                  <a:buFont typeface="Arial" panose="020B0604020202020204" pitchFamily="34" charset="0"/>
                  <a:buNone/>
                </a:pPr>
                <a:r>
                  <a:rPr lang="en-IN" sz="1800" b="1" dirty="0"/>
                  <a:t>cheese</a:t>
                </a:r>
              </a:p>
            </p:txBody>
          </p:sp>
          <p:sp>
            <p:nvSpPr>
              <p:cNvPr id="19" name="Google Shape;75;p16">
                <a:extLst>
                  <a:ext uri="{FF2B5EF4-FFF2-40B4-BE49-F238E27FC236}">
                    <a16:creationId xmlns:a16="http://schemas.microsoft.com/office/drawing/2014/main" id="{B6965C7E-BBA0-CAE7-8350-0217BE8BCEF4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6373678" y="1165066"/>
                <a:ext cx="3445173" cy="536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spcFirstLastPara="1" vert="horz" wrap="square" lIns="91425" tIns="91425" rIns="91425" bIns="91425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228600" indent="-228600" algn="l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SzPts val="1018"/>
                  <a:buFont typeface="Arial" panose="020B0604020202020204" pitchFamily="34" charset="0"/>
                  <a:buNone/>
                </a:pPr>
                <a:r>
                  <a:rPr lang="en-US" sz="1800" dirty="0"/>
                  <a:t>P(cheese | </a:t>
                </a:r>
                <a:r>
                  <a:rPr lang="en-US" sz="1800" dirty="0">
                    <a:solidFill>
                      <a:schemeClr val="accent5"/>
                    </a:solidFill>
                  </a:rPr>
                  <a:t>I like pizza with loads of</a:t>
                </a:r>
                <a:r>
                  <a:rPr lang="en-US" sz="1800" dirty="0"/>
                  <a:t>) </a:t>
                </a:r>
              </a:p>
            </p:txBody>
          </p:sp>
          <p:cxnSp>
            <p:nvCxnSpPr>
              <p:cNvPr id="20" name="Google Shape;76;p16">
                <a:extLst>
                  <a:ext uri="{FF2B5EF4-FFF2-40B4-BE49-F238E27FC236}">
                    <a16:creationId xmlns:a16="http://schemas.microsoft.com/office/drawing/2014/main" id="{06EBA553-75A8-CF96-E8E2-700A34BD79F8}"/>
                  </a:ext>
                </a:extLst>
              </p:cNvPr>
              <p:cNvCxnSpPr/>
              <p:nvPr/>
            </p:nvCxnSpPr>
            <p:spPr>
              <a:xfrm>
                <a:off x="3973675" y="2231275"/>
                <a:ext cx="21240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21" name="Google Shape;77;p16">
                <a:extLst>
                  <a:ext uri="{FF2B5EF4-FFF2-40B4-BE49-F238E27FC236}">
                    <a16:creationId xmlns:a16="http://schemas.microsoft.com/office/drawing/2014/main" id="{568F4547-D7B3-1C37-AB0D-7C21E483A023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6232024" y="3396908"/>
                <a:ext cx="851400" cy="3948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spcFirstLastPara="1" vert="horz" wrap="square" lIns="91425" tIns="91425" rIns="91425" bIns="91425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228600" indent="-228600" algn="l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spcBef>
                    <a:spcPts val="0"/>
                  </a:spcBef>
                  <a:spcAft>
                    <a:spcPts val="1200"/>
                  </a:spcAft>
                  <a:buSzPts val="1018"/>
                  <a:buFont typeface="Arial" panose="020B0604020202020204" pitchFamily="34" charset="0"/>
                  <a:buNone/>
                </a:pPr>
                <a:r>
                  <a:rPr lang="en-IN" sz="1800" b="1" dirty="0"/>
                  <a:t>tree</a:t>
                </a:r>
              </a:p>
            </p:txBody>
          </p:sp>
          <p:sp>
            <p:nvSpPr>
              <p:cNvPr id="22" name="Google Shape;78;p16">
                <a:extLst>
                  <a:ext uri="{FF2B5EF4-FFF2-40B4-BE49-F238E27FC236}">
                    <a16:creationId xmlns:a16="http://schemas.microsoft.com/office/drawing/2014/main" id="{696A83C5-8A92-19EF-F4FF-BC2D561EDD8D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6375482" y="3791778"/>
                <a:ext cx="3269700" cy="536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spcFirstLastPara="1" vert="horz" wrap="square" lIns="91425" tIns="91425" rIns="91425" bIns="91425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228600" indent="-228600" algn="l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SzPts val="1018"/>
                  <a:buFont typeface="Arial" panose="020B0604020202020204" pitchFamily="34" charset="0"/>
                  <a:buNone/>
                </a:pPr>
                <a:r>
                  <a:rPr lang="en-US" sz="1800" dirty="0"/>
                  <a:t>P(tree | </a:t>
                </a:r>
                <a:r>
                  <a:rPr lang="en-US" sz="1800" dirty="0">
                    <a:solidFill>
                      <a:schemeClr val="accent5"/>
                    </a:solidFill>
                  </a:rPr>
                  <a:t>I like pizza with loads of</a:t>
                </a:r>
                <a:r>
                  <a:rPr lang="en-US" sz="1800" dirty="0"/>
                  <a:t>) </a:t>
                </a:r>
              </a:p>
            </p:txBody>
          </p:sp>
          <p:cxnSp>
            <p:nvCxnSpPr>
              <p:cNvPr id="23" name="Google Shape;79;p16">
                <a:extLst>
                  <a:ext uri="{FF2B5EF4-FFF2-40B4-BE49-F238E27FC236}">
                    <a16:creationId xmlns:a16="http://schemas.microsoft.com/office/drawing/2014/main" id="{2F01171F-13B3-2895-563A-D0C6A1A9BC94}"/>
                  </a:ext>
                </a:extLst>
              </p:cNvPr>
              <p:cNvCxnSpPr/>
              <p:nvPr/>
            </p:nvCxnSpPr>
            <p:spPr>
              <a:xfrm>
                <a:off x="3990025" y="2231275"/>
                <a:ext cx="2119800" cy="1289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24" name="Google Shape;80;p16">
                <a:extLst>
                  <a:ext uri="{FF2B5EF4-FFF2-40B4-BE49-F238E27FC236}">
                    <a16:creationId xmlns:a16="http://schemas.microsoft.com/office/drawing/2014/main" id="{85C7FCB3-F2B6-D73F-8A07-D3092F1AE967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6085774" y="2023731"/>
                <a:ext cx="1143900" cy="402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spcFirstLastPara="1" vert="horz" wrap="square" lIns="91425" tIns="91425" rIns="91425" bIns="91425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228600" indent="-228600" algn="l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spcBef>
                    <a:spcPts val="0"/>
                  </a:spcBef>
                  <a:spcAft>
                    <a:spcPts val="1200"/>
                  </a:spcAft>
                  <a:buSzPts val="1018"/>
                  <a:buFont typeface="Arial" panose="020B0604020202020204" pitchFamily="34" charset="0"/>
                  <a:buNone/>
                </a:pPr>
                <a:r>
                  <a:rPr lang="en-IN" sz="1800" b="1" dirty="0"/>
                  <a:t>corn</a:t>
                </a:r>
              </a:p>
            </p:txBody>
          </p:sp>
          <p:sp>
            <p:nvSpPr>
              <p:cNvPr id="25" name="Google Shape;81;p16">
                <a:extLst>
                  <a:ext uri="{FF2B5EF4-FFF2-40B4-BE49-F238E27FC236}">
                    <a16:creationId xmlns:a16="http://schemas.microsoft.com/office/drawing/2014/main" id="{784EFD5D-5865-7E5E-1508-B1EC88609592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6373678" y="2358853"/>
                <a:ext cx="3269700" cy="536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spcFirstLastPara="1" vert="horz" wrap="square" lIns="91425" tIns="91425" rIns="91425" bIns="91425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228600" indent="-228600" algn="l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SzPts val="1018"/>
                  <a:buFont typeface="Arial" panose="020B0604020202020204" pitchFamily="34" charset="0"/>
                  <a:buNone/>
                </a:pPr>
                <a:r>
                  <a:rPr lang="en-US" sz="1800" dirty="0"/>
                  <a:t>P(corn | </a:t>
                </a:r>
                <a:r>
                  <a:rPr lang="en-US" sz="1800" dirty="0">
                    <a:solidFill>
                      <a:schemeClr val="accent5"/>
                    </a:solidFill>
                  </a:rPr>
                  <a:t>I like pizza with loads of</a:t>
                </a:r>
                <a:r>
                  <a:rPr lang="en-US" sz="1800" dirty="0"/>
                  <a:t>) </a:t>
                </a:r>
              </a:p>
            </p:txBody>
          </p:sp>
          <p:sp>
            <p:nvSpPr>
              <p:cNvPr id="26" name="Google Shape;85;p16">
                <a:extLst>
                  <a:ext uri="{FF2B5EF4-FFF2-40B4-BE49-F238E27FC236}">
                    <a16:creationId xmlns:a16="http://schemas.microsoft.com/office/drawing/2014/main" id="{4CCA54EF-8C79-B325-A2F6-6803B495FE7E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39080" y="2513951"/>
                <a:ext cx="3078496" cy="4035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spcFirstLastPara="1" vert="horz" wrap="square" lIns="91425" tIns="91425" rIns="91425" bIns="91425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228600" indent="-228600" algn="l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SzPts val="1018"/>
                  <a:buFont typeface="Arial" panose="020B0604020202020204" pitchFamily="34" charset="0"/>
                  <a:buNone/>
                </a:pPr>
                <a:r>
                  <a:rPr lang="en-US" sz="1600" dirty="0">
                    <a:solidFill>
                      <a:schemeClr val="accent5"/>
                    </a:solidFill>
                    <a:ea typeface="Nunito SemiBold"/>
                    <a:cs typeface="Nunito SemiBold"/>
                    <a:sym typeface="Nunito SemiBold"/>
                  </a:rPr>
                  <a:t>Previous words in the sentence</a:t>
                </a:r>
              </a:p>
            </p:txBody>
          </p:sp>
          <p:sp>
            <p:nvSpPr>
              <p:cNvPr id="31" name="Google Shape;86;p16">
                <a:extLst>
                  <a:ext uri="{FF2B5EF4-FFF2-40B4-BE49-F238E27FC236}">
                    <a16:creationId xmlns:a16="http://schemas.microsoft.com/office/drawing/2014/main" id="{097ED44B-6C99-F5F3-A20C-019151A3ADC4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117436" y="2583705"/>
                <a:ext cx="1191378" cy="5653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spcFirstLastPara="1" vert="horz" wrap="square" lIns="91425" tIns="91425" rIns="91425" bIns="91425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228600" indent="-228600" algn="l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SzPts val="1018"/>
                  <a:buFont typeface="Arial" panose="020B0604020202020204" pitchFamily="34" charset="0"/>
                  <a:buNone/>
                </a:pPr>
                <a:r>
                  <a:rPr lang="en-IN" sz="1600" dirty="0">
                    <a:solidFill>
                      <a:schemeClr val="accent1"/>
                    </a:solidFill>
                    <a:ea typeface="Nunito SemiBold"/>
                    <a:cs typeface="Nunito SemiBold"/>
                    <a:sym typeface="Nunito SemiBold"/>
                  </a:rPr>
                  <a:t>Word to be predicted</a:t>
                </a:r>
              </a:p>
            </p:txBody>
          </p:sp>
          <p:cxnSp>
            <p:nvCxnSpPr>
              <p:cNvPr id="32" name="Google Shape;87;p16">
                <a:extLst>
                  <a:ext uri="{FF2B5EF4-FFF2-40B4-BE49-F238E27FC236}">
                    <a16:creationId xmlns:a16="http://schemas.microsoft.com/office/drawing/2014/main" id="{AFC44C65-52BE-1104-5A84-66B9B225200A}"/>
                  </a:ext>
                </a:extLst>
              </p:cNvPr>
              <p:cNvCxnSpPr/>
              <p:nvPr/>
            </p:nvCxnSpPr>
            <p:spPr>
              <a:xfrm rot="10800000">
                <a:off x="3656903" y="2377001"/>
                <a:ext cx="0" cy="273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6" name="Left Brace 5">
              <a:extLst>
                <a:ext uri="{FF2B5EF4-FFF2-40B4-BE49-F238E27FC236}">
                  <a16:creationId xmlns:a16="http://schemas.microsoft.com/office/drawing/2014/main" id="{67B37F23-B858-3F53-0BBF-F0D648298578}"/>
                </a:ext>
              </a:extLst>
            </p:cNvPr>
            <p:cNvSpPr/>
            <p:nvPr/>
          </p:nvSpPr>
          <p:spPr>
            <a:xfrm rot="16200000">
              <a:off x="2446915" y="2559855"/>
              <a:ext cx="219835" cy="2208316"/>
            </a:xfrm>
            <a:prstGeom prst="leftBrace">
              <a:avLst>
                <a:gd name="adj1" fmla="val 8333"/>
                <a:gd name="adj2" fmla="val 49608"/>
              </a:avLst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33480837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1325" y="955948"/>
            <a:ext cx="1130776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Language</a:t>
            </a:r>
            <a:r>
              <a:rPr spc="-45" dirty="0"/>
              <a:t> </a:t>
            </a:r>
            <a:r>
              <a:rPr spc="-5" dirty="0"/>
              <a:t>Modeling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/>
              <p:cNvSpPr txBox="1"/>
              <p:nvPr/>
            </p:nvSpPr>
            <p:spPr>
              <a:xfrm>
                <a:off x="441324" y="1808163"/>
                <a:ext cx="11307763" cy="1884427"/>
              </a:xfrm>
              <a:prstGeom prst="rect">
                <a:avLst/>
              </a:prstGeom>
            </p:spPr>
            <p:txBody>
              <a:bodyPr vert="horz" wrap="square" lIns="0" tIns="9525" rIns="0" bIns="0" rtlCol="0">
                <a:spAutoFit/>
              </a:bodyPr>
              <a:lstStyle/>
              <a:p>
                <a:pPr marL="355600" marR="514984" indent="-342900">
                  <a:spcBef>
                    <a:spcPts val="75"/>
                  </a:spcBef>
                  <a:buClr>
                    <a:srgbClr val="8C1515"/>
                  </a:buClr>
                  <a:buFont typeface="Arial" panose="020B0604020202020204" pitchFamily="34" charset="0"/>
                  <a:buChar char="•"/>
                  <a:tabLst>
                    <a:tab pos="354965" algn="l"/>
                    <a:tab pos="355600" algn="l"/>
                  </a:tabLst>
                </a:pPr>
                <a:r>
                  <a:rPr lang="en-US" sz="2400" dirty="0">
                    <a:cs typeface="Calibri"/>
                  </a:rPr>
                  <a:t>You </a:t>
                </a:r>
                <a:r>
                  <a:rPr lang="en-US" sz="2400" spc="-5" dirty="0">
                    <a:cs typeface="Calibri"/>
                  </a:rPr>
                  <a:t>can also think of </a:t>
                </a:r>
                <a:r>
                  <a:rPr lang="en-US" sz="2400" dirty="0">
                    <a:cs typeface="Calibri"/>
                  </a:rPr>
                  <a:t>a </a:t>
                </a:r>
                <a:r>
                  <a:rPr lang="en-US" sz="2400" spc="-5" dirty="0">
                    <a:cs typeface="Calibri"/>
                  </a:rPr>
                  <a:t>Language Model </a:t>
                </a:r>
                <a:r>
                  <a:rPr lang="en-US" sz="2400" dirty="0">
                    <a:cs typeface="Calibri"/>
                  </a:rPr>
                  <a:t>as a </a:t>
                </a:r>
                <a:r>
                  <a:rPr lang="en-US" sz="2400" spc="-5" dirty="0">
                    <a:cs typeface="Calibri"/>
                  </a:rPr>
                  <a:t>system that </a:t>
                </a:r>
                <a:r>
                  <a:rPr lang="en-US" sz="2400" spc="-530" dirty="0">
                    <a:cs typeface="Calibri"/>
                  </a:rPr>
                  <a:t> </a:t>
                </a:r>
                <a:r>
                  <a:rPr lang="en-US" sz="2400" spc="-5" dirty="0">
                    <a:solidFill>
                      <a:schemeClr val="accent5"/>
                    </a:solidFill>
                    <a:cs typeface="Calibri"/>
                  </a:rPr>
                  <a:t>assigns</a:t>
                </a:r>
                <a:r>
                  <a:rPr lang="en-US" sz="2400" spc="-15" dirty="0">
                    <a:solidFill>
                      <a:schemeClr val="accent5"/>
                    </a:solidFill>
                    <a:cs typeface="Calibri"/>
                  </a:rPr>
                  <a:t> </a:t>
                </a:r>
                <a:r>
                  <a:rPr lang="en-US" sz="2400" dirty="0">
                    <a:solidFill>
                      <a:schemeClr val="accent5"/>
                    </a:solidFill>
                    <a:cs typeface="Calibri"/>
                  </a:rPr>
                  <a:t>a</a:t>
                </a:r>
                <a:r>
                  <a:rPr lang="en-US" sz="2400" spc="-5" dirty="0">
                    <a:solidFill>
                      <a:schemeClr val="accent5"/>
                    </a:solidFill>
                    <a:cs typeface="Calibri"/>
                  </a:rPr>
                  <a:t> probability to</a:t>
                </a:r>
                <a:r>
                  <a:rPr lang="en-US" sz="2400" spc="-10" dirty="0">
                    <a:solidFill>
                      <a:schemeClr val="accent5"/>
                    </a:solidFill>
                    <a:cs typeface="Calibri"/>
                  </a:rPr>
                  <a:t> </a:t>
                </a:r>
                <a:r>
                  <a:rPr lang="en-US" sz="2400" dirty="0">
                    <a:solidFill>
                      <a:schemeClr val="accent5"/>
                    </a:solidFill>
                    <a:cs typeface="Calibri"/>
                  </a:rPr>
                  <a:t>a</a:t>
                </a:r>
                <a:r>
                  <a:rPr lang="en-US" sz="2400" spc="-5" dirty="0">
                    <a:solidFill>
                      <a:schemeClr val="accent5"/>
                    </a:solidFill>
                    <a:cs typeface="Calibri"/>
                  </a:rPr>
                  <a:t> piece</a:t>
                </a:r>
                <a:r>
                  <a:rPr lang="en-US" sz="2400" dirty="0">
                    <a:solidFill>
                      <a:schemeClr val="accent5"/>
                    </a:solidFill>
                    <a:cs typeface="Calibri"/>
                  </a:rPr>
                  <a:t> </a:t>
                </a:r>
                <a:r>
                  <a:rPr lang="en-US" sz="2400" spc="-5" dirty="0">
                    <a:solidFill>
                      <a:schemeClr val="accent5"/>
                    </a:solidFill>
                    <a:cs typeface="Calibri"/>
                  </a:rPr>
                  <a:t>of</a:t>
                </a:r>
                <a:r>
                  <a:rPr lang="en-US" sz="2400" dirty="0">
                    <a:solidFill>
                      <a:schemeClr val="accent5"/>
                    </a:solidFill>
                    <a:cs typeface="Calibri"/>
                  </a:rPr>
                  <a:t> </a:t>
                </a:r>
                <a:r>
                  <a:rPr lang="en-US" sz="2400" spc="-5" dirty="0">
                    <a:solidFill>
                      <a:schemeClr val="accent5"/>
                    </a:solidFill>
                    <a:cs typeface="Calibri"/>
                  </a:rPr>
                  <a:t>text</a:t>
                </a:r>
                <a:r>
                  <a:rPr lang="en-US" sz="2400" spc="-5" dirty="0">
                    <a:cs typeface="Calibri"/>
                  </a:rPr>
                  <a:t>.</a:t>
                </a:r>
                <a:endParaRPr lang="en-US" sz="2400" dirty="0">
                  <a:solidFill>
                    <a:schemeClr val="accent5"/>
                  </a:solidFill>
                  <a:cs typeface="Calibri"/>
                </a:endParaRPr>
              </a:p>
              <a:p>
                <a:pPr>
                  <a:spcBef>
                    <a:spcPts val="55"/>
                  </a:spcBef>
                  <a:buClr>
                    <a:srgbClr val="8C1515"/>
                  </a:buClr>
                  <a:buFont typeface="Times New Roman"/>
                  <a:buChar char="•"/>
                </a:pPr>
                <a:endParaRPr lang="en-US" sz="2400" dirty="0">
                  <a:cs typeface="Calibri"/>
                </a:endParaRPr>
              </a:p>
              <a:p>
                <a:pPr marL="355600" marR="5080" indent="-342900">
                  <a:buClr>
                    <a:srgbClr val="8C1515"/>
                  </a:buClr>
                  <a:buFont typeface="Arial" panose="020B0604020202020204" pitchFamily="34" charset="0"/>
                  <a:buChar char="•"/>
                  <a:tabLst>
                    <a:tab pos="354965" algn="l"/>
                    <a:tab pos="355600" algn="l"/>
                    <a:tab pos="6370955" algn="l"/>
                  </a:tabLst>
                </a:pPr>
                <a:r>
                  <a:rPr lang="en-US" sz="2400" spc="-5" dirty="0">
                    <a:cs typeface="Calibri"/>
                  </a:rPr>
                  <a:t>For</a:t>
                </a:r>
                <a:r>
                  <a:rPr lang="en-US" sz="2400" dirty="0">
                    <a:cs typeface="Calibri"/>
                  </a:rPr>
                  <a:t> </a:t>
                </a:r>
                <a:r>
                  <a:rPr lang="en-US" sz="2400" spc="-5" dirty="0">
                    <a:cs typeface="Calibri"/>
                  </a:rPr>
                  <a:t>example,</a:t>
                </a:r>
                <a:r>
                  <a:rPr lang="en-US" sz="2400" spc="5" dirty="0">
                    <a:cs typeface="Calibri"/>
                  </a:rPr>
                  <a:t> </a:t>
                </a:r>
                <a:r>
                  <a:rPr lang="en-US" sz="2400" spc="-5" dirty="0">
                    <a:cs typeface="Calibri"/>
                  </a:rPr>
                  <a:t>if</a:t>
                </a:r>
                <a:r>
                  <a:rPr lang="en-US" sz="2400" spc="5" dirty="0">
                    <a:cs typeface="Calibri"/>
                  </a:rPr>
                  <a:t> </a:t>
                </a:r>
                <a:r>
                  <a:rPr lang="en-US" sz="2400" spc="-5" dirty="0">
                    <a:cs typeface="Calibri"/>
                  </a:rPr>
                  <a:t>we</a:t>
                </a:r>
                <a:r>
                  <a:rPr lang="en-US" sz="2400" spc="10" dirty="0">
                    <a:cs typeface="Calibri"/>
                  </a:rPr>
                  <a:t> </a:t>
                </a:r>
                <a:r>
                  <a:rPr lang="en-US" sz="2400" dirty="0">
                    <a:cs typeface="Calibri"/>
                  </a:rPr>
                  <a:t>have</a:t>
                </a:r>
                <a:r>
                  <a:rPr lang="en-US" sz="2400" spc="10" dirty="0">
                    <a:cs typeface="Calibri"/>
                  </a:rPr>
                  <a:t> </a:t>
                </a:r>
                <a:r>
                  <a:rPr lang="en-US" sz="2400" spc="-5" dirty="0">
                    <a:cs typeface="Calibri"/>
                  </a:rPr>
                  <a:t>some</a:t>
                </a:r>
                <a:r>
                  <a:rPr lang="en-US" sz="2400" spc="5" dirty="0">
                    <a:cs typeface="Calibri"/>
                  </a:rPr>
                  <a:t> </a:t>
                </a:r>
                <a:r>
                  <a:rPr lang="en-US" sz="2400" spc="-5" dirty="0">
                    <a:cs typeface="Calibri"/>
                  </a:rPr>
                  <a:t>text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2400" i="1" spc="-5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pPr>
                      <m:e>
                        <m:r>
                          <a:rPr lang="ar-AE" sz="2400" b="0" i="1" spc="-5" smtClean="0">
                            <a:latin typeface="Cambria Math" panose="02040503050406030204" pitchFamily="18" charset="0"/>
                            <a:cs typeface="Calibri"/>
                          </a:rPr>
                          <m:t>𝑥</m:t>
                        </m:r>
                      </m:e>
                      <m:sup>
                        <m:r>
                          <a:rPr lang="ar-AE" sz="2400" b="0" i="1" spc="-5" smtClean="0">
                            <a:latin typeface="Cambria Math" panose="02040503050406030204" pitchFamily="18" charset="0"/>
                            <a:cs typeface="Calibri"/>
                          </a:rPr>
                          <m:t>(1)</m:t>
                        </m:r>
                      </m:sup>
                    </m:sSup>
                    <m:r>
                      <a:rPr lang="ar-AE" sz="2400" b="0" i="1" spc="-5" smtClean="0">
                        <a:latin typeface="Cambria Math" panose="02040503050406030204" pitchFamily="18" charset="0"/>
                        <a:cs typeface="Calibri"/>
                      </a:rPr>
                      <m:t>, …,</m:t>
                    </m:r>
                    <m:sSup>
                      <m:sSupPr>
                        <m:ctrlPr>
                          <a:rPr lang="ar-AE" sz="2400" i="1" spc="-5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pPr>
                      <m:e>
                        <m:r>
                          <a:rPr lang="ar-AE" sz="2400" i="1" spc="-5">
                            <a:latin typeface="Cambria Math" panose="02040503050406030204" pitchFamily="18" charset="0"/>
                            <a:cs typeface="Calibri"/>
                          </a:rPr>
                          <m:t>𝑥</m:t>
                        </m:r>
                      </m:e>
                      <m:sup>
                        <m:r>
                          <a:rPr lang="ar-AE" sz="2400" i="1" spc="-5">
                            <a:latin typeface="Cambria Math" panose="02040503050406030204" pitchFamily="18" charset="0"/>
                            <a:cs typeface="Calibri"/>
                          </a:rPr>
                          <m:t>(</m:t>
                        </m:r>
                        <m:r>
                          <a:rPr lang="ar-AE" sz="2400" b="0" i="1" spc="-5" smtClean="0">
                            <a:latin typeface="Cambria Math" panose="02040503050406030204" pitchFamily="18" charset="0"/>
                            <a:cs typeface="Calibri"/>
                          </a:rPr>
                          <m:t>𝑇</m:t>
                        </m:r>
                        <m:r>
                          <a:rPr lang="ar-AE" sz="2400" i="1" spc="-5">
                            <a:latin typeface="Cambria Math" panose="02040503050406030204" pitchFamily="18" charset="0"/>
                            <a:cs typeface="Calibri"/>
                          </a:rPr>
                          <m:t>)</m:t>
                        </m:r>
                      </m:sup>
                    </m:sSup>
                  </m:oMath>
                </a14:m>
                <a:r>
                  <a:rPr lang="ar-AE" sz="2400" dirty="0">
                    <a:cs typeface="Calibri"/>
                  </a:rPr>
                  <a:t>, </a:t>
                </a:r>
                <a:r>
                  <a:rPr lang="en-US" sz="2400" dirty="0">
                    <a:cs typeface="Calibri"/>
                  </a:rPr>
                  <a:t> then </a:t>
                </a:r>
                <a:r>
                  <a:rPr lang="en-US" sz="2400" spc="-5" dirty="0">
                    <a:cs typeface="Calibri"/>
                  </a:rPr>
                  <a:t>the </a:t>
                </a:r>
                <a:r>
                  <a:rPr lang="en-US" sz="2400" dirty="0">
                    <a:cs typeface="Calibri"/>
                  </a:rPr>
                  <a:t> </a:t>
                </a:r>
                <a:r>
                  <a:rPr lang="en-US" sz="2400" spc="-5" dirty="0">
                    <a:cs typeface="Calibri"/>
                  </a:rPr>
                  <a:t>probability</a:t>
                </a:r>
                <a:r>
                  <a:rPr lang="en-US" sz="2400" dirty="0">
                    <a:cs typeface="Calibri"/>
                  </a:rPr>
                  <a:t> </a:t>
                </a:r>
                <a:r>
                  <a:rPr lang="en-US" sz="2400" spc="-5" dirty="0">
                    <a:cs typeface="Calibri"/>
                  </a:rPr>
                  <a:t>of</a:t>
                </a:r>
                <a:r>
                  <a:rPr lang="en-US" sz="2400" spc="5" dirty="0">
                    <a:cs typeface="Calibri"/>
                  </a:rPr>
                  <a:t> </a:t>
                </a:r>
                <a:r>
                  <a:rPr lang="en-US" sz="2400" spc="-5" dirty="0">
                    <a:cs typeface="Calibri"/>
                  </a:rPr>
                  <a:t>this text (according to</a:t>
                </a:r>
                <a:r>
                  <a:rPr lang="en-US" sz="2400" dirty="0">
                    <a:cs typeface="Calibri"/>
                  </a:rPr>
                  <a:t> </a:t>
                </a:r>
                <a:r>
                  <a:rPr lang="en-US" sz="2400" spc="-5" dirty="0">
                    <a:cs typeface="Calibri"/>
                  </a:rPr>
                  <a:t>the</a:t>
                </a:r>
                <a:r>
                  <a:rPr lang="en-US" sz="2400" spc="5" dirty="0">
                    <a:cs typeface="Calibri"/>
                  </a:rPr>
                  <a:t> </a:t>
                </a:r>
                <a:r>
                  <a:rPr lang="en-US" sz="2400" spc="-5" dirty="0">
                    <a:cs typeface="Calibri"/>
                  </a:rPr>
                  <a:t>Language</a:t>
                </a:r>
                <a:r>
                  <a:rPr lang="en-US" sz="2400" spc="5" dirty="0">
                    <a:cs typeface="Calibri"/>
                  </a:rPr>
                  <a:t> </a:t>
                </a:r>
                <a:r>
                  <a:rPr lang="en-US" sz="2400" spc="-5" dirty="0">
                    <a:cs typeface="Calibri"/>
                  </a:rPr>
                  <a:t>Model) is:</a:t>
                </a:r>
                <a:endParaRPr lang="en-US" sz="2400" dirty="0">
                  <a:cs typeface="Calibri"/>
                </a:endParaRPr>
              </a:p>
            </p:txBody>
          </p:sp>
        </mc:Choice>
        <mc:Fallback xmlns=""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324" y="1808163"/>
                <a:ext cx="11307763" cy="1884427"/>
              </a:xfrm>
              <a:prstGeom prst="rect">
                <a:avLst/>
              </a:prstGeom>
              <a:blipFill>
                <a:blip r:embed="rId2"/>
                <a:stretch>
                  <a:fillRect l="-1402" t="-4531" b="-906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51881" y="4056147"/>
            <a:ext cx="7888238" cy="121731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4650581" y="5140742"/>
            <a:ext cx="2300605" cy="265430"/>
          </a:xfrm>
          <a:custGeom>
            <a:avLst/>
            <a:gdLst/>
            <a:ahLst/>
            <a:cxnLst/>
            <a:rect l="l" t="t" r="r" b="b"/>
            <a:pathLst>
              <a:path w="2300604" h="265429">
                <a:moveTo>
                  <a:pt x="2300361" y="0"/>
                </a:moveTo>
                <a:lnTo>
                  <a:pt x="2291190" y="51612"/>
                </a:lnTo>
                <a:lnTo>
                  <a:pt x="2266183" y="93759"/>
                </a:lnTo>
                <a:lnTo>
                  <a:pt x="2229091" y="122175"/>
                </a:lnTo>
                <a:lnTo>
                  <a:pt x="2183670" y="132596"/>
                </a:lnTo>
                <a:lnTo>
                  <a:pt x="1266871" y="132596"/>
                </a:lnTo>
                <a:lnTo>
                  <a:pt x="1221449" y="143016"/>
                </a:lnTo>
                <a:lnTo>
                  <a:pt x="1184358" y="171432"/>
                </a:lnTo>
                <a:lnTo>
                  <a:pt x="1159350" y="213579"/>
                </a:lnTo>
                <a:lnTo>
                  <a:pt x="1150180" y="265192"/>
                </a:lnTo>
                <a:lnTo>
                  <a:pt x="1141009" y="213579"/>
                </a:lnTo>
                <a:lnTo>
                  <a:pt x="1116002" y="171432"/>
                </a:lnTo>
                <a:lnTo>
                  <a:pt x="1078910" y="143016"/>
                </a:lnTo>
                <a:lnTo>
                  <a:pt x="1033489" y="132596"/>
                </a:lnTo>
                <a:lnTo>
                  <a:pt x="116691" y="132596"/>
                </a:lnTo>
                <a:lnTo>
                  <a:pt x="71269" y="122175"/>
                </a:lnTo>
                <a:lnTo>
                  <a:pt x="34178" y="93759"/>
                </a:lnTo>
                <a:lnTo>
                  <a:pt x="9170" y="51612"/>
                </a:lnTo>
                <a:lnTo>
                  <a:pt x="0" y="0"/>
                </a:lnTo>
              </a:path>
            </a:pathLst>
          </a:custGeom>
          <a:ln w="28575">
            <a:solidFill>
              <a:srgbClr val="5D4B3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461350" y="5487154"/>
            <a:ext cx="26790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chemeClr val="accent1"/>
                </a:solidFill>
                <a:cs typeface="Calibri"/>
              </a:rPr>
              <a:t>This</a:t>
            </a:r>
            <a:r>
              <a:rPr sz="1800" spc="-10" dirty="0">
                <a:solidFill>
                  <a:schemeClr val="accent1"/>
                </a:solidFill>
                <a:cs typeface="Calibri"/>
              </a:rPr>
              <a:t> </a:t>
            </a:r>
            <a:r>
              <a:rPr sz="1800" spc="-5" dirty="0">
                <a:solidFill>
                  <a:schemeClr val="accent1"/>
                </a:solidFill>
                <a:cs typeface="Calibri"/>
              </a:rPr>
              <a:t>is</a:t>
            </a:r>
            <a:r>
              <a:rPr sz="1800" spc="-10" dirty="0">
                <a:solidFill>
                  <a:schemeClr val="accent1"/>
                </a:solidFill>
                <a:cs typeface="Calibri"/>
              </a:rPr>
              <a:t> </a:t>
            </a:r>
            <a:r>
              <a:rPr sz="1800" spc="-5" dirty="0">
                <a:solidFill>
                  <a:schemeClr val="accent1"/>
                </a:solidFill>
                <a:cs typeface="Calibri"/>
              </a:rPr>
              <a:t>what </a:t>
            </a:r>
            <a:r>
              <a:rPr sz="1800" dirty="0">
                <a:solidFill>
                  <a:schemeClr val="accent1"/>
                </a:solidFill>
                <a:cs typeface="Calibri"/>
              </a:rPr>
              <a:t>our</a:t>
            </a:r>
            <a:r>
              <a:rPr sz="1800" spc="-10" dirty="0">
                <a:solidFill>
                  <a:schemeClr val="accent1"/>
                </a:solidFill>
                <a:cs typeface="Calibri"/>
              </a:rPr>
              <a:t> </a:t>
            </a:r>
            <a:r>
              <a:rPr sz="1800" dirty="0">
                <a:solidFill>
                  <a:schemeClr val="accent1"/>
                </a:solidFill>
                <a:cs typeface="Calibri"/>
              </a:rPr>
              <a:t>LM</a:t>
            </a:r>
            <a:r>
              <a:rPr sz="1800" spc="-10" dirty="0">
                <a:solidFill>
                  <a:schemeClr val="accent1"/>
                </a:solidFill>
                <a:cs typeface="Calibri"/>
              </a:rPr>
              <a:t> provides</a:t>
            </a:r>
            <a:endParaRPr sz="1800" dirty="0">
              <a:solidFill>
                <a:schemeClr val="accent1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79819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1325" y="955948"/>
            <a:ext cx="1130776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-10" dirty="0"/>
              <a:t> </a:t>
            </a:r>
            <a:r>
              <a:rPr dirty="0"/>
              <a:t>to</a:t>
            </a:r>
            <a:r>
              <a:rPr spc="-5" dirty="0"/>
              <a:t> </a:t>
            </a:r>
            <a:r>
              <a:rPr lang="en-US" spc="-5" dirty="0"/>
              <a:t>B</a:t>
            </a:r>
            <a:r>
              <a:rPr spc="-5" dirty="0"/>
              <a:t>uild</a:t>
            </a:r>
            <a:r>
              <a:rPr spc="-1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lang="en-US" i="1" spc="-5" dirty="0">
                <a:latin typeface="Calibri"/>
                <a:cs typeface="Calibri"/>
              </a:rPr>
              <a:t>N</a:t>
            </a:r>
            <a:r>
              <a:rPr i="1" spc="-5" dirty="0">
                <a:latin typeface="Calibri"/>
                <a:cs typeface="Calibri"/>
              </a:rPr>
              <a:t>eural </a:t>
            </a:r>
            <a:r>
              <a:rPr lang="en-US" spc="-5" dirty="0"/>
              <a:t>L</a:t>
            </a:r>
            <a:r>
              <a:rPr spc="-5" dirty="0"/>
              <a:t>anguage</a:t>
            </a:r>
            <a:r>
              <a:rPr dirty="0"/>
              <a:t> </a:t>
            </a:r>
            <a:r>
              <a:rPr lang="en-US" spc="-5" dirty="0"/>
              <a:t>M</a:t>
            </a:r>
            <a:r>
              <a:rPr spc="-5" dirty="0"/>
              <a:t>odel?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0">
                <a:extLst>
                  <a:ext uri="{FF2B5EF4-FFF2-40B4-BE49-F238E27FC236}">
                    <a16:creationId xmlns:a16="http://schemas.microsoft.com/office/drawing/2014/main" id="{B735E071-6C55-017D-24DD-69CCD04A2B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Recall the Language Modeling task:</a:t>
                </a:r>
              </a:p>
              <a:p>
                <a:pPr lvl="1"/>
                <a:r>
                  <a:rPr lang="en-US" b="1" dirty="0"/>
                  <a:t>Input:</a:t>
                </a:r>
                <a:r>
                  <a:rPr lang="en-US" dirty="0"/>
                  <a:t> sequence of words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2000" b="1" i="1" spc="-5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pPr>
                      <m:e>
                        <m:r>
                          <a:rPr lang="ar-AE" sz="2000" b="1" i="1" spc="-5" smtClean="0">
                            <a:latin typeface="Cambria Math" panose="02040503050406030204" pitchFamily="18" charset="0"/>
                            <a:cs typeface="Calibri"/>
                          </a:rPr>
                          <m:t>𝒙</m:t>
                        </m:r>
                      </m:e>
                      <m:sup>
                        <m:r>
                          <a:rPr lang="ar-AE" sz="2000" b="1" i="1" spc="-5" smtClean="0">
                            <a:latin typeface="Cambria Math" panose="02040503050406030204" pitchFamily="18" charset="0"/>
                            <a:cs typeface="Calibri"/>
                          </a:rPr>
                          <m:t>(</m:t>
                        </m:r>
                        <m:r>
                          <a:rPr lang="ar-AE" sz="2000" b="1" i="1" spc="-5" smtClean="0">
                            <a:latin typeface="Cambria Math" panose="02040503050406030204" pitchFamily="18" charset="0"/>
                            <a:cs typeface="Calibri"/>
                          </a:rPr>
                          <m:t>𝟏</m:t>
                        </m:r>
                        <m:r>
                          <a:rPr lang="ar-AE" sz="2000" b="1" i="1" spc="-5" smtClean="0">
                            <a:latin typeface="Cambria Math" panose="02040503050406030204" pitchFamily="18" charset="0"/>
                            <a:cs typeface="Calibri"/>
                          </a:rPr>
                          <m:t>)</m:t>
                        </m:r>
                      </m:sup>
                    </m:sSup>
                    <m:r>
                      <a:rPr lang="ar-AE" sz="2000" b="1" i="1" spc="-5" smtClean="0">
                        <a:latin typeface="Cambria Math" panose="02040503050406030204" pitchFamily="18" charset="0"/>
                        <a:cs typeface="Calibri"/>
                      </a:rPr>
                      <m:t>,</m:t>
                    </m:r>
                    <m:sSup>
                      <m:sSupPr>
                        <m:ctrlPr>
                          <a:rPr lang="ar-AE" b="1" i="1" spc="-5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pPr>
                      <m:e>
                        <m:r>
                          <a:rPr lang="ar-AE" b="1" i="1" spc="-5">
                            <a:latin typeface="Cambria Math" panose="02040503050406030204" pitchFamily="18" charset="0"/>
                            <a:cs typeface="Calibri"/>
                          </a:rPr>
                          <m:t>𝒙</m:t>
                        </m:r>
                      </m:e>
                      <m:sup>
                        <m:r>
                          <a:rPr lang="ar-AE" b="1" i="1" spc="-5">
                            <a:latin typeface="Cambria Math" panose="02040503050406030204" pitchFamily="18" charset="0"/>
                            <a:cs typeface="Calibri"/>
                          </a:rPr>
                          <m:t>(</m:t>
                        </m:r>
                        <m:r>
                          <a:rPr lang="en-US" b="1" i="1" spc="-5" smtClean="0">
                            <a:latin typeface="Cambria Math" panose="02040503050406030204" pitchFamily="18" charset="0"/>
                            <a:cs typeface="Calibri"/>
                          </a:rPr>
                          <m:t>𝟐</m:t>
                        </m:r>
                        <m:r>
                          <a:rPr lang="ar-AE" b="1" i="1" spc="-5">
                            <a:latin typeface="Cambria Math" panose="02040503050406030204" pitchFamily="18" charset="0"/>
                            <a:cs typeface="Calibri"/>
                          </a:rPr>
                          <m:t>)</m:t>
                        </m:r>
                      </m:sup>
                    </m:sSup>
                    <m:r>
                      <a:rPr lang="ar-AE" b="1" i="1" spc="-5">
                        <a:latin typeface="Cambria Math" panose="02040503050406030204" pitchFamily="18" charset="0"/>
                        <a:cs typeface="Calibri"/>
                      </a:rPr>
                      <m:t>,…,</m:t>
                    </m:r>
                    <m:sSup>
                      <m:sSupPr>
                        <m:ctrlPr>
                          <a:rPr lang="ar-AE" sz="2000" b="1" i="1" spc="-5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pPr>
                      <m:e>
                        <m:r>
                          <a:rPr lang="ar-AE" sz="2000" b="1" i="1" spc="-5">
                            <a:latin typeface="Cambria Math" panose="02040503050406030204" pitchFamily="18" charset="0"/>
                            <a:cs typeface="Calibri"/>
                          </a:rPr>
                          <m:t>𝒙</m:t>
                        </m:r>
                      </m:e>
                      <m:sup>
                        <m:r>
                          <a:rPr lang="ar-AE" sz="2000" b="1" i="1" spc="-5">
                            <a:latin typeface="Cambria Math" panose="02040503050406030204" pitchFamily="18" charset="0"/>
                            <a:cs typeface="Calibri"/>
                          </a:rPr>
                          <m:t>(</m:t>
                        </m:r>
                        <m:r>
                          <a:rPr lang="en-US" sz="2000" b="1" i="1" spc="-5" smtClean="0">
                            <a:latin typeface="Cambria Math" panose="02040503050406030204" pitchFamily="18" charset="0"/>
                            <a:cs typeface="Calibri"/>
                          </a:rPr>
                          <m:t>𝒕</m:t>
                        </m:r>
                        <m:r>
                          <a:rPr lang="ar-AE" sz="2000" b="1" i="1" spc="-5">
                            <a:latin typeface="Cambria Math" panose="02040503050406030204" pitchFamily="18" charset="0"/>
                            <a:cs typeface="Calibri"/>
                          </a:rPr>
                          <m:t>)</m:t>
                        </m:r>
                      </m:sup>
                    </m:sSup>
                  </m:oMath>
                </a14:m>
                <a:endParaRPr lang="en-US" b="1" dirty="0"/>
              </a:p>
              <a:p>
                <a:pPr lvl="1"/>
                <a:r>
                  <a:rPr lang="en-US" b="1" dirty="0"/>
                  <a:t>Output:</a:t>
                </a:r>
                <a:r>
                  <a:rPr lang="en-US" dirty="0"/>
                  <a:t> probability distribution of the next word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cs typeface="Calibri"/>
                      </a:rPr>
                      <m:t>𝑷</m:t>
                    </m:r>
                    <m:d>
                      <m:dPr>
                        <m:ctrlPr>
                          <a:rPr lang="en-US" sz="2000" b="1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p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𝒙</m:t>
                            </m:r>
                          </m:e>
                          <m:sup>
                            <m:d>
                              <m:dPr>
                                <m:ctrlPr>
                                  <a:rPr lang="en-US" sz="2000" b="1" i="1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</m:ctrlPr>
                              </m:dPr>
                              <m:e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  <m:t>𝒕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  <m:t>+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  <m:t>𝟏</m:t>
                                </m:r>
                              </m:e>
                            </m:d>
                          </m:sup>
                        </m:sSup>
                      </m:e>
                      <m:e>
                        <m:sSup>
                          <m:sSup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p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𝒙</m:t>
                            </m:r>
                          </m:e>
                          <m:sup>
                            <m:d>
                              <m:dPr>
                                <m:ctrlPr>
                                  <a:rPr lang="en-US" sz="2000" b="1" i="1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</m:ctrlPr>
                              </m:dPr>
                              <m:e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  <m:t>𝒕</m:t>
                                </m:r>
                              </m:e>
                            </m:d>
                          </m:sup>
                        </m:sSup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Calibri"/>
                          </a:rPr>
                          <m:t>, …, </m:t>
                        </m:r>
                        <m:sSup>
                          <m:sSup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p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𝒙</m:t>
                            </m:r>
                          </m:e>
                          <m:sup>
                            <m:d>
                              <m:dPr>
                                <m:ctrlPr>
                                  <a:rPr lang="en-US" sz="2000" b="1" i="1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</m:ctrlPr>
                              </m:dPr>
                              <m:e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  <m:t>𝟏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endParaRPr lang="en-US" b="1" dirty="0"/>
              </a:p>
              <a:p>
                <a:r>
                  <a:rPr lang="en-US" dirty="0">
                    <a:solidFill>
                      <a:schemeClr val="accent1"/>
                    </a:solidFill>
                  </a:rPr>
                  <a:t>How about a window-based neural model?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Example: NER Task</a:t>
                </a:r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21" name="Content Placeholder 20">
                <a:extLst>
                  <a:ext uri="{FF2B5EF4-FFF2-40B4-BE49-F238E27FC236}">
                    <a16:creationId xmlns:a16="http://schemas.microsoft.com/office/drawing/2014/main" id="{B735E071-6C55-017D-24DD-69CCD04A2B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01" t="-18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698584B4-B020-2DA4-ED91-C9F64F832450}"/>
              </a:ext>
            </a:extLst>
          </p:cNvPr>
          <p:cNvGrpSpPr/>
          <p:nvPr/>
        </p:nvGrpSpPr>
        <p:grpSpPr>
          <a:xfrm>
            <a:off x="3996965" y="3500238"/>
            <a:ext cx="4746524" cy="2401814"/>
            <a:chOff x="3996965" y="3500238"/>
            <a:chExt cx="4746524" cy="2401814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E8D72C5-FBCB-F3C3-A6F1-FEBA2E92615C}"/>
                </a:ext>
              </a:extLst>
            </p:cNvPr>
            <p:cNvGrpSpPr/>
            <p:nvPr/>
          </p:nvGrpSpPr>
          <p:grpSpPr>
            <a:xfrm>
              <a:off x="3996965" y="3785067"/>
              <a:ext cx="4746524" cy="2116985"/>
              <a:chOff x="3616343" y="4175059"/>
              <a:chExt cx="5294979" cy="2391938"/>
            </a:xfrm>
          </p:grpSpPr>
          <p:sp>
            <p:nvSpPr>
              <p:cNvPr id="6" name="object 6"/>
              <p:cNvSpPr txBox="1"/>
              <p:nvPr/>
            </p:nvSpPr>
            <p:spPr>
              <a:xfrm>
                <a:off x="5077635" y="6268211"/>
                <a:ext cx="215265" cy="29269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1600" i="1" dirty="0">
                    <a:cs typeface="Calibri"/>
                  </a:rPr>
                  <a:t>in</a:t>
                </a:r>
                <a:endParaRPr sz="1600">
                  <a:cs typeface="Calibri"/>
                </a:endParaRPr>
              </a:p>
            </p:txBody>
          </p:sp>
          <p:sp>
            <p:nvSpPr>
              <p:cNvPr id="7" name="object 7"/>
              <p:cNvSpPr txBox="1"/>
              <p:nvPr/>
            </p:nvSpPr>
            <p:spPr>
              <a:xfrm>
                <a:off x="5956687" y="6268211"/>
                <a:ext cx="528321" cy="29269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1600" i="1" u="sng" spc="-35" dirty="0">
                    <a:solidFill>
                      <a:schemeClr val="accent1"/>
                    </a:solidFill>
                    <a:uFill>
                      <a:solidFill>
                        <a:srgbClr val="000000"/>
                      </a:solidFill>
                    </a:uFill>
                    <a:cs typeface="Calibri"/>
                  </a:rPr>
                  <a:t>P</a:t>
                </a:r>
                <a:r>
                  <a:rPr sz="1600" i="1" u="sng" spc="-5" dirty="0">
                    <a:solidFill>
                      <a:schemeClr val="accent1"/>
                    </a:solidFill>
                    <a:uFill>
                      <a:solidFill>
                        <a:srgbClr val="000000"/>
                      </a:solidFill>
                    </a:uFill>
                    <a:cs typeface="Calibri"/>
                  </a:rPr>
                  <a:t>a</a:t>
                </a:r>
                <a:r>
                  <a:rPr sz="1600" i="1" u="sng" dirty="0">
                    <a:solidFill>
                      <a:schemeClr val="accent1"/>
                    </a:solidFill>
                    <a:uFill>
                      <a:solidFill>
                        <a:srgbClr val="000000"/>
                      </a:solidFill>
                    </a:uFill>
                    <a:cs typeface="Calibri"/>
                  </a:rPr>
                  <a:t>ris</a:t>
                </a:r>
                <a:endParaRPr sz="1600" dirty="0">
                  <a:solidFill>
                    <a:schemeClr val="accent1"/>
                  </a:solidFill>
                  <a:cs typeface="Calibri"/>
                </a:endParaRPr>
              </a:p>
            </p:txBody>
          </p:sp>
          <p:sp>
            <p:nvSpPr>
              <p:cNvPr id="8" name="object 8"/>
              <p:cNvSpPr txBox="1"/>
              <p:nvPr/>
            </p:nvSpPr>
            <p:spPr>
              <a:xfrm>
                <a:off x="7128107" y="6268211"/>
                <a:ext cx="1706880" cy="29269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  <a:tabLst>
                    <a:tab pos="812800" algn="l"/>
                  </a:tabLst>
                </a:pPr>
                <a:r>
                  <a:rPr sz="1600" i="1" spc="-5" dirty="0">
                    <a:cs typeface="Calibri"/>
                  </a:rPr>
                  <a:t>a</a:t>
                </a:r>
                <a:r>
                  <a:rPr sz="1600" i="1" dirty="0">
                    <a:cs typeface="Calibri"/>
                  </a:rPr>
                  <a:t>re	</a:t>
                </a:r>
                <a:r>
                  <a:rPr sz="1600" i="1" spc="-5" dirty="0">
                    <a:cs typeface="Calibri"/>
                  </a:rPr>
                  <a:t>a</a:t>
                </a:r>
                <a:r>
                  <a:rPr sz="1600" i="1" dirty="0">
                    <a:cs typeface="Calibri"/>
                  </a:rPr>
                  <a:t>m</a:t>
                </a:r>
                <a:r>
                  <a:rPr sz="1600" i="1" spc="-5" dirty="0">
                    <a:cs typeface="Calibri"/>
                  </a:rPr>
                  <a:t>az</a:t>
                </a:r>
                <a:r>
                  <a:rPr sz="1600" i="1" dirty="0">
                    <a:cs typeface="Calibri"/>
                  </a:rPr>
                  <a:t>i</a:t>
                </a:r>
                <a:r>
                  <a:rPr sz="1600" i="1" spc="-5" dirty="0">
                    <a:cs typeface="Calibri"/>
                  </a:rPr>
                  <a:t>ng</a:t>
                </a:r>
                <a:endParaRPr sz="1600">
                  <a:cs typeface="Calibri"/>
                </a:endParaRPr>
              </a:p>
            </p:txBody>
          </p:sp>
          <p:grpSp>
            <p:nvGrpSpPr>
              <p:cNvPr id="9" name="object 9"/>
              <p:cNvGrpSpPr/>
              <p:nvPr/>
            </p:nvGrpSpPr>
            <p:grpSpPr>
              <a:xfrm>
                <a:off x="3623042" y="4175059"/>
                <a:ext cx="5288280" cy="2078355"/>
                <a:chOff x="3623042" y="4175059"/>
                <a:chExt cx="5288280" cy="2078355"/>
              </a:xfrm>
            </p:grpSpPr>
            <p:pic>
              <p:nvPicPr>
                <p:cNvPr id="10" name="object 10"/>
                <p:cNvPicPr/>
                <p:nvPr/>
              </p:nvPicPr>
              <p:blipFill>
                <a:blip r:embed="rId3" cstate="print"/>
                <a:stretch>
                  <a:fillRect/>
                </a:stretch>
              </p:blipFill>
              <p:spPr>
                <a:xfrm>
                  <a:off x="3623042" y="4651706"/>
                  <a:ext cx="5287667" cy="1596693"/>
                </a:xfrm>
                <a:prstGeom prst="rect">
                  <a:avLst/>
                </a:prstGeom>
              </p:spPr>
            </p:pic>
            <p:pic>
              <p:nvPicPr>
                <p:cNvPr id="11" name="object 11"/>
                <p:cNvPicPr/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6300271" y="5200915"/>
                  <a:ext cx="344423" cy="270269"/>
                </a:xfrm>
                <a:prstGeom prst="rect">
                  <a:avLst/>
                </a:prstGeom>
              </p:spPr>
            </p:pic>
            <p:pic>
              <p:nvPicPr>
                <p:cNvPr id="12" name="object 12"/>
                <p:cNvPicPr/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3745058" y="5638303"/>
                  <a:ext cx="157194" cy="165353"/>
                </a:xfrm>
                <a:prstGeom prst="rect">
                  <a:avLst/>
                </a:prstGeom>
              </p:spPr>
            </p:pic>
            <p:pic>
              <p:nvPicPr>
                <p:cNvPr id="13" name="object 13"/>
                <p:cNvPicPr/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3952273" y="5638303"/>
                  <a:ext cx="157194" cy="165353"/>
                </a:xfrm>
                <a:prstGeom prst="rect">
                  <a:avLst/>
                </a:prstGeom>
              </p:spPr>
            </p:pic>
            <p:pic>
              <p:nvPicPr>
                <p:cNvPr id="14" name="object 14"/>
                <p:cNvPicPr/>
                <p:nvPr/>
              </p:nvPicPr>
              <p:blipFill>
                <a:blip r:embed="rId6" cstate="print"/>
                <a:stretch>
                  <a:fillRect/>
                </a:stretch>
              </p:blipFill>
              <p:spPr>
                <a:xfrm>
                  <a:off x="4159488" y="5638303"/>
                  <a:ext cx="157194" cy="165353"/>
                </a:xfrm>
                <a:prstGeom prst="rect">
                  <a:avLst/>
                </a:prstGeom>
              </p:spPr>
            </p:pic>
            <p:pic>
              <p:nvPicPr>
                <p:cNvPr id="15" name="object 15"/>
                <p:cNvPicPr/>
                <p:nvPr/>
              </p:nvPicPr>
              <p:blipFill>
                <a:blip r:embed="rId7" cstate="print"/>
                <a:stretch>
                  <a:fillRect/>
                </a:stretch>
              </p:blipFill>
              <p:spPr>
                <a:xfrm>
                  <a:off x="4366704" y="5638303"/>
                  <a:ext cx="157194" cy="165353"/>
                </a:xfrm>
                <a:prstGeom prst="rect">
                  <a:avLst/>
                </a:prstGeom>
              </p:spPr>
            </p:pic>
            <p:sp>
              <p:nvSpPr>
                <p:cNvPr id="16" name="object 16"/>
                <p:cNvSpPr/>
                <p:nvPr/>
              </p:nvSpPr>
              <p:spPr>
                <a:xfrm>
                  <a:off x="4064254" y="4175061"/>
                  <a:ext cx="2211705" cy="2078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1704" h="2078354">
                      <a:moveTo>
                        <a:pt x="110655" y="1829892"/>
                      </a:moveTo>
                      <a:lnTo>
                        <a:pt x="66344" y="1753946"/>
                      </a:lnTo>
                      <a:lnTo>
                        <a:pt x="55321" y="1735048"/>
                      </a:lnTo>
                      <a:lnTo>
                        <a:pt x="0" y="1829892"/>
                      </a:lnTo>
                      <a:lnTo>
                        <a:pt x="1524" y="1835721"/>
                      </a:lnTo>
                      <a:lnTo>
                        <a:pt x="10617" y="1841030"/>
                      </a:lnTo>
                      <a:lnTo>
                        <a:pt x="16446" y="1839493"/>
                      </a:lnTo>
                      <a:lnTo>
                        <a:pt x="45796" y="1789176"/>
                      </a:lnTo>
                      <a:lnTo>
                        <a:pt x="45796" y="2077796"/>
                      </a:lnTo>
                      <a:lnTo>
                        <a:pt x="64846" y="2077796"/>
                      </a:lnTo>
                      <a:lnTo>
                        <a:pt x="64846" y="1789176"/>
                      </a:lnTo>
                      <a:lnTo>
                        <a:pt x="94195" y="1839493"/>
                      </a:lnTo>
                      <a:lnTo>
                        <a:pt x="100025" y="1841030"/>
                      </a:lnTo>
                      <a:lnTo>
                        <a:pt x="109118" y="1835721"/>
                      </a:lnTo>
                      <a:lnTo>
                        <a:pt x="110655" y="1829892"/>
                      </a:lnTo>
                      <a:close/>
                    </a:path>
                    <a:path w="2211704" h="2078354">
                      <a:moveTo>
                        <a:pt x="2211514" y="94856"/>
                      </a:moveTo>
                      <a:lnTo>
                        <a:pt x="2167217" y="18910"/>
                      </a:lnTo>
                      <a:lnTo>
                        <a:pt x="2156180" y="0"/>
                      </a:lnTo>
                      <a:lnTo>
                        <a:pt x="2100859" y="94856"/>
                      </a:lnTo>
                      <a:lnTo>
                        <a:pt x="2102396" y="100685"/>
                      </a:lnTo>
                      <a:lnTo>
                        <a:pt x="2111476" y="105981"/>
                      </a:lnTo>
                      <a:lnTo>
                        <a:pt x="2117306" y="104444"/>
                      </a:lnTo>
                      <a:lnTo>
                        <a:pt x="2146655" y="54140"/>
                      </a:lnTo>
                      <a:lnTo>
                        <a:pt x="2146655" y="494131"/>
                      </a:lnTo>
                      <a:lnTo>
                        <a:pt x="2165705" y="494131"/>
                      </a:lnTo>
                      <a:lnTo>
                        <a:pt x="2165705" y="54140"/>
                      </a:lnTo>
                      <a:lnTo>
                        <a:pt x="2195055" y="104444"/>
                      </a:lnTo>
                      <a:lnTo>
                        <a:pt x="2200884" y="105981"/>
                      </a:lnTo>
                      <a:lnTo>
                        <a:pt x="2209977" y="100685"/>
                      </a:lnTo>
                      <a:lnTo>
                        <a:pt x="2211514" y="94856"/>
                      </a:lnTo>
                      <a:close/>
                    </a:path>
                  </a:pathLst>
                </a:custGeom>
                <a:solidFill>
                  <a:srgbClr val="7F7F7F"/>
                </a:solidFill>
              </p:spPr>
              <p:txBody>
                <a:bodyPr wrap="square" lIns="0" tIns="0" rIns="0" bIns="0" rtlCol="0"/>
                <a:lstStyle/>
                <a:p>
                  <a:endParaRPr sz="1600"/>
                </a:p>
              </p:txBody>
            </p:sp>
            <p:pic>
              <p:nvPicPr>
                <p:cNvPr id="17" name="object 17"/>
                <p:cNvPicPr/>
                <p:nvPr/>
              </p:nvPicPr>
              <p:blipFill>
                <a:blip r:embed="rId8" cstate="print"/>
                <a:stretch>
                  <a:fillRect/>
                </a:stretch>
              </p:blipFill>
              <p:spPr>
                <a:xfrm>
                  <a:off x="6350547" y="4338143"/>
                  <a:ext cx="218464" cy="192045"/>
                </a:xfrm>
                <a:prstGeom prst="rect">
                  <a:avLst/>
                </a:prstGeom>
              </p:spPr>
            </p:pic>
          </p:grpSp>
          <p:sp>
            <p:nvSpPr>
              <p:cNvPr id="18" name="object 18"/>
              <p:cNvSpPr txBox="1"/>
              <p:nvPr/>
            </p:nvSpPr>
            <p:spPr>
              <a:xfrm>
                <a:off x="3616343" y="6274307"/>
                <a:ext cx="1007744" cy="29269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1600" i="1" spc="-5" dirty="0">
                    <a:cs typeface="Calibri"/>
                  </a:rPr>
                  <a:t>museums</a:t>
                </a:r>
                <a:endParaRPr sz="1600">
                  <a:cs typeface="Calibri"/>
                </a:endParaRPr>
              </a:p>
            </p:txBody>
          </p:sp>
        </p:grpSp>
        <p:sp>
          <p:nvSpPr>
            <p:cNvPr id="23" name="object 7">
              <a:extLst>
                <a:ext uri="{FF2B5EF4-FFF2-40B4-BE49-F238E27FC236}">
                  <a16:creationId xmlns:a16="http://schemas.microsoft.com/office/drawing/2014/main" id="{23CFBAFE-CCA0-1AEC-7C34-2BFA8D6596C3}"/>
                </a:ext>
              </a:extLst>
            </p:cNvPr>
            <p:cNvSpPr txBox="1"/>
            <p:nvPr/>
          </p:nvSpPr>
          <p:spPr>
            <a:xfrm>
              <a:off x="5836802" y="3500238"/>
              <a:ext cx="989784" cy="25904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1600" spc="-35" dirty="0">
                  <a:solidFill>
                    <a:schemeClr val="accent1"/>
                  </a:solidFill>
                  <a:uFill>
                    <a:solidFill>
                      <a:srgbClr val="000000"/>
                    </a:solidFill>
                  </a:uFill>
                  <a:cs typeface="Calibri"/>
                </a:rPr>
                <a:t>LOCATION</a:t>
              </a:r>
              <a:endParaRPr sz="1600" dirty="0">
                <a:solidFill>
                  <a:schemeClr val="accent1"/>
                </a:solidFill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99738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1325" y="955948"/>
            <a:ext cx="1130776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</a:t>
            </a:r>
            <a:r>
              <a:rPr spc="-10" dirty="0"/>
              <a:t> </a:t>
            </a:r>
            <a:r>
              <a:rPr lang="en-US" spc="-5" dirty="0"/>
              <a:t>F</a:t>
            </a:r>
            <a:r>
              <a:rPr spc="-5" dirty="0"/>
              <a:t>ixed-window </a:t>
            </a:r>
            <a:r>
              <a:rPr lang="en-US" spc="-5" dirty="0"/>
              <a:t>N</a:t>
            </a:r>
            <a:r>
              <a:rPr spc="-5" dirty="0"/>
              <a:t>eural Language</a:t>
            </a:r>
            <a:r>
              <a:rPr spc="-10" dirty="0"/>
              <a:t> </a:t>
            </a:r>
            <a:r>
              <a:rPr spc="-5" dirty="0"/>
              <a:t>Model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5E6A0FF-4BD9-4198-D782-96D8854129EA}"/>
              </a:ext>
            </a:extLst>
          </p:cNvPr>
          <p:cNvGrpSpPr/>
          <p:nvPr/>
        </p:nvGrpSpPr>
        <p:grpSpPr>
          <a:xfrm>
            <a:off x="643096" y="5286361"/>
            <a:ext cx="10603716" cy="793607"/>
            <a:chOff x="842326" y="5631179"/>
            <a:chExt cx="10297496" cy="833119"/>
          </a:xfrm>
        </p:grpSpPr>
        <p:sp>
          <p:nvSpPr>
            <p:cNvPr id="3" name="object 3"/>
            <p:cNvSpPr txBox="1"/>
            <p:nvPr/>
          </p:nvSpPr>
          <p:spPr>
            <a:xfrm>
              <a:off x="9753617" y="5631179"/>
              <a:ext cx="1386205" cy="3302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  <a:tabLst>
                  <a:tab pos="1372870" algn="l"/>
                </a:tabLst>
              </a:pPr>
              <a:r>
                <a:rPr sz="2000" i="1" spc="-5" dirty="0">
                  <a:cs typeface="Calibri"/>
                </a:rPr>
                <a:t>their </a:t>
              </a:r>
              <a:r>
                <a:rPr sz="2000" i="1" spc="10" dirty="0">
                  <a:cs typeface="Calibri"/>
                </a:rPr>
                <a:t> </a:t>
              </a:r>
              <a:r>
                <a:rPr sz="2000" u="heavy" dirty="0">
                  <a:uFill>
                    <a:solidFill>
                      <a:srgbClr val="000000"/>
                    </a:solidFill>
                  </a:uFill>
                  <a:cs typeface="Times New Roman"/>
                </a:rPr>
                <a:t> 	</a:t>
              </a:r>
              <a:endParaRPr sz="2000">
                <a:cs typeface="Times New Roman"/>
              </a:endParaRPr>
            </a:p>
          </p:txBody>
        </p:sp>
        <p:sp>
          <p:nvSpPr>
            <p:cNvPr id="4" name="object 4"/>
            <p:cNvSpPr txBox="1"/>
            <p:nvPr/>
          </p:nvSpPr>
          <p:spPr>
            <a:xfrm>
              <a:off x="842326" y="5631179"/>
              <a:ext cx="254000" cy="3302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000" i="1" spc="-5" dirty="0">
                  <a:cs typeface="Calibri"/>
                </a:rPr>
                <a:t>as</a:t>
              </a:r>
              <a:endParaRPr sz="2000">
                <a:cs typeface="Calibri"/>
              </a:endParaRPr>
            </a:p>
          </p:txBody>
        </p:sp>
        <p:sp>
          <p:nvSpPr>
            <p:cNvPr id="5" name="object 5"/>
            <p:cNvSpPr txBox="1"/>
            <p:nvPr/>
          </p:nvSpPr>
          <p:spPr>
            <a:xfrm>
              <a:off x="1756727" y="5631179"/>
              <a:ext cx="363220" cy="3302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000" i="1" spc="5" dirty="0">
                  <a:cs typeface="Calibri"/>
                </a:rPr>
                <a:t>t</a:t>
              </a:r>
              <a:r>
                <a:rPr sz="2000" i="1" spc="-5" dirty="0">
                  <a:cs typeface="Calibri"/>
                </a:rPr>
                <a:t>h</a:t>
              </a:r>
              <a:r>
                <a:rPr sz="2000" i="1" dirty="0">
                  <a:cs typeface="Calibri"/>
                </a:rPr>
                <a:t>e</a:t>
              </a:r>
              <a:endParaRPr sz="2000">
                <a:cs typeface="Calibri"/>
              </a:endParaRPr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2671126" y="5631179"/>
              <a:ext cx="2192020" cy="3302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  <a:tabLst>
                  <a:tab pos="926465" algn="l"/>
                  <a:tab pos="1840864" algn="l"/>
                </a:tabLst>
              </a:pPr>
              <a:r>
                <a:rPr sz="2000" i="1" spc="-5" dirty="0">
                  <a:cs typeface="Calibri"/>
                </a:rPr>
                <a:t>p</a:t>
              </a:r>
              <a:r>
                <a:rPr sz="2000" i="1" dirty="0">
                  <a:cs typeface="Calibri"/>
                </a:rPr>
                <a:t>r</a:t>
              </a:r>
              <a:r>
                <a:rPr sz="2000" i="1" spc="-5" dirty="0">
                  <a:cs typeface="Calibri"/>
                </a:rPr>
                <a:t>o</a:t>
              </a:r>
              <a:r>
                <a:rPr sz="2000" i="1" spc="5" dirty="0">
                  <a:cs typeface="Calibri"/>
                </a:rPr>
                <a:t>c</a:t>
              </a:r>
              <a:r>
                <a:rPr sz="2000" i="1" spc="-20" dirty="0">
                  <a:cs typeface="Calibri"/>
                </a:rPr>
                <a:t>t</a:t>
              </a:r>
              <a:r>
                <a:rPr sz="2000" i="1" spc="-5" dirty="0">
                  <a:cs typeface="Calibri"/>
                </a:rPr>
                <a:t>o</a:t>
              </a:r>
              <a:r>
                <a:rPr sz="2000" i="1" dirty="0">
                  <a:cs typeface="Calibri"/>
                </a:rPr>
                <a:t>r	</a:t>
              </a:r>
              <a:r>
                <a:rPr sz="2000" i="1" spc="-30" dirty="0">
                  <a:cs typeface="Calibri"/>
                </a:rPr>
                <a:t>s</a:t>
              </a:r>
              <a:r>
                <a:rPr sz="2000" i="1" spc="-25" dirty="0">
                  <a:cs typeface="Calibri"/>
                </a:rPr>
                <a:t>t</a:t>
              </a:r>
              <a:r>
                <a:rPr sz="2000" i="1" spc="-5" dirty="0">
                  <a:cs typeface="Calibri"/>
                </a:rPr>
                <a:t>a</a:t>
              </a:r>
              <a:r>
                <a:rPr sz="2000" i="1" dirty="0">
                  <a:cs typeface="Calibri"/>
                </a:rPr>
                <a:t>r</a:t>
              </a:r>
              <a:r>
                <a:rPr sz="2000" i="1" spc="-20" dirty="0">
                  <a:cs typeface="Calibri"/>
                </a:rPr>
                <a:t>t</a:t>
              </a:r>
              <a:r>
                <a:rPr sz="2000" i="1" spc="-5" dirty="0">
                  <a:cs typeface="Calibri"/>
                </a:rPr>
                <a:t>e</a:t>
              </a:r>
              <a:r>
                <a:rPr sz="2000" i="1" dirty="0">
                  <a:cs typeface="Calibri"/>
                </a:rPr>
                <a:t>d	</a:t>
              </a:r>
              <a:r>
                <a:rPr sz="2000" i="1" spc="5" dirty="0">
                  <a:cs typeface="Calibri"/>
                </a:rPr>
                <a:t>t</a:t>
              </a:r>
              <a:r>
                <a:rPr sz="2000" i="1" spc="-5" dirty="0">
                  <a:cs typeface="Calibri"/>
                </a:rPr>
                <a:t>h</a:t>
              </a:r>
              <a:r>
                <a:rPr sz="2000" i="1" dirty="0">
                  <a:cs typeface="Calibri"/>
                </a:rPr>
                <a:t>e</a:t>
              </a:r>
              <a:endParaRPr sz="2000" dirty="0">
                <a:cs typeface="Calibri"/>
              </a:endParaRPr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5471475" y="5631179"/>
              <a:ext cx="666282" cy="336563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000" i="1" spc="5" dirty="0">
                  <a:cs typeface="Calibri"/>
                </a:rPr>
                <a:t>c</a:t>
              </a:r>
              <a:r>
                <a:rPr sz="2000" i="1" dirty="0">
                  <a:cs typeface="Calibri"/>
                </a:rPr>
                <a:t>l</a:t>
              </a:r>
              <a:r>
                <a:rPr sz="2000" i="1" spc="-5" dirty="0">
                  <a:cs typeface="Calibri"/>
                </a:rPr>
                <a:t>o</a:t>
              </a:r>
              <a:r>
                <a:rPr sz="2000" i="1" spc="5" dirty="0">
                  <a:cs typeface="Calibri"/>
                </a:rPr>
                <a:t>ck</a:t>
              </a:r>
              <a:endParaRPr sz="2000" dirty="0">
                <a:cs typeface="Calibri"/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3681623" y="5984747"/>
              <a:ext cx="764540" cy="3302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000" spc="-10" dirty="0">
                  <a:solidFill>
                    <a:srgbClr val="C00000"/>
                  </a:solidFill>
                  <a:cs typeface="Calibri"/>
                </a:rPr>
                <a:t>discard</a:t>
              </a:r>
              <a:endParaRPr sz="2000">
                <a:cs typeface="Calibri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6648414" y="5918533"/>
              <a:ext cx="3585845" cy="241300"/>
            </a:xfrm>
            <a:custGeom>
              <a:avLst/>
              <a:gdLst/>
              <a:ahLst/>
              <a:cxnLst/>
              <a:rect l="l" t="t" r="r" b="b"/>
              <a:pathLst>
                <a:path w="3585845" h="241300">
                  <a:moveTo>
                    <a:pt x="3585555" y="0"/>
                  </a:moveTo>
                  <a:lnTo>
                    <a:pt x="3577223" y="46893"/>
                  </a:lnTo>
                  <a:lnTo>
                    <a:pt x="3554501" y="85186"/>
                  </a:lnTo>
                  <a:lnTo>
                    <a:pt x="3520801" y="111005"/>
                  </a:lnTo>
                  <a:lnTo>
                    <a:pt x="3479533" y="120472"/>
                  </a:lnTo>
                  <a:lnTo>
                    <a:pt x="1898799" y="120472"/>
                  </a:lnTo>
                  <a:lnTo>
                    <a:pt x="1857530" y="129939"/>
                  </a:lnTo>
                  <a:lnTo>
                    <a:pt x="1823830" y="155758"/>
                  </a:lnTo>
                  <a:lnTo>
                    <a:pt x="1801108" y="194051"/>
                  </a:lnTo>
                  <a:lnTo>
                    <a:pt x="1792777" y="240945"/>
                  </a:lnTo>
                  <a:lnTo>
                    <a:pt x="1784445" y="194051"/>
                  </a:lnTo>
                  <a:lnTo>
                    <a:pt x="1761724" y="155758"/>
                  </a:lnTo>
                  <a:lnTo>
                    <a:pt x="1728024" y="129939"/>
                  </a:lnTo>
                  <a:lnTo>
                    <a:pt x="1686756" y="120472"/>
                  </a:lnTo>
                  <a:lnTo>
                    <a:pt x="106021" y="120472"/>
                  </a:lnTo>
                  <a:lnTo>
                    <a:pt x="64753" y="111005"/>
                  </a:lnTo>
                  <a:lnTo>
                    <a:pt x="31053" y="85186"/>
                  </a:lnTo>
                  <a:lnTo>
                    <a:pt x="8331" y="46893"/>
                  </a:lnTo>
                  <a:lnTo>
                    <a:pt x="0" y="0"/>
                  </a:lnTo>
                </a:path>
              </a:pathLst>
            </a:custGeom>
            <a:ln w="28575">
              <a:solidFill>
                <a:srgbClr val="FF0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6615848" y="5631179"/>
              <a:ext cx="2700020" cy="833119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  <a:tabLst>
                  <a:tab pos="779145" algn="l"/>
                  <a:tab pos="1924685" algn="l"/>
                </a:tabLst>
              </a:pPr>
              <a:r>
                <a:rPr sz="2000" i="1" dirty="0">
                  <a:cs typeface="Calibri"/>
                </a:rPr>
                <a:t>the	</a:t>
              </a:r>
              <a:r>
                <a:rPr sz="2000" i="1" spc="-10" dirty="0">
                  <a:cs typeface="Calibri"/>
                </a:rPr>
                <a:t>students	opened</a:t>
              </a:r>
              <a:endParaRPr sz="2000">
                <a:cs typeface="Calibri"/>
              </a:endParaRPr>
            </a:p>
            <a:p>
              <a:pPr marL="1136650">
                <a:lnSpc>
                  <a:spcPct val="100000"/>
                </a:lnSpc>
                <a:spcBef>
                  <a:spcPts val="1560"/>
                </a:spcBef>
              </a:pPr>
              <a:r>
                <a:rPr sz="2000" spc="-15" dirty="0">
                  <a:solidFill>
                    <a:srgbClr val="FF07EB"/>
                  </a:solidFill>
                  <a:cs typeface="Calibri"/>
                </a:rPr>
                <a:t>fixed</a:t>
              </a:r>
              <a:r>
                <a:rPr sz="2000" spc="-40" dirty="0">
                  <a:solidFill>
                    <a:srgbClr val="FF07EB"/>
                  </a:solidFill>
                  <a:cs typeface="Calibri"/>
                </a:rPr>
                <a:t> </a:t>
              </a:r>
              <a:r>
                <a:rPr sz="2000" spc="-5" dirty="0">
                  <a:solidFill>
                    <a:srgbClr val="FF07EB"/>
                  </a:solidFill>
                  <a:cs typeface="Calibri"/>
                </a:rPr>
                <a:t>window</a:t>
              </a:r>
              <a:endParaRPr sz="2000">
                <a:cs typeface="Calibri"/>
              </a:endParaRPr>
            </a:p>
          </p:txBody>
        </p:sp>
      </p:grpSp>
      <p:sp>
        <p:nvSpPr>
          <p:cNvPr id="12" name="object 8"/>
          <p:cNvSpPr/>
          <p:nvPr/>
        </p:nvSpPr>
        <p:spPr>
          <a:xfrm>
            <a:off x="643096" y="5446203"/>
            <a:ext cx="5335687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599" y="1"/>
                </a:lnTo>
              </a:path>
            </a:pathLst>
          </a:custGeom>
          <a:ln w="571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69964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2118" y="371985"/>
            <a:ext cx="1130776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A</a:t>
            </a:r>
            <a:r>
              <a:rPr lang="en-US" spc="-10" dirty="0"/>
              <a:t> </a:t>
            </a:r>
            <a:r>
              <a:rPr lang="en-US" spc="-5" dirty="0"/>
              <a:t>Fixed-window Neural Language</a:t>
            </a:r>
            <a:r>
              <a:rPr lang="en-US" spc="-10" dirty="0"/>
              <a:t> </a:t>
            </a:r>
            <a:r>
              <a:rPr lang="en-US" spc="-5" dirty="0"/>
              <a:t>Model</a:t>
            </a:r>
            <a:endParaRPr spc="-5" dirty="0"/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719E20BC-63D5-C877-84CE-0A56A7F50D24}"/>
              </a:ext>
            </a:extLst>
          </p:cNvPr>
          <p:cNvGrpSpPr/>
          <p:nvPr/>
        </p:nvGrpSpPr>
        <p:grpSpPr>
          <a:xfrm>
            <a:off x="3143077" y="3742799"/>
            <a:ext cx="3018155" cy="634589"/>
            <a:chOff x="1875105" y="4348988"/>
            <a:chExt cx="3018155" cy="634589"/>
          </a:xfrm>
        </p:grpSpPr>
        <p:sp>
          <p:nvSpPr>
            <p:cNvPr id="36" name="object 36"/>
            <p:cNvSpPr txBox="1"/>
            <p:nvPr/>
          </p:nvSpPr>
          <p:spPr>
            <a:xfrm>
              <a:off x="1875105" y="4348988"/>
              <a:ext cx="3018155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spc="-10" dirty="0">
                  <a:solidFill>
                    <a:srgbClr val="610059"/>
                  </a:solidFill>
                  <a:cs typeface="Calibri"/>
                </a:rPr>
                <a:t>concatenated</a:t>
              </a:r>
              <a:r>
                <a:rPr sz="1800" spc="-20" dirty="0">
                  <a:solidFill>
                    <a:srgbClr val="610059"/>
                  </a:solidFill>
                  <a:cs typeface="Calibri"/>
                </a:rPr>
                <a:t> </a:t>
              </a:r>
              <a:r>
                <a:rPr sz="1800" spc="-15" dirty="0">
                  <a:solidFill>
                    <a:srgbClr val="610059"/>
                  </a:solidFill>
                  <a:cs typeface="Calibri"/>
                </a:rPr>
                <a:t>word</a:t>
              </a:r>
              <a:r>
                <a:rPr sz="1800" spc="-20" dirty="0">
                  <a:solidFill>
                    <a:srgbClr val="610059"/>
                  </a:solidFill>
                  <a:cs typeface="Calibri"/>
                </a:rPr>
                <a:t> </a:t>
              </a:r>
              <a:r>
                <a:rPr sz="1800" dirty="0">
                  <a:solidFill>
                    <a:srgbClr val="610059"/>
                  </a:solidFill>
                  <a:cs typeface="Calibri"/>
                </a:rPr>
                <a:t>embeddings</a:t>
              </a:r>
              <a:endParaRPr sz="1800" dirty="0">
                <a:cs typeface="Calibri"/>
              </a:endParaRPr>
            </a:p>
          </p:txBody>
        </p:sp>
        <p:pic>
          <p:nvPicPr>
            <p:cNvPr id="73" name="object 7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81085" y="4686380"/>
              <a:ext cx="2489028" cy="297197"/>
            </a:xfrm>
            <a:prstGeom prst="rect">
              <a:avLst/>
            </a:prstGeom>
          </p:spPr>
        </p:pic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8CAEA726-1BE3-DE78-FDCB-72DE914019F3}"/>
              </a:ext>
            </a:extLst>
          </p:cNvPr>
          <p:cNvGrpSpPr/>
          <p:nvPr/>
        </p:nvGrpSpPr>
        <p:grpSpPr>
          <a:xfrm>
            <a:off x="3175088" y="4526663"/>
            <a:ext cx="2497455" cy="661253"/>
            <a:chOff x="1875105" y="5567172"/>
            <a:chExt cx="2497455" cy="661253"/>
          </a:xfrm>
        </p:grpSpPr>
        <p:sp>
          <p:nvSpPr>
            <p:cNvPr id="74" name="object 74"/>
            <p:cNvSpPr txBox="1"/>
            <p:nvPr/>
          </p:nvSpPr>
          <p:spPr>
            <a:xfrm>
              <a:off x="1875105" y="5567172"/>
              <a:ext cx="2497455" cy="289823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pc="-15" dirty="0">
                  <a:cs typeface="Calibri"/>
                </a:rPr>
                <a:t>words </a:t>
              </a:r>
              <a:r>
                <a:rPr dirty="0">
                  <a:cs typeface="Calibri"/>
                </a:rPr>
                <a:t>/</a:t>
              </a:r>
              <a:r>
                <a:rPr spc="-10" dirty="0">
                  <a:cs typeface="Calibri"/>
                </a:rPr>
                <a:t> </a:t>
              </a:r>
              <a:r>
                <a:rPr spc="-5" dirty="0">
                  <a:cs typeface="Calibri"/>
                </a:rPr>
                <a:t>one-hot</a:t>
              </a:r>
              <a:r>
                <a:rPr spc="-15" dirty="0">
                  <a:cs typeface="Calibri"/>
                </a:rPr>
                <a:t> vectors</a:t>
              </a:r>
              <a:endParaRPr dirty="0">
                <a:cs typeface="Calibri"/>
              </a:endParaRPr>
            </a:p>
          </p:txBody>
        </p:sp>
        <p:pic>
          <p:nvPicPr>
            <p:cNvPr id="79" name="object 7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3008" y="5933992"/>
              <a:ext cx="2077393" cy="294433"/>
            </a:xfrm>
            <a:prstGeom prst="rect">
              <a:avLst/>
            </a:prstGeom>
          </p:spPr>
        </p:pic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72075C19-9562-A202-6992-684E9C5EABF3}"/>
              </a:ext>
            </a:extLst>
          </p:cNvPr>
          <p:cNvGrpSpPr/>
          <p:nvPr/>
        </p:nvGrpSpPr>
        <p:grpSpPr>
          <a:xfrm>
            <a:off x="3154992" y="2729755"/>
            <a:ext cx="2103120" cy="649697"/>
            <a:chOff x="1830449" y="3245611"/>
            <a:chExt cx="2103120" cy="649697"/>
          </a:xfrm>
        </p:grpSpPr>
        <p:sp>
          <p:nvSpPr>
            <p:cNvPr id="80" name="object 80"/>
            <p:cNvSpPr txBox="1"/>
            <p:nvPr/>
          </p:nvSpPr>
          <p:spPr>
            <a:xfrm>
              <a:off x="1909189" y="3245611"/>
              <a:ext cx="1178560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spc="-5" dirty="0">
                  <a:solidFill>
                    <a:srgbClr val="8C1515"/>
                  </a:solidFill>
                  <a:cs typeface="Calibri"/>
                </a:rPr>
                <a:t>hidden</a:t>
              </a:r>
              <a:r>
                <a:rPr sz="1800" spc="-45" dirty="0">
                  <a:solidFill>
                    <a:srgbClr val="8C1515"/>
                  </a:solidFill>
                  <a:cs typeface="Calibri"/>
                </a:rPr>
                <a:t> </a:t>
              </a:r>
              <a:r>
                <a:rPr sz="1800" spc="-15" dirty="0">
                  <a:solidFill>
                    <a:srgbClr val="8C1515"/>
                  </a:solidFill>
                  <a:cs typeface="Calibri"/>
                </a:rPr>
                <a:t>layer</a:t>
              </a:r>
              <a:endParaRPr sz="1800" dirty="0">
                <a:cs typeface="Calibri"/>
              </a:endParaRPr>
            </a:p>
          </p:txBody>
        </p:sp>
        <p:pic>
          <p:nvPicPr>
            <p:cNvPr id="81" name="object 8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30449" y="3516796"/>
              <a:ext cx="2103120" cy="378512"/>
            </a:xfrm>
            <a:prstGeom prst="rect">
              <a:avLst/>
            </a:prstGeom>
          </p:spPr>
        </p:pic>
      </p:grpSp>
      <p:grpSp>
        <p:nvGrpSpPr>
          <p:cNvPr id="37" name="object 37"/>
          <p:cNvGrpSpPr/>
          <p:nvPr/>
        </p:nvGrpSpPr>
        <p:grpSpPr>
          <a:xfrm>
            <a:off x="6203578" y="2488520"/>
            <a:ext cx="4194810" cy="2408001"/>
            <a:chOff x="5843627" y="3202846"/>
            <a:chExt cx="4194810" cy="2408001"/>
          </a:xfrm>
        </p:grpSpPr>
        <p:pic>
          <p:nvPicPr>
            <p:cNvPr id="38" name="object 3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31939" y="4605781"/>
              <a:ext cx="157194" cy="165353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39153" y="4605781"/>
              <a:ext cx="157194" cy="165353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46369" y="4605781"/>
              <a:ext cx="157194" cy="165353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53584" y="4605781"/>
              <a:ext cx="157194" cy="165353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5843627" y="4511066"/>
              <a:ext cx="4194810" cy="365760"/>
            </a:xfrm>
            <a:custGeom>
              <a:avLst/>
              <a:gdLst/>
              <a:ahLst/>
              <a:cxnLst/>
              <a:rect l="l" t="t" r="r" b="b"/>
              <a:pathLst>
                <a:path w="4194809" h="365760">
                  <a:moveTo>
                    <a:pt x="0" y="60962"/>
                  </a:moveTo>
                  <a:lnTo>
                    <a:pt x="4790" y="37233"/>
                  </a:lnTo>
                  <a:lnTo>
                    <a:pt x="17855" y="17855"/>
                  </a:lnTo>
                  <a:lnTo>
                    <a:pt x="37232" y="4790"/>
                  </a:lnTo>
                  <a:lnTo>
                    <a:pt x="60961" y="0"/>
                  </a:lnTo>
                  <a:lnTo>
                    <a:pt x="4133733" y="0"/>
                  </a:lnTo>
                  <a:lnTo>
                    <a:pt x="4157462" y="4790"/>
                  </a:lnTo>
                  <a:lnTo>
                    <a:pt x="4176839" y="17855"/>
                  </a:lnTo>
                  <a:lnTo>
                    <a:pt x="4189904" y="37233"/>
                  </a:lnTo>
                  <a:lnTo>
                    <a:pt x="4194695" y="60962"/>
                  </a:lnTo>
                  <a:lnTo>
                    <a:pt x="4194695" y="304797"/>
                  </a:lnTo>
                  <a:lnTo>
                    <a:pt x="4189904" y="328527"/>
                  </a:lnTo>
                  <a:lnTo>
                    <a:pt x="4176839" y="347904"/>
                  </a:lnTo>
                  <a:lnTo>
                    <a:pt x="4157462" y="360969"/>
                  </a:lnTo>
                  <a:lnTo>
                    <a:pt x="4133733" y="365760"/>
                  </a:lnTo>
                  <a:lnTo>
                    <a:pt x="60961" y="365760"/>
                  </a:lnTo>
                  <a:lnTo>
                    <a:pt x="37232" y="360969"/>
                  </a:lnTo>
                  <a:lnTo>
                    <a:pt x="17855" y="347904"/>
                  </a:lnTo>
                  <a:lnTo>
                    <a:pt x="4790" y="328527"/>
                  </a:lnTo>
                  <a:lnTo>
                    <a:pt x="0" y="304797"/>
                  </a:lnTo>
                  <a:lnTo>
                    <a:pt x="0" y="60962"/>
                  </a:lnTo>
                  <a:close/>
                </a:path>
              </a:pathLst>
            </a:custGeom>
            <a:ln w="19050">
              <a:solidFill>
                <a:srgbClr val="6100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78452" y="4605781"/>
              <a:ext cx="157194" cy="165353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85666" y="4605781"/>
              <a:ext cx="157194" cy="165353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92882" y="4605781"/>
              <a:ext cx="157194" cy="165353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600096" y="4605781"/>
              <a:ext cx="157194" cy="165353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67534" y="4604985"/>
              <a:ext cx="157194" cy="165353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74748" y="4604985"/>
              <a:ext cx="157194" cy="165353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481965" y="4604985"/>
              <a:ext cx="157194" cy="165353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89180" y="4604985"/>
              <a:ext cx="157194" cy="165353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40552" y="4604986"/>
              <a:ext cx="157194" cy="165353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47766" y="4604986"/>
              <a:ext cx="157194" cy="165353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554982" y="4604986"/>
              <a:ext cx="157194" cy="165353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762197" y="4604986"/>
              <a:ext cx="157194" cy="165353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6266599" y="4876787"/>
              <a:ext cx="3312795" cy="734060"/>
            </a:xfrm>
            <a:custGeom>
              <a:avLst/>
              <a:gdLst/>
              <a:ahLst/>
              <a:cxnLst/>
              <a:rect l="l" t="t" r="r" b="b"/>
              <a:pathLst>
                <a:path w="3312795" h="734060">
                  <a:moveTo>
                    <a:pt x="110655" y="94856"/>
                  </a:moveTo>
                  <a:lnTo>
                    <a:pt x="66344" y="18910"/>
                  </a:lnTo>
                  <a:lnTo>
                    <a:pt x="55321" y="0"/>
                  </a:lnTo>
                  <a:lnTo>
                    <a:pt x="0" y="94856"/>
                  </a:lnTo>
                  <a:lnTo>
                    <a:pt x="1536" y="100685"/>
                  </a:lnTo>
                  <a:lnTo>
                    <a:pt x="10617" y="105981"/>
                  </a:lnTo>
                  <a:lnTo>
                    <a:pt x="16446" y="104444"/>
                  </a:lnTo>
                  <a:lnTo>
                    <a:pt x="45796" y="54140"/>
                  </a:lnTo>
                  <a:lnTo>
                    <a:pt x="45796" y="733526"/>
                  </a:lnTo>
                  <a:lnTo>
                    <a:pt x="64846" y="733526"/>
                  </a:lnTo>
                  <a:lnTo>
                    <a:pt x="64846" y="54140"/>
                  </a:lnTo>
                  <a:lnTo>
                    <a:pt x="94195" y="104444"/>
                  </a:lnTo>
                  <a:lnTo>
                    <a:pt x="100025" y="105981"/>
                  </a:lnTo>
                  <a:lnTo>
                    <a:pt x="109118" y="100685"/>
                  </a:lnTo>
                  <a:lnTo>
                    <a:pt x="110655" y="94856"/>
                  </a:lnTo>
                  <a:close/>
                </a:path>
                <a:path w="3312795" h="734060">
                  <a:moveTo>
                    <a:pt x="1146175" y="94856"/>
                  </a:moveTo>
                  <a:lnTo>
                    <a:pt x="1101864" y="18910"/>
                  </a:lnTo>
                  <a:lnTo>
                    <a:pt x="1090841" y="0"/>
                  </a:lnTo>
                  <a:lnTo>
                    <a:pt x="1035507" y="94856"/>
                  </a:lnTo>
                  <a:lnTo>
                    <a:pt x="1037043" y="100685"/>
                  </a:lnTo>
                  <a:lnTo>
                    <a:pt x="1046137" y="105981"/>
                  </a:lnTo>
                  <a:lnTo>
                    <a:pt x="1051966" y="104444"/>
                  </a:lnTo>
                  <a:lnTo>
                    <a:pt x="1081316" y="54140"/>
                  </a:lnTo>
                  <a:lnTo>
                    <a:pt x="1081316" y="733526"/>
                  </a:lnTo>
                  <a:lnTo>
                    <a:pt x="1100366" y="733526"/>
                  </a:lnTo>
                  <a:lnTo>
                    <a:pt x="1100366" y="54140"/>
                  </a:lnTo>
                  <a:lnTo>
                    <a:pt x="1129715" y="104444"/>
                  </a:lnTo>
                  <a:lnTo>
                    <a:pt x="1135545" y="105981"/>
                  </a:lnTo>
                  <a:lnTo>
                    <a:pt x="1144638" y="100685"/>
                  </a:lnTo>
                  <a:lnTo>
                    <a:pt x="1146175" y="94856"/>
                  </a:lnTo>
                  <a:close/>
                </a:path>
                <a:path w="3312795" h="734060">
                  <a:moveTo>
                    <a:pt x="2257793" y="94856"/>
                  </a:moveTo>
                  <a:lnTo>
                    <a:pt x="2213495" y="18897"/>
                  </a:lnTo>
                  <a:lnTo>
                    <a:pt x="2202472" y="0"/>
                  </a:lnTo>
                  <a:lnTo>
                    <a:pt x="2147138" y="94856"/>
                  </a:lnTo>
                  <a:lnTo>
                    <a:pt x="2148675" y="100685"/>
                  </a:lnTo>
                  <a:lnTo>
                    <a:pt x="2157755" y="105981"/>
                  </a:lnTo>
                  <a:lnTo>
                    <a:pt x="2163597" y="104444"/>
                  </a:lnTo>
                  <a:lnTo>
                    <a:pt x="2192947" y="54140"/>
                  </a:lnTo>
                  <a:lnTo>
                    <a:pt x="2192947" y="733526"/>
                  </a:lnTo>
                  <a:lnTo>
                    <a:pt x="2211997" y="733526"/>
                  </a:lnTo>
                  <a:lnTo>
                    <a:pt x="2211997" y="54140"/>
                  </a:lnTo>
                  <a:lnTo>
                    <a:pt x="2241334" y="104444"/>
                  </a:lnTo>
                  <a:lnTo>
                    <a:pt x="2247176" y="105981"/>
                  </a:lnTo>
                  <a:lnTo>
                    <a:pt x="2256256" y="100685"/>
                  </a:lnTo>
                  <a:lnTo>
                    <a:pt x="2257793" y="94856"/>
                  </a:lnTo>
                  <a:close/>
                </a:path>
                <a:path w="3312795" h="734060">
                  <a:moveTo>
                    <a:pt x="3312223" y="94856"/>
                  </a:moveTo>
                  <a:lnTo>
                    <a:pt x="3267913" y="18897"/>
                  </a:lnTo>
                  <a:lnTo>
                    <a:pt x="3256889" y="0"/>
                  </a:lnTo>
                  <a:lnTo>
                    <a:pt x="3201568" y="94856"/>
                  </a:lnTo>
                  <a:lnTo>
                    <a:pt x="3203105" y="100685"/>
                  </a:lnTo>
                  <a:lnTo>
                    <a:pt x="3212185" y="105981"/>
                  </a:lnTo>
                  <a:lnTo>
                    <a:pt x="3218015" y="104444"/>
                  </a:lnTo>
                  <a:lnTo>
                    <a:pt x="3247364" y="54140"/>
                  </a:lnTo>
                  <a:lnTo>
                    <a:pt x="3247364" y="733526"/>
                  </a:lnTo>
                  <a:lnTo>
                    <a:pt x="3266414" y="733526"/>
                  </a:lnTo>
                  <a:lnTo>
                    <a:pt x="3266414" y="54140"/>
                  </a:lnTo>
                  <a:lnTo>
                    <a:pt x="3295764" y="104444"/>
                  </a:lnTo>
                  <a:lnTo>
                    <a:pt x="3301593" y="105981"/>
                  </a:lnTo>
                  <a:lnTo>
                    <a:pt x="3310686" y="100685"/>
                  </a:lnTo>
                  <a:lnTo>
                    <a:pt x="3312223" y="94856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922996" y="3935411"/>
              <a:ext cx="107846" cy="576070"/>
            </a:xfrm>
            <a:custGeom>
              <a:avLst/>
              <a:gdLst/>
              <a:ahLst/>
              <a:cxnLst/>
              <a:rect l="l" t="t" r="r" b="b"/>
              <a:pathLst>
                <a:path w="111125" h="764539">
                  <a:moveTo>
                    <a:pt x="55491" y="37807"/>
                  </a:moveTo>
                  <a:lnTo>
                    <a:pt x="45919" y="54108"/>
                  </a:lnTo>
                  <a:lnTo>
                    <a:pt x="43895" y="764099"/>
                  </a:lnTo>
                  <a:lnTo>
                    <a:pt x="62945" y="764152"/>
                  </a:lnTo>
                  <a:lnTo>
                    <a:pt x="64865" y="90454"/>
                  </a:lnTo>
                  <a:lnTo>
                    <a:pt x="64938" y="54108"/>
                  </a:lnTo>
                  <a:lnTo>
                    <a:pt x="55491" y="37807"/>
                  </a:lnTo>
                  <a:close/>
                </a:path>
                <a:path w="111125" h="764539">
                  <a:moveTo>
                    <a:pt x="66538" y="18877"/>
                  </a:moveTo>
                  <a:lnTo>
                    <a:pt x="46019" y="18877"/>
                  </a:lnTo>
                  <a:lnTo>
                    <a:pt x="65069" y="18931"/>
                  </a:lnTo>
                  <a:lnTo>
                    <a:pt x="64969" y="54161"/>
                  </a:lnTo>
                  <a:lnTo>
                    <a:pt x="94174" y="104556"/>
                  </a:lnTo>
                  <a:lnTo>
                    <a:pt x="100002" y="106108"/>
                  </a:lnTo>
                  <a:lnTo>
                    <a:pt x="109104" y="100832"/>
                  </a:lnTo>
                  <a:lnTo>
                    <a:pt x="110656" y="95004"/>
                  </a:lnTo>
                  <a:lnTo>
                    <a:pt x="66538" y="18877"/>
                  </a:lnTo>
                  <a:close/>
                </a:path>
                <a:path w="111125" h="764539">
                  <a:moveTo>
                    <a:pt x="55599" y="0"/>
                  </a:moveTo>
                  <a:lnTo>
                    <a:pt x="0" y="94689"/>
                  </a:lnTo>
                  <a:lnTo>
                    <a:pt x="1518" y="100526"/>
                  </a:lnTo>
                  <a:lnTo>
                    <a:pt x="10591" y="105853"/>
                  </a:lnTo>
                  <a:lnTo>
                    <a:pt x="16427" y="104335"/>
                  </a:lnTo>
                  <a:lnTo>
                    <a:pt x="45888" y="54161"/>
                  </a:lnTo>
                  <a:lnTo>
                    <a:pt x="46019" y="18877"/>
                  </a:lnTo>
                  <a:lnTo>
                    <a:pt x="66538" y="18877"/>
                  </a:lnTo>
                  <a:lnTo>
                    <a:pt x="55599" y="0"/>
                  </a:lnTo>
                  <a:close/>
                </a:path>
                <a:path w="111125" h="764539">
                  <a:moveTo>
                    <a:pt x="65056" y="23679"/>
                  </a:moveTo>
                  <a:lnTo>
                    <a:pt x="47303" y="23679"/>
                  </a:lnTo>
                  <a:lnTo>
                    <a:pt x="63759" y="23726"/>
                  </a:lnTo>
                  <a:lnTo>
                    <a:pt x="55491" y="37807"/>
                  </a:lnTo>
                  <a:lnTo>
                    <a:pt x="64969" y="54161"/>
                  </a:lnTo>
                  <a:lnTo>
                    <a:pt x="65056" y="23679"/>
                  </a:lnTo>
                  <a:close/>
                </a:path>
                <a:path w="111125" h="764539">
                  <a:moveTo>
                    <a:pt x="46019" y="18877"/>
                  </a:moveTo>
                  <a:lnTo>
                    <a:pt x="45919" y="54108"/>
                  </a:lnTo>
                  <a:lnTo>
                    <a:pt x="55491" y="37807"/>
                  </a:lnTo>
                  <a:lnTo>
                    <a:pt x="47303" y="23679"/>
                  </a:lnTo>
                  <a:lnTo>
                    <a:pt x="65056" y="23679"/>
                  </a:lnTo>
                  <a:lnTo>
                    <a:pt x="65069" y="18931"/>
                  </a:lnTo>
                  <a:lnTo>
                    <a:pt x="46019" y="18877"/>
                  </a:lnTo>
                  <a:close/>
                </a:path>
                <a:path w="111125" h="764539">
                  <a:moveTo>
                    <a:pt x="47303" y="23679"/>
                  </a:moveTo>
                  <a:lnTo>
                    <a:pt x="55491" y="37807"/>
                  </a:lnTo>
                  <a:lnTo>
                    <a:pt x="63759" y="23726"/>
                  </a:lnTo>
                  <a:lnTo>
                    <a:pt x="47303" y="23679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772817" y="3675343"/>
              <a:ext cx="157194" cy="165353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979965" y="3675343"/>
              <a:ext cx="157194" cy="165353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187116" y="3675343"/>
              <a:ext cx="157194" cy="165353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394266" y="3675343"/>
              <a:ext cx="157194" cy="165353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6684506" y="3580628"/>
              <a:ext cx="2622550" cy="365760"/>
            </a:xfrm>
            <a:custGeom>
              <a:avLst/>
              <a:gdLst/>
              <a:ahLst/>
              <a:cxnLst/>
              <a:rect l="l" t="t" r="r" b="b"/>
              <a:pathLst>
                <a:path w="2622550" h="365760">
                  <a:moveTo>
                    <a:pt x="0" y="60960"/>
                  </a:moveTo>
                  <a:lnTo>
                    <a:pt x="4790" y="37232"/>
                  </a:lnTo>
                  <a:lnTo>
                    <a:pt x="17855" y="17855"/>
                  </a:lnTo>
                  <a:lnTo>
                    <a:pt x="37232" y="4790"/>
                  </a:lnTo>
                  <a:lnTo>
                    <a:pt x="60960" y="0"/>
                  </a:lnTo>
                  <a:lnTo>
                    <a:pt x="2560985" y="0"/>
                  </a:lnTo>
                  <a:lnTo>
                    <a:pt x="2584713" y="4790"/>
                  </a:lnTo>
                  <a:lnTo>
                    <a:pt x="2604091" y="17855"/>
                  </a:lnTo>
                  <a:lnTo>
                    <a:pt x="2617155" y="37232"/>
                  </a:lnTo>
                  <a:lnTo>
                    <a:pt x="2621946" y="60960"/>
                  </a:lnTo>
                  <a:lnTo>
                    <a:pt x="2621946" y="304799"/>
                  </a:lnTo>
                  <a:lnTo>
                    <a:pt x="2617155" y="328527"/>
                  </a:lnTo>
                  <a:lnTo>
                    <a:pt x="2604091" y="347904"/>
                  </a:lnTo>
                  <a:lnTo>
                    <a:pt x="2584713" y="360969"/>
                  </a:lnTo>
                  <a:lnTo>
                    <a:pt x="2560985" y="365760"/>
                  </a:lnTo>
                  <a:lnTo>
                    <a:pt x="60960" y="365760"/>
                  </a:lnTo>
                  <a:lnTo>
                    <a:pt x="37232" y="360969"/>
                  </a:lnTo>
                  <a:lnTo>
                    <a:pt x="17855" y="347904"/>
                  </a:lnTo>
                  <a:lnTo>
                    <a:pt x="4790" y="328527"/>
                  </a:lnTo>
                  <a:lnTo>
                    <a:pt x="0" y="304799"/>
                  </a:lnTo>
                  <a:lnTo>
                    <a:pt x="0" y="60960"/>
                  </a:lnTo>
                  <a:close/>
                </a:path>
              </a:pathLst>
            </a:custGeom>
            <a:ln w="19050">
              <a:solidFill>
                <a:srgbClr val="8C151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601415" y="3675343"/>
              <a:ext cx="157194" cy="165353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08566" y="3675343"/>
              <a:ext cx="157194" cy="165353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015716" y="3675343"/>
              <a:ext cx="157194" cy="165353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222866" y="3675343"/>
              <a:ext cx="157194" cy="165353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430015" y="3675343"/>
              <a:ext cx="157194" cy="165353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37167" y="3675343"/>
              <a:ext cx="157194" cy="165353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844316" y="3675343"/>
              <a:ext cx="157194" cy="165353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051470" y="3675343"/>
              <a:ext cx="157194" cy="165353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060806" y="4115814"/>
              <a:ext cx="344424" cy="270269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7927893" y="3202846"/>
              <a:ext cx="132913" cy="394279"/>
            </a:xfrm>
            <a:custGeom>
              <a:avLst/>
              <a:gdLst/>
              <a:ahLst/>
              <a:cxnLst/>
              <a:rect l="l" t="t" r="r" b="b"/>
              <a:pathLst>
                <a:path w="111125" h="784860">
                  <a:moveTo>
                    <a:pt x="55328" y="37807"/>
                  </a:moveTo>
                  <a:lnTo>
                    <a:pt x="45803" y="54135"/>
                  </a:lnTo>
                  <a:lnTo>
                    <a:pt x="45802" y="784373"/>
                  </a:lnTo>
                  <a:lnTo>
                    <a:pt x="64852" y="784373"/>
                  </a:lnTo>
                  <a:lnTo>
                    <a:pt x="64852" y="54135"/>
                  </a:lnTo>
                  <a:lnTo>
                    <a:pt x="55328" y="37807"/>
                  </a:lnTo>
                  <a:close/>
                </a:path>
                <a:path w="111125" h="784860">
                  <a:moveTo>
                    <a:pt x="66355" y="18903"/>
                  </a:moveTo>
                  <a:lnTo>
                    <a:pt x="64853" y="18903"/>
                  </a:lnTo>
                  <a:lnTo>
                    <a:pt x="64853" y="54137"/>
                  </a:lnTo>
                  <a:lnTo>
                    <a:pt x="94200" y="104447"/>
                  </a:lnTo>
                  <a:lnTo>
                    <a:pt x="100036" y="105981"/>
                  </a:lnTo>
                  <a:lnTo>
                    <a:pt x="109120" y="100680"/>
                  </a:lnTo>
                  <a:lnTo>
                    <a:pt x="110656" y="94848"/>
                  </a:lnTo>
                  <a:lnTo>
                    <a:pt x="66355" y="18903"/>
                  </a:lnTo>
                  <a:close/>
                </a:path>
                <a:path w="111125" h="784860">
                  <a:moveTo>
                    <a:pt x="55328" y="0"/>
                  </a:moveTo>
                  <a:lnTo>
                    <a:pt x="0" y="94848"/>
                  </a:lnTo>
                  <a:lnTo>
                    <a:pt x="1535" y="100680"/>
                  </a:lnTo>
                  <a:lnTo>
                    <a:pt x="10622" y="105981"/>
                  </a:lnTo>
                  <a:lnTo>
                    <a:pt x="16455" y="104447"/>
                  </a:lnTo>
                  <a:lnTo>
                    <a:pt x="45802" y="54137"/>
                  </a:lnTo>
                  <a:lnTo>
                    <a:pt x="45803" y="18903"/>
                  </a:lnTo>
                  <a:lnTo>
                    <a:pt x="66355" y="18903"/>
                  </a:lnTo>
                  <a:lnTo>
                    <a:pt x="55328" y="0"/>
                  </a:lnTo>
                  <a:close/>
                </a:path>
                <a:path w="111125" h="784860">
                  <a:moveTo>
                    <a:pt x="64853" y="23703"/>
                  </a:moveTo>
                  <a:lnTo>
                    <a:pt x="63555" y="23703"/>
                  </a:lnTo>
                  <a:lnTo>
                    <a:pt x="55328" y="37807"/>
                  </a:lnTo>
                  <a:lnTo>
                    <a:pt x="64853" y="54137"/>
                  </a:lnTo>
                  <a:lnTo>
                    <a:pt x="64853" y="23703"/>
                  </a:lnTo>
                  <a:close/>
                </a:path>
                <a:path w="111125" h="784860">
                  <a:moveTo>
                    <a:pt x="64853" y="18903"/>
                  </a:moveTo>
                  <a:lnTo>
                    <a:pt x="45803" y="18903"/>
                  </a:lnTo>
                  <a:lnTo>
                    <a:pt x="45803" y="54135"/>
                  </a:lnTo>
                  <a:lnTo>
                    <a:pt x="55328" y="37807"/>
                  </a:lnTo>
                  <a:lnTo>
                    <a:pt x="47100" y="23703"/>
                  </a:lnTo>
                  <a:lnTo>
                    <a:pt x="64853" y="23703"/>
                  </a:lnTo>
                  <a:lnTo>
                    <a:pt x="64853" y="18903"/>
                  </a:lnTo>
                  <a:close/>
                </a:path>
                <a:path w="111125" h="784860">
                  <a:moveTo>
                    <a:pt x="63555" y="23703"/>
                  </a:moveTo>
                  <a:lnTo>
                    <a:pt x="47100" y="23703"/>
                  </a:lnTo>
                  <a:lnTo>
                    <a:pt x="55328" y="37807"/>
                  </a:lnTo>
                  <a:lnTo>
                    <a:pt x="63555" y="23703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7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094313" y="3286238"/>
              <a:ext cx="237237" cy="241771"/>
            </a:xfrm>
            <a:prstGeom prst="rect">
              <a:avLst/>
            </a:prstGeom>
          </p:spPr>
        </p:pic>
      </p:grpSp>
      <p:pic>
        <p:nvPicPr>
          <p:cNvPr id="75" name="object 75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6500583" y="5010375"/>
            <a:ext cx="441131" cy="320039"/>
          </a:xfrm>
          <a:prstGeom prst="rect">
            <a:avLst/>
          </a:prstGeom>
        </p:spPr>
      </p:pic>
      <p:pic>
        <p:nvPicPr>
          <p:cNvPr id="76" name="object 76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9789993" y="5002174"/>
            <a:ext cx="424722" cy="320039"/>
          </a:xfrm>
          <a:prstGeom prst="rect">
            <a:avLst/>
          </a:prstGeom>
        </p:spPr>
      </p:pic>
      <p:pic>
        <p:nvPicPr>
          <p:cNvPr id="77" name="object 77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8621679" y="5068284"/>
            <a:ext cx="440474" cy="320039"/>
          </a:xfrm>
          <a:prstGeom prst="rect">
            <a:avLst/>
          </a:prstGeom>
        </p:spPr>
      </p:pic>
      <p:pic>
        <p:nvPicPr>
          <p:cNvPr id="78" name="object 78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7493680" y="5029782"/>
            <a:ext cx="467593" cy="320039"/>
          </a:xfrm>
          <a:prstGeom prst="rect">
            <a:avLst/>
          </a:prstGeom>
        </p:spPr>
      </p:pic>
      <p:grpSp>
        <p:nvGrpSpPr>
          <p:cNvPr id="87" name="Group 86">
            <a:extLst>
              <a:ext uri="{FF2B5EF4-FFF2-40B4-BE49-F238E27FC236}">
                <a16:creationId xmlns:a16="http://schemas.microsoft.com/office/drawing/2014/main" id="{74594533-4F74-205F-6277-788B5754DCB1}"/>
              </a:ext>
            </a:extLst>
          </p:cNvPr>
          <p:cNvGrpSpPr/>
          <p:nvPr/>
        </p:nvGrpSpPr>
        <p:grpSpPr>
          <a:xfrm>
            <a:off x="3147286" y="1650897"/>
            <a:ext cx="3304704" cy="683012"/>
            <a:chOff x="1857987" y="1724659"/>
            <a:chExt cx="3304704" cy="683012"/>
          </a:xfrm>
        </p:grpSpPr>
        <p:sp>
          <p:nvSpPr>
            <p:cNvPr id="84" name="object 84"/>
            <p:cNvSpPr txBox="1"/>
            <p:nvPr/>
          </p:nvSpPr>
          <p:spPr>
            <a:xfrm>
              <a:off x="1859785" y="1724659"/>
              <a:ext cx="1790064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spc="-5" dirty="0">
                  <a:solidFill>
                    <a:srgbClr val="175E54"/>
                  </a:solidFill>
                  <a:cs typeface="Calibri"/>
                </a:rPr>
                <a:t>output</a:t>
              </a:r>
              <a:r>
                <a:rPr sz="1800" spc="-55" dirty="0">
                  <a:solidFill>
                    <a:srgbClr val="175E54"/>
                  </a:solidFill>
                  <a:cs typeface="Calibri"/>
                </a:rPr>
                <a:t> </a:t>
              </a:r>
              <a:r>
                <a:rPr sz="1800" spc="-5" dirty="0">
                  <a:solidFill>
                    <a:srgbClr val="175E54"/>
                  </a:solidFill>
                  <a:cs typeface="Calibri"/>
                </a:rPr>
                <a:t>distribution</a:t>
              </a:r>
              <a:endParaRPr sz="1800" dirty="0">
                <a:cs typeface="Calibri"/>
              </a:endParaRPr>
            </a:p>
          </p:txBody>
        </p:sp>
        <p:pic>
          <p:nvPicPr>
            <p:cNvPr id="85" name="object 8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857987" y="2090971"/>
              <a:ext cx="3304704" cy="316700"/>
            </a:xfrm>
            <a:prstGeom prst="rect">
              <a:avLst/>
            </a:prstGeom>
          </p:spPr>
        </p:pic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145F6B9A-83F1-0AE1-176A-5FE35752EBB8}"/>
              </a:ext>
            </a:extLst>
          </p:cNvPr>
          <p:cNvGrpSpPr/>
          <p:nvPr/>
        </p:nvGrpSpPr>
        <p:grpSpPr>
          <a:xfrm>
            <a:off x="7377195" y="1133042"/>
            <a:ext cx="2100580" cy="1546353"/>
            <a:chOff x="7883814" y="1309115"/>
            <a:chExt cx="2100580" cy="1546353"/>
          </a:xfrm>
        </p:grpSpPr>
        <p:sp>
          <p:nvSpPr>
            <p:cNvPr id="96" name="object 6"/>
            <p:cNvSpPr txBox="1"/>
            <p:nvPr/>
          </p:nvSpPr>
          <p:spPr>
            <a:xfrm>
              <a:off x="8067649" y="1309115"/>
              <a:ext cx="447040" cy="23876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400" i="1" spc="5" dirty="0">
                  <a:solidFill>
                    <a:srgbClr val="175E54"/>
                  </a:solidFill>
                  <a:latin typeface="Calibri"/>
                  <a:cs typeface="Calibri"/>
                </a:rPr>
                <a:t>b</a:t>
              </a:r>
              <a:r>
                <a:rPr sz="1400" i="1" spc="-10" dirty="0">
                  <a:solidFill>
                    <a:srgbClr val="175E54"/>
                  </a:solidFill>
                  <a:latin typeface="Calibri"/>
                  <a:cs typeface="Calibri"/>
                </a:rPr>
                <a:t>oo</a:t>
              </a:r>
              <a:r>
                <a:rPr sz="1400" i="1" spc="-15" dirty="0">
                  <a:solidFill>
                    <a:srgbClr val="175E54"/>
                  </a:solidFill>
                  <a:latin typeface="Calibri"/>
                  <a:cs typeface="Calibri"/>
                </a:rPr>
                <a:t>k</a:t>
              </a:r>
              <a:r>
                <a:rPr sz="1400" i="1" dirty="0">
                  <a:solidFill>
                    <a:srgbClr val="175E54"/>
                  </a:solidFill>
                  <a:latin typeface="Calibri"/>
                  <a:cs typeface="Calibri"/>
                </a:rPr>
                <a:t>s</a:t>
              </a:r>
              <a:endParaRPr sz="1400">
                <a:latin typeface="Calibri"/>
                <a:cs typeface="Calibri"/>
              </a:endParaRPr>
            </a:p>
          </p:txBody>
        </p:sp>
        <p:sp>
          <p:nvSpPr>
            <p:cNvPr id="97" name="object 7"/>
            <p:cNvSpPr txBox="1"/>
            <p:nvPr/>
          </p:nvSpPr>
          <p:spPr>
            <a:xfrm>
              <a:off x="8868216" y="1498091"/>
              <a:ext cx="559435" cy="23876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400" i="1" dirty="0">
                  <a:solidFill>
                    <a:srgbClr val="175E54"/>
                  </a:solidFill>
                  <a:latin typeface="Calibri"/>
                  <a:cs typeface="Calibri"/>
                </a:rPr>
                <a:t>l</a:t>
              </a:r>
              <a:r>
                <a:rPr sz="1400" i="1" spc="5" dirty="0">
                  <a:solidFill>
                    <a:srgbClr val="175E54"/>
                  </a:solidFill>
                  <a:latin typeface="Calibri"/>
                  <a:cs typeface="Calibri"/>
                </a:rPr>
                <a:t>a</a:t>
              </a:r>
              <a:r>
                <a:rPr sz="1400" i="1" spc="-5" dirty="0">
                  <a:solidFill>
                    <a:srgbClr val="175E54"/>
                  </a:solidFill>
                  <a:latin typeface="Calibri"/>
                  <a:cs typeface="Calibri"/>
                </a:rPr>
                <a:t>p</a:t>
              </a:r>
              <a:r>
                <a:rPr sz="1400" i="1" spc="-15" dirty="0">
                  <a:solidFill>
                    <a:srgbClr val="175E54"/>
                  </a:solidFill>
                  <a:latin typeface="Calibri"/>
                  <a:cs typeface="Calibri"/>
                </a:rPr>
                <a:t>t</a:t>
              </a:r>
              <a:r>
                <a:rPr sz="1400" i="1" spc="-10" dirty="0">
                  <a:solidFill>
                    <a:srgbClr val="175E54"/>
                  </a:solidFill>
                  <a:latin typeface="Calibri"/>
                  <a:cs typeface="Calibri"/>
                </a:rPr>
                <a:t>o</a:t>
              </a:r>
              <a:r>
                <a:rPr sz="1400" i="1" spc="-5" dirty="0">
                  <a:solidFill>
                    <a:srgbClr val="175E54"/>
                  </a:solidFill>
                  <a:latin typeface="Calibri"/>
                  <a:cs typeface="Calibri"/>
                </a:rPr>
                <a:t>p</a:t>
              </a:r>
              <a:r>
                <a:rPr sz="1400" i="1" dirty="0">
                  <a:solidFill>
                    <a:srgbClr val="175E54"/>
                  </a:solidFill>
                  <a:latin typeface="Calibri"/>
                  <a:cs typeface="Calibri"/>
                </a:rPr>
                <a:t>s</a:t>
              </a:r>
              <a:endParaRPr sz="1400">
                <a:latin typeface="Calibri"/>
                <a:cs typeface="Calibri"/>
              </a:endParaRPr>
            </a:p>
          </p:txBody>
        </p:sp>
        <p:grpSp>
          <p:nvGrpSpPr>
            <p:cNvPr id="98" name="object 8"/>
            <p:cNvGrpSpPr/>
            <p:nvPr/>
          </p:nvGrpSpPr>
          <p:grpSpPr>
            <a:xfrm>
              <a:off x="7883814" y="1549843"/>
              <a:ext cx="2100580" cy="1118870"/>
              <a:chOff x="7883814" y="1549843"/>
              <a:chExt cx="2100580" cy="1118870"/>
            </a:xfrm>
          </p:grpSpPr>
          <p:sp>
            <p:nvSpPr>
              <p:cNvPr id="101" name="object 9"/>
              <p:cNvSpPr/>
              <p:nvPr/>
            </p:nvSpPr>
            <p:spPr>
              <a:xfrm>
                <a:off x="8253690" y="1549843"/>
                <a:ext cx="76200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289560">
                    <a:moveTo>
                      <a:pt x="33337" y="212747"/>
                    </a:moveTo>
                    <a:lnTo>
                      <a:pt x="0" y="212799"/>
                    </a:lnTo>
                    <a:lnTo>
                      <a:pt x="38220" y="288940"/>
                    </a:lnTo>
                    <a:lnTo>
                      <a:pt x="69841" y="225447"/>
                    </a:lnTo>
                    <a:lnTo>
                      <a:pt x="33357" y="225447"/>
                    </a:lnTo>
                    <a:lnTo>
                      <a:pt x="33337" y="212747"/>
                    </a:lnTo>
                    <a:close/>
                  </a:path>
                  <a:path w="76200" h="289560">
                    <a:moveTo>
                      <a:pt x="42862" y="212732"/>
                    </a:moveTo>
                    <a:lnTo>
                      <a:pt x="33337" y="212747"/>
                    </a:lnTo>
                    <a:lnTo>
                      <a:pt x="33357" y="225447"/>
                    </a:lnTo>
                    <a:lnTo>
                      <a:pt x="42882" y="225432"/>
                    </a:lnTo>
                    <a:lnTo>
                      <a:pt x="42862" y="212732"/>
                    </a:lnTo>
                    <a:close/>
                  </a:path>
                  <a:path w="76200" h="289560">
                    <a:moveTo>
                      <a:pt x="76200" y="212679"/>
                    </a:moveTo>
                    <a:lnTo>
                      <a:pt x="42862" y="212732"/>
                    </a:lnTo>
                    <a:lnTo>
                      <a:pt x="42882" y="225432"/>
                    </a:lnTo>
                    <a:lnTo>
                      <a:pt x="33357" y="225447"/>
                    </a:lnTo>
                    <a:lnTo>
                      <a:pt x="69841" y="225447"/>
                    </a:lnTo>
                    <a:lnTo>
                      <a:pt x="76200" y="212679"/>
                    </a:lnTo>
                    <a:close/>
                  </a:path>
                  <a:path w="76200" h="289560">
                    <a:moveTo>
                      <a:pt x="42527" y="0"/>
                    </a:moveTo>
                    <a:lnTo>
                      <a:pt x="33002" y="15"/>
                    </a:lnTo>
                    <a:lnTo>
                      <a:pt x="33337" y="212747"/>
                    </a:lnTo>
                    <a:lnTo>
                      <a:pt x="42862" y="212732"/>
                    </a:lnTo>
                    <a:lnTo>
                      <a:pt x="42527" y="0"/>
                    </a:lnTo>
                    <a:close/>
                  </a:path>
                </a:pathLst>
              </a:custGeom>
              <a:solidFill>
                <a:srgbClr val="175E5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2" name="object 10"/>
              <p:cNvSpPr/>
              <p:nvPr/>
            </p:nvSpPr>
            <p:spPr>
              <a:xfrm>
                <a:off x="7883814" y="2540125"/>
                <a:ext cx="21005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2100579">
                    <a:moveTo>
                      <a:pt x="0" y="0"/>
                    </a:moveTo>
                    <a:lnTo>
                      <a:pt x="336504" y="0"/>
                    </a:lnTo>
                  </a:path>
                  <a:path w="2100579">
                    <a:moveTo>
                      <a:pt x="1906656" y="0"/>
                    </a:moveTo>
                    <a:lnTo>
                      <a:pt x="2099981" y="0"/>
                    </a:lnTo>
                  </a:path>
                </a:pathLst>
              </a:custGeom>
              <a:ln w="8667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3" name="object 11"/>
              <p:cNvSpPr/>
              <p:nvPr/>
            </p:nvSpPr>
            <p:spPr>
              <a:xfrm>
                <a:off x="7883814" y="2549650"/>
                <a:ext cx="21005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2100579">
                    <a:moveTo>
                      <a:pt x="0" y="0"/>
                    </a:moveTo>
                    <a:lnTo>
                      <a:pt x="2099981" y="0"/>
                    </a:lnTo>
                  </a:path>
                </a:pathLst>
              </a:custGeom>
              <a:ln w="8667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4" name="object 12"/>
              <p:cNvSpPr/>
              <p:nvPr/>
            </p:nvSpPr>
            <p:spPr>
              <a:xfrm>
                <a:off x="8077621" y="245696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3" y="8749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5" name="object 13"/>
              <p:cNvSpPr/>
              <p:nvPr/>
            </p:nvSpPr>
            <p:spPr>
              <a:xfrm>
                <a:off x="8077621" y="245696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6" name="object 14"/>
              <p:cNvSpPr/>
              <p:nvPr/>
            </p:nvSpPr>
            <p:spPr>
              <a:xfrm>
                <a:off x="8220319" y="1838783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705675"/>
                    </a:lnTo>
                    <a:lnTo>
                      <a:pt x="143183" y="705675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7" name="object 15"/>
              <p:cNvSpPr/>
              <p:nvPr/>
            </p:nvSpPr>
            <p:spPr>
              <a:xfrm>
                <a:off x="8220319" y="1838783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705676"/>
                    </a:lnTo>
                    <a:lnTo>
                      <a:pt x="0" y="70567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8" name="object 16"/>
              <p:cNvSpPr/>
              <p:nvPr/>
            </p:nvSpPr>
            <p:spPr>
              <a:xfrm>
                <a:off x="8363016" y="2362004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82454"/>
                    </a:lnTo>
                    <a:lnTo>
                      <a:pt x="143183" y="182454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9" name="object 17"/>
              <p:cNvSpPr/>
              <p:nvPr/>
            </p:nvSpPr>
            <p:spPr>
              <a:xfrm>
                <a:off x="8363016" y="2362004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82455"/>
                    </a:lnTo>
                    <a:lnTo>
                      <a:pt x="0" y="182455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0" name="object 18"/>
              <p:cNvSpPr/>
              <p:nvPr/>
            </p:nvSpPr>
            <p:spPr>
              <a:xfrm>
                <a:off x="8505712" y="2253752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6"/>
                    </a:lnTo>
                    <a:lnTo>
                      <a:pt x="143184" y="290706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1" name="object 19"/>
              <p:cNvSpPr/>
              <p:nvPr/>
            </p:nvSpPr>
            <p:spPr>
              <a:xfrm>
                <a:off x="8505712" y="2253752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7"/>
                    </a:lnTo>
                    <a:lnTo>
                      <a:pt x="0" y="290707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2" name="object 20"/>
              <p:cNvSpPr/>
              <p:nvPr/>
            </p:nvSpPr>
            <p:spPr>
              <a:xfrm>
                <a:off x="8648409" y="245696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4" y="87496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3" name="object 21"/>
              <p:cNvSpPr/>
              <p:nvPr/>
            </p:nvSpPr>
            <p:spPr>
              <a:xfrm>
                <a:off x="8648409" y="245696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4" name="object 22"/>
              <p:cNvSpPr/>
              <p:nvPr/>
            </p:nvSpPr>
            <p:spPr>
              <a:xfrm>
                <a:off x="8791106" y="222992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314529"/>
                    </a:lnTo>
                    <a:lnTo>
                      <a:pt x="143184" y="314529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5" name="object 23"/>
              <p:cNvSpPr/>
              <p:nvPr/>
            </p:nvSpPr>
            <p:spPr>
              <a:xfrm>
                <a:off x="8791106" y="222992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14529"/>
                    </a:lnTo>
                    <a:lnTo>
                      <a:pt x="0" y="3145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6" name="object 24"/>
              <p:cNvSpPr/>
              <p:nvPr/>
            </p:nvSpPr>
            <p:spPr>
              <a:xfrm>
                <a:off x="8933803" y="2253750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7" name="object 25"/>
              <p:cNvSpPr/>
              <p:nvPr/>
            </p:nvSpPr>
            <p:spPr>
              <a:xfrm>
                <a:off x="8933803" y="2253750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8"/>
                    </a:lnTo>
                    <a:lnTo>
                      <a:pt x="0" y="290708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18" name="object 26"/>
              <p:cNvPicPr/>
              <p:nvPr/>
            </p:nvPicPr>
            <p:blipFill>
              <a:blip r:embed="rId21" cstate="print"/>
              <a:stretch>
                <a:fillRect/>
              </a:stretch>
            </p:blipFill>
            <p:spPr>
              <a:xfrm>
                <a:off x="9109993" y="1785562"/>
                <a:ext cx="76200" cy="229201"/>
              </a:xfrm>
              <a:prstGeom prst="rect">
                <a:avLst/>
              </a:prstGeom>
            </p:spPr>
          </p:pic>
          <p:sp>
            <p:nvSpPr>
              <p:cNvPr id="119" name="object 27"/>
              <p:cNvSpPr/>
              <p:nvPr/>
            </p:nvSpPr>
            <p:spPr>
              <a:xfrm>
                <a:off x="9076501" y="2014764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529694"/>
                    </a:lnTo>
                    <a:lnTo>
                      <a:pt x="143184" y="529694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0" name="object 28"/>
              <p:cNvSpPr/>
              <p:nvPr/>
            </p:nvSpPr>
            <p:spPr>
              <a:xfrm>
                <a:off x="9076501" y="2014764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29694"/>
                    </a:lnTo>
                    <a:lnTo>
                      <a:pt x="0" y="529694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1" name="object 29"/>
              <p:cNvSpPr/>
              <p:nvPr/>
            </p:nvSpPr>
            <p:spPr>
              <a:xfrm>
                <a:off x="9219198" y="2412179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32279"/>
                    </a:lnTo>
                    <a:lnTo>
                      <a:pt x="143183" y="132279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2" name="object 30"/>
              <p:cNvSpPr/>
              <p:nvPr/>
            </p:nvSpPr>
            <p:spPr>
              <a:xfrm>
                <a:off x="9219198" y="2412179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32279"/>
                    </a:lnTo>
                    <a:lnTo>
                      <a:pt x="0" y="13227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3" name="object 31"/>
              <p:cNvSpPr/>
              <p:nvPr/>
            </p:nvSpPr>
            <p:spPr>
              <a:xfrm>
                <a:off x="9361895" y="2306330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238128"/>
                    </a:lnTo>
                    <a:lnTo>
                      <a:pt x="143183" y="238128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4" name="object 32"/>
              <p:cNvSpPr/>
              <p:nvPr/>
            </p:nvSpPr>
            <p:spPr>
              <a:xfrm>
                <a:off x="9361895" y="2306330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38129"/>
                    </a:lnTo>
                    <a:lnTo>
                      <a:pt x="0" y="2381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5" name="object 33"/>
              <p:cNvSpPr/>
              <p:nvPr/>
            </p:nvSpPr>
            <p:spPr>
              <a:xfrm>
                <a:off x="9504591" y="2222927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321530"/>
                    </a:lnTo>
                    <a:lnTo>
                      <a:pt x="143184" y="321530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6" name="object 34"/>
              <p:cNvSpPr/>
              <p:nvPr/>
            </p:nvSpPr>
            <p:spPr>
              <a:xfrm>
                <a:off x="9504591" y="2222927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21531"/>
                    </a:lnTo>
                    <a:lnTo>
                      <a:pt x="0" y="32153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7" name="object 35"/>
              <p:cNvSpPr/>
              <p:nvPr/>
            </p:nvSpPr>
            <p:spPr>
              <a:xfrm>
                <a:off x="9647287" y="2488548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55910"/>
                    </a:lnTo>
                    <a:lnTo>
                      <a:pt x="143183" y="5591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8" name="object 36"/>
              <p:cNvSpPr/>
              <p:nvPr/>
            </p:nvSpPr>
            <p:spPr>
              <a:xfrm>
                <a:off x="9647287" y="2488548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5911"/>
                    </a:lnTo>
                    <a:lnTo>
                      <a:pt x="0" y="5591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9" name="object 37"/>
              <p:cNvSpPr/>
              <p:nvPr/>
            </p:nvSpPr>
            <p:spPr>
              <a:xfrm>
                <a:off x="8077623" y="2592091"/>
                <a:ext cx="171323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13229" h="76200">
                    <a:moveTo>
                      <a:pt x="1636648" y="47626"/>
                    </a:moveTo>
                    <a:lnTo>
                      <a:pt x="1636648" y="76201"/>
                    </a:lnTo>
                    <a:lnTo>
                      <a:pt x="1693798" y="47626"/>
                    </a:lnTo>
                    <a:lnTo>
                      <a:pt x="1636648" y="47626"/>
                    </a:lnTo>
                    <a:close/>
                  </a:path>
                  <a:path w="1713229" h="76200">
                    <a:moveTo>
                      <a:pt x="76200" y="0"/>
                    </a:moveTo>
                    <a:lnTo>
                      <a:pt x="0" y="38100"/>
                    </a:lnTo>
                    <a:lnTo>
                      <a:pt x="76200" y="76200"/>
                    </a:lnTo>
                    <a:lnTo>
                      <a:pt x="76200" y="47625"/>
                    </a:lnTo>
                    <a:lnTo>
                      <a:pt x="63500" y="47625"/>
                    </a:lnTo>
                    <a:lnTo>
                      <a:pt x="63500" y="28575"/>
                    </a:lnTo>
                    <a:lnTo>
                      <a:pt x="76200" y="28575"/>
                    </a:lnTo>
                    <a:lnTo>
                      <a:pt x="76200" y="0"/>
                    </a:lnTo>
                    <a:close/>
                  </a:path>
                  <a:path w="1713229" h="76200">
                    <a:moveTo>
                      <a:pt x="1636648" y="28576"/>
                    </a:moveTo>
                    <a:lnTo>
                      <a:pt x="1636648" y="47626"/>
                    </a:lnTo>
                    <a:lnTo>
                      <a:pt x="1649347" y="47626"/>
                    </a:lnTo>
                    <a:lnTo>
                      <a:pt x="1649347" y="28576"/>
                    </a:lnTo>
                    <a:lnTo>
                      <a:pt x="1636648" y="28576"/>
                    </a:lnTo>
                    <a:close/>
                  </a:path>
                  <a:path w="1713229" h="76200">
                    <a:moveTo>
                      <a:pt x="1636648" y="1"/>
                    </a:moveTo>
                    <a:lnTo>
                      <a:pt x="1636648" y="28576"/>
                    </a:lnTo>
                    <a:lnTo>
                      <a:pt x="1649347" y="28576"/>
                    </a:lnTo>
                    <a:lnTo>
                      <a:pt x="1649347" y="47626"/>
                    </a:lnTo>
                    <a:lnTo>
                      <a:pt x="1693801" y="47625"/>
                    </a:lnTo>
                    <a:lnTo>
                      <a:pt x="1712848" y="38101"/>
                    </a:lnTo>
                    <a:lnTo>
                      <a:pt x="1636648" y="1"/>
                    </a:lnTo>
                    <a:close/>
                  </a:path>
                  <a:path w="1713229" h="76200">
                    <a:moveTo>
                      <a:pt x="76200" y="28575"/>
                    </a:moveTo>
                    <a:lnTo>
                      <a:pt x="76200" y="47625"/>
                    </a:lnTo>
                    <a:lnTo>
                      <a:pt x="1636648" y="47626"/>
                    </a:lnTo>
                    <a:lnTo>
                      <a:pt x="1636648" y="28576"/>
                    </a:lnTo>
                    <a:lnTo>
                      <a:pt x="76200" y="28575"/>
                    </a:lnTo>
                    <a:close/>
                  </a:path>
                  <a:path w="1713229" h="76200">
                    <a:moveTo>
                      <a:pt x="63500" y="28575"/>
                    </a:moveTo>
                    <a:lnTo>
                      <a:pt x="63500" y="47625"/>
                    </a:lnTo>
                    <a:lnTo>
                      <a:pt x="76200" y="47625"/>
                    </a:lnTo>
                    <a:lnTo>
                      <a:pt x="76200" y="28575"/>
                    </a:lnTo>
                    <a:lnTo>
                      <a:pt x="63500" y="28575"/>
                    </a:lnTo>
                    <a:close/>
                  </a:path>
                  <a:path w="1713229" h="76200">
                    <a:moveTo>
                      <a:pt x="76200" y="28575"/>
                    </a:moveTo>
                    <a:lnTo>
                      <a:pt x="63500" y="28575"/>
                    </a:lnTo>
                    <a:lnTo>
                      <a:pt x="76200" y="28575"/>
                    </a:lnTo>
                    <a:close/>
                  </a:path>
                </a:pathLst>
              </a:custGeom>
              <a:solidFill>
                <a:srgbClr val="175E5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99" name="object 74"/>
            <p:cNvSpPr txBox="1"/>
            <p:nvPr/>
          </p:nvSpPr>
          <p:spPr>
            <a:xfrm>
              <a:off x="8085429" y="2613659"/>
              <a:ext cx="111125" cy="23876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400" dirty="0">
                  <a:solidFill>
                    <a:srgbClr val="175E54"/>
                  </a:solidFill>
                  <a:latin typeface="Calibri"/>
                  <a:cs typeface="Calibri"/>
                </a:rPr>
                <a:t>a</a:t>
              </a:r>
              <a:endParaRPr sz="1400">
                <a:latin typeface="Calibri"/>
                <a:cs typeface="Calibri"/>
              </a:endParaRPr>
            </a:p>
          </p:txBody>
        </p:sp>
        <p:sp>
          <p:nvSpPr>
            <p:cNvPr id="100" name="object 75"/>
            <p:cNvSpPr txBox="1"/>
            <p:nvPr/>
          </p:nvSpPr>
          <p:spPr>
            <a:xfrm>
              <a:off x="9591264" y="2616708"/>
              <a:ext cx="279400" cy="23876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400" spc="-35" dirty="0">
                  <a:solidFill>
                    <a:srgbClr val="175E54"/>
                  </a:solidFill>
                  <a:latin typeface="Calibri"/>
                  <a:cs typeface="Calibri"/>
                </a:rPr>
                <a:t>z</a:t>
              </a:r>
              <a:r>
                <a:rPr sz="1400" spc="-5" dirty="0">
                  <a:solidFill>
                    <a:srgbClr val="175E54"/>
                  </a:solidFill>
                  <a:latin typeface="Calibri"/>
                  <a:cs typeface="Calibri"/>
                </a:rPr>
                <a:t>o</a:t>
              </a:r>
              <a:r>
                <a:rPr sz="1400" dirty="0">
                  <a:solidFill>
                    <a:srgbClr val="175E54"/>
                  </a:solidFill>
                  <a:latin typeface="Calibri"/>
                  <a:cs typeface="Calibri"/>
                </a:rPr>
                <a:t>o</a:t>
              </a:r>
              <a:endParaRPr sz="1400">
                <a:latin typeface="Calibri"/>
                <a:cs typeface="Calibri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410AEF4-8FAD-C9CD-77EC-61739D48A92C}"/>
              </a:ext>
            </a:extLst>
          </p:cNvPr>
          <p:cNvGrpSpPr/>
          <p:nvPr/>
        </p:nvGrpSpPr>
        <p:grpSpPr>
          <a:xfrm>
            <a:off x="643096" y="5286361"/>
            <a:ext cx="10603716" cy="793607"/>
            <a:chOff x="842326" y="5631179"/>
            <a:chExt cx="10297496" cy="833119"/>
          </a:xfrm>
        </p:grpSpPr>
        <p:sp>
          <p:nvSpPr>
            <p:cNvPr id="17" name="object 3">
              <a:extLst>
                <a:ext uri="{FF2B5EF4-FFF2-40B4-BE49-F238E27FC236}">
                  <a16:creationId xmlns:a16="http://schemas.microsoft.com/office/drawing/2014/main" id="{81917B2B-C0ED-1815-AF4E-88C60C8AA953}"/>
                </a:ext>
              </a:extLst>
            </p:cNvPr>
            <p:cNvSpPr txBox="1"/>
            <p:nvPr/>
          </p:nvSpPr>
          <p:spPr>
            <a:xfrm>
              <a:off x="9753617" y="5631179"/>
              <a:ext cx="1386205" cy="3302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  <a:tabLst>
                  <a:tab pos="1372870" algn="l"/>
                </a:tabLst>
              </a:pPr>
              <a:r>
                <a:rPr sz="2000" i="1" spc="-5" dirty="0">
                  <a:cs typeface="Calibri"/>
                </a:rPr>
                <a:t>their </a:t>
              </a:r>
              <a:r>
                <a:rPr sz="2000" i="1" spc="10" dirty="0">
                  <a:cs typeface="Calibri"/>
                </a:rPr>
                <a:t> </a:t>
              </a:r>
              <a:r>
                <a:rPr sz="2000" u="heavy" dirty="0">
                  <a:uFill>
                    <a:solidFill>
                      <a:srgbClr val="000000"/>
                    </a:solidFill>
                  </a:uFill>
                  <a:cs typeface="Times New Roman"/>
                </a:rPr>
                <a:t> 	</a:t>
              </a:r>
              <a:endParaRPr sz="2000">
                <a:cs typeface="Times New Roman"/>
              </a:endParaRPr>
            </a:p>
          </p:txBody>
        </p:sp>
        <p:sp>
          <p:nvSpPr>
            <p:cNvPr id="18" name="object 4">
              <a:extLst>
                <a:ext uri="{FF2B5EF4-FFF2-40B4-BE49-F238E27FC236}">
                  <a16:creationId xmlns:a16="http://schemas.microsoft.com/office/drawing/2014/main" id="{F8D3F3E9-C6D6-F023-9FF0-9A22B7EE9C06}"/>
                </a:ext>
              </a:extLst>
            </p:cNvPr>
            <p:cNvSpPr txBox="1"/>
            <p:nvPr/>
          </p:nvSpPr>
          <p:spPr>
            <a:xfrm>
              <a:off x="842326" y="5631179"/>
              <a:ext cx="254000" cy="3302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000" i="1" spc="-5" dirty="0">
                  <a:cs typeface="Calibri"/>
                </a:rPr>
                <a:t>as</a:t>
              </a:r>
              <a:endParaRPr sz="2000">
                <a:cs typeface="Calibri"/>
              </a:endParaRPr>
            </a:p>
          </p:txBody>
        </p:sp>
        <p:sp>
          <p:nvSpPr>
            <p:cNvPr id="19" name="object 5">
              <a:extLst>
                <a:ext uri="{FF2B5EF4-FFF2-40B4-BE49-F238E27FC236}">
                  <a16:creationId xmlns:a16="http://schemas.microsoft.com/office/drawing/2014/main" id="{EE52EF20-DCDC-A2D3-C9DE-3DE1EC9750D3}"/>
                </a:ext>
              </a:extLst>
            </p:cNvPr>
            <p:cNvSpPr txBox="1"/>
            <p:nvPr/>
          </p:nvSpPr>
          <p:spPr>
            <a:xfrm>
              <a:off x="1756727" y="5631179"/>
              <a:ext cx="363220" cy="3302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000" i="1" spc="5" dirty="0">
                  <a:cs typeface="Calibri"/>
                </a:rPr>
                <a:t>t</a:t>
              </a:r>
              <a:r>
                <a:rPr sz="2000" i="1" spc="-5" dirty="0">
                  <a:cs typeface="Calibri"/>
                </a:rPr>
                <a:t>h</a:t>
              </a:r>
              <a:r>
                <a:rPr sz="2000" i="1" dirty="0">
                  <a:cs typeface="Calibri"/>
                </a:rPr>
                <a:t>e</a:t>
              </a:r>
              <a:endParaRPr sz="2000">
                <a:cs typeface="Calibri"/>
              </a:endParaRPr>
            </a:p>
          </p:txBody>
        </p:sp>
        <p:sp>
          <p:nvSpPr>
            <p:cNvPr id="20" name="object 6">
              <a:extLst>
                <a:ext uri="{FF2B5EF4-FFF2-40B4-BE49-F238E27FC236}">
                  <a16:creationId xmlns:a16="http://schemas.microsoft.com/office/drawing/2014/main" id="{5B8F600A-73B7-7F5E-3827-59D112B18609}"/>
                </a:ext>
              </a:extLst>
            </p:cNvPr>
            <p:cNvSpPr txBox="1"/>
            <p:nvPr/>
          </p:nvSpPr>
          <p:spPr>
            <a:xfrm>
              <a:off x="2671126" y="5631179"/>
              <a:ext cx="2192020" cy="3302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  <a:tabLst>
                  <a:tab pos="926465" algn="l"/>
                  <a:tab pos="1840864" algn="l"/>
                </a:tabLst>
              </a:pPr>
              <a:r>
                <a:rPr sz="2000" i="1" spc="-5" dirty="0">
                  <a:cs typeface="Calibri"/>
                </a:rPr>
                <a:t>p</a:t>
              </a:r>
              <a:r>
                <a:rPr sz="2000" i="1" dirty="0">
                  <a:cs typeface="Calibri"/>
                </a:rPr>
                <a:t>r</a:t>
              </a:r>
              <a:r>
                <a:rPr sz="2000" i="1" spc="-5" dirty="0">
                  <a:cs typeface="Calibri"/>
                </a:rPr>
                <a:t>o</a:t>
              </a:r>
              <a:r>
                <a:rPr sz="2000" i="1" spc="5" dirty="0">
                  <a:cs typeface="Calibri"/>
                </a:rPr>
                <a:t>c</a:t>
              </a:r>
              <a:r>
                <a:rPr sz="2000" i="1" spc="-20" dirty="0">
                  <a:cs typeface="Calibri"/>
                </a:rPr>
                <a:t>t</a:t>
              </a:r>
              <a:r>
                <a:rPr sz="2000" i="1" spc="-5" dirty="0">
                  <a:cs typeface="Calibri"/>
                </a:rPr>
                <a:t>o</a:t>
              </a:r>
              <a:r>
                <a:rPr sz="2000" i="1" dirty="0">
                  <a:cs typeface="Calibri"/>
                </a:rPr>
                <a:t>r	</a:t>
              </a:r>
              <a:r>
                <a:rPr sz="2000" i="1" spc="-30" dirty="0">
                  <a:cs typeface="Calibri"/>
                </a:rPr>
                <a:t>s</a:t>
              </a:r>
              <a:r>
                <a:rPr sz="2000" i="1" spc="-25" dirty="0">
                  <a:cs typeface="Calibri"/>
                </a:rPr>
                <a:t>t</a:t>
              </a:r>
              <a:r>
                <a:rPr sz="2000" i="1" spc="-5" dirty="0">
                  <a:cs typeface="Calibri"/>
                </a:rPr>
                <a:t>a</a:t>
              </a:r>
              <a:r>
                <a:rPr sz="2000" i="1" dirty="0">
                  <a:cs typeface="Calibri"/>
                </a:rPr>
                <a:t>r</a:t>
              </a:r>
              <a:r>
                <a:rPr sz="2000" i="1" spc="-20" dirty="0">
                  <a:cs typeface="Calibri"/>
                </a:rPr>
                <a:t>t</a:t>
              </a:r>
              <a:r>
                <a:rPr sz="2000" i="1" spc="-5" dirty="0">
                  <a:cs typeface="Calibri"/>
                </a:rPr>
                <a:t>e</a:t>
              </a:r>
              <a:r>
                <a:rPr sz="2000" i="1" dirty="0">
                  <a:cs typeface="Calibri"/>
                </a:rPr>
                <a:t>d	</a:t>
              </a:r>
              <a:r>
                <a:rPr sz="2000" i="1" spc="5" dirty="0">
                  <a:cs typeface="Calibri"/>
                </a:rPr>
                <a:t>t</a:t>
              </a:r>
              <a:r>
                <a:rPr sz="2000" i="1" spc="-5" dirty="0">
                  <a:cs typeface="Calibri"/>
                </a:rPr>
                <a:t>h</a:t>
              </a:r>
              <a:r>
                <a:rPr sz="2000" i="1" dirty="0">
                  <a:cs typeface="Calibri"/>
                </a:rPr>
                <a:t>e</a:t>
              </a:r>
              <a:endParaRPr sz="2000" dirty="0">
                <a:cs typeface="Calibri"/>
              </a:endParaRPr>
            </a:p>
          </p:txBody>
        </p:sp>
        <p:sp>
          <p:nvSpPr>
            <p:cNvPr id="21" name="object 7">
              <a:extLst>
                <a:ext uri="{FF2B5EF4-FFF2-40B4-BE49-F238E27FC236}">
                  <a16:creationId xmlns:a16="http://schemas.microsoft.com/office/drawing/2014/main" id="{FDD8051A-78D1-DF54-A2A0-7B964AB872BA}"/>
                </a:ext>
              </a:extLst>
            </p:cNvPr>
            <p:cNvSpPr txBox="1"/>
            <p:nvPr/>
          </p:nvSpPr>
          <p:spPr>
            <a:xfrm>
              <a:off x="5471475" y="5631179"/>
              <a:ext cx="666282" cy="336563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000" i="1" spc="5" dirty="0">
                  <a:cs typeface="Calibri"/>
                </a:rPr>
                <a:t>c</a:t>
              </a:r>
              <a:r>
                <a:rPr sz="2000" i="1" dirty="0">
                  <a:cs typeface="Calibri"/>
                </a:rPr>
                <a:t>l</a:t>
              </a:r>
              <a:r>
                <a:rPr sz="2000" i="1" spc="-5" dirty="0">
                  <a:cs typeface="Calibri"/>
                </a:rPr>
                <a:t>o</a:t>
              </a:r>
              <a:r>
                <a:rPr sz="2000" i="1" spc="5" dirty="0">
                  <a:cs typeface="Calibri"/>
                </a:rPr>
                <a:t>ck</a:t>
              </a:r>
              <a:endParaRPr sz="2000" dirty="0">
                <a:cs typeface="Calibri"/>
              </a:endParaRPr>
            </a:p>
          </p:txBody>
        </p:sp>
        <p:sp>
          <p:nvSpPr>
            <p:cNvPr id="22" name="object 9">
              <a:extLst>
                <a:ext uri="{FF2B5EF4-FFF2-40B4-BE49-F238E27FC236}">
                  <a16:creationId xmlns:a16="http://schemas.microsoft.com/office/drawing/2014/main" id="{5EDFAE0E-EE8D-E07C-7C81-19E6BFF73196}"/>
                </a:ext>
              </a:extLst>
            </p:cNvPr>
            <p:cNvSpPr txBox="1"/>
            <p:nvPr/>
          </p:nvSpPr>
          <p:spPr>
            <a:xfrm>
              <a:off x="3681623" y="5984747"/>
              <a:ext cx="764540" cy="3302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000" spc="-10" dirty="0">
                  <a:solidFill>
                    <a:srgbClr val="C00000"/>
                  </a:solidFill>
                  <a:cs typeface="Calibri"/>
                </a:rPr>
                <a:t>discard</a:t>
              </a:r>
              <a:endParaRPr sz="2000">
                <a:cs typeface="Calibri"/>
              </a:endParaRPr>
            </a:p>
          </p:txBody>
        </p:sp>
        <p:sp>
          <p:nvSpPr>
            <p:cNvPr id="23" name="object 10">
              <a:extLst>
                <a:ext uri="{FF2B5EF4-FFF2-40B4-BE49-F238E27FC236}">
                  <a16:creationId xmlns:a16="http://schemas.microsoft.com/office/drawing/2014/main" id="{AACC420B-3C37-FF56-70ED-5CD94C07C15D}"/>
                </a:ext>
              </a:extLst>
            </p:cNvPr>
            <p:cNvSpPr/>
            <p:nvPr/>
          </p:nvSpPr>
          <p:spPr>
            <a:xfrm>
              <a:off x="6648414" y="5918533"/>
              <a:ext cx="3585845" cy="241300"/>
            </a:xfrm>
            <a:custGeom>
              <a:avLst/>
              <a:gdLst/>
              <a:ahLst/>
              <a:cxnLst/>
              <a:rect l="l" t="t" r="r" b="b"/>
              <a:pathLst>
                <a:path w="3585845" h="241300">
                  <a:moveTo>
                    <a:pt x="3585555" y="0"/>
                  </a:moveTo>
                  <a:lnTo>
                    <a:pt x="3577223" y="46893"/>
                  </a:lnTo>
                  <a:lnTo>
                    <a:pt x="3554501" y="85186"/>
                  </a:lnTo>
                  <a:lnTo>
                    <a:pt x="3520801" y="111005"/>
                  </a:lnTo>
                  <a:lnTo>
                    <a:pt x="3479533" y="120472"/>
                  </a:lnTo>
                  <a:lnTo>
                    <a:pt x="1898799" y="120472"/>
                  </a:lnTo>
                  <a:lnTo>
                    <a:pt x="1857530" y="129939"/>
                  </a:lnTo>
                  <a:lnTo>
                    <a:pt x="1823830" y="155758"/>
                  </a:lnTo>
                  <a:lnTo>
                    <a:pt x="1801108" y="194051"/>
                  </a:lnTo>
                  <a:lnTo>
                    <a:pt x="1792777" y="240945"/>
                  </a:lnTo>
                  <a:lnTo>
                    <a:pt x="1784445" y="194051"/>
                  </a:lnTo>
                  <a:lnTo>
                    <a:pt x="1761724" y="155758"/>
                  </a:lnTo>
                  <a:lnTo>
                    <a:pt x="1728024" y="129939"/>
                  </a:lnTo>
                  <a:lnTo>
                    <a:pt x="1686756" y="120472"/>
                  </a:lnTo>
                  <a:lnTo>
                    <a:pt x="106021" y="120472"/>
                  </a:lnTo>
                  <a:lnTo>
                    <a:pt x="64753" y="111005"/>
                  </a:lnTo>
                  <a:lnTo>
                    <a:pt x="31053" y="85186"/>
                  </a:lnTo>
                  <a:lnTo>
                    <a:pt x="8331" y="46893"/>
                  </a:lnTo>
                  <a:lnTo>
                    <a:pt x="0" y="0"/>
                  </a:lnTo>
                </a:path>
              </a:pathLst>
            </a:custGeom>
            <a:ln w="28575">
              <a:solidFill>
                <a:srgbClr val="FF0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11">
              <a:extLst>
                <a:ext uri="{FF2B5EF4-FFF2-40B4-BE49-F238E27FC236}">
                  <a16:creationId xmlns:a16="http://schemas.microsoft.com/office/drawing/2014/main" id="{3023BEC5-37DF-8609-C032-6E7F3012D123}"/>
                </a:ext>
              </a:extLst>
            </p:cNvPr>
            <p:cNvSpPr txBox="1"/>
            <p:nvPr/>
          </p:nvSpPr>
          <p:spPr>
            <a:xfrm>
              <a:off x="6615848" y="5631179"/>
              <a:ext cx="2700020" cy="833119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  <a:tabLst>
                  <a:tab pos="779145" algn="l"/>
                  <a:tab pos="1924685" algn="l"/>
                </a:tabLst>
              </a:pPr>
              <a:r>
                <a:rPr sz="2000" i="1" dirty="0">
                  <a:cs typeface="Calibri"/>
                </a:rPr>
                <a:t>the	</a:t>
              </a:r>
              <a:r>
                <a:rPr sz="2000" i="1" spc="-10" dirty="0">
                  <a:cs typeface="Calibri"/>
                </a:rPr>
                <a:t>students	opened</a:t>
              </a:r>
              <a:endParaRPr sz="2000">
                <a:cs typeface="Calibri"/>
              </a:endParaRPr>
            </a:p>
            <a:p>
              <a:pPr marL="1136650">
                <a:lnSpc>
                  <a:spcPct val="100000"/>
                </a:lnSpc>
                <a:spcBef>
                  <a:spcPts val="1560"/>
                </a:spcBef>
              </a:pPr>
              <a:r>
                <a:rPr sz="2000" spc="-15" dirty="0">
                  <a:solidFill>
                    <a:srgbClr val="FF07EB"/>
                  </a:solidFill>
                  <a:cs typeface="Calibri"/>
                </a:rPr>
                <a:t>fixed</a:t>
              </a:r>
              <a:r>
                <a:rPr sz="2000" spc="-40" dirty="0">
                  <a:solidFill>
                    <a:srgbClr val="FF07EB"/>
                  </a:solidFill>
                  <a:cs typeface="Calibri"/>
                </a:rPr>
                <a:t> </a:t>
              </a:r>
              <a:r>
                <a:rPr sz="2000" spc="-5" dirty="0">
                  <a:solidFill>
                    <a:srgbClr val="FF07EB"/>
                  </a:solidFill>
                  <a:cs typeface="Calibri"/>
                </a:rPr>
                <a:t>window</a:t>
              </a:r>
              <a:endParaRPr sz="2000">
                <a:cs typeface="Calibri"/>
              </a:endParaRPr>
            </a:p>
          </p:txBody>
        </p:sp>
      </p:grpSp>
      <p:sp>
        <p:nvSpPr>
          <p:cNvPr id="25" name="object 8">
            <a:extLst>
              <a:ext uri="{FF2B5EF4-FFF2-40B4-BE49-F238E27FC236}">
                <a16:creationId xmlns:a16="http://schemas.microsoft.com/office/drawing/2014/main" id="{BB5B11E1-C1B5-673C-46C3-C56A5AFC63BC}"/>
              </a:ext>
            </a:extLst>
          </p:cNvPr>
          <p:cNvSpPr/>
          <p:nvPr/>
        </p:nvSpPr>
        <p:spPr>
          <a:xfrm>
            <a:off x="592355" y="5472229"/>
            <a:ext cx="5335687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599" y="1"/>
                </a:lnTo>
              </a:path>
            </a:pathLst>
          </a:custGeom>
          <a:ln w="571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53123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1325" y="955948"/>
            <a:ext cx="1130776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A</a:t>
            </a:r>
            <a:r>
              <a:rPr lang="en-US" spc="-10" dirty="0"/>
              <a:t> </a:t>
            </a:r>
            <a:r>
              <a:rPr lang="en-US" spc="-5" dirty="0"/>
              <a:t>Fixed-window Neural Language</a:t>
            </a:r>
            <a:r>
              <a:rPr lang="en-US" spc="-10" dirty="0"/>
              <a:t> </a:t>
            </a:r>
            <a:r>
              <a:rPr lang="en-US" spc="-5" dirty="0"/>
              <a:t>Model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5487002" y="5369058"/>
            <a:ext cx="249745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9145" algn="l"/>
              </a:tabLst>
            </a:pPr>
            <a:r>
              <a:rPr sz="2000" i="1" spc="5" dirty="0">
                <a:cs typeface="Calibri"/>
              </a:rPr>
              <a:t>t</a:t>
            </a:r>
            <a:r>
              <a:rPr sz="2000" i="1" spc="-5" dirty="0">
                <a:cs typeface="Calibri"/>
              </a:rPr>
              <a:t>h</a:t>
            </a:r>
            <a:r>
              <a:rPr sz="2000" i="1" dirty="0">
                <a:cs typeface="Calibri"/>
              </a:rPr>
              <a:t>e	</a:t>
            </a:r>
            <a:r>
              <a:rPr sz="2000" i="1" spc="-30" dirty="0">
                <a:cs typeface="Calibri"/>
              </a:rPr>
              <a:t>s</a:t>
            </a:r>
            <a:r>
              <a:rPr sz="2000" i="1" dirty="0">
                <a:cs typeface="Calibri"/>
              </a:rPr>
              <a:t>t</a:t>
            </a:r>
            <a:r>
              <a:rPr sz="2000" i="1" spc="-5" dirty="0">
                <a:cs typeface="Calibri"/>
              </a:rPr>
              <a:t>ude</a:t>
            </a:r>
            <a:r>
              <a:rPr sz="2000" i="1" spc="-25" dirty="0">
                <a:cs typeface="Calibri"/>
              </a:rPr>
              <a:t>n</a:t>
            </a:r>
            <a:r>
              <a:rPr sz="2000" i="1" dirty="0">
                <a:cs typeface="Calibri"/>
              </a:rPr>
              <a:t>ts</a:t>
            </a:r>
            <a:endParaRPr sz="2000" dirty="0"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97099" y="5359459"/>
            <a:ext cx="883611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spc="-10" dirty="0">
                <a:cs typeface="Calibri"/>
              </a:rPr>
              <a:t>opened</a:t>
            </a:r>
            <a:endParaRPr sz="2000" dirty="0"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578884" y="5371212"/>
            <a:ext cx="508634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spc="5" dirty="0">
                <a:cs typeface="Calibri"/>
              </a:rPr>
              <a:t>t</a:t>
            </a:r>
            <a:r>
              <a:rPr sz="2000" i="1" spc="-5" dirty="0">
                <a:cs typeface="Calibri"/>
              </a:rPr>
              <a:t>h</a:t>
            </a:r>
            <a:r>
              <a:rPr sz="2000" i="1" spc="-10" dirty="0">
                <a:cs typeface="Calibri"/>
              </a:rPr>
              <a:t>e</a:t>
            </a:r>
            <a:r>
              <a:rPr sz="2000" i="1" dirty="0">
                <a:cs typeface="Calibri"/>
              </a:rPr>
              <a:t>ir</a:t>
            </a:r>
            <a:endParaRPr sz="2000" dirty="0">
              <a:cs typeface="Calibr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5088216" y="3031125"/>
            <a:ext cx="4194810" cy="2408001"/>
            <a:chOff x="5843627" y="3202846"/>
            <a:chExt cx="4194810" cy="2408001"/>
          </a:xfrm>
        </p:grpSpPr>
        <p:pic>
          <p:nvPicPr>
            <p:cNvPr id="38" name="object 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31939" y="4605781"/>
              <a:ext cx="157194" cy="165353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39153" y="4605781"/>
              <a:ext cx="157194" cy="165353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46369" y="4605781"/>
              <a:ext cx="157194" cy="165353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53584" y="4605781"/>
              <a:ext cx="157194" cy="165353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5843627" y="4511066"/>
              <a:ext cx="4194810" cy="365760"/>
            </a:xfrm>
            <a:custGeom>
              <a:avLst/>
              <a:gdLst/>
              <a:ahLst/>
              <a:cxnLst/>
              <a:rect l="l" t="t" r="r" b="b"/>
              <a:pathLst>
                <a:path w="4194809" h="365760">
                  <a:moveTo>
                    <a:pt x="0" y="60962"/>
                  </a:moveTo>
                  <a:lnTo>
                    <a:pt x="4790" y="37233"/>
                  </a:lnTo>
                  <a:lnTo>
                    <a:pt x="17855" y="17855"/>
                  </a:lnTo>
                  <a:lnTo>
                    <a:pt x="37232" y="4790"/>
                  </a:lnTo>
                  <a:lnTo>
                    <a:pt x="60961" y="0"/>
                  </a:lnTo>
                  <a:lnTo>
                    <a:pt x="4133733" y="0"/>
                  </a:lnTo>
                  <a:lnTo>
                    <a:pt x="4157462" y="4790"/>
                  </a:lnTo>
                  <a:lnTo>
                    <a:pt x="4176839" y="17855"/>
                  </a:lnTo>
                  <a:lnTo>
                    <a:pt x="4189904" y="37233"/>
                  </a:lnTo>
                  <a:lnTo>
                    <a:pt x="4194695" y="60962"/>
                  </a:lnTo>
                  <a:lnTo>
                    <a:pt x="4194695" y="304797"/>
                  </a:lnTo>
                  <a:lnTo>
                    <a:pt x="4189904" y="328527"/>
                  </a:lnTo>
                  <a:lnTo>
                    <a:pt x="4176839" y="347904"/>
                  </a:lnTo>
                  <a:lnTo>
                    <a:pt x="4157462" y="360969"/>
                  </a:lnTo>
                  <a:lnTo>
                    <a:pt x="4133733" y="365760"/>
                  </a:lnTo>
                  <a:lnTo>
                    <a:pt x="60961" y="365760"/>
                  </a:lnTo>
                  <a:lnTo>
                    <a:pt x="37232" y="360969"/>
                  </a:lnTo>
                  <a:lnTo>
                    <a:pt x="17855" y="347904"/>
                  </a:lnTo>
                  <a:lnTo>
                    <a:pt x="4790" y="328527"/>
                  </a:lnTo>
                  <a:lnTo>
                    <a:pt x="0" y="304797"/>
                  </a:lnTo>
                  <a:lnTo>
                    <a:pt x="0" y="60962"/>
                  </a:lnTo>
                  <a:close/>
                </a:path>
              </a:pathLst>
            </a:custGeom>
            <a:ln w="19050">
              <a:solidFill>
                <a:srgbClr val="6100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78452" y="4605781"/>
              <a:ext cx="157194" cy="165353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85666" y="4605781"/>
              <a:ext cx="157194" cy="165353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92882" y="4605781"/>
              <a:ext cx="157194" cy="165353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00096" y="4605781"/>
              <a:ext cx="157194" cy="165353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67534" y="4604985"/>
              <a:ext cx="157194" cy="165353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74748" y="4604985"/>
              <a:ext cx="157194" cy="165353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81965" y="4604985"/>
              <a:ext cx="157194" cy="165353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689180" y="4604985"/>
              <a:ext cx="157194" cy="165353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0552" y="4604986"/>
              <a:ext cx="157194" cy="165353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47766" y="4604986"/>
              <a:ext cx="157194" cy="165353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54982" y="4604986"/>
              <a:ext cx="157194" cy="165353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62197" y="4604986"/>
              <a:ext cx="157194" cy="165353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6266599" y="4876787"/>
              <a:ext cx="3312795" cy="734060"/>
            </a:xfrm>
            <a:custGeom>
              <a:avLst/>
              <a:gdLst/>
              <a:ahLst/>
              <a:cxnLst/>
              <a:rect l="l" t="t" r="r" b="b"/>
              <a:pathLst>
                <a:path w="3312795" h="734060">
                  <a:moveTo>
                    <a:pt x="110655" y="94856"/>
                  </a:moveTo>
                  <a:lnTo>
                    <a:pt x="66344" y="18910"/>
                  </a:lnTo>
                  <a:lnTo>
                    <a:pt x="55321" y="0"/>
                  </a:lnTo>
                  <a:lnTo>
                    <a:pt x="0" y="94856"/>
                  </a:lnTo>
                  <a:lnTo>
                    <a:pt x="1536" y="100685"/>
                  </a:lnTo>
                  <a:lnTo>
                    <a:pt x="10617" y="105981"/>
                  </a:lnTo>
                  <a:lnTo>
                    <a:pt x="16446" y="104444"/>
                  </a:lnTo>
                  <a:lnTo>
                    <a:pt x="45796" y="54140"/>
                  </a:lnTo>
                  <a:lnTo>
                    <a:pt x="45796" y="733526"/>
                  </a:lnTo>
                  <a:lnTo>
                    <a:pt x="64846" y="733526"/>
                  </a:lnTo>
                  <a:lnTo>
                    <a:pt x="64846" y="54140"/>
                  </a:lnTo>
                  <a:lnTo>
                    <a:pt x="94195" y="104444"/>
                  </a:lnTo>
                  <a:lnTo>
                    <a:pt x="100025" y="105981"/>
                  </a:lnTo>
                  <a:lnTo>
                    <a:pt x="109118" y="100685"/>
                  </a:lnTo>
                  <a:lnTo>
                    <a:pt x="110655" y="94856"/>
                  </a:lnTo>
                  <a:close/>
                </a:path>
                <a:path w="3312795" h="734060">
                  <a:moveTo>
                    <a:pt x="1146175" y="94856"/>
                  </a:moveTo>
                  <a:lnTo>
                    <a:pt x="1101864" y="18910"/>
                  </a:lnTo>
                  <a:lnTo>
                    <a:pt x="1090841" y="0"/>
                  </a:lnTo>
                  <a:lnTo>
                    <a:pt x="1035507" y="94856"/>
                  </a:lnTo>
                  <a:lnTo>
                    <a:pt x="1037043" y="100685"/>
                  </a:lnTo>
                  <a:lnTo>
                    <a:pt x="1046137" y="105981"/>
                  </a:lnTo>
                  <a:lnTo>
                    <a:pt x="1051966" y="104444"/>
                  </a:lnTo>
                  <a:lnTo>
                    <a:pt x="1081316" y="54140"/>
                  </a:lnTo>
                  <a:lnTo>
                    <a:pt x="1081316" y="733526"/>
                  </a:lnTo>
                  <a:lnTo>
                    <a:pt x="1100366" y="733526"/>
                  </a:lnTo>
                  <a:lnTo>
                    <a:pt x="1100366" y="54140"/>
                  </a:lnTo>
                  <a:lnTo>
                    <a:pt x="1129715" y="104444"/>
                  </a:lnTo>
                  <a:lnTo>
                    <a:pt x="1135545" y="105981"/>
                  </a:lnTo>
                  <a:lnTo>
                    <a:pt x="1144638" y="100685"/>
                  </a:lnTo>
                  <a:lnTo>
                    <a:pt x="1146175" y="94856"/>
                  </a:lnTo>
                  <a:close/>
                </a:path>
                <a:path w="3312795" h="734060">
                  <a:moveTo>
                    <a:pt x="2257793" y="94856"/>
                  </a:moveTo>
                  <a:lnTo>
                    <a:pt x="2213495" y="18897"/>
                  </a:lnTo>
                  <a:lnTo>
                    <a:pt x="2202472" y="0"/>
                  </a:lnTo>
                  <a:lnTo>
                    <a:pt x="2147138" y="94856"/>
                  </a:lnTo>
                  <a:lnTo>
                    <a:pt x="2148675" y="100685"/>
                  </a:lnTo>
                  <a:lnTo>
                    <a:pt x="2157755" y="105981"/>
                  </a:lnTo>
                  <a:lnTo>
                    <a:pt x="2163597" y="104444"/>
                  </a:lnTo>
                  <a:lnTo>
                    <a:pt x="2192947" y="54140"/>
                  </a:lnTo>
                  <a:lnTo>
                    <a:pt x="2192947" y="733526"/>
                  </a:lnTo>
                  <a:lnTo>
                    <a:pt x="2211997" y="733526"/>
                  </a:lnTo>
                  <a:lnTo>
                    <a:pt x="2211997" y="54140"/>
                  </a:lnTo>
                  <a:lnTo>
                    <a:pt x="2241334" y="104444"/>
                  </a:lnTo>
                  <a:lnTo>
                    <a:pt x="2247176" y="105981"/>
                  </a:lnTo>
                  <a:lnTo>
                    <a:pt x="2256256" y="100685"/>
                  </a:lnTo>
                  <a:lnTo>
                    <a:pt x="2257793" y="94856"/>
                  </a:lnTo>
                  <a:close/>
                </a:path>
                <a:path w="3312795" h="734060">
                  <a:moveTo>
                    <a:pt x="3312223" y="94856"/>
                  </a:moveTo>
                  <a:lnTo>
                    <a:pt x="3267913" y="18897"/>
                  </a:lnTo>
                  <a:lnTo>
                    <a:pt x="3256889" y="0"/>
                  </a:lnTo>
                  <a:lnTo>
                    <a:pt x="3201568" y="94856"/>
                  </a:lnTo>
                  <a:lnTo>
                    <a:pt x="3203105" y="100685"/>
                  </a:lnTo>
                  <a:lnTo>
                    <a:pt x="3212185" y="105981"/>
                  </a:lnTo>
                  <a:lnTo>
                    <a:pt x="3218015" y="104444"/>
                  </a:lnTo>
                  <a:lnTo>
                    <a:pt x="3247364" y="54140"/>
                  </a:lnTo>
                  <a:lnTo>
                    <a:pt x="3247364" y="733526"/>
                  </a:lnTo>
                  <a:lnTo>
                    <a:pt x="3266414" y="733526"/>
                  </a:lnTo>
                  <a:lnTo>
                    <a:pt x="3266414" y="54140"/>
                  </a:lnTo>
                  <a:lnTo>
                    <a:pt x="3295764" y="104444"/>
                  </a:lnTo>
                  <a:lnTo>
                    <a:pt x="3301593" y="105981"/>
                  </a:lnTo>
                  <a:lnTo>
                    <a:pt x="3310686" y="100685"/>
                  </a:lnTo>
                  <a:lnTo>
                    <a:pt x="3312223" y="94856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922996" y="3935411"/>
              <a:ext cx="107846" cy="576070"/>
            </a:xfrm>
            <a:custGeom>
              <a:avLst/>
              <a:gdLst/>
              <a:ahLst/>
              <a:cxnLst/>
              <a:rect l="l" t="t" r="r" b="b"/>
              <a:pathLst>
                <a:path w="111125" h="764539">
                  <a:moveTo>
                    <a:pt x="55491" y="37807"/>
                  </a:moveTo>
                  <a:lnTo>
                    <a:pt x="45919" y="54108"/>
                  </a:lnTo>
                  <a:lnTo>
                    <a:pt x="43895" y="764099"/>
                  </a:lnTo>
                  <a:lnTo>
                    <a:pt x="62945" y="764152"/>
                  </a:lnTo>
                  <a:lnTo>
                    <a:pt x="64865" y="90454"/>
                  </a:lnTo>
                  <a:lnTo>
                    <a:pt x="64938" y="54108"/>
                  </a:lnTo>
                  <a:lnTo>
                    <a:pt x="55491" y="37807"/>
                  </a:lnTo>
                  <a:close/>
                </a:path>
                <a:path w="111125" h="764539">
                  <a:moveTo>
                    <a:pt x="66538" y="18877"/>
                  </a:moveTo>
                  <a:lnTo>
                    <a:pt x="46019" y="18877"/>
                  </a:lnTo>
                  <a:lnTo>
                    <a:pt x="65069" y="18931"/>
                  </a:lnTo>
                  <a:lnTo>
                    <a:pt x="64969" y="54161"/>
                  </a:lnTo>
                  <a:lnTo>
                    <a:pt x="94174" y="104556"/>
                  </a:lnTo>
                  <a:lnTo>
                    <a:pt x="100002" y="106108"/>
                  </a:lnTo>
                  <a:lnTo>
                    <a:pt x="109104" y="100832"/>
                  </a:lnTo>
                  <a:lnTo>
                    <a:pt x="110656" y="95004"/>
                  </a:lnTo>
                  <a:lnTo>
                    <a:pt x="66538" y="18877"/>
                  </a:lnTo>
                  <a:close/>
                </a:path>
                <a:path w="111125" h="764539">
                  <a:moveTo>
                    <a:pt x="55599" y="0"/>
                  </a:moveTo>
                  <a:lnTo>
                    <a:pt x="0" y="94689"/>
                  </a:lnTo>
                  <a:lnTo>
                    <a:pt x="1518" y="100526"/>
                  </a:lnTo>
                  <a:lnTo>
                    <a:pt x="10591" y="105853"/>
                  </a:lnTo>
                  <a:lnTo>
                    <a:pt x="16427" y="104335"/>
                  </a:lnTo>
                  <a:lnTo>
                    <a:pt x="45888" y="54161"/>
                  </a:lnTo>
                  <a:lnTo>
                    <a:pt x="46019" y="18877"/>
                  </a:lnTo>
                  <a:lnTo>
                    <a:pt x="66538" y="18877"/>
                  </a:lnTo>
                  <a:lnTo>
                    <a:pt x="55599" y="0"/>
                  </a:lnTo>
                  <a:close/>
                </a:path>
                <a:path w="111125" h="764539">
                  <a:moveTo>
                    <a:pt x="65056" y="23679"/>
                  </a:moveTo>
                  <a:lnTo>
                    <a:pt x="47303" y="23679"/>
                  </a:lnTo>
                  <a:lnTo>
                    <a:pt x="63759" y="23726"/>
                  </a:lnTo>
                  <a:lnTo>
                    <a:pt x="55491" y="37807"/>
                  </a:lnTo>
                  <a:lnTo>
                    <a:pt x="64969" y="54161"/>
                  </a:lnTo>
                  <a:lnTo>
                    <a:pt x="65056" y="23679"/>
                  </a:lnTo>
                  <a:close/>
                </a:path>
                <a:path w="111125" h="764539">
                  <a:moveTo>
                    <a:pt x="46019" y="18877"/>
                  </a:moveTo>
                  <a:lnTo>
                    <a:pt x="45919" y="54108"/>
                  </a:lnTo>
                  <a:lnTo>
                    <a:pt x="55491" y="37807"/>
                  </a:lnTo>
                  <a:lnTo>
                    <a:pt x="47303" y="23679"/>
                  </a:lnTo>
                  <a:lnTo>
                    <a:pt x="65056" y="23679"/>
                  </a:lnTo>
                  <a:lnTo>
                    <a:pt x="65069" y="18931"/>
                  </a:lnTo>
                  <a:lnTo>
                    <a:pt x="46019" y="18877"/>
                  </a:lnTo>
                  <a:close/>
                </a:path>
                <a:path w="111125" h="764539">
                  <a:moveTo>
                    <a:pt x="47303" y="23679"/>
                  </a:moveTo>
                  <a:lnTo>
                    <a:pt x="55491" y="37807"/>
                  </a:lnTo>
                  <a:lnTo>
                    <a:pt x="63759" y="23726"/>
                  </a:lnTo>
                  <a:lnTo>
                    <a:pt x="47303" y="23679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772817" y="3675343"/>
              <a:ext cx="157194" cy="165353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979965" y="3675343"/>
              <a:ext cx="157194" cy="165353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87116" y="3675343"/>
              <a:ext cx="157194" cy="165353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394266" y="3675343"/>
              <a:ext cx="157194" cy="165353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6684506" y="3580628"/>
              <a:ext cx="2622550" cy="365760"/>
            </a:xfrm>
            <a:custGeom>
              <a:avLst/>
              <a:gdLst/>
              <a:ahLst/>
              <a:cxnLst/>
              <a:rect l="l" t="t" r="r" b="b"/>
              <a:pathLst>
                <a:path w="2622550" h="365760">
                  <a:moveTo>
                    <a:pt x="0" y="60960"/>
                  </a:moveTo>
                  <a:lnTo>
                    <a:pt x="4790" y="37232"/>
                  </a:lnTo>
                  <a:lnTo>
                    <a:pt x="17855" y="17855"/>
                  </a:lnTo>
                  <a:lnTo>
                    <a:pt x="37232" y="4790"/>
                  </a:lnTo>
                  <a:lnTo>
                    <a:pt x="60960" y="0"/>
                  </a:lnTo>
                  <a:lnTo>
                    <a:pt x="2560985" y="0"/>
                  </a:lnTo>
                  <a:lnTo>
                    <a:pt x="2584713" y="4790"/>
                  </a:lnTo>
                  <a:lnTo>
                    <a:pt x="2604091" y="17855"/>
                  </a:lnTo>
                  <a:lnTo>
                    <a:pt x="2617155" y="37232"/>
                  </a:lnTo>
                  <a:lnTo>
                    <a:pt x="2621946" y="60960"/>
                  </a:lnTo>
                  <a:lnTo>
                    <a:pt x="2621946" y="304799"/>
                  </a:lnTo>
                  <a:lnTo>
                    <a:pt x="2617155" y="328527"/>
                  </a:lnTo>
                  <a:lnTo>
                    <a:pt x="2604091" y="347904"/>
                  </a:lnTo>
                  <a:lnTo>
                    <a:pt x="2584713" y="360969"/>
                  </a:lnTo>
                  <a:lnTo>
                    <a:pt x="2560985" y="365760"/>
                  </a:lnTo>
                  <a:lnTo>
                    <a:pt x="60960" y="365760"/>
                  </a:lnTo>
                  <a:lnTo>
                    <a:pt x="37232" y="360969"/>
                  </a:lnTo>
                  <a:lnTo>
                    <a:pt x="17855" y="347904"/>
                  </a:lnTo>
                  <a:lnTo>
                    <a:pt x="4790" y="328527"/>
                  </a:lnTo>
                  <a:lnTo>
                    <a:pt x="0" y="304799"/>
                  </a:lnTo>
                  <a:lnTo>
                    <a:pt x="0" y="60960"/>
                  </a:lnTo>
                  <a:close/>
                </a:path>
              </a:pathLst>
            </a:custGeom>
            <a:ln w="19050">
              <a:solidFill>
                <a:srgbClr val="8C151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601415" y="3675343"/>
              <a:ext cx="157194" cy="165353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08566" y="3675343"/>
              <a:ext cx="157194" cy="165353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015716" y="3675343"/>
              <a:ext cx="157194" cy="165353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222866" y="3675343"/>
              <a:ext cx="157194" cy="165353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430015" y="3675343"/>
              <a:ext cx="157194" cy="165353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637167" y="3675343"/>
              <a:ext cx="157194" cy="165353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844316" y="3675343"/>
              <a:ext cx="157194" cy="165353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051470" y="3675343"/>
              <a:ext cx="157194" cy="165353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060806" y="4115814"/>
              <a:ext cx="344424" cy="270269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7927893" y="3202846"/>
              <a:ext cx="132913" cy="394279"/>
            </a:xfrm>
            <a:custGeom>
              <a:avLst/>
              <a:gdLst/>
              <a:ahLst/>
              <a:cxnLst/>
              <a:rect l="l" t="t" r="r" b="b"/>
              <a:pathLst>
                <a:path w="111125" h="784860">
                  <a:moveTo>
                    <a:pt x="55328" y="37807"/>
                  </a:moveTo>
                  <a:lnTo>
                    <a:pt x="45803" y="54135"/>
                  </a:lnTo>
                  <a:lnTo>
                    <a:pt x="45802" y="784373"/>
                  </a:lnTo>
                  <a:lnTo>
                    <a:pt x="64852" y="784373"/>
                  </a:lnTo>
                  <a:lnTo>
                    <a:pt x="64852" y="54135"/>
                  </a:lnTo>
                  <a:lnTo>
                    <a:pt x="55328" y="37807"/>
                  </a:lnTo>
                  <a:close/>
                </a:path>
                <a:path w="111125" h="784860">
                  <a:moveTo>
                    <a:pt x="66355" y="18903"/>
                  </a:moveTo>
                  <a:lnTo>
                    <a:pt x="64853" y="18903"/>
                  </a:lnTo>
                  <a:lnTo>
                    <a:pt x="64853" y="54137"/>
                  </a:lnTo>
                  <a:lnTo>
                    <a:pt x="94200" y="104447"/>
                  </a:lnTo>
                  <a:lnTo>
                    <a:pt x="100036" y="105981"/>
                  </a:lnTo>
                  <a:lnTo>
                    <a:pt x="109120" y="100680"/>
                  </a:lnTo>
                  <a:lnTo>
                    <a:pt x="110656" y="94848"/>
                  </a:lnTo>
                  <a:lnTo>
                    <a:pt x="66355" y="18903"/>
                  </a:lnTo>
                  <a:close/>
                </a:path>
                <a:path w="111125" h="784860">
                  <a:moveTo>
                    <a:pt x="55328" y="0"/>
                  </a:moveTo>
                  <a:lnTo>
                    <a:pt x="0" y="94848"/>
                  </a:lnTo>
                  <a:lnTo>
                    <a:pt x="1535" y="100680"/>
                  </a:lnTo>
                  <a:lnTo>
                    <a:pt x="10622" y="105981"/>
                  </a:lnTo>
                  <a:lnTo>
                    <a:pt x="16455" y="104447"/>
                  </a:lnTo>
                  <a:lnTo>
                    <a:pt x="45802" y="54137"/>
                  </a:lnTo>
                  <a:lnTo>
                    <a:pt x="45803" y="18903"/>
                  </a:lnTo>
                  <a:lnTo>
                    <a:pt x="66355" y="18903"/>
                  </a:lnTo>
                  <a:lnTo>
                    <a:pt x="55328" y="0"/>
                  </a:lnTo>
                  <a:close/>
                </a:path>
                <a:path w="111125" h="784860">
                  <a:moveTo>
                    <a:pt x="64853" y="23703"/>
                  </a:moveTo>
                  <a:lnTo>
                    <a:pt x="63555" y="23703"/>
                  </a:lnTo>
                  <a:lnTo>
                    <a:pt x="55328" y="37807"/>
                  </a:lnTo>
                  <a:lnTo>
                    <a:pt x="64853" y="54137"/>
                  </a:lnTo>
                  <a:lnTo>
                    <a:pt x="64853" y="23703"/>
                  </a:lnTo>
                  <a:close/>
                </a:path>
                <a:path w="111125" h="784860">
                  <a:moveTo>
                    <a:pt x="64853" y="18903"/>
                  </a:moveTo>
                  <a:lnTo>
                    <a:pt x="45803" y="18903"/>
                  </a:lnTo>
                  <a:lnTo>
                    <a:pt x="45803" y="54135"/>
                  </a:lnTo>
                  <a:lnTo>
                    <a:pt x="55328" y="37807"/>
                  </a:lnTo>
                  <a:lnTo>
                    <a:pt x="47100" y="23703"/>
                  </a:lnTo>
                  <a:lnTo>
                    <a:pt x="64853" y="23703"/>
                  </a:lnTo>
                  <a:lnTo>
                    <a:pt x="64853" y="18903"/>
                  </a:lnTo>
                  <a:close/>
                </a:path>
                <a:path w="111125" h="784860">
                  <a:moveTo>
                    <a:pt x="63555" y="23703"/>
                  </a:moveTo>
                  <a:lnTo>
                    <a:pt x="47100" y="23703"/>
                  </a:lnTo>
                  <a:lnTo>
                    <a:pt x="55328" y="37807"/>
                  </a:lnTo>
                  <a:lnTo>
                    <a:pt x="63555" y="23703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7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094313" y="3286238"/>
              <a:ext cx="237237" cy="241771"/>
            </a:xfrm>
            <a:prstGeom prst="rect">
              <a:avLst/>
            </a:prstGeom>
          </p:spPr>
        </p:pic>
      </p:grpSp>
      <p:pic>
        <p:nvPicPr>
          <p:cNvPr id="75" name="object 7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355017" y="5703771"/>
            <a:ext cx="441131" cy="320039"/>
          </a:xfrm>
          <a:prstGeom prst="rect">
            <a:avLst/>
          </a:prstGeom>
        </p:spPr>
      </p:pic>
      <p:pic>
        <p:nvPicPr>
          <p:cNvPr id="76" name="object 7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562197" y="5670320"/>
            <a:ext cx="424722" cy="320039"/>
          </a:xfrm>
          <a:prstGeom prst="rect">
            <a:avLst/>
          </a:prstGeom>
        </p:spPr>
      </p:pic>
      <p:pic>
        <p:nvPicPr>
          <p:cNvPr id="77" name="object 7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506317" y="5670320"/>
            <a:ext cx="440474" cy="320039"/>
          </a:xfrm>
          <a:prstGeom prst="rect">
            <a:avLst/>
          </a:prstGeom>
        </p:spPr>
      </p:pic>
      <p:pic>
        <p:nvPicPr>
          <p:cNvPr id="78" name="object 7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6388811" y="5691832"/>
            <a:ext cx="467593" cy="320039"/>
          </a:xfrm>
          <a:prstGeom prst="rect">
            <a:avLst/>
          </a:prstGeom>
        </p:spPr>
      </p:pic>
      <p:grpSp>
        <p:nvGrpSpPr>
          <p:cNvPr id="95" name="Group 94">
            <a:extLst>
              <a:ext uri="{FF2B5EF4-FFF2-40B4-BE49-F238E27FC236}">
                <a16:creationId xmlns:a16="http://schemas.microsoft.com/office/drawing/2014/main" id="{145F6B9A-83F1-0AE1-176A-5FE35752EBB8}"/>
              </a:ext>
            </a:extLst>
          </p:cNvPr>
          <p:cNvGrpSpPr/>
          <p:nvPr/>
        </p:nvGrpSpPr>
        <p:grpSpPr>
          <a:xfrm>
            <a:off x="6261833" y="1675647"/>
            <a:ext cx="2100580" cy="1546353"/>
            <a:chOff x="7883814" y="1309115"/>
            <a:chExt cx="2100580" cy="1546353"/>
          </a:xfrm>
        </p:grpSpPr>
        <p:sp>
          <p:nvSpPr>
            <p:cNvPr id="96" name="object 6"/>
            <p:cNvSpPr txBox="1"/>
            <p:nvPr/>
          </p:nvSpPr>
          <p:spPr>
            <a:xfrm>
              <a:off x="8067649" y="1309115"/>
              <a:ext cx="447040" cy="23876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400" i="1" spc="5" dirty="0">
                  <a:solidFill>
                    <a:srgbClr val="175E54"/>
                  </a:solidFill>
                  <a:latin typeface="Calibri"/>
                  <a:cs typeface="Calibri"/>
                </a:rPr>
                <a:t>b</a:t>
              </a:r>
              <a:r>
                <a:rPr sz="1400" i="1" spc="-10" dirty="0">
                  <a:solidFill>
                    <a:srgbClr val="175E54"/>
                  </a:solidFill>
                  <a:latin typeface="Calibri"/>
                  <a:cs typeface="Calibri"/>
                </a:rPr>
                <a:t>oo</a:t>
              </a:r>
              <a:r>
                <a:rPr sz="1400" i="1" spc="-15" dirty="0">
                  <a:solidFill>
                    <a:srgbClr val="175E54"/>
                  </a:solidFill>
                  <a:latin typeface="Calibri"/>
                  <a:cs typeface="Calibri"/>
                </a:rPr>
                <a:t>k</a:t>
              </a:r>
              <a:r>
                <a:rPr sz="1400" i="1" dirty="0">
                  <a:solidFill>
                    <a:srgbClr val="175E54"/>
                  </a:solidFill>
                  <a:latin typeface="Calibri"/>
                  <a:cs typeface="Calibri"/>
                </a:rPr>
                <a:t>s</a:t>
              </a:r>
              <a:endParaRPr sz="1400">
                <a:latin typeface="Calibri"/>
                <a:cs typeface="Calibri"/>
              </a:endParaRPr>
            </a:p>
          </p:txBody>
        </p:sp>
        <p:sp>
          <p:nvSpPr>
            <p:cNvPr id="97" name="object 7"/>
            <p:cNvSpPr txBox="1"/>
            <p:nvPr/>
          </p:nvSpPr>
          <p:spPr>
            <a:xfrm>
              <a:off x="8868216" y="1498091"/>
              <a:ext cx="559435" cy="23876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400" i="1" dirty="0">
                  <a:solidFill>
                    <a:srgbClr val="175E54"/>
                  </a:solidFill>
                  <a:latin typeface="Calibri"/>
                  <a:cs typeface="Calibri"/>
                </a:rPr>
                <a:t>l</a:t>
              </a:r>
              <a:r>
                <a:rPr sz="1400" i="1" spc="5" dirty="0">
                  <a:solidFill>
                    <a:srgbClr val="175E54"/>
                  </a:solidFill>
                  <a:latin typeface="Calibri"/>
                  <a:cs typeface="Calibri"/>
                </a:rPr>
                <a:t>a</a:t>
              </a:r>
              <a:r>
                <a:rPr sz="1400" i="1" spc="-5" dirty="0">
                  <a:solidFill>
                    <a:srgbClr val="175E54"/>
                  </a:solidFill>
                  <a:latin typeface="Calibri"/>
                  <a:cs typeface="Calibri"/>
                </a:rPr>
                <a:t>p</a:t>
              </a:r>
              <a:r>
                <a:rPr sz="1400" i="1" spc="-15" dirty="0">
                  <a:solidFill>
                    <a:srgbClr val="175E54"/>
                  </a:solidFill>
                  <a:latin typeface="Calibri"/>
                  <a:cs typeface="Calibri"/>
                </a:rPr>
                <a:t>t</a:t>
              </a:r>
              <a:r>
                <a:rPr sz="1400" i="1" spc="-10" dirty="0">
                  <a:solidFill>
                    <a:srgbClr val="175E54"/>
                  </a:solidFill>
                  <a:latin typeface="Calibri"/>
                  <a:cs typeface="Calibri"/>
                </a:rPr>
                <a:t>o</a:t>
              </a:r>
              <a:r>
                <a:rPr sz="1400" i="1" spc="-5" dirty="0">
                  <a:solidFill>
                    <a:srgbClr val="175E54"/>
                  </a:solidFill>
                  <a:latin typeface="Calibri"/>
                  <a:cs typeface="Calibri"/>
                </a:rPr>
                <a:t>p</a:t>
              </a:r>
              <a:r>
                <a:rPr sz="1400" i="1" dirty="0">
                  <a:solidFill>
                    <a:srgbClr val="175E54"/>
                  </a:solidFill>
                  <a:latin typeface="Calibri"/>
                  <a:cs typeface="Calibri"/>
                </a:rPr>
                <a:t>s</a:t>
              </a:r>
              <a:endParaRPr sz="1400">
                <a:latin typeface="Calibri"/>
                <a:cs typeface="Calibri"/>
              </a:endParaRPr>
            </a:p>
          </p:txBody>
        </p:sp>
        <p:grpSp>
          <p:nvGrpSpPr>
            <p:cNvPr id="98" name="object 8"/>
            <p:cNvGrpSpPr/>
            <p:nvPr/>
          </p:nvGrpSpPr>
          <p:grpSpPr>
            <a:xfrm>
              <a:off x="7883814" y="1549843"/>
              <a:ext cx="2100580" cy="1118870"/>
              <a:chOff x="7883814" y="1549843"/>
              <a:chExt cx="2100580" cy="1118870"/>
            </a:xfrm>
          </p:grpSpPr>
          <p:sp>
            <p:nvSpPr>
              <p:cNvPr id="101" name="object 9"/>
              <p:cNvSpPr/>
              <p:nvPr/>
            </p:nvSpPr>
            <p:spPr>
              <a:xfrm>
                <a:off x="8253690" y="1549843"/>
                <a:ext cx="76200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289560">
                    <a:moveTo>
                      <a:pt x="33337" y="212747"/>
                    </a:moveTo>
                    <a:lnTo>
                      <a:pt x="0" y="212799"/>
                    </a:lnTo>
                    <a:lnTo>
                      <a:pt x="38220" y="288940"/>
                    </a:lnTo>
                    <a:lnTo>
                      <a:pt x="69841" y="225447"/>
                    </a:lnTo>
                    <a:lnTo>
                      <a:pt x="33357" y="225447"/>
                    </a:lnTo>
                    <a:lnTo>
                      <a:pt x="33337" y="212747"/>
                    </a:lnTo>
                    <a:close/>
                  </a:path>
                  <a:path w="76200" h="289560">
                    <a:moveTo>
                      <a:pt x="42862" y="212732"/>
                    </a:moveTo>
                    <a:lnTo>
                      <a:pt x="33337" y="212747"/>
                    </a:lnTo>
                    <a:lnTo>
                      <a:pt x="33357" y="225447"/>
                    </a:lnTo>
                    <a:lnTo>
                      <a:pt x="42882" y="225432"/>
                    </a:lnTo>
                    <a:lnTo>
                      <a:pt x="42862" y="212732"/>
                    </a:lnTo>
                    <a:close/>
                  </a:path>
                  <a:path w="76200" h="289560">
                    <a:moveTo>
                      <a:pt x="76200" y="212679"/>
                    </a:moveTo>
                    <a:lnTo>
                      <a:pt x="42862" y="212732"/>
                    </a:lnTo>
                    <a:lnTo>
                      <a:pt x="42882" y="225432"/>
                    </a:lnTo>
                    <a:lnTo>
                      <a:pt x="33357" y="225447"/>
                    </a:lnTo>
                    <a:lnTo>
                      <a:pt x="69841" y="225447"/>
                    </a:lnTo>
                    <a:lnTo>
                      <a:pt x="76200" y="212679"/>
                    </a:lnTo>
                    <a:close/>
                  </a:path>
                  <a:path w="76200" h="289560">
                    <a:moveTo>
                      <a:pt x="42527" y="0"/>
                    </a:moveTo>
                    <a:lnTo>
                      <a:pt x="33002" y="15"/>
                    </a:lnTo>
                    <a:lnTo>
                      <a:pt x="33337" y="212747"/>
                    </a:lnTo>
                    <a:lnTo>
                      <a:pt x="42862" y="212732"/>
                    </a:lnTo>
                    <a:lnTo>
                      <a:pt x="42527" y="0"/>
                    </a:lnTo>
                    <a:close/>
                  </a:path>
                </a:pathLst>
              </a:custGeom>
              <a:solidFill>
                <a:srgbClr val="175E5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2" name="object 10"/>
              <p:cNvSpPr/>
              <p:nvPr/>
            </p:nvSpPr>
            <p:spPr>
              <a:xfrm>
                <a:off x="7883814" y="2540125"/>
                <a:ext cx="21005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2100579">
                    <a:moveTo>
                      <a:pt x="0" y="0"/>
                    </a:moveTo>
                    <a:lnTo>
                      <a:pt x="336504" y="0"/>
                    </a:lnTo>
                  </a:path>
                  <a:path w="2100579">
                    <a:moveTo>
                      <a:pt x="1906656" y="0"/>
                    </a:moveTo>
                    <a:lnTo>
                      <a:pt x="2099981" y="0"/>
                    </a:lnTo>
                  </a:path>
                </a:pathLst>
              </a:custGeom>
              <a:ln w="8667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3" name="object 11"/>
              <p:cNvSpPr/>
              <p:nvPr/>
            </p:nvSpPr>
            <p:spPr>
              <a:xfrm>
                <a:off x="7883814" y="2549650"/>
                <a:ext cx="21005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2100579">
                    <a:moveTo>
                      <a:pt x="0" y="0"/>
                    </a:moveTo>
                    <a:lnTo>
                      <a:pt x="2099981" y="0"/>
                    </a:lnTo>
                  </a:path>
                </a:pathLst>
              </a:custGeom>
              <a:ln w="8667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4" name="object 12"/>
              <p:cNvSpPr/>
              <p:nvPr/>
            </p:nvSpPr>
            <p:spPr>
              <a:xfrm>
                <a:off x="8077621" y="245696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3" y="87496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5" name="object 13"/>
              <p:cNvSpPr/>
              <p:nvPr/>
            </p:nvSpPr>
            <p:spPr>
              <a:xfrm>
                <a:off x="8077621" y="245696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6" name="object 14"/>
              <p:cNvSpPr/>
              <p:nvPr/>
            </p:nvSpPr>
            <p:spPr>
              <a:xfrm>
                <a:off x="8220319" y="1838783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705675"/>
                    </a:lnTo>
                    <a:lnTo>
                      <a:pt x="143183" y="705675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7" name="object 15"/>
              <p:cNvSpPr/>
              <p:nvPr/>
            </p:nvSpPr>
            <p:spPr>
              <a:xfrm>
                <a:off x="8220319" y="1838783"/>
                <a:ext cx="143510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706119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705676"/>
                    </a:lnTo>
                    <a:lnTo>
                      <a:pt x="0" y="70567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8" name="object 16"/>
              <p:cNvSpPr/>
              <p:nvPr/>
            </p:nvSpPr>
            <p:spPr>
              <a:xfrm>
                <a:off x="8363016" y="2362004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82454"/>
                    </a:lnTo>
                    <a:lnTo>
                      <a:pt x="143183" y="182454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9" name="object 17"/>
              <p:cNvSpPr/>
              <p:nvPr/>
            </p:nvSpPr>
            <p:spPr>
              <a:xfrm>
                <a:off x="8363016" y="2362004"/>
                <a:ext cx="14351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8288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82455"/>
                    </a:lnTo>
                    <a:lnTo>
                      <a:pt x="0" y="182455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0" name="object 18"/>
              <p:cNvSpPr/>
              <p:nvPr/>
            </p:nvSpPr>
            <p:spPr>
              <a:xfrm>
                <a:off x="8505712" y="2253752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6"/>
                    </a:lnTo>
                    <a:lnTo>
                      <a:pt x="143184" y="290706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1" name="object 19"/>
              <p:cNvSpPr/>
              <p:nvPr/>
            </p:nvSpPr>
            <p:spPr>
              <a:xfrm>
                <a:off x="8505712" y="2253752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7"/>
                    </a:lnTo>
                    <a:lnTo>
                      <a:pt x="0" y="290707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2" name="object 20"/>
              <p:cNvSpPr/>
              <p:nvPr/>
            </p:nvSpPr>
            <p:spPr>
              <a:xfrm>
                <a:off x="8648409" y="245696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87496"/>
                    </a:lnTo>
                    <a:lnTo>
                      <a:pt x="143184" y="87496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3" name="object 21"/>
              <p:cNvSpPr/>
              <p:nvPr/>
            </p:nvSpPr>
            <p:spPr>
              <a:xfrm>
                <a:off x="8648409" y="2456962"/>
                <a:ext cx="14351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876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87496"/>
                    </a:lnTo>
                    <a:lnTo>
                      <a:pt x="0" y="87496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4" name="object 22"/>
              <p:cNvSpPr/>
              <p:nvPr/>
            </p:nvSpPr>
            <p:spPr>
              <a:xfrm>
                <a:off x="8791106" y="222992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314529"/>
                    </a:lnTo>
                    <a:lnTo>
                      <a:pt x="143184" y="314529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5" name="object 23"/>
              <p:cNvSpPr/>
              <p:nvPr/>
            </p:nvSpPr>
            <p:spPr>
              <a:xfrm>
                <a:off x="8791106" y="2229929"/>
                <a:ext cx="143510" cy="31496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1496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14529"/>
                    </a:lnTo>
                    <a:lnTo>
                      <a:pt x="0" y="3145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6" name="object 24"/>
              <p:cNvSpPr/>
              <p:nvPr/>
            </p:nvSpPr>
            <p:spPr>
              <a:xfrm>
                <a:off x="8933803" y="2253750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290708"/>
                    </a:lnTo>
                    <a:lnTo>
                      <a:pt x="143184" y="290708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7" name="object 25"/>
              <p:cNvSpPr/>
              <p:nvPr/>
            </p:nvSpPr>
            <p:spPr>
              <a:xfrm>
                <a:off x="8933803" y="2253750"/>
                <a:ext cx="14351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90830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90708"/>
                    </a:lnTo>
                    <a:lnTo>
                      <a:pt x="0" y="290708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18" name="object 26"/>
              <p:cNvPicPr/>
              <p:nvPr/>
            </p:nvPicPr>
            <p:blipFill>
              <a:blip r:embed="rId17" cstate="print"/>
              <a:stretch>
                <a:fillRect/>
              </a:stretch>
            </p:blipFill>
            <p:spPr>
              <a:xfrm>
                <a:off x="9109993" y="1785562"/>
                <a:ext cx="76200" cy="229201"/>
              </a:xfrm>
              <a:prstGeom prst="rect">
                <a:avLst/>
              </a:prstGeom>
            </p:spPr>
          </p:pic>
          <p:sp>
            <p:nvSpPr>
              <p:cNvPr id="119" name="object 27"/>
              <p:cNvSpPr/>
              <p:nvPr/>
            </p:nvSpPr>
            <p:spPr>
              <a:xfrm>
                <a:off x="9076501" y="2014764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529694"/>
                    </a:lnTo>
                    <a:lnTo>
                      <a:pt x="143184" y="529694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0" name="object 28"/>
              <p:cNvSpPr/>
              <p:nvPr/>
            </p:nvSpPr>
            <p:spPr>
              <a:xfrm>
                <a:off x="9076501" y="2014764"/>
                <a:ext cx="143510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302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29694"/>
                    </a:lnTo>
                    <a:lnTo>
                      <a:pt x="0" y="529694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1" name="object 29"/>
              <p:cNvSpPr/>
              <p:nvPr/>
            </p:nvSpPr>
            <p:spPr>
              <a:xfrm>
                <a:off x="9219198" y="2412179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132279"/>
                    </a:lnTo>
                    <a:lnTo>
                      <a:pt x="143183" y="132279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2" name="object 30"/>
              <p:cNvSpPr/>
              <p:nvPr/>
            </p:nvSpPr>
            <p:spPr>
              <a:xfrm>
                <a:off x="9219198" y="2412179"/>
                <a:ext cx="14351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1327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132279"/>
                    </a:lnTo>
                    <a:lnTo>
                      <a:pt x="0" y="13227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3" name="object 31"/>
              <p:cNvSpPr/>
              <p:nvPr/>
            </p:nvSpPr>
            <p:spPr>
              <a:xfrm>
                <a:off x="9361895" y="2306330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238128"/>
                    </a:lnTo>
                    <a:lnTo>
                      <a:pt x="143183" y="238128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4" name="object 32"/>
              <p:cNvSpPr/>
              <p:nvPr/>
            </p:nvSpPr>
            <p:spPr>
              <a:xfrm>
                <a:off x="9361895" y="2306330"/>
                <a:ext cx="14351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238125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238129"/>
                    </a:lnTo>
                    <a:lnTo>
                      <a:pt x="0" y="238129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5" name="object 33"/>
              <p:cNvSpPr/>
              <p:nvPr/>
            </p:nvSpPr>
            <p:spPr>
              <a:xfrm>
                <a:off x="9504591" y="2222927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143184" y="0"/>
                    </a:moveTo>
                    <a:lnTo>
                      <a:pt x="0" y="0"/>
                    </a:lnTo>
                    <a:lnTo>
                      <a:pt x="0" y="321530"/>
                    </a:lnTo>
                    <a:lnTo>
                      <a:pt x="143184" y="321530"/>
                    </a:lnTo>
                    <a:lnTo>
                      <a:pt x="143184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6" name="object 34"/>
              <p:cNvSpPr/>
              <p:nvPr/>
            </p:nvSpPr>
            <p:spPr>
              <a:xfrm>
                <a:off x="9504591" y="2222927"/>
                <a:ext cx="143510" cy="32194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32194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321531"/>
                    </a:lnTo>
                    <a:lnTo>
                      <a:pt x="0" y="32153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7" name="object 35"/>
              <p:cNvSpPr/>
              <p:nvPr/>
            </p:nvSpPr>
            <p:spPr>
              <a:xfrm>
                <a:off x="9647287" y="2488548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143183" y="0"/>
                    </a:moveTo>
                    <a:lnTo>
                      <a:pt x="0" y="0"/>
                    </a:lnTo>
                    <a:lnTo>
                      <a:pt x="0" y="55910"/>
                    </a:lnTo>
                    <a:lnTo>
                      <a:pt x="143183" y="55910"/>
                    </a:lnTo>
                    <a:lnTo>
                      <a:pt x="143183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8" name="object 36"/>
              <p:cNvSpPr/>
              <p:nvPr/>
            </p:nvSpPr>
            <p:spPr>
              <a:xfrm>
                <a:off x="9647287" y="2488548"/>
                <a:ext cx="14351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143509" h="56514">
                    <a:moveTo>
                      <a:pt x="0" y="0"/>
                    </a:moveTo>
                    <a:lnTo>
                      <a:pt x="143184" y="0"/>
                    </a:lnTo>
                    <a:lnTo>
                      <a:pt x="143184" y="55911"/>
                    </a:lnTo>
                    <a:lnTo>
                      <a:pt x="0" y="55911"/>
                    </a:lnTo>
                    <a:lnTo>
                      <a:pt x="0" y="0"/>
                    </a:lnTo>
                    <a:close/>
                  </a:path>
                </a:pathLst>
              </a:custGeom>
              <a:ln w="9525">
                <a:solidFill>
                  <a:srgbClr val="175E5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9" name="object 37"/>
              <p:cNvSpPr/>
              <p:nvPr/>
            </p:nvSpPr>
            <p:spPr>
              <a:xfrm>
                <a:off x="8077623" y="2592091"/>
                <a:ext cx="171323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13229" h="76200">
                    <a:moveTo>
                      <a:pt x="1636648" y="47626"/>
                    </a:moveTo>
                    <a:lnTo>
                      <a:pt x="1636648" y="76201"/>
                    </a:lnTo>
                    <a:lnTo>
                      <a:pt x="1693798" y="47626"/>
                    </a:lnTo>
                    <a:lnTo>
                      <a:pt x="1636648" y="47626"/>
                    </a:lnTo>
                    <a:close/>
                  </a:path>
                  <a:path w="1713229" h="76200">
                    <a:moveTo>
                      <a:pt x="76200" y="0"/>
                    </a:moveTo>
                    <a:lnTo>
                      <a:pt x="0" y="38100"/>
                    </a:lnTo>
                    <a:lnTo>
                      <a:pt x="76200" y="76200"/>
                    </a:lnTo>
                    <a:lnTo>
                      <a:pt x="76200" y="47625"/>
                    </a:lnTo>
                    <a:lnTo>
                      <a:pt x="63500" y="47625"/>
                    </a:lnTo>
                    <a:lnTo>
                      <a:pt x="63500" y="28575"/>
                    </a:lnTo>
                    <a:lnTo>
                      <a:pt x="76200" y="28575"/>
                    </a:lnTo>
                    <a:lnTo>
                      <a:pt x="76200" y="0"/>
                    </a:lnTo>
                    <a:close/>
                  </a:path>
                  <a:path w="1713229" h="76200">
                    <a:moveTo>
                      <a:pt x="1636648" y="28576"/>
                    </a:moveTo>
                    <a:lnTo>
                      <a:pt x="1636648" y="47626"/>
                    </a:lnTo>
                    <a:lnTo>
                      <a:pt x="1649347" y="47626"/>
                    </a:lnTo>
                    <a:lnTo>
                      <a:pt x="1649347" y="28576"/>
                    </a:lnTo>
                    <a:lnTo>
                      <a:pt x="1636648" y="28576"/>
                    </a:lnTo>
                    <a:close/>
                  </a:path>
                  <a:path w="1713229" h="76200">
                    <a:moveTo>
                      <a:pt x="1636648" y="1"/>
                    </a:moveTo>
                    <a:lnTo>
                      <a:pt x="1636648" y="28576"/>
                    </a:lnTo>
                    <a:lnTo>
                      <a:pt x="1649347" y="28576"/>
                    </a:lnTo>
                    <a:lnTo>
                      <a:pt x="1649347" y="47626"/>
                    </a:lnTo>
                    <a:lnTo>
                      <a:pt x="1693801" y="47625"/>
                    </a:lnTo>
                    <a:lnTo>
                      <a:pt x="1712848" y="38101"/>
                    </a:lnTo>
                    <a:lnTo>
                      <a:pt x="1636648" y="1"/>
                    </a:lnTo>
                    <a:close/>
                  </a:path>
                  <a:path w="1713229" h="76200">
                    <a:moveTo>
                      <a:pt x="76200" y="28575"/>
                    </a:moveTo>
                    <a:lnTo>
                      <a:pt x="76200" y="47625"/>
                    </a:lnTo>
                    <a:lnTo>
                      <a:pt x="1636648" y="47626"/>
                    </a:lnTo>
                    <a:lnTo>
                      <a:pt x="1636648" y="28576"/>
                    </a:lnTo>
                    <a:lnTo>
                      <a:pt x="76200" y="28575"/>
                    </a:lnTo>
                    <a:close/>
                  </a:path>
                  <a:path w="1713229" h="76200">
                    <a:moveTo>
                      <a:pt x="63500" y="28575"/>
                    </a:moveTo>
                    <a:lnTo>
                      <a:pt x="63500" y="47625"/>
                    </a:lnTo>
                    <a:lnTo>
                      <a:pt x="76200" y="47625"/>
                    </a:lnTo>
                    <a:lnTo>
                      <a:pt x="76200" y="28575"/>
                    </a:lnTo>
                    <a:lnTo>
                      <a:pt x="63500" y="28575"/>
                    </a:lnTo>
                    <a:close/>
                  </a:path>
                  <a:path w="1713229" h="76200">
                    <a:moveTo>
                      <a:pt x="76200" y="28575"/>
                    </a:moveTo>
                    <a:lnTo>
                      <a:pt x="63500" y="28575"/>
                    </a:lnTo>
                    <a:lnTo>
                      <a:pt x="76200" y="28575"/>
                    </a:lnTo>
                    <a:close/>
                  </a:path>
                </a:pathLst>
              </a:custGeom>
              <a:solidFill>
                <a:srgbClr val="175E5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99" name="object 74"/>
            <p:cNvSpPr txBox="1"/>
            <p:nvPr/>
          </p:nvSpPr>
          <p:spPr>
            <a:xfrm>
              <a:off x="8085429" y="2613659"/>
              <a:ext cx="111125" cy="23876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400" dirty="0">
                  <a:solidFill>
                    <a:srgbClr val="175E54"/>
                  </a:solidFill>
                  <a:latin typeface="Calibri"/>
                  <a:cs typeface="Calibri"/>
                </a:rPr>
                <a:t>a</a:t>
              </a:r>
              <a:endParaRPr sz="1400">
                <a:latin typeface="Calibri"/>
                <a:cs typeface="Calibri"/>
              </a:endParaRPr>
            </a:p>
          </p:txBody>
        </p:sp>
        <p:sp>
          <p:nvSpPr>
            <p:cNvPr id="100" name="object 75"/>
            <p:cNvSpPr txBox="1"/>
            <p:nvPr/>
          </p:nvSpPr>
          <p:spPr>
            <a:xfrm>
              <a:off x="9591264" y="2616708"/>
              <a:ext cx="279400" cy="23876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400" spc="-35" dirty="0">
                  <a:solidFill>
                    <a:srgbClr val="175E54"/>
                  </a:solidFill>
                  <a:latin typeface="Calibri"/>
                  <a:cs typeface="Calibri"/>
                </a:rPr>
                <a:t>z</a:t>
              </a:r>
              <a:r>
                <a:rPr sz="1400" spc="-5" dirty="0">
                  <a:solidFill>
                    <a:srgbClr val="175E54"/>
                  </a:solidFill>
                  <a:latin typeface="Calibri"/>
                  <a:cs typeface="Calibri"/>
                </a:rPr>
                <a:t>o</a:t>
              </a:r>
              <a:r>
                <a:rPr sz="1400" dirty="0">
                  <a:solidFill>
                    <a:srgbClr val="175E54"/>
                  </a:solidFill>
                  <a:latin typeface="Calibri"/>
                  <a:cs typeface="Calibri"/>
                </a:rPr>
                <a:t>o</a:t>
              </a:r>
              <a:endParaRPr sz="1400">
                <a:latin typeface="Calibri"/>
                <a:cs typeface="Calibri"/>
              </a:endParaRPr>
            </a:p>
          </p:txBody>
        </p:sp>
      </p:grpSp>
      <p:sp>
        <p:nvSpPr>
          <p:cNvPr id="6" name="object 80">
            <a:extLst>
              <a:ext uri="{FF2B5EF4-FFF2-40B4-BE49-F238E27FC236}">
                <a16:creationId xmlns:a16="http://schemas.microsoft.com/office/drawing/2014/main" id="{E8408CDA-FD8F-C7A7-3355-E89488546626}"/>
              </a:ext>
            </a:extLst>
          </p:cNvPr>
          <p:cNvSpPr txBox="1"/>
          <p:nvPr/>
        </p:nvSpPr>
        <p:spPr>
          <a:xfrm>
            <a:off x="312525" y="1864623"/>
            <a:ext cx="4606500" cy="15901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b="1" spc="-10" dirty="0">
                <a:solidFill>
                  <a:srgbClr val="00B050"/>
                </a:solidFill>
                <a:cs typeface="Calibri"/>
              </a:rPr>
              <a:t>Improvements</a:t>
            </a:r>
            <a:r>
              <a:rPr sz="2000" b="1" spc="-20" dirty="0">
                <a:solidFill>
                  <a:srgbClr val="00B050"/>
                </a:solidFill>
                <a:cs typeface="Calibri"/>
              </a:rPr>
              <a:t> </a:t>
            </a:r>
            <a:r>
              <a:rPr sz="2000" spc="-10" dirty="0">
                <a:solidFill>
                  <a:srgbClr val="00B050"/>
                </a:solidFill>
                <a:cs typeface="Calibri"/>
              </a:rPr>
              <a:t>over</a:t>
            </a:r>
            <a:r>
              <a:rPr sz="2000" spc="-20" dirty="0">
                <a:solidFill>
                  <a:srgbClr val="00B050"/>
                </a:solidFill>
                <a:cs typeface="Calibri"/>
              </a:rPr>
              <a:t> </a:t>
            </a:r>
            <a:r>
              <a:rPr sz="2000" i="1" spc="-10" dirty="0">
                <a:solidFill>
                  <a:srgbClr val="00B050"/>
                </a:solidFill>
                <a:cs typeface="Calibri"/>
              </a:rPr>
              <a:t>n</a:t>
            </a:r>
            <a:r>
              <a:rPr sz="2000" spc="-10" dirty="0">
                <a:solidFill>
                  <a:srgbClr val="00B050"/>
                </a:solidFill>
                <a:cs typeface="Calibri"/>
              </a:rPr>
              <a:t>-gram</a:t>
            </a:r>
            <a:r>
              <a:rPr sz="2000" spc="-25" dirty="0">
                <a:solidFill>
                  <a:srgbClr val="00B050"/>
                </a:solidFill>
                <a:cs typeface="Calibri"/>
              </a:rPr>
              <a:t> </a:t>
            </a:r>
            <a:r>
              <a:rPr sz="2000" spc="-5" dirty="0">
                <a:solidFill>
                  <a:srgbClr val="00B050"/>
                </a:solidFill>
                <a:cs typeface="Calibri"/>
              </a:rPr>
              <a:t>LM</a:t>
            </a:r>
            <a:r>
              <a:rPr sz="2000" spc="-5" dirty="0">
                <a:cs typeface="Calibri"/>
              </a:rPr>
              <a:t>:</a:t>
            </a:r>
            <a:endParaRPr lang="en-US" sz="2000" spc="-5" dirty="0">
              <a:cs typeface="Calibri"/>
            </a:endParaRPr>
          </a:p>
          <a:p>
            <a:pPr marL="81280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000" dirty="0">
                <a:cs typeface="Calibri"/>
              </a:rPr>
              <a:t>No</a:t>
            </a:r>
            <a:r>
              <a:rPr sz="2000" spc="-30" dirty="0">
                <a:cs typeface="Calibri"/>
              </a:rPr>
              <a:t> </a:t>
            </a:r>
            <a:r>
              <a:rPr sz="2000" spc="-10" dirty="0">
                <a:cs typeface="Calibri"/>
              </a:rPr>
              <a:t>sparsity</a:t>
            </a:r>
            <a:r>
              <a:rPr sz="2000" spc="-20" dirty="0">
                <a:cs typeface="Calibri"/>
              </a:rPr>
              <a:t> </a:t>
            </a:r>
            <a:r>
              <a:rPr sz="2000" spc="-10" dirty="0">
                <a:cs typeface="Calibri"/>
              </a:rPr>
              <a:t>problem</a:t>
            </a:r>
            <a:endParaRPr lang="en-US" sz="2000" dirty="0">
              <a:cs typeface="Calibri"/>
            </a:endParaRPr>
          </a:p>
          <a:p>
            <a:pPr marL="81280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000" spc="-5" dirty="0">
                <a:cs typeface="Calibri"/>
              </a:rPr>
              <a:t>Don’t</a:t>
            </a:r>
            <a:r>
              <a:rPr sz="2000" spc="-15" dirty="0">
                <a:cs typeface="Calibri"/>
              </a:rPr>
              <a:t> </a:t>
            </a:r>
            <a:r>
              <a:rPr sz="2000" dirty="0">
                <a:cs typeface="Calibri"/>
              </a:rPr>
              <a:t>need</a:t>
            </a:r>
            <a:r>
              <a:rPr sz="2000" spc="-5" dirty="0">
                <a:cs typeface="Calibri"/>
              </a:rPr>
              <a:t> </a:t>
            </a:r>
            <a:r>
              <a:rPr sz="2000" spc="-15" dirty="0">
                <a:cs typeface="Calibri"/>
              </a:rPr>
              <a:t>to </a:t>
            </a:r>
            <a:r>
              <a:rPr sz="2000" spc="-20" dirty="0">
                <a:cs typeface="Calibri"/>
              </a:rPr>
              <a:t>store</a:t>
            </a:r>
            <a:r>
              <a:rPr sz="2000" dirty="0">
                <a:cs typeface="Calibri"/>
              </a:rPr>
              <a:t> </a:t>
            </a:r>
            <a:r>
              <a:rPr sz="2000" spc="-5" dirty="0">
                <a:cs typeface="Calibri"/>
              </a:rPr>
              <a:t>all</a:t>
            </a:r>
            <a:r>
              <a:rPr sz="2000" spc="-15" dirty="0">
                <a:cs typeface="Calibri"/>
              </a:rPr>
              <a:t> </a:t>
            </a:r>
            <a:r>
              <a:rPr sz="2000" spc="-5" dirty="0">
                <a:cs typeface="Calibri"/>
              </a:rPr>
              <a:t>observed </a:t>
            </a:r>
            <a:r>
              <a:rPr sz="2000" i="1" spc="-15" dirty="0">
                <a:cs typeface="Calibri"/>
              </a:rPr>
              <a:t>n</a:t>
            </a:r>
            <a:r>
              <a:rPr sz="2000" spc="-15" dirty="0">
                <a:cs typeface="Calibri"/>
              </a:rPr>
              <a:t>-grams</a:t>
            </a:r>
            <a:endParaRPr lang="en-US" sz="2000" spc="-15" dirty="0">
              <a:cs typeface="Calibri"/>
            </a:endParaRPr>
          </a:p>
          <a:p>
            <a:pPr marL="38100">
              <a:spcBef>
                <a:spcPts val="100"/>
              </a:spcBef>
            </a:pPr>
            <a:endParaRPr lang="en-US" sz="2000" spc="-10" dirty="0">
              <a:cs typeface="Calibri"/>
            </a:endParaRPr>
          </a:p>
        </p:txBody>
      </p:sp>
      <p:sp>
        <p:nvSpPr>
          <p:cNvPr id="7" name="object 82">
            <a:extLst>
              <a:ext uri="{FF2B5EF4-FFF2-40B4-BE49-F238E27FC236}">
                <a16:creationId xmlns:a16="http://schemas.microsoft.com/office/drawing/2014/main" id="{34F029A9-52E0-C94C-C19A-A69EC65A2682}"/>
              </a:ext>
            </a:extLst>
          </p:cNvPr>
          <p:cNvSpPr txBox="1"/>
          <p:nvPr/>
        </p:nvSpPr>
        <p:spPr>
          <a:xfrm>
            <a:off x="9471445" y="2824166"/>
            <a:ext cx="2269573" cy="1363643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 vert="horz" wrap="square" lIns="0" tIns="48895" rIns="0" bIns="0" rtlCol="0">
            <a:spAutoFit/>
          </a:bodyPr>
          <a:lstStyle/>
          <a:p>
            <a:pPr marL="168910" marR="161925" indent="158750" algn="ctr">
              <a:lnSpc>
                <a:spcPts val="2590"/>
              </a:lnSpc>
              <a:spcBef>
                <a:spcPts val="385"/>
              </a:spcBef>
            </a:pPr>
            <a:r>
              <a:rPr spc="-40" dirty="0">
                <a:solidFill>
                  <a:schemeClr val="accent1"/>
                </a:solidFill>
                <a:cs typeface="Calibri"/>
              </a:rPr>
              <a:t>We</a:t>
            </a:r>
            <a:r>
              <a:rPr spc="-5" dirty="0">
                <a:solidFill>
                  <a:schemeClr val="accent1"/>
                </a:solidFill>
                <a:cs typeface="Calibri"/>
              </a:rPr>
              <a:t> </a:t>
            </a:r>
            <a:r>
              <a:rPr dirty="0">
                <a:solidFill>
                  <a:schemeClr val="accent1"/>
                </a:solidFill>
                <a:cs typeface="Calibri"/>
              </a:rPr>
              <a:t>need</a:t>
            </a:r>
            <a:r>
              <a:rPr spc="-10" dirty="0">
                <a:solidFill>
                  <a:schemeClr val="accent1"/>
                </a:solidFill>
                <a:cs typeface="Calibri"/>
              </a:rPr>
              <a:t> </a:t>
            </a:r>
            <a:r>
              <a:rPr dirty="0">
                <a:solidFill>
                  <a:schemeClr val="accent1"/>
                </a:solidFill>
                <a:cs typeface="Calibri"/>
              </a:rPr>
              <a:t>a</a:t>
            </a:r>
            <a:r>
              <a:rPr spc="-15" dirty="0">
                <a:solidFill>
                  <a:schemeClr val="accent1"/>
                </a:solidFill>
                <a:cs typeface="Calibri"/>
              </a:rPr>
              <a:t> neural</a:t>
            </a:r>
            <a:r>
              <a:rPr lang="en-US" spc="-10" dirty="0">
                <a:solidFill>
                  <a:schemeClr val="accent1"/>
                </a:solidFill>
                <a:cs typeface="Calibri"/>
              </a:rPr>
              <a:t> </a:t>
            </a:r>
            <a:r>
              <a:rPr spc="-15" dirty="0">
                <a:solidFill>
                  <a:schemeClr val="accent1"/>
                </a:solidFill>
                <a:cs typeface="Calibri"/>
              </a:rPr>
              <a:t>architecture </a:t>
            </a:r>
            <a:r>
              <a:rPr spc="-10" dirty="0">
                <a:solidFill>
                  <a:schemeClr val="accent1"/>
                </a:solidFill>
                <a:cs typeface="Calibri"/>
              </a:rPr>
              <a:t> that</a:t>
            </a:r>
            <a:r>
              <a:rPr spc="-20" dirty="0">
                <a:solidFill>
                  <a:schemeClr val="accent1"/>
                </a:solidFill>
                <a:cs typeface="Calibri"/>
              </a:rPr>
              <a:t> </a:t>
            </a:r>
            <a:r>
              <a:rPr spc="-10" dirty="0">
                <a:solidFill>
                  <a:schemeClr val="accent1"/>
                </a:solidFill>
                <a:cs typeface="Calibri"/>
              </a:rPr>
              <a:t>can</a:t>
            </a:r>
            <a:r>
              <a:rPr lang="en-US" spc="-20" dirty="0">
                <a:solidFill>
                  <a:schemeClr val="accent1"/>
                </a:solidFill>
                <a:cs typeface="Calibri"/>
              </a:rPr>
              <a:t> </a:t>
            </a:r>
            <a:r>
              <a:rPr spc="-10" dirty="0">
                <a:solidFill>
                  <a:schemeClr val="accent1"/>
                </a:solidFill>
                <a:cs typeface="Calibri"/>
              </a:rPr>
              <a:t>process </a:t>
            </a:r>
            <a:r>
              <a:rPr b="1" i="1" spc="-20" dirty="0">
                <a:solidFill>
                  <a:schemeClr val="accent1"/>
                </a:solidFill>
                <a:cs typeface="Calibri"/>
              </a:rPr>
              <a:t>any</a:t>
            </a:r>
            <a:r>
              <a:rPr b="1" i="1" spc="-10" dirty="0">
                <a:solidFill>
                  <a:schemeClr val="accent1"/>
                </a:solidFill>
                <a:cs typeface="Calibri"/>
              </a:rPr>
              <a:t> </a:t>
            </a:r>
            <a:r>
              <a:rPr b="1" i="1" spc="-5" dirty="0">
                <a:solidFill>
                  <a:schemeClr val="accent1"/>
                </a:solidFill>
                <a:cs typeface="Calibri"/>
              </a:rPr>
              <a:t>length</a:t>
            </a:r>
            <a:r>
              <a:rPr b="1" i="1" spc="-20" dirty="0">
                <a:solidFill>
                  <a:schemeClr val="accent1"/>
                </a:solidFill>
                <a:cs typeface="Calibri"/>
              </a:rPr>
              <a:t> </a:t>
            </a:r>
            <a:r>
              <a:rPr b="1" i="1" spc="-10" dirty="0">
                <a:solidFill>
                  <a:schemeClr val="accent1"/>
                </a:solidFill>
                <a:cs typeface="Calibri"/>
              </a:rPr>
              <a:t>input</a:t>
            </a:r>
            <a:endParaRPr b="1" dirty="0">
              <a:solidFill>
                <a:schemeClr val="accent1"/>
              </a:solidFill>
              <a:cs typeface="Calibri"/>
            </a:endParaRPr>
          </a:p>
        </p:txBody>
      </p:sp>
      <p:sp>
        <p:nvSpPr>
          <p:cNvPr id="8" name="object 83">
            <a:extLst>
              <a:ext uri="{FF2B5EF4-FFF2-40B4-BE49-F238E27FC236}">
                <a16:creationId xmlns:a16="http://schemas.microsoft.com/office/drawing/2014/main" id="{15221C7B-47DF-71D0-5BA3-444C4822CD96}"/>
              </a:ext>
            </a:extLst>
          </p:cNvPr>
          <p:cNvSpPr txBox="1"/>
          <p:nvPr/>
        </p:nvSpPr>
        <p:spPr>
          <a:xfrm>
            <a:off x="8670952" y="1581925"/>
            <a:ext cx="3050904" cy="659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chemeClr val="bg2">
                    <a:lumMod val="50000"/>
                  </a:schemeClr>
                </a:solidFill>
                <a:cs typeface="Calibri"/>
              </a:rPr>
              <a:t>Approximately: </a:t>
            </a:r>
            <a:r>
              <a:rPr sz="1400" spc="-140" dirty="0">
                <a:solidFill>
                  <a:schemeClr val="bg2">
                    <a:lumMod val="50000"/>
                  </a:schemeClr>
                </a:solidFill>
                <a:cs typeface="Calibri"/>
              </a:rPr>
              <a:t>Y.</a:t>
            </a:r>
            <a:r>
              <a:rPr sz="1400" spc="-10" dirty="0">
                <a:solidFill>
                  <a:schemeClr val="bg2">
                    <a:lumMod val="50000"/>
                  </a:schemeClr>
                </a:solidFill>
                <a:cs typeface="Calibri"/>
              </a:rPr>
              <a:t> Bengio,</a:t>
            </a:r>
            <a:r>
              <a:rPr sz="1400" dirty="0">
                <a:solidFill>
                  <a:schemeClr val="bg2">
                    <a:lumMod val="50000"/>
                  </a:schemeClr>
                </a:solidFill>
                <a:cs typeface="Calibri"/>
              </a:rPr>
              <a:t> </a:t>
            </a:r>
            <a:r>
              <a:rPr sz="1400" spc="-5" dirty="0">
                <a:solidFill>
                  <a:schemeClr val="bg2">
                    <a:lumMod val="50000"/>
                  </a:schemeClr>
                </a:solidFill>
                <a:cs typeface="Calibri"/>
              </a:rPr>
              <a:t>et</a:t>
            </a:r>
            <a:r>
              <a:rPr sz="1400" spc="-10" dirty="0">
                <a:solidFill>
                  <a:schemeClr val="bg2">
                    <a:lumMod val="50000"/>
                  </a:schemeClr>
                </a:solidFill>
                <a:cs typeface="Calibri"/>
              </a:rPr>
              <a:t> </a:t>
            </a:r>
            <a:r>
              <a:rPr sz="1400" spc="-5" dirty="0">
                <a:solidFill>
                  <a:schemeClr val="bg2">
                    <a:lumMod val="50000"/>
                  </a:schemeClr>
                </a:solidFill>
                <a:cs typeface="Calibri"/>
              </a:rPr>
              <a:t>al.</a:t>
            </a:r>
            <a:r>
              <a:rPr sz="1400" spc="-10" dirty="0">
                <a:solidFill>
                  <a:schemeClr val="bg2">
                    <a:lumMod val="50000"/>
                  </a:schemeClr>
                </a:solidFill>
                <a:cs typeface="Calibri"/>
              </a:rPr>
              <a:t> </a:t>
            </a:r>
            <a:r>
              <a:rPr sz="1400" spc="-5" dirty="0">
                <a:solidFill>
                  <a:schemeClr val="bg2">
                    <a:lumMod val="50000"/>
                  </a:schemeClr>
                </a:solidFill>
                <a:cs typeface="Calibri"/>
              </a:rPr>
              <a:t>(2000/2003): </a:t>
            </a:r>
            <a:r>
              <a:rPr sz="1400" dirty="0">
                <a:solidFill>
                  <a:schemeClr val="bg2">
                    <a:lumMod val="50000"/>
                  </a:schemeClr>
                </a:solidFill>
                <a:cs typeface="Calibri"/>
              </a:rPr>
              <a:t>A</a:t>
            </a:r>
            <a:r>
              <a:rPr sz="1400" spc="-10" dirty="0">
                <a:solidFill>
                  <a:schemeClr val="bg2">
                    <a:lumMod val="50000"/>
                  </a:schemeClr>
                </a:solidFill>
                <a:cs typeface="Calibri"/>
              </a:rPr>
              <a:t> Neural</a:t>
            </a:r>
            <a:r>
              <a:rPr sz="1400" spc="-5" dirty="0">
                <a:solidFill>
                  <a:schemeClr val="bg2">
                    <a:lumMod val="50000"/>
                  </a:schemeClr>
                </a:solidFill>
                <a:cs typeface="Calibri"/>
              </a:rPr>
              <a:t> </a:t>
            </a:r>
            <a:r>
              <a:rPr sz="1400" spc="-10" dirty="0">
                <a:solidFill>
                  <a:schemeClr val="bg2">
                    <a:lumMod val="50000"/>
                  </a:schemeClr>
                </a:solidFill>
                <a:cs typeface="Calibri"/>
              </a:rPr>
              <a:t>Probabilistic</a:t>
            </a:r>
            <a:r>
              <a:rPr sz="1400" spc="-5" dirty="0">
                <a:solidFill>
                  <a:schemeClr val="bg2">
                    <a:lumMod val="50000"/>
                  </a:schemeClr>
                </a:solidFill>
                <a:cs typeface="Calibri"/>
              </a:rPr>
              <a:t> Language</a:t>
            </a:r>
            <a:r>
              <a:rPr sz="1400" dirty="0">
                <a:solidFill>
                  <a:schemeClr val="bg2">
                    <a:lumMod val="50000"/>
                  </a:schemeClr>
                </a:solidFill>
                <a:cs typeface="Calibri"/>
              </a:rPr>
              <a:t> </a:t>
            </a:r>
            <a:r>
              <a:rPr sz="1400" spc="-5" dirty="0">
                <a:solidFill>
                  <a:schemeClr val="bg2">
                    <a:lumMod val="50000"/>
                  </a:schemeClr>
                </a:solidFill>
                <a:cs typeface="Calibri"/>
              </a:rPr>
              <a:t>Model</a:t>
            </a:r>
            <a:endParaRPr sz="1400" dirty="0">
              <a:solidFill>
                <a:schemeClr val="bg2">
                  <a:lumMod val="50000"/>
                </a:schemeClr>
              </a:solidFill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BABAC8-A3E6-4F12-2983-EA3E22871EDB}"/>
              </a:ext>
            </a:extLst>
          </p:cNvPr>
          <p:cNvSpPr txBox="1"/>
          <p:nvPr/>
        </p:nvSpPr>
        <p:spPr>
          <a:xfrm>
            <a:off x="175649" y="3641709"/>
            <a:ext cx="4885190" cy="2272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100">
              <a:spcBef>
                <a:spcPts val="100"/>
              </a:spcBef>
            </a:pPr>
            <a:r>
              <a:rPr lang="en-US" sz="2000" b="1" spc="-10" dirty="0">
                <a:solidFill>
                  <a:srgbClr val="FF0000"/>
                </a:solidFill>
                <a:cs typeface="Calibri"/>
              </a:rPr>
              <a:t>Remaining</a:t>
            </a:r>
            <a:r>
              <a:rPr lang="en-US" sz="2000" b="1" spc="-30" dirty="0">
                <a:solidFill>
                  <a:srgbClr val="FF0000"/>
                </a:solidFill>
                <a:cs typeface="Calibri"/>
              </a:rPr>
              <a:t> </a:t>
            </a:r>
            <a:r>
              <a:rPr lang="en-US" sz="2000" b="1" spc="-10" dirty="0">
                <a:solidFill>
                  <a:srgbClr val="FF0000"/>
                </a:solidFill>
                <a:cs typeface="Calibri"/>
              </a:rPr>
              <a:t>problems</a:t>
            </a:r>
            <a:r>
              <a:rPr lang="en-US" sz="2000" spc="-10" dirty="0">
                <a:cs typeface="Calibri"/>
              </a:rPr>
              <a:t>:</a:t>
            </a:r>
          </a:p>
          <a:p>
            <a:pPr marL="83820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000" spc="-15" dirty="0">
                <a:cs typeface="Calibri"/>
              </a:rPr>
              <a:t>Fixed</a:t>
            </a:r>
            <a:r>
              <a:rPr lang="en-US" sz="2000" spc="-20" dirty="0">
                <a:cs typeface="Calibri"/>
              </a:rPr>
              <a:t> </a:t>
            </a:r>
            <a:r>
              <a:rPr lang="en-US" sz="2000" spc="-5" dirty="0">
                <a:cs typeface="Calibri"/>
              </a:rPr>
              <a:t>window</a:t>
            </a:r>
            <a:r>
              <a:rPr lang="en-US" sz="2000" spc="-25" dirty="0">
                <a:cs typeface="Calibri"/>
              </a:rPr>
              <a:t> </a:t>
            </a:r>
            <a:r>
              <a:rPr lang="en-US" sz="2000" spc="-5" dirty="0">
                <a:cs typeface="Calibri"/>
              </a:rPr>
              <a:t>is</a:t>
            </a:r>
            <a:r>
              <a:rPr lang="en-US" sz="2000" spc="-20" dirty="0">
                <a:cs typeface="Calibri"/>
              </a:rPr>
              <a:t> </a:t>
            </a:r>
            <a:r>
              <a:rPr lang="en-US" sz="2000" spc="-15" dirty="0">
                <a:solidFill>
                  <a:srgbClr val="C00000"/>
                </a:solidFill>
                <a:cs typeface="Calibri"/>
              </a:rPr>
              <a:t>too</a:t>
            </a:r>
            <a:r>
              <a:rPr lang="en-US" sz="2000" spc="-25" dirty="0">
                <a:solidFill>
                  <a:srgbClr val="C00000"/>
                </a:solidFill>
                <a:cs typeface="Calibri"/>
              </a:rPr>
              <a:t> </a:t>
            </a:r>
            <a:r>
              <a:rPr lang="en-US" sz="2000" spc="-5" dirty="0">
                <a:solidFill>
                  <a:srgbClr val="C00000"/>
                </a:solidFill>
                <a:cs typeface="Calibri"/>
              </a:rPr>
              <a:t>small</a:t>
            </a:r>
            <a:endParaRPr lang="en-US" sz="2000" dirty="0">
              <a:cs typeface="Calibri"/>
            </a:endParaRPr>
          </a:p>
          <a:p>
            <a:pPr marL="781050" lvl="1" indent="-285750">
              <a:spcBef>
                <a:spcPts val="20"/>
              </a:spcBef>
              <a:buFont typeface="Arial MT"/>
              <a:buChar char="•"/>
              <a:tabLst>
                <a:tab pos="323215" algn="l"/>
                <a:tab pos="323850" algn="l"/>
              </a:tabLst>
            </a:pPr>
            <a:r>
              <a:rPr lang="en-US" sz="2000" spc="-5" dirty="0">
                <a:cs typeface="Calibri"/>
              </a:rPr>
              <a:t>Enlarging</a:t>
            </a:r>
            <a:r>
              <a:rPr lang="en-US" sz="2000" spc="-30" dirty="0">
                <a:cs typeface="Calibri"/>
              </a:rPr>
              <a:t> </a:t>
            </a:r>
            <a:r>
              <a:rPr lang="en-US" sz="2000" spc="-5" dirty="0">
                <a:cs typeface="Calibri"/>
              </a:rPr>
              <a:t>window</a:t>
            </a:r>
            <a:r>
              <a:rPr lang="en-US" sz="2000" spc="-25" dirty="0">
                <a:cs typeface="Calibri"/>
              </a:rPr>
              <a:t> </a:t>
            </a:r>
            <a:r>
              <a:rPr lang="en-US" sz="2000" spc="-10" dirty="0">
                <a:cs typeface="Calibri"/>
              </a:rPr>
              <a:t>enlarges</a:t>
            </a:r>
            <a:r>
              <a:rPr lang="en-US" sz="2000" spc="-25" dirty="0">
                <a:cs typeface="Calibri"/>
              </a:rPr>
              <a:t> </a:t>
            </a:r>
            <a:r>
              <a:rPr lang="en-US" sz="2000" dirty="0">
                <a:cs typeface="Cambria Math"/>
              </a:rPr>
              <a:t>𝑊</a:t>
            </a:r>
          </a:p>
          <a:p>
            <a:pPr marL="781050" marR="151130" lvl="1" indent="-285750">
              <a:spcBef>
                <a:spcPts val="140"/>
              </a:spcBef>
              <a:buFont typeface="Arial MT"/>
              <a:buChar char="•"/>
              <a:tabLst>
                <a:tab pos="323215" algn="l"/>
                <a:tab pos="323850" algn="l"/>
              </a:tabLst>
            </a:pPr>
            <a:r>
              <a:rPr lang="en-US" sz="2000" spc="25" dirty="0">
                <a:cs typeface="Cambria Math"/>
              </a:rPr>
              <a:t>𝑥</a:t>
            </a:r>
            <a:r>
              <a:rPr lang="en-US" sz="2000" spc="37" baseline="27777" dirty="0">
                <a:cs typeface="Cambria Math"/>
              </a:rPr>
              <a:t>(1)</a:t>
            </a:r>
            <a:r>
              <a:rPr lang="en-US" sz="2000" spc="44" baseline="27777" dirty="0">
                <a:cs typeface="Cambria Math"/>
              </a:rPr>
              <a:t> </a:t>
            </a:r>
            <a:r>
              <a:rPr lang="en-US" sz="2000" dirty="0">
                <a:cs typeface="Calibri"/>
              </a:rPr>
              <a:t>and </a:t>
            </a:r>
            <a:r>
              <a:rPr lang="en-US" sz="2000" spc="25" dirty="0">
                <a:cs typeface="Cambria Math"/>
              </a:rPr>
              <a:t>𝑥</a:t>
            </a:r>
            <a:r>
              <a:rPr lang="en-US" sz="2000" spc="37" baseline="27777" dirty="0">
                <a:cs typeface="Cambria Math"/>
              </a:rPr>
              <a:t>(2)</a:t>
            </a:r>
            <a:r>
              <a:rPr lang="en-US" sz="2000" spc="44" baseline="27777" dirty="0">
                <a:cs typeface="Cambria Math"/>
              </a:rPr>
              <a:t> </a:t>
            </a:r>
            <a:r>
              <a:rPr lang="en-US" sz="2000" spc="-15" dirty="0">
                <a:cs typeface="Calibri"/>
              </a:rPr>
              <a:t>are </a:t>
            </a:r>
            <a:r>
              <a:rPr lang="en-US" sz="2000" spc="-5" dirty="0">
                <a:cs typeface="Calibri"/>
              </a:rPr>
              <a:t>multiplied </a:t>
            </a:r>
            <a:r>
              <a:rPr lang="en-US" sz="2000" spc="-10" dirty="0">
                <a:cs typeface="Calibri"/>
              </a:rPr>
              <a:t>by </a:t>
            </a:r>
            <a:r>
              <a:rPr lang="en-US" sz="2000" spc="-5" dirty="0">
                <a:cs typeface="Calibri"/>
              </a:rPr>
              <a:t> </a:t>
            </a:r>
            <a:r>
              <a:rPr lang="en-US" sz="2000" spc="-10" dirty="0">
                <a:cs typeface="Calibri"/>
              </a:rPr>
              <a:t>completely </a:t>
            </a:r>
            <a:r>
              <a:rPr lang="en-US" sz="2000" spc="-15" dirty="0">
                <a:cs typeface="Calibri"/>
              </a:rPr>
              <a:t>different </a:t>
            </a:r>
            <a:r>
              <a:rPr lang="en-US" sz="2000" spc="-10" dirty="0">
                <a:cs typeface="Calibri"/>
              </a:rPr>
              <a:t>weights </a:t>
            </a:r>
            <a:r>
              <a:rPr lang="en-US" sz="2000" dirty="0">
                <a:cs typeface="Calibri"/>
              </a:rPr>
              <a:t>in </a:t>
            </a:r>
            <a:r>
              <a:rPr lang="en-US" sz="2000" spc="40" dirty="0">
                <a:cs typeface="Cambria Math"/>
              </a:rPr>
              <a:t>𝑊</a:t>
            </a:r>
            <a:r>
              <a:rPr lang="en-US" sz="2000" spc="40" dirty="0">
                <a:cs typeface="Calibri"/>
              </a:rPr>
              <a:t>. </a:t>
            </a:r>
            <a:r>
              <a:rPr lang="en-US" sz="2000" spc="45" dirty="0">
                <a:cs typeface="Calibri"/>
              </a:rPr>
              <a:t> </a:t>
            </a:r>
            <a:r>
              <a:rPr lang="en-US" sz="2000" dirty="0">
                <a:solidFill>
                  <a:srgbClr val="C00000"/>
                </a:solidFill>
                <a:cs typeface="Calibri"/>
              </a:rPr>
              <a:t>No </a:t>
            </a:r>
            <a:r>
              <a:rPr lang="en-US" sz="2000" spc="-10" dirty="0">
                <a:solidFill>
                  <a:srgbClr val="C00000"/>
                </a:solidFill>
                <a:cs typeface="Calibri"/>
              </a:rPr>
              <a:t>symmetry </a:t>
            </a:r>
            <a:r>
              <a:rPr lang="en-US" sz="2000" spc="-5" dirty="0">
                <a:cs typeface="Calibri"/>
              </a:rPr>
              <a:t>in how the inputs </a:t>
            </a:r>
            <a:r>
              <a:rPr lang="en-US" sz="2000" spc="-15" dirty="0">
                <a:cs typeface="Calibri"/>
              </a:rPr>
              <a:t>are </a:t>
            </a:r>
            <a:r>
              <a:rPr lang="en-US" sz="2000" spc="-530" dirty="0">
                <a:cs typeface="Calibri"/>
              </a:rPr>
              <a:t> </a:t>
            </a:r>
            <a:r>
              <a:rPr lang="en-US" sz="2000" spc="-5" dirty="0">
                <a:cs typeface="Calibri"/>
              </a:rPr>
              <a:t>processed.</a:t>
            </a:r>
            <a:endParaRPr lang="en-US" sz="2000" spc="-15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41891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5E974-0787-A269-0940-AE5D9D42A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Recurrent Neural Networks (RNN)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EDACD3-2256-2881-FA23-7998C3ABBA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768" t="26366" r="19897" b="15602"/>
          <a:stretch/>
        </p:blipFill>
        <p:spPr>
          <a:xfrm>
            <a:off x="3328439" y="2020317"/>
            <a:ext cx="5533534" cy="3588632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53BDF6F-88CA-AAE7-446A-A00321CCC6A2}"/>
              </a:ext>
            </a:extLst>
          </p:cNvPr>
          <p:cNvGrpSpPr/>
          <p:nvPr/>
        </p:nvGrpSpPr>
        <p:grpSpPr>
          <a:xfrm>
            <a:off x="1769972" y="1930711"/>
            <a:ext cx="1677393" cy="3678238"/>
            <a:chOff x="2071629" y="1846579"/>
            <a:chExt cx="1677393" cy="3384550"/>
          </a:xfrm>
        </p:grpSpPr>
        <p:sp>
          <p:nvSpPr>
            <p:cNvPr id="8" name="object 4">
              <a:extLst>
                <a:ext uri="{FF2B5EF4-FFF2-40B4-BE49-F238E27FC236}">
                  <a16:creationId xmlns:a16="http://schemas.microsoft.com/office/drawing/2014/main" id="{16BC3210-89E4-6014-83FA-683872BDFE42}"/>
                </a:ext>
              </a:extLst>
            </p:cNvPr>
            <p:cNvSpPr txBox="1"/>
            <p:nvPr/>
          </p:nvSpPr>
          <p:spPr>
            <a:xfrm>
              <a:off x="2206947" y="3477259"/>
              <a:ext cx="1271270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spc="-5" dirty="0">
                  <a:solidFill>
                    <a:srgbClr val="8C1515"/>
                  </a:solidFill>
                  <a:cs typeface="Calibri"/>
                </a:rPr>
                <a:t>hidden</a:t>
              </a:r>
              <a:r>
                <a:rPr sz="1800" spc="-40" dirty="0">
                  <a:solidFill>
                    <a:srgbClr val="8C1515"/>
                  </a:solidFill>
                  <a:cs typeface="Calibri"/>
                </a:rPr>
                <a:t> </a:t>
              </a:r>
              <a:r>
                <a:rPr sz="1800" spc="-20" dirty="0">
                  <a:solidFill>
                    <a:srgbClr val="8C1515"/>
                  </a:solidFill>
                  <a:cs typeface="Calibri"/>
                </a:rPr>
                <a:t>states</a:t>
              </a:r>
              <a:endParaRPr sz="1800" dirty="0">
                <a:cs typeface="Calibri"/>
              </a:endParaRPr>
            </a:p>
          </p:txBody>
        </p:sp>
        <p:sp>
          <p:nvSpPr>
            <p:cNvPr id="9" name="object 5">
              <a:extLst>
                <a:ext uri="{FF2B5EF4-FFF2-40B4-BE49-F238E27FC236}">
                  <a16:creationId xmlns:a16="http://schemas.microsoft.com/office/drawing/2014/main" id="{158BC856-F58C-7268-1208-52293FECC131}"/>
                </a:ext>
              </a:extLst>
            </p:cNvPr>
            <p:cNvSpPr txBox="1"/>
            <p:nvPr/>
          </p:nvSpPr>
          <p:spPr>
            <a:xfrm>
              <a:off x="2071629" y="4665979"/>
              <a:ext cx="1459230" cy="565150"/>
            </a:xfrm>
            <a:prstGeom prst="rect">
              <a:avLst/>
            </a:prstGeom>
          </p:spPr>
          <p:txBody>
            <a:bodyPr vert="horz" wrap="square" lIns="0" tIns="28575" rIns="0" bIns="0" rtlCol="0">
              <a:spAutoFit/>
            </a:bodyPr>
            <a:lstStyle/>
            <a:p>
              <a:pPr marL="335915" marR="5080" indent="-323850">
                <a:lnSpc>
                  <a:spcPts val="2090"/>
                </a:lnSpc>
                <a:spcBef>
                  <a:spcPts val="225"/>
                </a:spcBef>
              </a:pPr>
              <a:r>
                <a:rPr sz="1800" dirty="0">
                  <a:cs typeface="Calibri"/>
                </a:rPr>
                <a:t>input</a:t>
              </a:r>
              <a:r>
                <a:rPr sz="1800" spc="-80" dirty="0">
                  <a:cs typeface="Calibri"/>
                </a:rPr>
                <a:t> </a:t>
              </a:r>
              <a:r>
                <a:rPr sz="1800" dirty="0">
                  <a:cs typeface="Calibri"/>
                </a:rPr>
                <a:t>sequence </a:t>
              </a:r>
              <a:r>
                <a:rPr sz="1800" spc="-390" dirty="0">
                  <a:cs typeface="Calibri"/>
                </a:rPr>
                <a:t> </a:t>
              </a:r>
              <a:r>
                <a:rPr sz="1800" spc="-10" dirty="0">
                  <a:cs typeface="Calibri"/>
                </a:rPr>
                <a:t>(any</a:t>
              </a:r>
              <a:r>
                <a:rPr sz="1800" spc="-80" dirty="0">
                  <a:cs typeface="Calibri"/>
                </a:rPr>
                <a:t> </a:t>
              </a:r>
              <a:r>
                <a:rPr sz="1800" spc="-5" dirty="0">
                  <a:cs typeface="Calibri"/>
                </a:rPr>
                <a:t>length)</a:t>
              </a:r>
              <a:endParaRPr sz="1800">
                <a:cs typeface="Calibri"/>
              </a:endParaRPr>
            </a:p>
          </p:txBody>
        </p:sp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524D71E2-6876-0141-8F15-64F459E26C03}"/>
                </a:ext>
              </a:extLst>
            </p:cNvPr>
            <p:cNvSpPr/>
            <p:nvPr/>
          </p:nvSpPr>
          <p:spPr>
            <a:xfrm>
              <a:off x="3592812" y="4848099"/>
              <a:ext cx="156210" cy="320675"/>
            </a:xfrm>
            <a:custGeom>
              <a:avLst/>
              <a:gdLst/>
              <a:ahLst/>
              <a:cxnLst/>
              <a:rect l="l" t="t" r="r" b="b"/>
              <a:pathLst>
                <a:path w="156210" h="320675">
                  <a:moveTo>
                    <a:pt x="155608" y="320423"/>
                  </a:moveTo>
                  <a:lnTo>
                    <a:pt x="125323" y="315638"/>
                  </a:lnTo>
                  <a:lnTo>
                    <a:pt x="100592" y="302588"/>
                  </a:lnTo>
                  <a:lnTo>
                    <a:pt x="83918" y="283234"/>
                  </a:lnTo>
                  <a:lnTo>
                    <a:pt x="77804" y="259533"/>
                  </a:lnTo>
                  <a:lnTo>
                    <a:pt x="77804" y="221100"/>
                  </a:lnTo>
                  <a:lnTo>
                    <a:pt x="71689" y="197399"/>
                  </a:lnTo>
                  <a:lnTo>
                    <a:pt x="55015" y="178045"/>
                  </a:lnTo>
                  <a:lnTo>
                    <a:pt x="30284" y="164996"/>
                  </a:lnTo>
                  <a:lnTo>
                    <a:pt x="0" y="160211"/>
                  </a:lnTo>
                  <a:lnTo>
                    <a:pt x="30284" y="155426"/>
                  </a:lnTo>
                  <a:lnTo>
                    <a:pt x="55015" y="142377"/>
                  </a:lnTo>
                  <a:lnTo>
                    <a:pt x="71689" y="123023"/>
                  </a:lnTo>
                  <a:lnTo>
                    <a:pt x="77804" y="99322"/>
                  </a:lnTo>
                  <a:lnTo>
                    <a:pt x="77804" y="60889"/>
                  </a:lnTo>
                  <a:lnTo>
                    <a:pt x="83918" y="37188"/>
                  </a:lnTo>
                  <a:lnTo>
                    <a:pt x="100592" y="17834"/>
                  </a:lnTo>
                  <a:lnTo>
                    <a:pt x="125323" y="4784"/>
                  </a:lnTo>
                  <a:lnTo>
                    <a:pt x="155608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8">
              <a:extLst>
                <a:ext uri="{FF2B5EF4-FFF2-40B4-BE49-F238E27FC236}">
                  <a16:creationId xmlns:a16="http://schemas.microsoft.com/office/drawing/2014/main" id="{A40B4481-0093-5742-9E54-409895AE1156}"/>
                </a:ext>
              </a:extLst>
            </p:cNvPr>
            <p:cNvSpPr/>
            <p:nvPr/>
          </p:nvSpPr>
          <p:spPr>
            <a:xfrm>
              <a:off x="3528483" y="3110791"/>
              <a:ext cx="220345" cy="1073150"/>
            </a:xfrm>
            <a:custGeom>
              <a:avLst/>
              <a:gdLst/>
              <a:ahLst/>
              <a:cxnLst/>
              <a:rect l="l" t="t" r="r" b="b"/>
              <a:pathLst>
                <a:path w="220345" h="1073150">
                  <a:moveTo>
                    <a:pt x="219939" y="1072956"/>
                  </a:moveTo>
                  <a:lnTo>
                    <a:pt x="177133" y="1066192"/>
                  </a:lnTo>
                  <a:lnTo>
                    <a:pt x="142178" y="1047749"/>
                  </a:lnTo>
                  <a:lnTo>
                    <a:pt x="118610" y="1020393"/>
                  </a:lnTo>
                  <a:lnTo>
                    <a:pt x="109968" y="986894"/>
                  </a:lnTo>
                  <a:lnTo>
                    <a:pt x="109970" y="622539"/>
                  </a:lnTo>
                  <a:lnTo>
                    <a:pt x="101328" y="589040"/>
                  </a:lnTo>
                  <a:lnTo>
                    <a:pt x="77760" y="561684"/>
                  </a:lnTo>
                  <a:lnTo>
                    <a:pt x="42805" y="543241"/>
                  </a:lnTo>
                  <a:lnTo>
                    <a:pt x="0" y="536478"/>
                  </a:lnTo>
                  <a:lnTo>
                    <a:pt x="42805" y="529714"/>
                  </a:lnTo>
                  <a:lnTo>
                    <a:pt x="77760" y="511271"/>
                  </a:lnTo>
                  <a:lnTo>
                    <a:pt x="101328" y="483915"/>
                  </a:lnTo>
                  <a:lnTo>
                    <a:pt x="109970" y="450416"/>
                  </a:lnTo>
                  <a:lnTo>
                    <a:pt x="109970" y="86061"/>
                  </a:lnTo>
                  <a:lnTo>
                    <a:pt x="118612" y="52562"/>
                  </a:lnTo>
                  <a:lnTo>
                    <a:pt x="142179" y="25206"/>
                  </a:lnTo>
                  <a:lnTo>
                    <a:pt x="177134" y="6763"/>
                  </a:lnTo>
                  <a:lnTo>
                    <a:pt x="219940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2">
              <a:extLst>
                <a:ext uri="{FF2B5EF4-FFF2-40B4-BE49-F238E27FC236}">
                  <a16:creationId xmlns:a16="http://schemas.microsoft.com/office/drawing/2014/main" id="{059B12AC-90AB-F542-74B4-7FECFE87338D}"/>
                </a:ext>
              </a:extLst>
            </p:cNvPr>
            <p:cNvSpPr txBox="1"/>
            <p:nvPr/>
          </p:nvSpPr>
          <p:spPr>
            <a:xfrm>
              <a:off x="2593343" y="1846579"/>
              <a:ext cx="937894" cy="565150"/>
            </a:xfrm>
            <a:prstGeom prst="rect">
              <a:avLst/>
            </a:prstGeom>
          </p:spPr>
          <p:txBody>
            <a:bodyPr vert="horz" wrap="square" lIns="0" tIns="28575" rIns="0" bIns="0" rtlCol="0">
              <a:spAutoFit/>
            </a:bodyPr>
            <a:lstStyle/>
            <a:p>
              <a:pPr marL="12700" marR="5080" indent="187325">
                <a:lnSpc>
                  <a:spcPts val="2090"/>
                </a:lnSpc>
                <a:spcBef>
                  <a:spcPts val="225"/>
                </a:spcBef>
              </a:pPr>
              <a:r>
                <a:rPr sz="1800" dirty="0">
                  <a:cs typeface="Calibri"/>
                </a:rPr>
                <a:t>ou</a:t>
              </a:r>
              <a:r>
                <a:rPr sz="1800" spc="-5" dirty="0">
                  <a:cs typeface="Calibri"/>
                </a:rPr>
                <a:t>t</a:t>
              </a:r>
              <a:r>
                <a:rPr sz="1800" dirty="0">
                  <a:cs typeface="Calibri"/>
                </a:rPr>
                <a:t>pu</a:t>
              </a:r>
              <a:r>
                <a:rPr sz="1800" spc="-5" dirty="0">
                  <a:cs typeface="Calibri"/>
                </a:rPr>
                <a:t>t</a:t>
              </a:r>
              <a:r>
                <a:rPr sz="1800" dirty="0">
                  <a:cs typeface="Calibri"/>
                </a:rPr>
                <a:t>s  (o</a:t>
              </a:r>
              <a:r>
                <a:rPr sz="1800" spc="-5" dirty="0">
                  <a:cs typeface="Calibri"/>
                </a:rPr>
                <a:t>pt</a:t>
              </a:r>
              <a:r>
                <a:rPr sz="1800" dirty="0">
                  <a:cs typeface="Calibri"/>
                </a:rPr>
                <a:t>ional)</a:t>
              </a:r>
            </a:p>
          </p:txBody>
        </p:sp>
        <p:sp>
          <p:nvSpPr>
            <p:cNvPr id="16" name="object 13">
              <a:extLst>
                <a:ext uri="{FF2B5EF4-FFF2-40B4-BE49-F238E27FC236}">
                  <a16:creationId xmlns:a16="http://schemas.microsoft.com/office/drawing/2014/main" id="{CC450643-F792-183E-C4A5-39EE195CEB00}"/>
                </a:ext>
              </a:extLst>
            </p:cNvPr>
            <p:cNvSpPr/>
            <p:nvPr/>
          </p:nvSpPr>
          <p:spPr>
            <a:xfrm>
              <a:off x="3592812" y="2028712"/>
              <a:ext cx="156210" cy="320675"/>
            </a:xfrm>
            <a:custGeom>
              <a:avLst/>
              <a:gdLst/>
              <a:ahLst/>
              <a:cxnLst/>
              <a:rect l="l" t="t" r="r" b="b"/>
              <a:pathLst>
                <a:path w="156210" h="320675">
                  <a:moveTo>
                    <a:pt x="155608" y="320423"/>
                  </a:moveTo>
                  <a:lnTo>
                    <a:pt x="125323" y="315638"/>
                  </a:lnTo>
                  <a:lnTo>
                    <a:pt x="100592" y="302588"/>
                  </a:lnTo>
                  <a:lnTo>
                    <a:pt x="83918" y="283234"/>
                  </a:lnTo>
                  <a:lnTo>
                    <a:pt x="77804" y="259533"/>
                  </a:lnTo>
                  <a:lnTo>
                    <a:pt x="77804" y="221100"/>
                  </a:lnTo>
                  <a:lnTo>
                    <a:pt x="71689" y="197399"/>
                  </a:lnTo>
                  <a:lnTo>
                    <a:pt x="55015" y="178045"/>
                  </a:lnTo>
                  <a:lnTo>
                    <a:pt x="30284" y="164996"/>
                  </a:lnTo>
                  <a:lnTo>
                    <a:pt x="0" y="160211"/>
                  </a:lnTo>
                  <a:lnTo>
                    <a:pt x="30284" y="155426"/>
                  </a:lnTo>
                  <a:lnTo>
                    <a:pt x="55015" y="142377"/>
                  </a:lnTo>
                  <a:lnTo>
                    <a:pt x="71689" y="123023"/>
                  </a:lnTo>
                  <a:lnTo>
                    <a:pt x="77804" y="99322"/>
                  </a:lnTo>
                  <a:lnTo>
                    <a:pt x="77804" y="60889"/>
                  </a:lnTo>
                  <a:lnTo>
                    <a:pt x="83918" y="37188"/>
                  </a:lnTo>
                  <a:lnTo>
                    <a:pt x="100592" y="17834"/>
                  </a:lnTo>
                  <a:lnTo>
                    <a:pt x="125323" y="4784"/>
                  </a:lnTo>
                  <a:lnTo>
                    <a:pt x="155608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1">
            <a:extLst>
              <a:ext uri="{FF2B5EF4-FFF2-40B4-BE49-F238E27FC236}">
                <a16:creationId xmlns:a16="http://schemas.microsoft.com/office/drawing/2014/main" id="{E014ED39-AF1C-41CC-1D2C-2C716C934AA3}"/>
              </a:ext>
            </a:extLst>
          </p:cNvPr>
          <p:cNvSpPr txBox="1"/>
          <p:nvPr/>
        </p:nvSpPr>
        <p:spPr>
          <a:xfrm>
            <a:off x="8697913" y="2571398"/>
            <a:ext cx="3051175" cy="587340"/>
          </a:xfrm>
          <a:prstGeom prst="rect">
            <a:avLst/>
          </a:prstGeom>
          <a:ln w="19050">
            <a:solidFill>
              <a:srgbClr val="FF30EE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91440" marR="227965">
              <a:lnSpc>
                <a:spcPct val="100000"/>
              </a:lnSpc>
              <a:spcBef>
                <a:spcPts val="260"/>
              </a:spcBef>
            </a:pPr>
            <a:r>
              <a:rPr b="1" u="sng" spc="-10" dirty="0">
                <a:solidFill>
                  <a:srgbClr val="FF30EE"/>
                </a:solidFill>
                <a:uFill>
                  <a:solidFill>
                    <a:srgbClr val="FF30EE"/>
                  </a:solidFill>
                </a:uFill>
                <a:cs typeface="Calibri"/>
              </a:rPr>
              <a:t>Core </a:t>
            </a:r>
            <a:r>
              <a:rPr b="1" u="sng" spc="-5" dirty="0">
                <a:solidFill>
                  <a:srgbClr val="FF30EE"/>
                </a:solidFill>
                <a:uFill>
                  <a:solidFill>
                    <a:srgbClr val="FF30EE"/>
                  </a:solidFill>
                </a:uFill>
                <a:cs typeface="Calibri"/>
              </a:rPr>
              <a:t>idea:</a:t>
            </a:r>
            <a:r>
              <a:rPr b="1" spc="-5" dirty="0">
                <a:solidFill>
                  <a:srgbClr val="FF30EE"/>
                </a:solidFill>
                <a:cs typeface="Calibri"/>
              </a:rPr>
              <a:t> </a:t>
            </a:r>
            <a:r>
              <a:rPr spc="-5" dirty="0">
                <a:solidFill>
                  <a:srgbClr val="FF30EE"/>
                </a:solidFill>
                <a:cs typeface="Calibri"/>
              </a:rPr>
              <a:t>Apply </a:t>
            </a:r>
            <a:r>
              <a:rPr dirty="0">
                <a:solidFill>
                  <a:srgbClr val="FF30EE"/>
                </a:solidFill>
                <a:cs typeface="Calibri"/>
              </a:rPr>
              <a:t>the same </a:t>
            </a:r>
            <a:r>
              <a:rPr spc="-440" dirty="0">
                <a:solidFill>
                  <a:srgbClr val="FF30EE"/>
                </a:solidFill>
                <a:cs typeface="Calibri"/>
              </a:rPr>
              <a:t> </a:t>
            </a:r>
            <a:r>
              <a:rPr spc="-10" dirty="0">
                <a:solidFill>
                  <a:srgbClr val="FF30EE"/>
                </a:solidFill>
                <a:cs typeface="Calibri"/>
              </a:rPr>
              <a:t>weights</a:t>
            </a:r>
            <a:r>
              <a:rPr spc="-5" dirty="0">
                <a:solidFill>
                  <a:srgbClr val="FF30EE"/>
                </a:solidFill>
                <a:cs typeface="Calibri"/>
              </a:rPr>
              <a:t> </a:t>
            </a:r>
            <a:r>
              <a:rPr dirty="0">
                <a:solidFill>
                  <a:srgbClr val="FF30EE"/>
                </a:solidFill>
                <a:cs typeface="Cambria Math"/>
              </a:rPr>
              <a:t>𝑊</a:t>
            </a:r>
            <a:r>
              <a:rPr spc="80" dirty="0">
                <a:solidFill>
                  <a:srgbClr val="FF30EE"/>
                </a:solidFill>
                <a:cs typeface="Cambria Math"/>
              </a:rPr>
              <a:t> </a:t>
            </a:r>
            <a:r>
              <a:rPr i="1" spc="-10" dirty="0">
                <a:solidFill>
                  <a:srgbClr val="FF30EE"/>
                </a:solidFill>
                <a:cs typeface="Calibri"/>
              </a:rPr>
              <a:t>repeatedly</a:t>
            </a:r>
            <a:endParaRPr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53839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</a:t>
            </a:r>
            <a:r>
              <a:rPr spc="-15" dirty="0"/>
              <a:t> </a:t>
            </a:r>
            <a:r>
              <a:rPr spc="-5" dirty="0"/>
              <a:t>Simple</a:t>
            </a:r>
            <a:r>
              <a:rPr spc="-10" dirty="0"/>
              <a:t> </a:t>
            </a:r>
            <a:r>
              <a:rPr spc="-5" dirty="0"/>
              <a:t>RNN </a:t>
            </a:r>
            <a:r>
              <a:rPr spc="-10" dirty="0"/>
              <a:t>Language </a:t>
            </a:r>
            <a:r>
              <a:rPr dirty="0"/>
              <a:t>Model</a:t>
            </a:r>
          </a:p>
        </p:txBody>
      </p: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390908E7-D485-DDA9-02E4-57D6378F41BC}"/>
              </a:ext>
            </a:extLst>
          </p:cNvPr>
          <p:cNvGrpSpPr/>
          <p:nvPr/>
        </p:nvGrpSpPr>
        <p:grpSpPr>
          <a:xfrm>
            <a:off x="1676486" y="5194505"/>
            <a:ext cx="2259838" cy="624155"/>
            <a:chOff x="1656524" y="5629147"/>
            <a:chExt cx="2259838" cy="624155"/>
          </a:xfrm>
        </p:grpSpPr>
        <p:sp>
          <p:nvSpPr>
            <p:cNvPr id="6" name="object 6"/>
            <p:cNvSpPr txBox="1"/>
            <p:nvPr/>
          </p:nvSpPr>
          <p:spPr>
            <a:xfrm>
              <a:off x="1662112" y="5629147"/>
              <a:ext cx="2254250" cy="25904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600" spc="-10" dirty="0">
                  <a:cs typeface="Calibri"/>
                </a:rPr>
                <a:t>words</a:t>
              </a:r>
              <a:r>
                <a:rPr sz="1600" spc="-15" dirty="0">
                  <a:cs typeface="Calibri"/>
                </a:rPr>
                <a:t> </a:t>
              </a:r>
              <a:r>
                <a:rPr sz="1600" dirty="0">
                  <a:cs typeface="Calibri"/>
                </a:rPr>
                <a:t>/</a:t>
              </a:r>
              <a:r>
                <a:rPr sz="1600" spc="-5" dirty="0">
                  <a:cs typeface="Calibri"/>
                </a:rPr>
                <a:t> one-hot</a:t>
              </a:r>
              <a:r>
                <a:rPr sz="1600" spc="-10" dirty="0">
                  <a:cs typeface="Calibri"/>
                </a:rPr>
                <a:t> </a:t>
              </a:r>
              <a:r>
                <a:rPr sz="1600" spc="-15" dirty="0">
                  <a:cs typeface="Calibri"/>
                </a:rPr>
                <a:t>vectors</a:t>
              </a:r>
              <a:endParaRPr sz="1600" dirty="0">
                <a:cs typeface="Calibri"/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56524" y="5924743"/>
              <a:ext cx="1186715" cy="328559"/>
            </a:xfrm>
            <a:prstGeom prst="rect">
              <a:avLst/>
            </a:prstGeom>
          </p:spPr>
        </p:pic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F7E4F341-CB27-7F16-8FD2-A765D97A9568}"/>
              </a:ext>
            </a:extLst>
          </p:cNvPr>
          <p:cNvGrpSpPr/>
          <p:nvPr/>
        </p:nvGrpSpPr>
        <p:grpSpPr>
          <a:xfrm>
            <a:off x="1642840" y="4128895"/>
            <a:ext cx="1701164" cy="576655"/>
            <a:chOff x="1662112" y="4422140"/>
            <a:chExt cx="1701164" cy="576655"/>
          </a:xfrm>
        </p:grpSpPr>
        <p:sp>
          <p:nvSpPr>
            <p:cNvPr id="14" name="object 14"/>
            <p:cNvSpPr txBox="1"/>
            <p:nvPr/>
          </p:nvSpPr>
          <p:spPr>
            <a:xfrm>
              <a:off x="1662112" y="4422140"/>
              <a:ext cx="1701164" cy="25904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600" spc="-15" dirty="0">
                  <a:solidFill>
                    <a:srgbClr val="610059"/>
                  </a:solidFill>
                  <a:cs typeface="Calibri"/>
                </a:rPr>
                <a:t>word</a:t>
              </a:r>
              <a:r>
                <a:rPr sz="1600" spc="-65" dirty="0">
                  <a:solidFill>
                    <a:srgbClr val="610059"/>
                  </a:solidFill>
                  <a:cs typeface="Calibri"/>
                </a:rPr>
                <a:t> </a:t>
              </a:r>
              <a:r>
                <a:rPr sz="1600" dirty="0">
                  <a:solidFill>
                    <a:srgbClr val="610059"/>
                  </a:solidFill>
                  <a:cs typeface="Calibri"/>
                </a:rPr>
                <a:t>embeddings</a:t>
              </a:r>
              <a:endParaRPr sz="1600" dirty="0">
                <a:cs typeface="Calibri"/>
              </a:endParaRPr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74793" y="4779580"/>
              <a:ext cx="1150884" cy="219215"/>
            </a:xfrm>
            <a:prstGeom prst="rect">
              <a:avLst/>
            </a:prstGeom>
          </p:spPr>
        </p:pic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F91EA76B-10F3-80CB-E239-08DB379689D8}"/>
              </a:ext>
            </a:extLst>
          </p:cNvPr>
          <p:cNvGrpSpPr/>
          <p:nvPr/>
        </p:nvGrpSpPr>
        <p:grpSpPr>
          <a:xfrm>
            <a:off x="5001525" y="315074"/>
            <a:ext cx="5962821" cy="5609669"/>
            <a:chOff x="4819543" y="233224"/>
            <a:chExt cx="6026363" cy="5983100"/>
          </a:xfrm>
        </p:grpSpPr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28701" y="2224778"/>
              <a:ext cx="197914" cy="172897"/>
            </a:xfrm>
            <a:prstGeom prst="rect">
              <a:avLst/>
            </a:prstGeom>
          </p:spPr>
        </p:pic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664EBEE5-D9E3-D6E1-8750-011256717805}"/>
                </a:ext>
              </a:extLst>
            </p:cNvPr>
            <p:cNvGrpSpPr/>
            <p:nvPr/>
          </p:nvGrpSpPr>
          <p:grpSpPr>
            <a:xfrm>
              <a:off x="4819543" y="233224"/>
              <a:ext cx="6026363" cy="5983100"/>
              <a:chOff x="4792447" y="252138"/>
              <a:chExt cx="6026363" cy="5983100"/>
            </a:xfrm>
          </p:grpSpPr>
          <p:sp>
            <p:nvSpPr>
              <p:cNvPr id="3" name="object 3"/>
              <p:cNvSpPr txBox="1"/>
              <p:nvPr/>
            </p:nvSpPr>
            <p:spPr>
              <a:xfrm>
                <a:off x="6140953" y="5631179"/>
                <a:ext cx="1666875" cy="33020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  <a:tabLst>
                    <a:tab pos="779145" algn="l"/>
                  </a:tabLst>
                </a:pPr>
                <a:r>
                  <a:rPr sz="2000" i="1" spc="5" dirty="0">
                    <a:latin typeface="Calibri"/>
                    <a:cs typeface="Calibri"/>
                  </a:rPr>
                  <a:t>t</a:t>
                </a:r>
                <a:r>
                  <a:rPr sz="2000" i="1" spc="-5" dirty="0">
                    <a:latin typeface="Calibri"/>
                    <a:cs typeface="Calibri"/>
                  </a:rPr>
                  <a:t>h</a:t>
                </a:r>
                <a:r>
                  <a:rPr sz="2000" i="1" dirty="0">
                    <a:latin typeface="Calibri"/>
                    <a:cs typeface="Calibri"/>
                  </a:rPr>
                  <a:t>e	</a:t>
                </a:r>
                <a:r>
                  <a:rPr sz="2000" i="1" spc="-30" dirty="0">
                    <a:latin typeface="Calibri"/>
                    <a:cs typeface="Calibri"/>
                  </a:rPr>
                  <a:t>s</a:t>
                </a:r>
                <a:r>
                  <a:rPr sz="2000" i="1" dirty="0">
                    <a:latin typeface="Calibri"/>
                    <a:cs typeface="Calibri"/>
                  </a:rPr>
                  <a:t>t</a:t>
                </a:r>
                <a:r>
                  <a:rPr sz="2000" i="1" spc="-5" dirty="0">
                    <a:latin typeface="Calibri"/>
                    <a:cs typeface="Calibri"/>
                  </a:rPr>
                  <a:t>ude</a:t>
                </a:r>
                <a:r>
                  <a:rPr sz="2000" i="1" spc="-25" dirty="0">
                    <a:latin typeface="Calibri"/>
                    <a:cs typeface="Calibri"/>
                  </a:rPr>
                  <a:t>n</a:t>
                </a:r>
                <a:r>
                  <a:rPr sz="2000" i="1" dirty="0">
                    <a:latin typeface="Calibri"/>
                    <a:cs typeface="Calibri"/>
                  </a:rPr>
                  <a:t>ts</a:t>
                </a:r>
                <a:endParaRPr sz="2000">
                  <a:latin typeface="Calibri"/>
                  <a:cs typeface="Calibri"/>
                </a:endParaRPr>
              </a:p>
            </p:txBody>
          </p:sp>
          <p:sp>
            <p:nvSpPr>
              <p:cNvPr id="4" name="object 4"/>
              <p:cNvSpPr txBox="1"/>
              <p:nvPr/>
            </p:nvSpPr>
            <p:spPr>
              <a:xfrm>
                <a:off x="8053312" y="5631179"/>
                <a:ext cx="788035" cy="33020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2000" i="1" spc="-10" dirty="0">
                    <a:latin typeface="Calibri"/>
                    <a:cs typeface="Calibri"/>
                  </a:rPr>
                  <a:t>opened</a:t>
                </a:r>
                <a:endParaRPr sz="2000">
                  <a:latin typeface="Calibri"/>
                  <a:cs typeface="Calibri"/>
                </a:endParaRPr>
              </a:p>
            </p:txBody>
          </p:sp>
          <p:sp>
            <p:nvSpPr>
              <p:cNvPr id="5" name="object 5"/>
              <p:cNvSpPr txBox="1"/>
              <p:nvPr/>
            </p:nvSpPr>
            <p:spPr>
              <a:xfrm>
                <a:off x="9278720" y="5631179"/>
                <a:ext cx="508634" cy="33020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2000" i="1" spc="5" dirty="0">
                    <a:latin typeface="Calibri"/>
                    <a:cs typeface="Calibri"/>
                  </a:rPr>
                  <a:t>t</a:t>
                </a:r>
                <a:r>
                  <a:rPr sz="2000" i="1" spc="-5" dirty="0">
                    <a:latin typeface="Calibri"/>
                    <a:cs typeface="Calibri"/>
                  </a:rPr>
                  <a:t>h</a:t>
                </a:r>
                <a:r>
                  <a:rPr sz="2000" i="1" spc="-10" dirty="0">
                    <a:latin typeface="Calibri"/>
                    <a:cs typeface="Calibri"/>
                  </a:rPr>
                  <a:t>e</a:t>
                </a:r>
                <a:r>
                  <a:rPr sz="2000" i="1" dirty="0">
                    <a:latin typeface="Calibri"/>
                    <a:cs typeface="Calibri"/>
                  </a:rPr>
                  <a:t>ir</a:t>
                </a:r>
                <a:endParaRPr sz="2000">
                  <a:latin typeface="Calibri"/>
                  <a:cs typeface="Calibri"/>
                </a:endParaRPr>
              </a:p>
            </p:txBody>
          </p:sp>
          <p:pic>
            <p:nvPicPr>
              <p:cNvPr id="8" name="object 8"/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6101364" y="5915199"/>
                <a:ext cx="441131" cy="320039"/>
              </a:xfrm>
              <a:prstGeom prst="rect">
                <a:avLst/>
              </a:prstGeom>
            </p:spPr>
          </p:pic>
          <p:pic>
            <p:nvPicPr>
              <p:cNvPr id="9" name="object 9"/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9317608" y="5915199"/>
                <a:ext cx="424722" cy="320039"/>
              </a:xfrm>
              <a:prstGeom prst="rect">
                <a:avLst/>
              </a:prstGeom>
            </p:spPr>
          </p:pic>
          <p:pic>
            <p:nvPicPr>
              <p:cNvPr id="10" name="object 10"/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8233019" y="5915199"/>
                <a:ext cx="440474" cy="320039"/>
              </a:xfrm>
              <a:prstGeom prst="rect">
                <a:avLst/>
              </a:prstGeom>
            </p:spPr>
          </p:pic>
          <p:pic>
            <p:nvPicPr>
              <p:cNvPr id="11" name="object 11"/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7130992" y="5915199"/>
                <a:ext cx="467593" cy="320039"/>
              </a:xfrm>
              <a:prstGeom prst="rect">
                <a:avLst/>
              </a:prstGeom>
            </p:spPr>
          </p:pic>
          <p:sp>
            <p:nvSpPr>
              <p:cNvPr id="12" name="object 12"/>
              <p:cNvSpPr txBox="1"/>
              <p:nvPr/>
            </p:nvSpPr>
            <p:spPr>
              <a:xfrm>
                <a:off x="8375387" y="477011"/>
                <a:ext cx="447040" cy="23876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1400" i="1" spc="5" dirty="0">
                    <a:solidFill>
                      <a:srgbClr val="175E54"/>
                    </a:solidFill>
                    <a:latin typeface="Calibri"/>
                    <a:cs typeface="Calibri"/>
                  </a:rPr>
                  <a:t>b</a:t>
                </a:r>
                <a:r>
                  <a:rPr sz="1400" i="1" spc="-10" dirty="0">
                    <a:solidFill>
                      <a:srgbClr val="175E54"/>
                    </a:solidFill>
                    <a:latin typeface="Calibri"/>
                    <a:cs typeface="Calibri"/>
                  </a:rPr>
                  <a:t>oo</a:t>
                </a:r>
                <a:r>
                  <a:rPr sz="1400" i="1" spc="-15" dirty="0">
                    <a:solidFill>
                      <a:srgbClr val="175E54"/>
                    </a:solidFill>
                    <a:latin typeface="Calibri"/>
                    <a:cs typeface="Calibri"/>
                  </a:rPr>
                  <a:t>k</a:t>
                </a:r>
                <a:r>
                  <a:rPr sz="1400" i="1" dirty="0">
                    <a:solidFill>
                      <a:srgbClr val="175E54"/>
                    </a:solidFill>
                    <a:latin typeface="Calibri"/>
                    <a:cs typeface="Calibri"/>
                  </a:rPr>
                  <a:t>s</a:t>
                </a:r>
                <a:endParaRPr sz="1400">
                  <a:latin typeface="Calibri"/>
                  <a:cs typeface="Calibri"/>
                </a:endParaRPr>
              </a:p>
            </p:txBody>
          </p:sp>
          <p:sp>
            <p:nvSpPr>
              <p:cNvPr id="13" name="object 13"/>
              <p:cNvSpPr txBox="1"/>
              <p:nvPr/>
            </p:nvSpPr>
            <p:spPr>
              <a:xfrm>
                <a:off x="9175955" y="669035"/>
                <a:ext cx="559435" cy="23876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1400" i="1" dirty="0">
                    <a:solidFill>
                      <a:srgbClr val="175E54"/>
                    </a:solidFill>
                    <a:latin typeface="Calibri"/>
                    <a:cs typeface="Calibri"/>
                  </a:rPr>
                  <a:t>l</a:t>
                </a:r>
                <a:r>
                  <a:rPr sz="1400" i="1" spc="5" dirty="0">
                    <a:solidFill>
                      <a:srgbClr val="175E54"/>
                    </a:solidFill>
                    <a:latin typeface="Calibri"/>
                    <a:cs typeface="Calibri"/>
                  </a:rPr>
                  <a:t>a</a:t>
                </a:r>
                <a:r>
                  <a:rPr sz="1400" i="1" spc="-5" dirty="0">
                    <a:solidFill>
                      <a:srgbClr val="175E54"/>
                    </a:solidFill>
                    <a:latin typeface="Calibri"/>
                    <a:cs typeface="Calibri"/>
                  </a:rPr>
                  <a:t>p</a:t>
                </a:r>
                <a:r>
                  <a:rPr sz="1400" i="1" spc="-15" dirty="0">
                    <a:solidFill>
                      <a:srgbClr val="175E54"/>
                    </a:solidFill>
                    <a:latin typeface="Calibri"/>
                    <a:cs typeface="Calibri"/>
                  </a:rPr>
                  <a:t>t</a:t>
                </a:r>
                <a:r>
                  <a:rPr sz="1400" i="1" spc="-10" dirty="0">
                    <a:solidFill>
                      <a:srgbClr val="175E54"/>
                    </a:solidFill>
                    <a:latin typeface="Calibri"/>
                    <a:cs typeface="Calibri"/>
                  </a:rPr>
                  <a:t>o</a:t>
                </a:r>
                <a:r>
                  <a:rPr sz="1400" i="1" spc="-5" dirty="0">
                    <a:solidFill>
                      <a:srgbClr val="175E54"/>
                    </a:solidFill>
                    <a:latin typeface="Calibri"/>
                    <a:cs typeface="Calibri"/>
                  </a:rPr>
                  <a:t>p</a:t>
                </a:r>
                <a:r>
                  <a:rPr sz="1400" i="1" dirty="0">
                    <a:solidFill>
                      <a:srgbClr val="175E54"/>
                    </a:solidFill>
                    <a:latin typeface="Calibri"/>
                    <a:cs typeface="Calibri"/>
                  </a:rPr>
                  <a:t>s</a:t>
                </a:r>
                <a:endParaRPr sz="1400">
                  <a:latin typeface="Calibri"/>
                  <a:cs typeface="Calibri"/>
                </a:endParaRPr>
              </a:p>
            </p:txBody>
          </p:sp>
          <p:pic>
            <p:nvPicPr>
              <p:cNvPr id="16" name="object 16"/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7561337" y="252138"/>
                <a:ext cx="3257473" cy="281261"/>
              </a:xfrm>
              <a:prstGeom prst="rect">
                <a:avLst/>
              </a:prstGeom>
            </p:spPr>
          </p:pic>
          <p:grpSp>
            <p:nvGrpSpPr>
              <p:cNvPr id="18" name="object 18"/>
              <p:cNvGrpSpPr/>
              <p:nvPr/>
            </p:nvGrpSpPr>
            <p:grpSpPr>
              <a:xfrm>
                <a:off x="8185201" y="719274"/>
                <a:ext cx="2113280" cy="1118870"/>
                <a:chOff x="8185201" y="719274"/>
                <a:chExt cx="2113280" cy="1118870"/>
              </a:xfrm>
            </p:grpSpPr>
            <p:sp>
              <p:nvSpPr>
                <p:cNvPr id="19" name="object 19"/>
                <p:cNvSpPr/>
                <p:nvPr/>
              </p:nvSpPr>
              <p:spPr>
                <a:xfrm>
                  <a:off x="8561431" y="719274"/>
                  <a:ext cx="76200" cy="2933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293369">
                      <a:moveTo>
                        <a:pt x="33336" y="216655"/>
                      </a:moveTo>
                      <a:lnTo>
                        <a:pt x="0" y="216707"/>
                      </a:lnTo>
                      <a:lnTo>
                        <a:pt x="38218" y="292848"/>
                      </a:lnTo>
                      <a:lnTo>
                        <a:pt x="69841" y="229355"/>
                      </a:lnTo>
                      <a:lnTo>
                        <a:pt x="33356" y="229355"/>
                      </a:lnTo>
                      <a:lnTo>
                        <a:pt x="33336" y="216655"/>
                      </a:lnTo>
                      <a:close/>
                    </a:path>
                    <a:path w="76200" h="293369">
                      <a:moveTo>
                        <a:pt x="42861" y="216640"/>
                      </a:moveTo>
                      <a:lnTo>
                        <a:pt x="33336" y="216655"/>
                      </a:lnTo>
                      <a:lnTo>
                        <a:pt x="33356" y="229355"/>
                      </a:lnTo>
                      <a:lnTo>
                        <a:pt x="42881" y="229340"/>
                      </a:lnTo>
                      <a:lnTo>
                        <a:pt x="42861" y="216640"/>
                      </a:lnTo>
                      <a:close/>
                    </a:path>
                    <a:path w="76200" h="293369">
                      <a:moveTo>
                        <a:pt x="76200" y="216588"/>
                      </a:moveTo>
                      <a:lnTo>
                        <a:pt x="42861" y="216640"/>
                      </a:lnTo>
                      <a:lnTo>
                        <a:pt x="42881" y="229340"/>
                      </a:lnTo>
                      <a:lnTo>
                        <a:pt x="33356" y="229355"/>
                      </a:lnTo>
                      <a:lnTo>
                        <a:pt x="69841" y="229355"/>
                      </a:lnTo>
                      <a:lnTo>
                        <a:pt x="76200" y="216588"/>
                      </a:lnTo>
                      <a:close/>
                    </a:path>
                    <a:path w="76200" h="293369">
                      <a:moveTo>
                        <a:pt x="42524" y="0"/>
                      </a:moveTo>
                      <a:lnTo>
                        <a:pt x="32999" y="15"/>
                      </a:lnTo>
                      <a:lnTo>
                        <a:pt x="33336" y="216655"/>
                      </a:lnTo>
                      <a:lnTo>
                        <a:pt x="42861" y="216640"/>
                      </a:lnTo>
                      <a:lnTo>
                        <a:pt x="42524" y="0"/>
                      </a:lnTo>
                      <a:close/>
                    </a:path>
                  </a:pathLst>
                </a:custGeom>
                <a:solidFill>
                  <a:srgbClr val="175E54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0" name="object 20"/>
                <p:cNvSpPr/>
                <p:nvPr/>
              </p:nvSpPr>
              <p:spPr>
                <a:xfrm>
                  <a:off x="8191551" y="1711511"/>
                  <a:ext cx="33655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6550">
                      <a:moveTo>
                        <a:pt x="0" y="0"/>
                      </a:moveTo>
                      <a:lnTo>
                        <a:pt x="336506" y="0"/>
                      </a:lnTo>
                    </a:path>
                  </a:pathLst>
                </a:custGeom>
                <a:ln w="12576">
                  <a:solidFill>
                    <a:srgbClr val="175E54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1" name="object 21"/>
                <p:cNvSpPr/>
                <p:nvPr/>
              </p:nvSpPr>
              <p:spPr>
                <a:xfrm>
                  <a:off x="8191551" y="1716273"/>
                  <a:ext cx="479425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9425">
                      <a:moveTo>
                        <a:pt x="0" y="0"/>
                      </a:moveTo>
                      <a:lnTo>
                        <a:pt x="479204" y="0"/>
                      </a:lnTo>
                    </a:path>
                  </a:pathLst>
                </a:custGeom>
                <a:ln w="3175">
                  <a:solidFill>
                    <a:srgbClr val="175E54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2" name="object 22"/>
                <p:cNvSpPr/>
                <p:nvPr/>
              </p:nvSpPr>
              <p:spPr>
                <a:xfrm>
                  <a:off x="10098210" y="1711511"/>
                  <a:ext cx="193675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675">
                      <a:moveTo>
                        <a:pt x="0" y="0"/>
                      </a:moveTo>
                      <a:lnTo>
                        <a:pt x="193322" y="0"/>
                      </a:lnTo>
                    </a:path>
                  </a:pathLst>
                </a:custGeom>
                <a:ln w="12576">
                  <a:solidFill>
                    <a:srgbClr val="175E54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3" name="object 23"/>
                <p:cNvSpPr/>
                <p:nvPr/>
              </p:nvSpPr>
              <p:spPr>
                <a:xfrm>
                  <a:off x="8191551" y="1716273"/>
                  <a:ext cx="2100580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0579" h="6350">
                      <a:moveTo>
                        <a:pt x="1906658" y="0"/>
                      </a:moveTo>
                      <a:lnTo>
                        <a:pt x="2099981" y="0"/>
                      </a:lnTo>
                    </a:path>
                    <a:path w="2100579" h="6350">
                      <a:moveTo>
                        <a:pt x="0" y="6288"/>
                      </a:moveTo>
                      <a:lnTo>
                        <a:pt x="2099981" y="6288"/>
                      </a:lnTo>
                    </a:path>
                  </a:pathLst>
                </a:custGeom>
                <a:ln w="3175">
                  <a:solidFill>
                    <a:srgbClr val="175E54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4" name="object 24"/>
                <p:cNvSpPr/>
                <p:nvPr/>
              </p:nvSpPr>
              <p:spPr>
                <a:xfrm>
                  <a:off x="8385361" y="1630302"/>
                  <a:ext cx="143510" cy="876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509" h="87630">
                      <a:moveTo>
                        <a:pt x="143183" y="0"/>
                      </a:moveTo>
                      <a:lnTo>
                        <a:pt x="0" y="0"/>
                      </a:lnTo>
                      <a:lnTo>
                        <a:pt x="0" y="87496"/>
                      </a:lnTo>
                      <a:lnTo>
                        <a:pt x="143183" y="87496"/>
                      </a:lnTo>
                      <a:lnTo>
                        <a:pt x="143183" y="0"/>
                      </a:lnTo>
                      <a:close/>
                    </a:path>
                  </a:pathLst>
                </a:custGeom>
                <a:solidFill>
                  <a:srgbClr val="92D050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5" name="object 25"/>
                <p:cNvSpPr/>
                <p:nvPr/>
              </p:nvSpPr>
              <p:spPr>
                <a:xfrm>
                  <a:off x="8385361" y="1630302"/>
                  <a:ext cx="143510" cy="876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509" h="87630">
                      <a:moveTo>
                        <a:pt x="0" y="0"/>
                      </a:moveTo>
                      <a:lnTo>
                        <a:pt x="143184" y="0"/>
                      </a:lnTo>
                      <a:lnTo>
                        <a:pt x="143184" y="87496"/>
                      </a:lnTo>
                      <a:lnTo>
                        <a:pt x="0" y="87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9525">
                  <a:solidFill>
                    <a:srgbClr val="175E54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6" name="object 26"/>
                <p:cNvSpPr/>
                <p:nvPr/>
              </p:nvSpPr>
              <p:spPr>
                <a:xfrm>
                  <a:off x="8528058" y="1012122"/>
                  <a:ext cx="143510" cy="7061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509" h="706119">
                      <a:moveTo>
                        <a:pt x="143183" y="0"/>
                      </a:moveTo>
                      <a:lnTo>
                        <a:pt x="0" y="0"/>
                      </a:lnTo>
                      <a:lnTo>
                        <a:pt x="0" y="705676"/>
                      </a:lnTo>
                      <a:lnTo>
                        <a:pt x="143183" y="705676"/>
                      </a:lnTo>
                      <a:lnTo>
                        <a:pt x="143183" y="0"/>
                      </a:lnTo>
                      <a:close/>
                    </a:path>
                  </a:pathLst>
                </a:custGeom>
                <a:solidFill>
                  <a:srgbClr val="92D050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7" name="object 27"/>
                <p:cNvSpPr/>
                <p:nvPr/>
              </p:nvSpPr>
              <p:spPr>
                <a:xfrm>
                  <a:off x="8528058" y="1012122"/>
                  <a:ext cx="143510" cy="7061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509" h="706119">
                      <a:moveTo>
                        <a:pt x="0" y="0"/>
                      </a:moveTo>
                      <a:lnTo>
                        <a:pt x="143184" y="0"/>
                      </a:lnTo>
                      <a:lnTo>
                        <a:pt x="143184" y="705676"/>
                      </a:lnTo>
                      <a:lnTo>
                        <a:pt x="0" y="70567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9525">
                  <a:solidFill>
                    <a:srgbClr val="175E54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8" name="object 28"/>
                <p:cNvSpPr/>
                <p:nvPr/>
              </p:nvSpPr>
              <p:spPr>
                <a:xfrm>
                  <a:off x="8670755" y="1535343"/>
                  <a:ext cx="143510" cy="182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509" h="182880">
                      <a:moveTo>
                        <a:pt x="143183" y="0"/>
                      </a:moveTo>
                      <a:lnTo>
                        <a:pt x="0" y="0"/>
                      </a:lnTo>
                      <a:lnTo>
                        <a:pt x="0" y="182455"/>
                      </a:lnTo>
                      <a:lnTo>
                        <a:pt x="143183" y="182455"/>
                      </a:lnTo>
                      <a:lnTo>
                        <a:pt x="143183" y="0"/>
                      </a:lnTo>
                      <a:close/>
                    </a:path>
                  </a:pathLst>
                </a:custGeom>
                <a:solidFill>
                  <a:srgbClr val="92D050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9" name="object 29"/>
                <p:cNvSpPr/>
                <p:nvPr/>
              </p:nvSpPr>
              <p:spPr>
                <a:xfrm>
                  <a:off x="8670755" y="1535343"/>
                  <a:ext cx="143510" cy="182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509" h="182880">
                      <a:moveTo>
                        <a:pt x="0" y="0"/>
                      </a:moveTo>
                      <a:lnTo>
                        <a:pt x="143184" y="0"/>
                      </a:lnTo>
                      <a:lnTo>
                        <a:pt x="143184" y="182455"/>
                      </a:lnTo>
                      <a:lnTo>
                        <a:pt x="0" y="18245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9525">
                  <a:solidFill>
                    <a:srgbClr val="175E54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30" name="object 30"/>
                <p:cNvSpPr/>
                <p:nvPr/>
              </p:nvSpPr>
              <p:spPr>
                <a:xfrm>
                  <a:off x="8813451" y="1427091"/>
                  <a:ext cx="143510" cy="2908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509" h="290830">
                      <a:moveTo>
                        <a:pt x="143184" y="0"/>
                      </a:moveTo>
                      <a:lnTo>
                        <a:pt x="0" y="0"/>
                      </a:lnTo>
                      <a:lnTo>
                        <a:pt x="0" y="290708"/>
                      </a:lnTo>
                      <a:lnTo>
                        <a:pt x="143184" y="290708"/>
                      </a:lnTo>
                      <a:lnTo>
                        <a:pt x="143184" y="0"/>
                      </a:lnTo>
                      <a:close/>
                    </a:path>
                  </a:pathLst>
                </a:custGeom>
                <a:solidFill>
                  <a:srgbClr val="92D050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31" name="object 31"/>
                <p:cNvSpPr/>
                <p:nvPr/>
              </p:nvSpPr>
              <p:spPr>
                <a:xfrm>
                  <a:off x="8813451" y="1427091"/>
                  <a:ext cx="143510" cy="2908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509" h="290830">
                      <a:moveTo>
                        <a:pt x="0" y="0"/>
                      </a:moveTo>
                      <a:lnTo>
                        <a:pt x="143184" y="0"/>
                      </a:lnTo>
                      <a:lnTo>
                        <a:pt x="143184" y="290707"/>
                      </a:lnTo>
                      <a:lnTo>
                        <a:pt x="0" y="29070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9525">
                  <a:solidFill>
                    <a:srgbClr val="175E54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32" name="object 32"/>
                <p:cNvSpPr/>
                <p:nvPr/>
              </p:nvSpPr>
              <p:spPr>
                <a:xfrm>
                  <a:off x="8956149" y="1630302"/>
                  <a:ext cx="143510" cy="876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509" h="87630">
                      <a:moveTo>
                        <a:pt x="143184" y="0"/>
                      </a:moveTo>
                      <a:lnTo>
                        <a:pt x="0" y="0"/>
                      </a:lnTo>
                      <a:lnTo>
                        <a:pt x="0" y="87496"/>
                      </a:lnTo>
                      <a:lnTo>
                        <a:pt x="143184" y="87496"/>
                      </a:lnTo>
                      <a:lnTo>
                        <a:pt x="143184" y="0"/>
                      </a:lnTo>
                      <a:close/>
                    </a:path>
                  </a:pathLst>
                </a:custGeom>
                <a:solidFill>
                  <a:srgbClr val="92D050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33" name="object 33"/>
                <p:cNvSpPr/>
                <p:nvPr/>
              </p:nvSpPr>
              <p:spPr>
                <a:xfrm>
                  <a:off x="8956149" y="1630302"/>
                  <a:ext cx="143510" cy="876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509" h="87630">
                      <a:moveTo>
                        <a:pt x="0" y="0"/>
                      </a:moveTo>
                      <a:lnTo>
                        <a:pt x="143184" y="0"/>
                      </a:lnTo>
                      <a:lnTo>
                        <a:pt x="143184" y="87496"/>
                      </a:lnTo>
                      <a:lnTo>
                        <a:pt x="0" y="87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9525">
                  <a:solidFill>
                    <a:srgbClr val="175E54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34" name="object 34"/>
                <p:cNvSpPr/>
                <p:nvPr/>
              </p:nvSpPr>
              <p:spPr>
                <a:xfrm>
                  <a:off x="9098846" y="1403269"/>
                  <a:ext cx="143510" cy="314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509" h="314960">
                      <a:moveTo>
                        <a:pt x="143184" y="0"/>
                      </a:moveTo>
                      <a:lnTo>
                        <a:pt x="0" y="0"/>
                      </a:lnTo>
                      <a:lnTo>
                        <a:pt x="0" y="314529"/>
                      </a:lnTo>
                      <a:lnTo>
                        <a:pt x="143184" y="314529"/>
                      </a:lnTo>
                      <a:lnTo>
                        <a:pt x="143184" y="0"/>
                      </a:lnTo>
                      <a:close/>
                    </a:path>
                  </a:pathLst>
                </a:custGeom>
                <a:solidFill>
                  <a:srgbClr val="92D050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35" name="object 35"/>
                <p:cNvSpPr/>
                <p:nvPr/>
              </p:nvSpPr>
              <p:spPr>
                <a:xfrm>
                  <a:off x="9098846" y="1403269"/>
                  <a:ext cx="143510" cy="314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509" h="314960">
                      <a:moveTo>
                        <a:pt x="0" y="0"/>
                      </a:moveTo>
                      <a:lnTo>
                        <a:pt x="143184" y="0"/>
                      </a:lnTo>
                      <a:lnTo>
                        <a:pt x="143184" y="314529"/>
                      </a:lnTo>
                      <a:lnTo>
                        <a:pt x="0" y="3145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9525">
                  <a:solidFill>
                    <a:srgbClr val="175E54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36" name="object 36"/>
                <p:cNvSpPr/>
                <p:nvPr/>
              </p:nvSpPr>
              <p:spPr>
                <a:xfrm>
                  <a:off x="9241543" y="1427091"/>
                  <a:ext cx="143510" cy="2908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509" h="290830">
                      <a:moveTo>
                        <a:pt x="143184" y="0"/>
                      </a:moveTo>
                      <a:lnTo>
                        <a:pt x="0" y="0"/>
                      </a:lnTo>
                      <a:lnTo>
                        <a:pt x="0" y="290708"/>
                      </a:lnTo>
                      <a:lnTo>
                        <a:pt x="143184" y="290708"/>
                      </a:lnTo>
                      <a:lnTo>
                        <a:pt x="143184" y="0"/>
                      </a:lnTo>
                      <a:close/>
                    </a:path>
                  </a:pathLst>
                </a:custGeom>
                <a:solidFill>
                  <a:srgbClr val="92D050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37" name="object 37"/>
                <p:cNvSpPr/>
                <p:nvPr/>
              </p:nvSpPr>
              <p:spPr>
                <a:xfrm>
                  <a:off x="9241543" y="1427091"/>
                  <a:ext cx="143510" cy="2908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509" h="290830">
                      <a:moveTo>
                        <a:pt x="0" y="0"/>
                      </a:moveTo>
                      <a:lnTo>
                        <a:pt x="143184" y="0"/>
                      </a:lnTo>
                      <a:lnTo>
                        <a:pt x="143184" y="290708"/>
                      </a:lnTo>
                      <a:lnTo>
                        <a:pt x="0" y="29070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9525">
                  <a:solidFill>
                    <a:srgbClr val="175E54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38" name="object 38"/>
                <p:cNvSpPr/>
                <p:nvPr/>
              </p:nvSpPr>
              <p:spPr>
                <a:xfrm>
                  <a:off x="9526937" y="1585520"/>
                  <a:ext cx="143510" cy="1327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509" h="132714">
                      <a:moveTo>
                        <a:pt x="143183" y="0"/>
                      </a:moveTo>
                      <a:lnTo>
                        <a:pt x="0" y="0"/>
                      </a:lnTo>
                      <a:lnTo>
                        <a:pt x="0" y="132279"/>
                      </a:lnTo>
                      <a:lnTo>
                        <a:pt x="143183" y="132279"/>
                      </a:lnTo>
                      <a:lnTo>
                        <a:pt x="143183" y="0"/>
                      </a:lnTo>
                      <a:close/>
                    </a:path>
                  </a:pathLst>
                </a:custGeom>
                <a:solidFill>
                  <a:srgbClr val="92D050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39" name="object 39"/>
                <p:cNvSpPr/>
                <p:nvPr/>
              </p:nvSpPr>
              <p:spPr>
                <a:xfrm>
                  <a:off x="9526937" y="1585520"/>
                  <a:ext cx="143510" cy="1327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509" h="132714">
                      <a:moveTo>
                        <a:pt x="0" y="0"/>
                      </a:moveTo>
                      <a:lnTo>
                        <a:pt x="143184" y="0"/>
                      </a:lnTo>
                      <a:lnTo>
                        <a:pt x="143184" y="132279"/>
                      </a:lnTo>
                      <a:lnTo>
                        <a:pt x="0" y="13227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9525">
                  <a:solidFill>
                    <a:srgbClr val="175E54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40" name="object 40"/>
                <p:cNvSpPr/>
                <p:nvPr/>
              </p:nvSpPr>
              <p:spPr>
                <a:xfrm>
                  <a:off x="9669635" y="1479669"/>
                  <a:ext cx="143510" cy="23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509" h="238125">
                      <a:moveTo>
                        <a:pt x="143183" y="0"/>
                      </a:moveTo>
                      <a:lnTo>
                        <a:pt x="0" y="0"/>
                      </a:lnTo>
                      <a:lnTo>
                        <a:pt x="0" y="238130"/>
                      </a:lnTo>
                      <a:lnTo>
                        <a:pt x="143183" y="238130"/>
                      </a:lnTo>
                      <a:lnTo>
                        <a:pt x="143183" y="0"/>
                      </a:lnTo>
                      <a:close/>
                    </a:path>
                  </a:pathLst>
                </a:custGeom>
                <a:solidFill>
                  <a:srgbClr val="92D050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41" name="object 41"/>
                <p:cNvSpPr/>
                <p:nvPr/>
              </p:nvSpPr>
              <p:spPr>
                <a:xfrm>
                  <a:off x="9669635" y="1479669"/>
                  <a:ext cx="143510" cy="23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509" h="238125">
                      <a:moveTo>
                        <a:pt x="0" y="0"/>
                      </a:moveTo>
                      <a:lnTo>
                        <a:pt x="143184" y="0"/>
                      </a:lnTo>
                      <a:lnTo>
                        <a:pt x="143184" y="238129"/>
                      </a:lnTo>
                      <a:lnTo>
                        <a:pt x="0" y="2381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9525">
                  <a:solidFill>
                    <a:srgbClr val="175E54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42" name="object 42"/>
                <p:cNvSpPr/>
                <p:nvPr/>
              </p:nvSpPr>
              <p:spPr>
                <a:xfrm>
                  <a:off x="9812332" y="1396268"/>
                  <a:ext cx="143510" cy="3219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509" h="321944">
                      <a:moveTo>
                        <a:pt x="143183" y="0"/>
                      </a:moveTo>
                      <a:lnTo>
                        <a:pt x="0" y="0"/>
                      </a:lnTo>
                      <a:lnTo>
                        <a:pt x="0" y="321530"/>
                      </a:lnTo>
                      <a:lnTo>
                        <a:pt x="143183" y="321530"/>
                      </a:lnTo>
                      <a:lnTo>
                        <a:pt x="143183" y="0"/>
                      </a:lnTo>
                      <a:close/>
                    </a:path>
                  </a:pathLst>
                </a:custGeom>
                <a:solidFill>
                  <a:srgbClr val="92D050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43" name="object 43"/>
                <p:cNvSpPr/>
                <p:nvPr/>
              </p:nvSpPr>
              <p:spPr>
                <a:xfrm>
                  <a:off x="9812332" y="1396268"/>
                  <a:ext cx="143510" cy="3219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509" h="321944">
                      <a:moveTo>
                        <a:pt x="0" y="0"/>
                      </a:moveTo>
                      <a:lnTo>
                        <a:pt x="143184" y="0"/>
                      </a:lnTo>
                      <a:lnTo>
                        <a:pt x="143184" y="321531"/>
                      </a:lnTo>
                      <a:lnTo>
                        <a:pt x="0" y="32153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9525">
                  <a:solidFill>
                    <a:srgbClr val="175E54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44" name="object 44"/>
                <p:cNvSpPr/>
                <p:nvPr/>
              </p:nvSpPr>
              <p:spPr>
                <a:xfrm>
                  <a:off x="9955026" y="1661887"/>
                  <a:ext cx="143510" cy="565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509" h="56514">
                      <a:moveTo>
                        <a:pt x="143183" y="0"/>
                      </a:moveTo>
                      <a:lnTo>
                        <a:pt x="0" y="0"/>
                      </a:lnTo>
                      <a:lnTo>
                        <a:pt x="0" y="55911"/>
                      </a:lnTo>
                      <a:lnTo>
                        <a:pt x="143183" y="55911"/>
                      </a:lnTo>
                      <a:lnTo>
                        <a:pt x="143183" y="0"/>
                      </a:lnTo>
                      <a:close/>
                    </a:path>
                  </a:pathLst>
                </a:custGeom>
                <a:solidFill>
                  <a:srgbClr val="92D050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45" name="object 45"/>
                <p:cNvSpPr/>
                <p:nvPr/>
              </p:nvSpPr>
              <p:spPr>
                <a:xfrm>
                  <a:off x="9955026" y="1661887"/>
                  <a:ext cx="143510" cy="565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509" h="56514">
                      <a:moveTo>
                        <a:pt x="0" y="0"/>
                      </a:moveTo>
                      <a:lnTo>
                        <a:pt x="143184" y="0"/>
                      </a:lnTo>
                      <a:lnTo>
                        <a:pt x="143184" y="55911"/>
                      </a:lnTo>
                      <a:lnTo>
                        <a:pt x="0" y="5591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9525">
                  <a:solidFill>
                    <a:srgbClr val="175E54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46" name="object 46"/>
                <p:cNvSpPr/>
                <p:nvPr/>
              </p:nvSpPr>
              <p:spPr>
                <a:xfrm>
                  <a:off x="8385361" y="1761524"/>
                  <a:ext cx="171323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3229" h="76200">
                      <a:moveTo>
                        <a:pt x="76200" y="0"/>
                      </a:moveTo>
                      <a:lnTo>
                        <a:pt x="0" y="38100"/>
                      </a:lnTo>
                      <a:lnTo>
                        <a:pt x="76200" y="76200"/>
                      </a:lnTo>
                      <a:lnTo>
                        <a:pt x="76200" y="47625"/>
                      </a:lnTo>
                      <a:lnTo>
                        <a:pt x="63500" y="47625"/>
                      </a:lnTo>
                      <a:lnTo>
                        <a:pt x="63500" y="28575"/>
                      </a:lnTo>
                      <a:lnTo>
                        <a:pt x="76200" y="28575"/>
                      </a:lnTo>
                      <a:lnTo>
                        <a:pt x="76200" y="0"/>
                      </a:lnTo>
                      <a:close/>
                    </a:path>
                    <a:path w="1713229" h="76200">
                      <a:moveTo>
                        <a:pt x="1636649" y="0"/>
                      </a:moveTo>
                      <a:lnTo>
                        <a:pt x="1636649" y="76200"/>
                      </a:lnTo>
                      <a:lnTo>
                        <a:pt x="1693799" y="47625"/>
                      </a:lnTo>
                      <a:lnTo>
                        <a:pt x="1649349" y="47625"/>
                      </a:lnTo>
                      <a:lnTo>
                        <a:pt x="1649349" y="28575"/>
                      </a:lnTo>
                      <a:lnTo>
                        <a:pt x="1693799" y="28575"/>
                      </a:lnTo>
                      <a:lnTo>
                        <a:pt x="1636649" y="0"/>
                      </a:lnTo>
                      <a:close/>
                    </a:path>
                    <a:path w="1713229" h="76200">
                      <a:moveTo>
                        <a:pt x="76200" y="28575"/>
                      </a:moveTo>
                      <a:lnTo>
                        <a:pt x="63500" y="28575"/>
                      </a:lnTo>
                      <a:lnTo>
                        <a:pt x="63500" y="47625"/>
                      </a:lnTo>
                      <a:lnTo>
                        <a:pt x="76200" y="47625"/>
                      </a:lnTo>
                      <a:lnTo>
                        <a:pt x="76200" y="28575"/>
                      </a:lnTo>
                      <a:close/>
                    </a:path>
                    <a:path w="1713229" h="76200">
                      <a:moveTo>
                        <a:pt x="1636649" y="28575"/>
                      </a:moveTo>
                      <a:lnTo>
                        <a:pt x="76200" y="28575"/>
                      </a:lnTo>
                      <a:lnTo>
                        <a:pt x="76200" y="47625"/>
                      </a:lnTo>
                      <a:lnTo>
                        <a:pt x="1636649" y="47625"/>
                      </a:lnTo>
                      <a:lnTo>
                        <a:pt x="1636649" y="28575"/>
                      </a:lnTo>
                      <a:close/>
                    </a:path>
                    <a:path w="1713229" h="76200">
                      <a:moveTo>
                        <a:pt x="1693799" y="28575"/>
                      </a:moveTo>
                      <a:lnTo>
                        <a:pt x="1649349" y="28575"/>
                      </a:lnTo>
                      <a:lnTo>
                        <a:pt x="1649349" y="47625"/>
                      </a:lnTo>
                      <a:lnTo>
                        <a:pt x="1693799" y="47625"/>
                      </a:lnTo>
                      <a:lnTo>
                        <a:pt x="1712849" y="38100"/>
                      </a:lnTo>
                      <a:lnTo>
                        <a:pt x="1693799" y="28575"/>
                      </a:lnTo>
                      <a:close/>
                    </a:path>
                  </a:pathLst>
                </a:custGeom>
                <a:solidFill>
                  <a:srgbClr val="175E54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pic>
              <p:nvPicPr>
                <p:cNvPr id="47" name="object 47"/>
                <p:cNvPicPr/>
                <p:nvPr/>
              </p:nvPicPr>
              <p:blipFill>
                <a:blip r:embed="rId10" cstate="print"/>
                <a:stretch>
                  <a:fillRect/>
                </a:stretch>
              </p:blipFill>
              <p:spPr>
                <a:xfrm>
                  <a:off x="9417733" y="954994"/>
                  <a:ext cx="76200" cy="233111"/>
                </a:xfrm>
                <a:prstGeom prst="rect">
                  <a:avLst/>
                </a:prstGeom>
              </p:spPr>
            </p:pic>
          </p:grpSp>
          <p:grpSp>
            <p:nvGrpSpPr>
              <p:cNvPr id="48" name="object 48"/>
              <p:cNvGrpSpPr/>
              <p:nvPr/>
            </p:nvGrpSpPr>
            <p:grpSpPr>
              <a:xfrm>
                <a:off x="4792447" y="1917292"/>
                <a:ext cx="5109210" cy="3733800"/>
                <a:chOff x="4792447" y="1917292"/>
                <a:chExt cx="5109210" cy="3733800"/>
              </a:xfrm>
            </p:grpSpPr>
            <p:pic>
              <p:nvPicPr>
                <p:cNvPr id="49" name="object 49"/>
                <p:cNvPicPr/>
                <p:nvPr/>
              </p:nvPicPr>
              <p:blipFill>
                <a:blip r:embed="rId11" cstate="print"/>
                <a:stretch>
                  <a:fillRect/>
                </a:stretch>
              </p:blipFill>
              <p:spPr>
                <a:xfrm>
                  <a:off x="6831717" y="4548785"/>
                  <a:ext cx="348939" cy="224261"/>
                </a:xfrm>
                <a:prstGeom prst="rect">
                  <a:avLst/>
                </a:prstGeom>
              </p:spPr>
            </p:pic>
            <p:pic>
              <p:nvPicPr>
                <p:cNvPr id="50" name="object 50"/>
                <p:cNvPicPr/>
                <p:nvPr/>
              </p:nvPicPr>
              <p:blipFill>
                <a:blip r:embed="rId12" cstate="print"/>
                <a:stretch>
                  <a:fillRect/>
                </a:stretch>
              </p:blipFill>
              <p:spPr>
                <a:xfrm>
                  <a:off x="7312567" y="4328914"/>
                  <a:ext cx="165353" cy="157194"/>
                </a:xfrm>
                <a:prstGeom prst="rect">
                  <a:avLst/>
                </a:prstGeom>
              </p:spPr>
            </p:pic>
            <p:pic>
              <p:nvPicPr>
                <p:cNvPr id="51" name="object 51"/>
                <p:cNvPicPr/>
                <p:nvPr/>
              </p:nvPicPr>
              <p:blipFill>
                <a:blip r:embed="rId13" cstate="print"/>
                <a:stretch>
                  <a:fillRect/>
                </a:stretch>
              </p:blipFill>
              <p:spPr>
                <a:xfrm>
                  <a:off x="7312567" y="4536130"/>
                  <a:ext cx="165353" cy="157194"/>
                </a:xfrm>
                <a:prstGeom prst="rect">
                  <a:avLst/>
                </a:prstGeom>
              </p:spPr>
            </p:pic>
            <p:pic>
              <p:nvPicPr>
                <p:cNvPr id="52" name="object 52"/>
                <p:cNvPicPr/>
                <p:nvPr/>
              </p:nvPicPr>
              <p:blipFill>
                <a:blip r:embed="rId12" cstate="print"/>
                <a:stretch>
                  <a:fillRect/>
                </a:stretch>
              </p:blipFill>
              <p:spPr>
                <a:xfrm>
                  <a:off x="7312567" y="4743345"/>
                  <a:ext cx="165353" cy="157194"/>
                </a:xfrm>
                <a:prstGeom prst="rect">
                  <a:avLst/>
                </a:prstGeom>
              </p:spPr>
            </p:pic>
            <p:pic>
              <p:nvPicPr>
                <p:cNvPr id="53" name="object 53"/>
                <p:cNvPicPr/>
                <p:nvPr/>
              </p:nvPicPr>
              <p:blipFill>
                <a:blip r:embed="rId13" cstate="print"/>
                <a:stretch>
                  <a:fillRect/>
                </a:stretch>
              </p:blipFill>
              <p:spPr>
                <a:xfrm>
                  <a:off x="7312567" y="4950561"/>
                  <a:ext cx="165353" cy="157194"/>
                </a:xfrm>
                <a:prstGeom prst="rect">
                  <a:avLst/>
                </a:prstGeom>
              </p:spPr>
            </p:pic>
            <p:sp>
              <p:nvSpPr>
                <p:cNvPr id="54" name="object 54"/>
                <p:cNvSpPr/>
                <p:nvPr/>
              </p:nvSpPr>
              <p:spPr>
                <a:xfrm>
                  <a:off x="7206876" y="4246573"/>
                  <a:ext cx="365760" cy="9569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5759" h="956945">
                      <a:moveTo>
                        <a:pt x="304798" y="0"/>
                      </a:moveTo>
                      <a:lnTo>
                        <a:pt x="328527" y="4790"/>
                      </a:lnTo>
                      <a:lnTo>
                        <a:pt x="347904" y="17855"/>
                      </a:lnTo>
                      <a:lnTo>
                        <a:pt x="360969" y="37232"/>
                      </a:lnTo>
                      <a:lnTo>
                        <a:pt x="365760" y="60961"/>
                      </a:lnTo>
                      <a:lnTo>
                        <a:pt x="365760" y="895642"/>
                      </a:lnTo>
                      <a:lnTo>
                        <a:pt x="360969" y="919371"/>
                      </a:lnTo>
                      <a:lnTo>
                        <a:pt x="347904" y="938748"/>
                      </a:lnTo>
                      <a:lnTo>
                        <a:pt x="328527" y="951813"/>
                      </a:lnTo>
                      <a:lnTo>
                        <a:pt x="304798" y="956604"/>
                      </a:lnTo>
                      <a:lnTo>
                        <a:pt x="60961" y="956604"/>
                      </a:lnTo>
                      <a:lnTo>
                        <a:pt x="37232" y="951813"/>
                      </a:lnTo>
                      <a:lnTo>
                        <a:pt x="17855" y="938748"/>
                      </a:lnTo>
                      <a:lnTo>
                        <a:pt x="4790" y="919371"/>
                      </a:lnTo>
                      <a:lnTo>
                        <a:pt x="0" y="895642"/>
                      </a:lnTo>
                      <a:lnTo>
                        <a:pt x="0" y="60961"/>
                      </a:lnTo>
                      <a:lnTo>
                        <a:pt x="4790" y="37232"/>
                      </a:lnTo>
                      <a:lnTo>
                        <a:pt x="17855" y="17855"/>
                      </a:lnTo>
                      <a:lnTo>
                        <a:pt x="37232" y="4790"/>
                      </a:lnTo>
                      <a:lnTo>
                        <a:pt x="60961" y="0"/>
                      </a:lnTo>
                      <a:lnTo>
                        <a:pt x="304798" y="0"/>
                      </a:lnTo>
                      <a:close/>
                    </a:path>
                  </a:pathLst>
                </a:custGeom>
                <a:ln w="19050">
                  <a:solidFill>
                    <a:srgbClr val="610059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55" name="object 55"/>
                <p:cNvSpPr/>
                <p:nvPr/>
              </p:nvSpPr>
              <p:spPr>
                <a:xfrm>
                  <a:off x="7334429" y="5203133"/>
                  <a:ext cx="111125" cy="43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438150">
                      <a:moveTo>
                        <a:pt x="55327" y="37807"/>
                      </a:moveTo>
                      <a:lnTo>
                        <a:pt x="45802" y="54135"/>
                      </a:lnTo>
                      <a:lnTo>
                        <a:pt x="45802" y="438106"/>
                      </a:lnTo>
                      <a:lnTo>
                        <a:pt x="64852" y="438106"/>
                      </a:lnTo>
                      <a:lnTo>
                        <a:pt x="64852" y="54135"/>
                      </a:lnTo>
                      <a:lnTo>
                        <a:pt x="55327" y="37807"/>
                      </a:lnTo>
                      <a:close/>
                    </a:path>
                    <a:path w="111125" h="438150">
                      <a:moveTo>
                        <a:pt x="55327" y="0"/>
                      </a:moveTo>
                      <a:lnTo>
                        <a:pt x="0" y="94848"/>
                      </a:lnTo>
                      <a:lnTo>
                        <a:pt x="1533" y="100680"/>
                      </a:lnTo>
                      <a:lnTo>
                        <a:pt x="10621" y="105981"/>
                      </a:lnTo>
                      <a:lnTo>
                        <a:pt x="16453" y="104446"/>
                      </a:lnTo>
                      <a:lnTo>
                        <a:pt x="45802" y="54136"/>
                      </a:lnTo>
                      <a:lnTo>
                        <a:pt x="45802" y="18903"/>
                      </a:lnTo>
                      <a:lnTo>
                        <a:pt x="66354" y="18903"/>
                      </a:lnTo>
                      <a:lnTo>
                        <a:pt x="55327" y="0"/>
                      </a:lnTo>
                      <a:close/>
                    </a:path>
                    <a:path w="111125" h="438150">
                      <a:moveTo>
                        <a:pt x="66354" y="18903"/>
                      </a:moveTo>
                      <a:lnTo>
                        <a:pt x="64852" y="18903"/>
                      </a:lnTo>
                      <a:lnTo>
                        <a:pt x="64852" y="54136"/>
                      </a:lnTo>
                      <a:lnTo>
                        <a:pt x="94200" y="104447"/>
                      </a:lnTo>
                      <a:lnTo>
                        <a:pt x="100032" y="105981"/>
                      </a:lnTo>
                      <a:lnTo>
                        <a:pt x="109120" y="100680"/>
                      </a:lnTo>
                      <a:lnTo>
                        <a:pt x="110655" y="94847"/>
                      </a:lnTo>
                      <a:lnTo>
                        <a:pt x="66354" y="18903"/>
                      </a:lnTo>
                      <a:close/>
                    </a:path>
                    <a:path w="111125" h="438150">
                      <a:moveTo>
                        <a:pt x="64852" y="18903"/>
                      </a:moveTo>
                      <a:lnTo>
                        <a:pt x="45802" y="18903"/>
                      </a:lnTo>
                      <a:lnTo>
                        <a:pt x="45802" y="54136"/>
                      </a:lnTo>
                      <a:lnTo>
                        <a:pt x="55327" y="37807"/>
                      </a:lnTo>
                      <a:lnTo>
                        <a:pt x="47100" y="23703"/>
                      </a:lnTo>
                      <a:lnTo>
                        <a:pt x="64852" y="23703"/>
                      </a:lnTo>
                      <a:lnTo>
                        <a:pt x="64852" y="18903"/>
                      </a:lnTo>
                      <a:close/>
                    </a:path>
                    <a:path w="111125" h="438150">
                      <a:moveTo>
                        <a:pt x="64852" y="23703"/>
                      </a:moveTo>
                      <a:lnTo>
                        <a:pt x="63555" y="23703"/>
                      </a:lnTo>
                      <a:lnTo>
                        <a:pt x="55327" y="37807"/>
                      </a:lnTo>
                      <a:lnTo>
                        <a:pt x="64852" y="54135"/>
                      </a:lnTo>
                      <a:lnTo>
                        <a:pt x="64852" y="23703"/>
                      </a:lnTo>
                      <a:close/>
                    </a:path>
                    <a:path w="111125" h="438150">
                      <a:moveTo>
                        <a:pt x="63555" y="23703"/>
                      </a:moveTo>
                      <a:lnTo>
                        <a:pt x="47100" y="23703"/>
                      </a:lnTo>
                      <a:lnTo>
                        <a:pt x="55327" y="37807"/>
                      </a:lnTo>
                      <a:lnTo>
                        <a:pt x="63555" y="23703"/>
                      </a:lnTo>
                      <a:close/>
                    </a:path>
                  </a:pathLst>
                </a:custGeom>
                <a:solidFill>
                  <a:srgbClr val="7F7F7F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pic>
              <p:nvPicPr>
                <p:cNvPr id="56" name="object 56"/>
                <p:cNvPicPr/>
                <p:nvPr/>
              </p:nvPicPr>
              <p:blipFill>
                <a:blip r:embed="rId14" cstate="print"/>
                <a:stretch>
                  <a:fillRect/>
                </a:stretch>
              </p:blipFill>
              <p:spPr>
                <a:xfrm>
                  <a:off x="7414134" y="5317078"/>
                  <a:ext cx="236000" cy="278166"/>
                </a:xfrm>
                <a:prstGeom prst="rect">
                  <a:avLst/>
                </a:prstGeom>
              </p:spPr>
            </p:pic>
            <p:pic>
              <p:nvPicPr>
                <p:cNvPr id="57" name="object 57"/>
                <p:cNvPicPr/>
                <p:nvPr/>
              </p:nvPicPr>
              <p:blipFill>
                <a:blip r:embed="rId15" cstate="print"/>
                <a:stretch>
                  <a:fillRect/>
                </a:stretch>
              </p:blipFill>
              <p:spPr>
                <a:xfrm>
                  <a:off x="7440183" y="3966938"/>
                  <a:ext cx="327652" cy="198835"/>
                </a:xfrm>
                <a:prstGeom prst="rect">
                  <a:avLst/>
                </a:prstGeom>
              </p:spPr>
            </p:pic>
            <p:sp>
              <p:nvSpPr>
                <p:cNvPr id="58" name="object 58"/>
                <p:cNvSpPr/>
                <p:nvPr/>
              </p:nvSpPr>
              <p:spPr>
                <a:xfrm>
                  <a:off x="7334427" y="3819584"/>
                  <a:ext cx="111125" cy="427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427354">
                      <a:moveTo>
                        <a:pt x="55327" y="37806"/>
                      </a:moveTo>
                      <a:lnTo>
                        <a:pt x="45802" y="54135"/>
                      </a:lnTo>
                      <a:lnTo>
                        <a:pt x="45801" y="426987"/>
                      </a:lnTo>
                      <a:lnTo>
                        <a:pt x="64851" y="426987"/>
                      </a:lnTo>
                      <a:lnTo>
                        <a:pt x="64852" y="54135"/>
                      </a:lnTo>
                      <a:lnTo>
                        <a:pt x="55327" y="37806"/>
                      </a:lnTo>
                      <a:close/>
                    </a:path>
                    <a:path w="111125" h="427354">
                      <a:moveTo>
                        <a:pt x="55327" y="0"/>
                      </a:moveTo>
                      <a:lnTo>
                        <a:pt x="0" y="94848"/>
                      </a:lnTo>
                      <a:lnTo>
                        <a:pt x="1534" y="100680"/>
                      </a:lnTo>
                      <a:lnTo>
                        <a:pt x="10622" y="105981"/>
                      </a:lnTo>
                      <a:lnTo>
                        <a:pt x="16454" y="104447"/>
                      </a:lnTo>
                      <a:lnTo>
                        <a:pt x="45802" y="54135"/>
                      </a:lnTo>
                      <a:lnTo>
                        <a:pt x="45802" y="18903"/>
                      </a:lnTo>
                      <a:lnTo>
                        <a:pt x="66354" y="18903"/>
                      </a:lnTo>
                      <a:lnTo>
                        <a:pt x="55327" y="0"/>
                      </a:lnTo>
                      <a:close/>
                    </a:path>
                    <a:path w="111125" h="427354">
                      <a:moveTo>
                        <a:pt x="66354" y="18903"/>
                      </a:moveTo>
                      <a:lnTo>
                        <a:pt x="64852" y="18903"/>
                      </a:lnTo>
                      <a:lnTo>
                        <a:pt x="64852" y="54135"/>
                      </a:lnTo>
                      <a:lnTo>
                        <a:pt x="94200" y="104447"/>
                      </a:lnTo>
                      <a:lnTo>
                        <a:pt x="100032" y="105981"/>
                      </a:lnTo>
                      <a:lnTo>
                        <a:pt x="109120" y="100680"/>
                      </a:lnTo>
                      <a:lnTo>
                        <a:pt x="110655" y="94848"/>
                      </a:lnTo>
                      <a:lnTo>
                        <a:pt x="66354" y="18903"/>
                      </a:lnTo>
                      <a:close/>
                    </a:path>
                    <a:path w="111125" h="427354">
                      <a:moveTo>
                        <a:pt x="64852" y="18903"/>
                      </a:moveTo>
                      <a:lnTo>
                        <a:pt x="45802" y="18903"/>
                      </a:lnTo>
                      <a:lnTo>
                        <a:pt x="45802" y="54135"/>
                      </a:lnTo>
                      <a:lnTo>
                        <a:pt x="55327" y="37806"/>
                      </a:lnTo>
                      <a:lnTo>
                        <a:pt x="47100" y="23703"/>
                      </a:lnTo>
                      <a:lnTo>
                        <a:pt x="64852" y="23703"/>
                      </a:lnTo>
                      <a:lnTo>
                        <a:pt x="64852" y="18903"/>
                      </a:lnTo>
                      <a:close/>
                    </a:path>
                    <a:path w="111125" h="427354">
                      <a:moveTo>
                        <a:pt x="64852" y="23703"/>
                      </a:moveTo>
                      <a:lnTo>
                        <a:pt x="63554" y="23703"/>
                      </a:lnTo>
                      <a:lnTo>
                        <a:pt x="55327" y="37806"/>
                      </a:lnTo>
                      <a:lnTo>
                        <a:pt x="64852" y="54135"/>
                      </a:lnTo>
                      <a:lnTo>
                        <a:pt x="64852" y="23703"/>
                      </a:lnTo>
                      <a:close/>
                    </a:path>
                    <a:path w="111125" h="427354">
                      <a:moveTo>
                        <a:pt x="63554" y="23703"/>
                      </a:moveTo>
                      <a:lnTo>
                        <a:pt x="47100" y="23703"/>
                      </a:lnTo>
                      <a:lnTo>
                        <a:pt x="55327" y="37806"/>
                      </a:lnTo>
                      <a:lnTo>
                        <a:pt x="63554" y="23703"/>
                      </a:lnTo>
                      <a:close/>
                    </a:path>
                  </a:pathLst>
                </a:custGeom>
                <a:solidFill>
                  <a:srgbClr val="7F7F7F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pic>
              <p:nvPicPr>
                <p:cNvPr id="59" name="object 59"/>
                <p:cNvPicPr/>
                <p:nvPr/>
              </p:nvPicPr>
              <p:blipFill>
                <a:blip r:embed="rId16" cstate="print"/>
                <a:stretch>
                  <a:fillRect/>
                </a:stretch>
              </p:blipFill>
              <p:spPr>
                <a:xfrm>
                  <a:off x="7312566" y="2840187"/>
                  <a:ext cx="165353" cy="173996"/>
                </a:xfrm>
                <a:prstGeom prst="rect">
                  <a:avLst/>
                </a:prstGeom>
              </p:spPr>
            </p:pic>
            <p:pic>
              <p:nvPicPr>
                <p:cNvPr id="60" name="object 60"/>
                <p:cNvPicPr/>
                <p:nvPr/>
              </p:nvPicPr>
              <p:blipFill>
                <a:blip r:embed="rId16" cstate="print"/>
                <a:stretch>
                  <a:fillRect/>
                </a:stretch>
              </p:blipFill>
              <p:spPr>
                <a:xfrm>
                  <a:off x="7312566" y="3072607"/>
                  <a:ext cx="165353" cy="173996"/>
                </a:xfrm>
                <a:prstGeom prst="rect">
                  <a:avLst/>
                </a:prstGeom>
              </p:spPr>
            </p:pic>
            <p:pic>
              <p:nvPicPr>
                <p:cNvPr id="61" name="object 61"/>
                <p:cNvPicPr/>
                <p:nvPr/>
              </p:nvPicPr>
              <p:blipFill>
                <a:blip r:embed="rId16" cstate="print"/>
                <a:stretch>
                  <a:fillRect/>
                </a:stretch>
              </p:blipFill>
              <p:spPr>
                <a:xfrm>
                  <a:off x="7312566" y="3305026"/>
                  <a:ext cx="165353" cy="173996"/>
                </a:xfrm>
                <a:prstGeom prst="rect">
                  <a:avLst/>
                </a:prstGeom>
              </p:spPr>
            </p:pic>
            <p:pic>
              <p:nvPicPr>
                <p:cNvPr id="62" name="object 62"/>
                <p:cNvPicPr/>
                <p:nvPr/>
              </p:nvPicPr>
              <p:blipFill>
                <a:blip r:embed="rId17" cstate="print"/>
                <a:stretch>
                  <a:fillRect/>
                </a:stretch>
              </p:blipFill>
              <p:spPr>
                <a:xfrm>
                  <a:off x="7312566" y="3537445"/>
                  <a:ext cx="165353" cy="173996"/>
                </a:xfrm>
                <a:prstGeom prst="rect">
                  <a:avLst/>
                </a:prstGeom>
              </p:spPr>
            </p:pic>
            <p:sp>
              <p:nvSpPr>
                <p:cNvPr id="63" name="object 63"/>
                <p:cNvSpPr/>
                <p:nvPr/>
              </p:nvSpPr>
              <p:spPr>
                <a:xfrm>
                  <a:off x="6507612" y="3227823"/>
                  <a:ext cx="699770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9770" h="111125">
                      <a:moveTo>
                        <a:pt x="604459" y="0"/>
                      </a:moveTo>
                      <a:lnTo>
                        <a:pt x="598625" y="1535"/>
                      </a:lnTo>
                      <a:lnTo>
                        <a:pt x="593324" y="10623"/>
                      </a:lnTo>
                      <a:lnTo>
                        <a:pt x="594859" y="16455"/>
                      </a:lnTo>
                      <a:lnTo>
                        <a:pt x="645170" y="45803"/>
                      </a:lnTo>
                      <a:lnTo>
                        <a:pt x="680402" y="45803"/>
                      </a:lnTo>
                      <a:lnTo>
                        <a:pt x="680402" y="64853"/>
                      </a:lnTo>
                      <a:lnTo>
                        <a:pt x="645170" y="64853"/>
                      </a:lnTo>
                      <a:lnTo>
                        <a:pt x="594859" y="94202"/>
                      </a:lnTo>
                      <a:lnTo>
                        <a:pt x="593324" y="100034"/>
                      </a:lnTo>
                      <a:lnTo>
                        <a:pt x="598625" y="109122"/>
                      </a:lnTo>
                      <a:lnTo>
                        <a:pt x="604457" y="110656"/>
                      </a:lnTo>
                      <a:lnTo>
                        <a:pt x="682977" y="64853"/>
                      </a:lnTo>
                      <a:lnTo>
                        <a:pt x="680402" y="64853"/>
                      </a:lnTo>
                      <a:lnTo>
                        <a:pt x="682979" y="64852"/>
                      </a:lnTo>
                      <a:lnTo>
                        <a:pt x="699306" y="55328"/>
                      </a:lnTo>
                      <a:lnTo>
                        <a:pt x="604459" y="0"/>
                      </a:lnTo>
                      <a:close/>
                    </a:path>
                    <a:path w="699770" h="111125">
                      <a:moveTo>
                        <a:pt x="661499" y="55328"/>
                      </a:moveTo>
                      <a:lnTo>
                        <a:pt x="645171" y="64853"/>
                      </a:lnTo>
                      <a:lnTo>
                        <a:pt x="680402" y="64853"/>
                      </a:lnTo>
                      <a:lnTo>
                        <a:pt x="680402" y="63555"/>
                      </a:lnTo>
                      <a:lnTo>
                        <a:pt x="675603" y="63555"/>
                      </a:lnTo>
                      <a:lnTo>
                        <a:pt x="661499" y="55328"/>
                      </a:lnTo>
                      <a:close/>
                    </a:path>
                    <a:path w="699770" h="111125">
                      <a:moveTo>
                        <a:pt x="0" y="45802"/>
                      </a:moveTo>
                      <a:lnTo>
                        <a:pt x="0" y="64852"/>
                      </a:lnTo>
                      <a:lnTo>
                        <a:pt x="645173" y="64852"/>
                      </a:lnTo>
                      <a:lnTo>
                        <a:pt x="661499" y="55328"/>
                      </a:lnTo>
                      <a:lnTo>
                        <a:pt x="645170" y="45803"/>
                      </a:lnTo>
                      <a:lnTo>
                        <a:pt x="0" y="45802"/>
                      </a:lnTo>
                      <a:close/>
                    </a:path>
                    <a:path w="699770" h="111125">
                      <a:moveTo>
                        <a:pt x="675603" y="47101"/>
                      </a:moveTo>
                      <a:lnTo>
                        <a:pt x="661499" y="55328"/>
                      </a:lnTo>
                      <a:lnTo>
                        <a:pt x="675603" y="63555"/>
                      </a:lnTo>
                      <a:lnTo>
                        <a:pt x="675603" y="47101"/>
                      </a:lnTo>
                      <a:close/>
                    </a:path>
                    <a:path w="699770" h="111125">
                      <a:moveTo>
                        <a:pt x="680402" y="47101"/>
                      </a:moveTo>
                      <a:lnTo>
                        <a:pt x="675603" y="47101"/>
                      </a:lnTo>
                      <a:lnTo>
                        <a:pt x="675603" y="63555"/>
                      </a:lnTo>
                      <a:lnTo>
                        <a:pt x="680402" y="63555"/>
                      </a:lnTo>
                      <a:lnTo>
                        <a:pt x="680402" y="47101"/>
                      </a:lnTo>
                      <a:close/>
                    </a:path>
                    <a:path w="699770" h="111125">
                      <a:moveTo>
                        <a:pt x="645170" y="45803"/>
                      </a:moveTo>
                      <a:lnTo>
                        <a:pt x="661499" y="55328"/>
                      </a:lnTo>
                      <a:lnTo>
                        <a:pt x="675603" y="47101"/>
                      </a:lnTo>
                      <a:lnTo>
                        <a:pt x="680402" y="47101"/>
                      </a:lnTo>
                      <a:lnTo>
                        <a:pt x="680402" y="45803"/>
                      </a:lnTo>
                      <a:lnTo>
                        <a:pt x="645170" y="45803"/>
                      </a:lnTo>
                      <a:close/>
                    </a:path>
                  </a:pathLst>
                </a:custGeom>
                <a:solidFill>
                  <a:srgbClr val="7F7F7F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pic>
              <p:nvPicPr>
                <p:cNvPr id="64" name="object 64"/>
                <p:cNvPicPr/>
                <p:nvPr/>
              </p:nvPicPr>
              <p:blipFill>
                <a:blip r:embed="rId18" cstate="print"/>
                <a:stretch>
                  <a:fillRect/>
                </a:stretch>
              </p:blipFill>
              <p:spPr>
                <a:xfrm>
                  <a:off x="6620960" y="2959374"/>
                  <a:ext cx="427375" cy="292169"/>
                </a:xfrm>
                <a:prstGeom prst="rect">
                  <a:avLst/>
                </a:prstGeom>
              </p:spPr>
            </p:pic>
            <p:pic>
              <p:nvPicPr>
                <p:cNvPr id="65" name="object 65"/>
                <p:cNvPicPr/>
                <p:nvPr/>
              </p:nvPicPr>
              <p:blipFill>
                <a:blip r:embed="rId19" cstate="print"/>
                <a:stretch>
                  <a:fillRect/>
                </a:stretch>
              </p:blipFill>
              <p:spPr>
                <a:xfrm>
                  <a:off x="6988628" y="2510942"/>
                  <a:ext cx="335287" cy="219456"/>
                </a:xfrm>
                <a:prstGeom prst="rect">
                  <a:avLst/>
                </a:prstGeom>
              </p:spPr>
            </p:pic>
            <p:sp>
              <p:nvSpPr>
                <p:cNvPr id="66" name="object 66"/>
                <p:cNvSpPr/>
                <p:nvPr/>
              </p:nvSpPr>
              <p:spPr>
                <a:xfrm>
                  <a:off x="7206874" y="2746673"/>
                  <a:ext cx="365760" cy="1073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5759" h="1073150">
                      <a:moveTo>
                        <a:pt x="304798" y="0"/>
                      </a:moveTo>
                      <a:lnTo>
                        <a:pt x="328527" y="4790"/>
                      </a:lnTo>
                      <a:lnTo>
                        <a:pt x="347904" y="17855"/>
                      </a:lnTo>
                      <a:lnTo>
                        <a:pt x="360969" y="37232"/>
                      </a:lnTo>
                      <a:lnTo>
                        <a:pt x="365760" y="60961"/>
                      </a:lnTo>
                      <a:lnTo>
                        <a:pt x="365760" y="1011994"/>
                      </a:lnTo>
                      <a:lnTo>
                        <a:pt x="360969" y="1035723"/>
                      </a:lnTo>
                      <a:lnTo>
                        <a:pt x="347904" y="1055100"/>
                      </a:lnTo>
                      <a:lnTo>
                        <a:pt x="328527" y="1068165"/>
                      </a:lnTo>
                      <a:lnTo>
                        <a:pt x="304798" y="1072956"/>
                      </a:lnTo>
                      <a:lnTo>
                        <a:pt x="60961" y="1072956"/>
                      </a:lnTo>
                      <a:lnTo>
                        <a:pt x="37232" y="1068165"/>
                      </a:lnTo>
                      <a:lnTo>
                        <a:pt x="17855" y="1055100"/>
                      </a:lnTo>
                      <a:lnTo>
                        <a:pt x="4790" y="1035723"/>
                      </a:lnTo>
                      <a:lnTo>
                        <a:pt x="0" y="1011994"/>
                      </a:lnTo>
                      <a:lnTo>
                        <a:pt x="0" y="60961"/>
                      </a:lnTo>
                      <a:lnTo>
                        <a:pt x="4790" y="37232"/>
                      </a:lnTo>
                      <a:lnTo>
                        <a:pt x="17855" y="17855"/>
                      </a:lnTo>
                      <a:lnTo>
                        <a:pt x="37232" y="4790"/>
                      </a:lnTo>
                      <a:lnTo>
                        <a:pt x="60961" y="0"/>
                      </a:lnTo>
                      <a:lnTo>
                        <a:pt x="304798" y="0"/>
                      </a:lnTo>
                      <a:close/>
                    </a:path>
                  </a:pathLst>
                </a:custGeom>
                <a:ln w="19050">
                  <a:solidFill>
                    <a:srgbClr val="8C1515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pic>
              <p:nvPicPr>
                <p:cNvPr id="67" name="object 67"/>
                <p:cNvPicPr/>
                <p:nvPr/>
              </p:nvPicPr>
              <p:blipFill>
                <a:blip r:embed="rId20" cstate="print"/>
                <a:stretch>
                  <a:fillRect/>
                </a:stretch>
              </p:blipFill>
              <p:spPr>
                <a:xfrm>
                  <a:off x="8036933" y="2510942"/>
                  <a:ext cx="368519" cy="219456"/>
                </a:xfrm>
                <a:prstGeom prst="rect">
                  <a:avLst/>
                </a:prstGeom>
              </p:spPr>
            </p:pic>
            <p:sp>
              <p:nvSpPr>
                <p:cNvPr id="68" name="object 68"/>
                <p:cNvSpPr/>
                <p:nvPr/>
              </p:nvSpPr>
              <p:spPr>
                <a:xfrm>
                  <a:off x="8264133" y="2755918"/>
                  <a:ext cx="365760" cy="1073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5759" h="1073150">
                      <a:moveTo>
                        <a:pt x="304798" y="0"/>
                      </a:moveTo>
                      <a:lnTo>
                        <a:pt x="328527" y="4790"/>
                      </a:lnTo>
                      <a:lnTo>
                        <a:pt x="347904" y="17855"/>
                      </a:lnTo>
                      <a:lnTo>
                        <a:pt x="360969" y="37232"/>
                      </a:lnTo>
                      <a:lnTo>
                        <a:pt x="365760" y="60961"/>
                      </a:lnTo>
                      <a:lnTo>
                        <a:pt x="365760" y="1011994"/>
                      </a:lnTo>
                      <a:lnTo>
                        <a:pt x="360969" y="1035723"/>
                      </a:lnTo>
                      <a:lnTo>
                        <a:pt x="347904" y="1055100"/>
                      </a:lnTo>
                      <a:lnTo>
                        <a:pt x="328527" y="1068165"/>
                      </a:lnTo>
                      <a:lnTo>
                        <a:pt x="304798" y="1072956"/>
                      </a:lnTo>
                      <a:lnTo>
                        <a:pt x="60961" y="1072956"/>
                      </a:lnTo>
                      <a:lnTo>
                        <a:pt x="37232" y="1068165"/>
                      </a:lnTo>
                      <a:lnTo>
                        <a:pt x="17855" y="1055100"/>
                      </a:lnTo>
                      <a:lnTo>
                        <a:pt x="4790" y="1035723"/>
                      </a:lnTo>
                      <a:lnTo>
                        <a:pt x="0" y="1011994"/>
                      </a:lnTo>
                      <a:lnTo>
                        <a:pt x="0" y="60961"/>
                      </a:lnTo>
                      <a:lnTo>
                        <a:pt x="4790" y="37232"/>
                      </a:lnTo>
                      <a:lnTo>
                        <a:pt x="17855" y="17855"/>
                      </a:lnTo>
                      <a:lnTo>
                        <a:pt x="37232" y="4790"/>
                      </a:lnTo>
                      <a:lnTo>
                        <a:pt x="60961" y="0"/>
                      </a:lnTo>
                      <a:lnTo>
                        <a:pt x="304798" y="0"/>
                      </a:lnTo>
                      <a:close/>
                    </a:path>
                  </a:pathLst>
                </a:custGeom>
                <a:ln w="19050">
                  <a:solidFill>
                    <a:srgbClr val="8C1515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69" name="object 69"/>
                <p:cNvSpPr/>
                <p:nvPr/>
              </p:nvSpPr>
              <p:spPr>
                <a:xfrm>
                  <a:off x="7564870" y="3237069"/>
                  <a:ext cx="699770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9770" h="111125">
                      <a:moveTo>
                        <a:pt x="661499" y="55328"/>
                      </a:moveTo>
                      <a:lnTo>
                        <a:pt x="594860" y="94200"/>
                      </a:lnTo>
                      <a:lnTo>
                        <a:pt x="593326" y="100032"/>
                      </a:lnTo>
                      <a:lnTo>
                        <a:pt x="598627" y="109120"/>
                      </a:lnTo>
                      <a:lnTo>
                        <a:pt x="604459" y="110656"/>
                      </a:lnTo>
                      <a:lnTo>
                        <a:pt x="682979" y="64852"/>
                      </a:lnTo>
                      <a:lnTo>
                        <a:pt x="680403" y="64852"/>
                      </a:lnTo>
                      <a:lnTo>
                        <a:pt x="680403" y="63555"/>
                      </a:lnTo>
                      <a:lnTo>
                        <a:pt x="675604" y="63555"/>
                      </a:lnTo>
                      <a:lnTo>
                        <a:pt x="661499" y="55328"/>
                      </a:lnTo>
                      <a:close/>
                    </a:path>
                    <a:path w="699770" h="111125">
                      <a:moveTo>
                        <a:pt x="645170" y="45802"/>
                      </a:moveTo>
                      <a:lnTo>
                        <a:pt x="0" y="45802"/>
                      </a:lnTo>
                      <a:lnTo>
                        <a:pt x="0" y="64852"/>
                      </a:lnTo>
                      <a:lnTo>
                        <a:pt x="645172" y="64852"/>
                      </a:lnTo>
                      <a:lnTo>
                        <a:pt x="661499" y="55328"/>
                      </a:lnTo>
                      <a:lnTo>
                        <a:pt x="645170" y="45802"/>
                      </a:lnTo>
                      <a:close/>
                    </a:path>
                    <a:path w="699770" h="111125">
                      <a:moveTo>
                        <a:pt x="682978" y="45802"/>
                      </a:moveTo>
                      <a:lnTo>
                        <a:pt x="680403" y="45802"/>
                      </a:lnTo>
                      <a:lnTo>
                        <a:pt x="680403" y="64852"/>
                      </a:lnTo>
                      <a:lnTo>
                        <a:pt x="682979" y="64852"/>
                      </a:lnTo>
                      <a:lnTo>
                        <a:pt x="699307" y="55327"/>
                      </a:lnTo>
                      <a:lnTo>
                        <a:pt x="682978" y="45802"/>
                      </a:lnTo>
                      <a:close/>
                    </a:path>
                    <a:path w="699770" h="111125">
                      <a:moveTo>
                        <a:pt x="675604" y="47100"/>
                      </a:moveTo>
                      <a:lnTo>
                        <a:pt x="661499" y="55328"/>
                      </a:lnTo>
                      <a:lnTo>
                        <a:pt x="675604" y="63555"/>
                      </a:lnTo>
                      <a:lnTo>
                        <a:pt x="675604" y="47100"/>
                      </a:lnTo>
                      <a:close/>
                    </a:path>
                    <a:path w="699770" h="111125">
                      <a:moveTo>
                        <a:pt x="680403" y="47100"/>
                      </a:moveTo>
                      <a:lnTo>
                        <a:pt x="675604" y="47100"/>
                      </a:lnTo>
                      <a:lnTo>
                        <a:pt x="675604" y="63555"/>
                      </a:lnTo>
                      <a:lnTo>
                        <a:pt x="680403" y="63555"/>
                      </a:lnTo>
                      <a:lnTo>
                        <a:pt x="680403" y="47100"/>
                      </a:lnTo>
                      <a:close/>
                    </a:path>
                    <a:path w="699770" h="111125">
                      <a:moveTo>
                        <a:pt x="604459" y="0"/>
                      </a:moveTo>
                      <a:lnTo>
                        <a:pt x="598627" y="1534"/>
                      </a:lnTo>
                      <a:lnTo>
                        <a:pt x="593326" y="10622"/>
                      </a:lnTo>
                      <a:lnTo>
                        <a:pt x="594860" y="16454"/>
                      </a:lnTo>
                      <a:lnTo>
                        <a:pt x="661500" y="55327"/>
                      </a:lnTo>
                      <a:lnTo>
                        <a:pt x="675604" y="47100"/>
                      </a:lnTo>
                      <a:lnTo>
                        <a:pt x="680403" y="47100"/>
                      </a:lnTo>
                      <a:lnTo>
                        <a:pt x="680403" y="45802"/>
                      </a:lnTo>
                      <a:lnTo>
                        <a:pt x="682978" y="45802"/>
                      </a:lnTo>
                      <a:lnTo>
                        <a:pt x="604459" y="0"/>
                      </a:lnTo>
                      <a:close/>
                    </a:path>
                  </a:pathLst>
                </a:custGeom>
                <a:solidFill>
                  <a:srgbClr val="7F7F7F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pic>
              <p:nvPicPr>
                <p:cNvPr id="70" name="object 70"/>
                <p:cNvPicPr/>
                <p:nvPr/>
              </p:nvPicPr>
              <p:blipFill>
                <a:blip r:embed="rId18" cstate="print"/>
                <a:stretch>
                  <a:fillRect/>
                </a:stretch>
              </p:blipFill>
              <p:spPr>
                <a:xfrm>
                  <a:off x="7678219" y="2959374"/>
                  <a:ext cx="427376" cy="292169"/>
                </a:xfrm>
                <a:prstGeom prst="rect">
                  <a:avLst/>
                </a:prstGeom>
              </p:spPr>
            </p:pic>
            <p:pic>
              <p:nvPicPr>
                <p:cNvPr id="71" name="object 71"/>
                <p:cNvPicPr/>
                <p:nvPr/>
              </p:nvPicPr>
              <p:blipFill>
                <a:blip r:embed="rId21" cstate="print"/>
                <a:stretch>
                  <a:fillRect/>
                </a:stretch>
              </p:blipFill>
              <p:spPr>
                <a:xfrm>
                  <a:off x="7894935" y="4548785"/>
                  <a:ext cx="350761" cy="224261"/>
                </a:xfrm>
                <a:prstGeom prst="rect">
                  <a:avLst/>
                </a:prstGeom>
              </p:spPr>
            </p:pic>
            <p:pic>
              <p:nvPicPr>
                <p:cNvPr id="72" name="object 72"/>
                <p:cNvPicPr/>
                <p:nvPr/>
              </p:nvPicPr>
              <p:blipFill>
                <a:blip r:embed="rId22" cstate="print"/>
                <a:stretch>
                  <a:fillRect/>
                </a:stretch>
              </p:blipFill>
              <p:spPr>
                <a:xfrm>
                  <a:off x="8369825" y="4338161"/>
                  <a:ext cx="165353" cy="157194"/>
                </a:xfrm>
                <a:prstGeom prst="rect">
                  <a:avLst/>
                </a:prstGeom>
              </p:spPr>
            </p:pic>
            <p:pic>
              <p:nvPicPr>
                <p:cNvPr id="73" name="object 73"/>
                <p:cNvPicPr/>
                <p:nvPr/>
              </p:nvPicPr>
              <p:blipFill>
                <a:blip r:embed="rId22" cstate="print"/>
                <a:stretch>
                  <a:fillRect/>
                </a:stretch>
              </p:blipFill>
              <p:spPr>
                <a:xfrm>
                  <a:off x="8369825" y="4545375"/>
                  <a:ext cx="165353" cy="157194"/>
                </a:xfrm>
                <a:prstGeom prst="rect">
                  <a:avLst/>
                </a:prstGeom>
              </p:spPr>
            </p:pic>
            <p:pic>
              <p:nvPicPr>
                <p:cNvPr id="74" name="object 74"/>
                <p:cNvPicPr/>
                <p:nvPr/>
              </p:nvPicPr>
              <p:blipFill>
                <a:blip r:embed="rId23" cstate="print"/>
                <a:stretch>
                  <a:fillRect/>
                </a:stretch>
              </p:blipFill>
              <p:spPr>
                <a:xfrm>
                  <a:off x="8369825" y="4752591"/>
                  <a:ext cx="165353" cy="157194"/>
                </a:xfrm>
                <a:prstGeom prst="rect">
                  <a:avLst/>
                </a:prstGeom>
              </p:spPr>
            </p:pic>
            <p:pic>
              <p:nvPicPr>
                <p:cNvPr id="75" name="object 75"/>
                <p:cNvPicPr/>
                <p:nvPr/>
              </p:nvPicPr>
              <p:blipFill>
                <a:blip r:embed="rId22" cstate="print"/>
                <a:stretch>
                  <a:fillRect/>
                </a:stretch>
              </p:blipFill>
              <p:spPr>
                <a:xfrm>
                  <a:off x="8369825" y="4959807"/>
                  <a:ext cx="165353" cy="157194"/>
                </a:xfrm>
                <a:prstGeom prst="rect">
                  <a:avLst/>
                </a:prstGeom>
              </p:spPr>
            </p:pic>
            <p:sp>
              <p:nvSpPr>
                <p:cNvPr id="76" name="object 76"/>
                <p:cNvSpPr/>
                <p:nvPr/>
              </p:nvSpPr>
              <p:spPr>
                <a:xfrm>
                  <a:off x="8264135" y="4255819"/>
                  <a:ext cx="365760" cy="9569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5759" h="956945">
                      <a:moveTo>
                        <a:pt x="304798" y="0"/>
                      </a:moveTo>
                      <a:lnTo>
                        <a:pt x="328527" y="4790"/>
                      </a:lnTo>
                      <a:lnTo>
                        <a:pt x="347904" y="17855"/>
                      </a:lnTo>
                      <a:lnTo>
                        <a:pt x="360969" y="37232"/>
                      </a:lnTo>
                      <a:lnTo>
                        <a:pt x="365760" y="60961"/>
                      </a:lnTo>
                      <a:lnTo>
                        <a:pt x="365760" y="895642"/>
                      </a:lnTo>
                      <a:lnTo>
                        <a:pt x="360969" y="919371"/>
                      </a:lnTo>
                      <a:lnTo>
                        <a:pt x="347904" y="938748"/>
                      </a:lnTo>
                      <a:lnTo>
                        <a:pt x="328527" y="951813"/>
                      </a:lnTo>
                      <a:lnTo>
                        <a:pt x="304798" y="956604"/>
                      </a:lnTo>
                      <a:lnTo>
                        <a:pt x="60961" y="956604"/>
                      </a:lnTo>
                      <a:lnTo>
                        <a:pt x="37232" y="951813"/>
                      </a:lnTo>
                      <a:lnTo>
                        <a:pt x="17855" y="938748"/>
                      </a:lnTo>
                      <a:lnTo>
                        <a:pt x="4790" y="919371"/>
                      </a:lnTo>
                      <a:lnTo>
                        <a:pt x="0" y="895642"/>
                      </a:lnTo>
                      <a:lnTo>
                        <a:pt x="0" y="60961"/>
                      </a:lnTo>
                      <a:lnTo>
                        <a:pt x="4790" y="37232"/>
                      </a:lnTo>
                      <a:lnTo>
                        <a:pt x="17855" y="17855"/>
                      </a:lnTo>
                      <a:lnTo>
                        <a:pt x="37232" y="4790"/>
                      </a:lnTo>
                      <a:lnTo>
                        <a:pt x="60961" y="0"/>
                      </a:lnTo>
                      <a:lnTo>
                        <a:pt x="304798" y="0"/>
                      </a:lnTo>
                      <a:close/>
                    </a:path>
                  </a:pathLst>
                </a:custGeom>
                <a:ln w="19050">
                  <a:solidFill>
                    <a:srgbClr val="610059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77" name="object 77"/>
                <p:cNvSpPr/>
                <p:nvPr/>
              </p:nvSpPr>
              <p:spPr>
                <a:xfrm>
                  <a:off x="8391687" y="5212379"/>
                  <a:ext cx="111125" cy="43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438150">
                      <a:moveTo>
                        <a:pt x="55328" y="37807"/>
                      </a:moveTo>
                      <a:lnTo>
                        <a:pt x="45803" y="54135"/>
                      </a:lnTo>
                      <a:lnTo>
                        <a:pt x="45802" y="438107"/>
                      </a:lnTo>
                      <a:lnTo>
                        <a:pt x="64852" y="438107"/>
                      </a:lnTo>
                      <a:lnTo>
                        <a:pt x="64852" y="54135"/>
                      </a:lnTo>
                      <a:lnTo>
                        <a:pt x="55328" y="37807"/>
                      </a:lnTo>
                      <a:close/>
                    </a:path>
                    <a:path w="111125" h="438150">
                      <a:moveTo>
                        <a:pt x="55327" y="0"/>
                      </a:moveTo>
                      <a:lnTo>
                        <a:pt x="0" y="94848"/>
                      </a:lnTo>
                      <a:lnTo>
                        <a:pt x="1534" y="100680"/>
                      </a:lnTo>
                      <a:lnTo>
                        <a:pt x="10622" y="105981"/>
                      </a:lnTo>
                      <a:lnTo>
                        <a:pt x="16454" y="104447"/>
                      </a:lnTo>
                      <a:lnTo>
                        <a:pt x="45802" y="54136"/>
                      </a:lnTo>
                      <a:lnTo>
                        <a:pt x="45802" y="18903"/>
                      </a:lnTo>
                      <a:lnTo>
                        <a:pt x="66354" y="18903"/>
                      </a:lnTo>
                      <a:lnTo>
                        <a:pt x="55327" y="0"/>
                      </a:lnTo>
                      <a:close/>
                    </a:path>
                    <a:path w="111125" h="438150">
                      <a:moveTo>
                        <a:pt x="66354" y="18903"/>
                      </a:moveTo>
                      <a:lnTo>
                        <a:pt x="64852" y="18903"/>
                      </a:lnTo>
                      <a:lnTo>
                        <a:pt x="64853" y="54136"/>
                      </a:lnTo>
                      <a:lnTo>
                        <a:pt x="94200" y="104447"/>
                      </a:lnTo>
                      <a:lnTo>
                        <a:pt x="100032" y="105981"/>
                      </a:lnTo>
                      <a:lnTo>
                        <a:pt x="109120" y="100680"/>
                      </a:lnTo>
                      <a:lnTo>
                        <a:pt x="110656" y="94848"/>
                      </a:lnTo>
                      <a:lnTo>
                        <a:pt x="66354" y="18903"/>
                      </a:lnTo>
                      <a:close/>
                    </a:path>
                    <a:path w="111125" h="438150">
                      <a:moveTo>
                        <a:pt x="64852" y="18903"/>
                      </a:moveTo>
                      <a:lnTo>
                        <a:pt x="45802" y="18903"/>
                      </a:lnTo>
                      <a:lnTo>
                        <a:pt x="45802" y="54136"/>
                      </a:lnTo>
                      <a:lnTo>
                        <a:pt x="55328" y="37807"/>
                      </a:lnTo>
                      <a:lnTo>
                        <a:pt x="47100" y="23703"/>
                      </a:lnTo>
                      <a:lnTo>
                        <a:pt x="64852" y="23703"/>
                      </a:lnTo>
                      <a:lnTo>
                        <a:pt x="64852" y="18903"/>
                      </a:lnTo>
                      <a:close/>
                    </a:path>
                    <a:path w="111125" h="438150">
                      <a:moveTo>
                        <a:pt x="64852" y="23703"/>
                      </a:moveTo>
                      <a:lnTo>
                        <a:pt x="63555" y="23703"/>
                      </a:lnTo>
                      <a:lnTo>
                        <a:pt x="55328" y="37807"/>
                      </a:lnTo>
                      <a:lnTo>
                        <a:pt x="64852" y="54135"/>
                      </a:lnTo>
                      <a:lnTo>
                        <a:pt x="64852" y="23703"/>
                      </a:lnTo>
                      <a:close/>
                    </a:path>
                    <a:path w="111125" h="438150">
                      <a:moveTo>
                        <a:pt x="63555" y="23703"/>
                      </a:moveTo>
                      <a:lnTo>
                        <a:pt x="47100" y="23703"/>
                      </a:lnTo>
                      <a:lnTo>
                        <a:pt x="55328" y="37807"/>
                      </a:lnTo>
                      <a:lnTo>
                        <a:pt x="63555" y="23703"/>
                      </a:lnTo>
                      <a:close/>
                    </a:path>
                  </a:pathLst>
                </a:custGeom>
                <a:solidFill>
                  <a:srgbClr val="7F7F7F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pic>
              <p:nvPicPr>
                <p:cNvPr id="78" name="object 78"/>
                <p:cNvPicPr/>
                <p:nvPr/>
              </p:nvPicPr>
              <p:blipFill>
                <a:blip r:embed="rId14" cstate="print"/>
                <a:stretch>
                  <a:fillRect/>
                </a:stretch>
              </p:blipFill>
              <p:spPr>
                <a:xfrm>
                  <a:off x="8471394" y="5317078"/>
                  <a:ext cx="236000" cy="278166"/>
                </a:xfrm>
                <a:prstGeom prst="rect">
                  <a:avLst/>
                </a:prstGeom>
              </p:spPr>
            </p:pic>
            <p:pic>
              <p:nvPicPr>
                <p:cNvPr id="79" name="object 79"/>
                <p:cNvPicPr/>
                <p:nvPr/>
              </p:nvPicPr>
              <p:blipFill>
                <a:blip r:embed="rId15" cstate="print"/>
                <a:stretch>
                  <a:fillRect/>
                </a:stretch>
              </p:blipFill>
              <p:spPr>
                <a:xfrm>
                  <a:off x="8497442" y="3966938"/>
                  <a:ext cx="327652" cy="198835"/>
                </a:xfrm>
                <a:prstGeom prst="rect">
                  <a:avLst/>
                </a:prstGeom>
              </p:spPr>
            </p:pic>
            <p:sp>
              <p:nvSpPr>
                <p:cNvPr id="80" name="object 80"/>
                <p:cNvSpPr/>
                <p:nvPr/>
              </p:nvSpPr>
              <p:spPr>
                <a:xfrm>
                  <a:off x="8391686" y="3828830"/>
                  <a:ext cx="111125" cy="427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427354">
                      <a:moveTo>
                        <a:pt x="55328" y="37807"/>
                      </a:moveTo>
                      <a:lnTo>
                        <a:pt x="45803" y="54135"/>
                      </a:lnTo>
                      <a:lnTo>
                        <a:pt x="45802" y="426989"/>
                      </a:lnTo>
                      <a:lnTo>
                        <a:pt x="64852" y="426989"/>
                      </a:lnTo>
                      <a:lnTo>
                        <a:pt x="64852" y="54135"/>
                      </a:lnTo>
                      <a:lnTo>
                        <a:pt x="55328" y="37807"/>
                      </a:lnTo>
                      <a:close/>
                    </a:path>
                    <a:path w="111125" h="427354">
                      <a:moveTo>
                        <a:pt x="55328" y="0"/>
                      </a:moveTo>
                      <a:lnTo>
                        <a:pt x="0" y="94848"/>
                      </a:lnTo>
                      <a:lnTo>
                        <a:pt x="1537" y="100681"/>
                      </a:lnTo>
                      <a:lnTo>
                        <a:pt x="10622" y="105982"/>
                      </a:lnTo>
                      <a:lnTo>
                        <a:pt x="16455" y="104447"/>
                      </a:lnTo>
                      <a:lnTo>
                        <a:pt x="45802" y="54137"/>
                      </a:lnTo>
                      <a:lnTo>
                        <a:pt x="45803" y="18903"/>
                      </a:lnTo>
                      <a:lnTo>
                        <a:pt x="66355" y="18903"/>
                      </a:lnTo>
                      <a:lnTo>
                        <a:pt x="55328" y="0"/>
                      </a:lnTo>
                      <a:close/>
                    </a:path>
                    <a:path w="111125" h="427354">
                      <a:moveTo>
                        <a:pt x="66355" y="18903"/>
                      </a:moveTo>
                      <a:lnTo>
                        <a:pt x="64853" y="18903"/>
                      </a:lnTo>
                      <a:lnTo>
                        <a:pt x="64853" y="54137"/>
                      </a:lnTo>
                      <a:lnTo>
                        <a:pt x="94200" y="104447"/>
                      </a:lnTo>
                      <a:lnTo>
                        <a:pt x="100034" y="105982"/>
                      </a:lnTo>
                      <a:lnTo>
                        <a:pt x="109122" y="100680"/>
                      </a:lnTo>
                      <a:lnTo>
                        <a:pt x="110656" y="94848"/>
                      </a:lnTo>
                      <a:lnTo>
                        <a:pt x="66355" y="18903"/>
                      </a:lnTo>
                      <a:close/>
                    </a:path>
                    <a:path w="111125" h="427354">
                      <a:moveTo>
                        <a:pt x="64853" y="23703"/>
                      </a:moveTo>
                      <a:lnTo>
                        <a:pt x="63555" y="23703"/>
                      </a:lnTo>
                      <a:lnTo>
                        <a:pt x="55328" y="37807"/>
                      </a:lnTo>
                      <a:lnTo>
                        <a:pt x="64853" y="54137"/>
                      </a:lnTo>
                      <a:lnTo>
                        <a:pt x="64853" y="23703"/>
                      </a:lnTo>
                      <a:close/>
                    </a:path>
                    <a:path w="111125" h="427354">
                      <a:moveTo>
                        <a:pt x="64853" y="18903"/>
                      </a:moveTo>
                      <a:lnTo>
                        <a:pt x="45803" y="18903"/>
                      </a:lnTo>
                      <a:lnTo>
                        <a:pt x="45803" y="54135"/>
                      </a:lnTo>
                      <a:lnTo>
                        <a:pt x="55328" y="37807"/>
                      </a:lnTo>
                      <a:lnTo>
                        <a:pt x="47100" y="23703"/>
                      </a:lnTo>
                      <a:lnTo>
                        <a:pt x="64853" y="23703"/>
                      </a:lnTo>
                      <a:lnTo>
                        <a:pt x="64853" y="18903"/>
                      </a:lnTo>
                      <a:close/>
                    </a:path>
                    <a:path w="111125" h="427354">
                      <a:moveTo>
                        <a:pt x="63555" y="23703"/>
                      </a:moveTo>
                      <a:lnTo>
                        <a:pt x="47100" y="23703"/>
                      </a:lnTo>
                      <a:lnTo>
                        <a:pt x="55328" y="37807"/>
                      </a:lnTo>
                      <a:lnTo>
                        <a:pt x="63555" y="23703"/>
                      </a:lnTo>
                      <a:close/>
                    </a:path>
                  </a:pathLst>
                </a:custGeom>
                <a:solidFill>
                  <a:srgbClr val="7F7F7F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pic>
              <p:nvPicPr>
                <p:cNvPr id="81" name="object 81"/>
                <p:cNvPicPr/>
                <p:nvPr/>
              </p:nvPicPr>
              <p:blipFill>
                <a:blip r:embed="rId16" cstate="print"/>
                <a:stretch>
                  <a:fillRect/>
                </a:stretch>
              </p:blipFill>
              <p:spPr>
                <a:xfrm>
                  <a:off x="8369824" y="2849434"/>
                  <a:ext cx="165353" cy="173996"/>
                </a:xfrm>
                <a:prstGeom prst="rect">
                  <a:avLst/>
                </a:prstGeom>
              </p:spPr>
            </p:pic>
            <p:pic>
              <p:nvPicPr>
                <p:cNvPr id="82" name="object 82"/>
                <p:cNvPicPr/>
                <p:nvPr/>
              </p:nvPicPr>
              <p:blipFill>
                <a:blip r:embed="rId16" cstate="print"/>
                <a:stretch>
                  <a:fillRect/>
                </a:stretch>
              </p:blipFill>
              <p:spPr>
                <a:xfrm>
                  <a:off x="8369824" y="3081853"/>
                  <a:ext cx="165353" cy="173996"/>
                </a:xfrm>
                <a:prstGeom prst="rect">
                  <a:avLst/>
                </a:prstGeom>
              </p:spPr>
            </p:pic>
            <p:pic>
              <p:nvPicPr>
                <p:cNvPr id="83" name="object 83"/>
                <p:cNvPicPr/>
                <p:nvPr/>
              </p:nvPicPr>
              <p:blipFill>
                <a:blip r:embed="rId17" cstate="print"/>
                <a:stretch>
                  <a:fillRect/>
                </a:stretch>
              </p:blipFill>
              <p:spPr>
                <a:xfrm>
                  <a:off x="8369824" y="3314273"/>
                  <a:ext cx="165353" cy="173996"/>
                </a:xfrm>
                <a:prstGeom prst="rect">
                  <a:avLst/>
                </a:prstGeom>
              </p:spPr>
            </p:pic>
            <p:pic>
              <p:nvPicPr>
                <p:cNvPr id="84" name="object 84"/>
                <p:cNvPicPr/>
                <p:nvPr/>
              </p:nvPicPr>
              <p:blipFill>
                <a:blip r:embed="rId17" cstate="print"/>
                <a:stretch>
                  <a:fillRect/>
                </a:stretch>
              </p:blipFill>
              <p:spPr>
                <a:xfrm>
                  <a:off x="8369824" y="3546692"/>
                  <a:ext cx="165353" cy="173996"/>
                </a:xfrm>
                <a:prstGeom prst="rect">
                  <a:avLst/>
                </a:prstGeom>
              </p:spPr>
            </p:pic>
            <p:sp>
              <p:nvSpPr>
                <p:cNvPr id="85" name="object 85"/>
                <p:cNvSpPr/>
                <p:nvPr/>
              </p:nvSpPr>
              <p:spPr>
                <a:xfrm>
                  <a:off x="8641353" y="3227823"/>
                  <a:ext cx="699770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9770" h="111125">
                      <a:moveTo>
                        <a:pt x="604459" y="0"/>
                      </a:moveTo>
                      <a:lnTo>
                        <a:pt x="598625" y="1535"/>
                      </a:lnTo>
                      <a:lnTo>
                        <a:pt x="593324" y="10623"/>
                      </a:lnTo>
                      <a:lnTo>
                        <a:pt x="594860" y="16455"/>
                      </a:lnTo>
                      <a:lnTo>
                        <a:pt x="645172" y="45803"/>
                      </a:lnTo>
                      <a:lnTo>
                        <a:pt x="680402" y="45803"/>
                      </a:lnTo>
                      <a:lnTo>
                        <a:pt x="680402" y="64853"/>
                      </a:lnTo>
                      <a:lnTo>
                        <a:pt x="645172" y="64853"/>
                      </a:lnTo>
                      <a:lnTo>
                        <a:pt x="594860" y="94202"/>
                      </a:lnTo>
                      <a:lnTo>
                        <a:pt x="593324" y="100034"/>
                      </a:lnTo>
                      <a:lnTo>
                        <a:pt x="598625" y="109122"/>
                      </a:lnTo>
                      <a:lnTo>
                        <a:pt x="604459" y="110656"/>
                      </a:lnTo>
                      <a:lnTo>
                        <a:pt x="682977" y="64853"/>
                      </a:lnTo>
                      <a:lnTo>
                        <a:pt x="680402" y="64853"/>
                      </a:lnTo>
                      <a:lnTo>
                        <a:pt x="682980" y="64852"/>
                      </a:lnTo>
                      <a:lnTo>
                        <a:pt x="699306" y="55328"/>
                      </a:lnTo>
                      <a:lnTo>
                        <a:pt x="604459" y="0"/>
                      </a:lnTo>
                      <a:close/>
                    </a:path>
                    <a:path w="699770" h="111125">
                      <a:moveTo>
                        <a:pt x="661500" y="55328"/>
                      </a:moveTo>
                      <a:lnTo>
                        <a:pt x="645172" y="64853"/>
                      </a:lnTo>
                      <a:lnTo>
                        <a:pt x="680402" y="64853"/>
                      </a:lnTo>
                      <a:lnTo>
                        <a:pt x="680402" y="63555"/>
                      </a:lnTo>
                      <a:lnTo>
                        <a:pt x="675604" y="63555"/>
                      </a:lnTo>
                      <a:lnTo>
                        <a:pt x="661500" y="55328"/>
                      </a:lnTo>
                      <a:close/>
                    </a:path>
                    <a:path w="699770" h="111125">
                      <a:moveTo>
                        <a:pt x="0" y="45802"/>
                      </a:moveTo>
                      <a:lnTo>
                        <a:pt x="0" y="64852"/>
                      </a:lnTo>
                      <a:lnTo>
                        <a:pt x="645174" y="64852"/>
                      </a:lnTo>
                      <a:lnTo>
                        <a:pt x="661500" y="55328"/>
                      </a:lnTo>
                      <a:lnTo>
                        <a:pt x="645172" y="45803"/>
                      </a:lnTo>
                      <a:lnTo>
                        <a:pt x="0" y="45802"/>
                      </a:lnTo>
                      <a:close/>
                    </a:path>
                    <a:path w="699770" h="111125">
                      <a:moveTo>
                        <a:pt x="675604" y="47101"/>
                      </a:moveTo>
                      <a:lnTo>
                        <a:pt x="661500" y="55328"/>
                      </a:lnTo>
                      <a:lnTo>
                        <a:pt x="675604" y="63555"/>
                      </a:lnTo>
                      <a:lnTo>
                        <a:pt x="675604" y="47101"/>
                      </a:lnTo>
                      <a:close/>
                    </a:path>
                    <a:path w="699770" h="111125">
                      <a:moveTo>
                        <a:pt x="680402" y="47101"/>
                      </a:moveTo>
                      <a:lnTo>
                        <a:pt x="675604" y="47101"/>
                      </a:lnTo>
                      <a:lnTo>
                        <a:pt x="675604" y="63555"/>
                      </a:lnTo>
                      <a:lnTo>
                        <a:pt x="680402" y="63555"/>
                      </a:lnTo>
                      <a:lnTo>
                        <a:pt x="680402" y="47101"/>
                      </a:lnTo>
                      <a:close/>
                    </a:path>
                    <a:path w="699770" h="111125">
                      <a:moveTo>
                        <a:pt x="645172" y="45803"/>
                      </a:moveTo>
                      <a:lnTo>
                        <a:pt x="661500" y="55328"/>
                      </a:lnTo>
                      <a:lnTo>
                        <a:pt x="675604" y="47101"/>
                      </a:lnTo>
                      <a:lnTo>
                        <a:pt x="680402" y="47101"/>
                      </a:lnTo>
                      <a:lnTo>
                        <a:pt x="680402" y="45803"/>
                      </a:lnTo>
                      <a:lnTo>
                        <a:pt x="645172" y="45803"/>
                      </a:lnTo>
                      <a:close/>
                    </a:path>
                  </a:pathLst>
                </a:custGeom>
                <a:solidFill>
                  <a:srgbClr val="7F7F7F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pic>
              <p:nvPicPr>
                <p:cNvPr id="86" name="object 86"/>
                <p:cNvPicPr/>
                <p:nvPr/>
              </p:nvPicPr>
              <p:blipFill>
                <a:blip r:embed="rId18" cstate="print"/>
                <a:stretch>
                  <a:fillRect/>
                </a:stretch>
              </p:blipFill>
              <p:spPr>
                <a:xfrm>
                  <a:off x="8754702" y="2959374"/>
                  <a:ext cx="427376" cy="292169"/>
                </a:xfrm>
                <a:prstGeom prst="rect">
                  <a:avLst/>
                </a:prstGeom>
              </p:spPr>
            </p:pic>
            <p:sp>
              <p:nvSpPr>
                <p:cNvPr id="87" name="object 87"/>
                <p:cNvSpPr/>
                <p:nvPr/>
              </p:nvSpPr>
              <p:spPr>
                <a:xfrm>
                  <a:off x="9468168" y="1917292"/>
                  <a:ext cx="111125" cy="8299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829944">
                      <a:moveTo>
                        <a:pt x="55328" y="37806"/>
                      </a:moveTo>
                      <a:lnTo>
                        <a:pt x="45803" y="54135"/>
                      </a:lnTo>
                      <a:lnTo>
                        <a:pt x="45802" y="829381"/>
                      </a:lnTo>
                      <a:lnTo>
                        <a:pt x="64852" y="829381"/>
                      </a:lnTo>
                      <a:lnTo>
                        <a:pt x="64853" y="54135"/>
                      </a:lnTo>
                      <a:lnTo>
                        <a:pt x="55328" y="37806"/>
                      </a:lnTo>
                      <a:close/>
                    </a:path>
                    <a:path w="111125" h="829944">
                      <a:moveTo>
                        <a:pt x="55328" y="0"/>
                      </a:moveTo>
                      <a:lnTo>
                        <a:pt x="0" y="94848"/>
                      </a:lnTo>
                      <a:lnTo>
                        <a:pt x="1535" y="100680"/>
                      </a:lnTo>
                      <a:lnTo>
                        <a:pt x="10623" y="105982"/>
                      </a:lnTo>
                      <a:lnTo>
                        <a:pt x="16455" y="104447"/>
                      </a:lnTo>
                      <a:lnTo>
                        <a:pt x="45803" y="54135"/>
                      </a:lnTo>
                      <a:lnTo>
                        <a:pt x="45803" y="18903"/>
                      </a:lnTo>
                      <a:lnTo>
                        <a:pt x="66355" y="18903"/>
                      </a:lnTo>
                      <a:lnTo>
                        <a:pt x="55328" y="0"/>
                      </a:lnTo>
                      <a:close/>
                    </a:path>
                    <a:path w="111125" h="829944">
                      <a:moveTo>
                        <a:pt x="66355" y="18903"/>
                      </a:moveTo>
                      <a:lnTo>
                        <a:pt x="64853" y="18903"/>
                      </a:lnTo>
                      <a:lnTo>
                        <a:pt x="64853" y="54135"/>
                      </a:lnTo>
                      <a:lnTo>
                        <a:pt x="94202" y="104447"/>
                      </a:lnTo>
                      <a:lnTo>
                        <a:pt x="100034" y="105982"/>
                      </a:lnTo>
                      <a:lnTo>
                        <a:pt x="109122" y="100680"/>
                      </a:lnTo>
                      <a:lnTo>
                        <a:pt x="110656" y="94848"/>
                      </a:lnTo>
                      <a:lnTo>
                        <a:pt x="66355" y="18903"/>
                      </a:lnTo>
                      <a:close/>
                    </a:path>
                    <a:path w="111125" h="829944">
                      <a:moveTo>
                        <a:pt x="64853" y="18903"/>
                      </a:moveTo>
                      <a:lnTo>
                        <a:pt x="45803" y="18903"/>
                      </a:lnTo>
                      <a:lnTo>
                        <a:pt x="45803" y="54135"/>
                      </a:lnTo>
                      <a:lnTo>
                        <a:pt x="55328" y="37806"/>
                      </a:lnTo>
                      <a:lnTo>
                        <a:pt x="47101" y="23703"/>
                      </a:lnTo>
                      <a:lnTo>
                        <a:pt x="64853" y="23703"/>
                      </a:lnTo>
                      <a:lnTo>
                        <a:pt x="64853" y="18903"/>
                      </a:lnTo>
                      <a:close/>
                    </a:path>
                    <a:path w="111125" h="829944">
                      <a:moveTo>
                        <a:pt x="64853" y="23703"/>
                      </a:moveTo>
                      <a:lnTo>
                        <a:pt x="63555" y="23703"/>
                      </a:lnTo>
                      <a:lnTo>
                        <a:pt x="55328" y="37806"/>
                      </a:lnTo>
                      <a:lnTo>
                        <a:pt x="64853" y="54135"/>
                      </a:lnTo>
                      <a:lnTo>
                        <a:pt x="64853" y="23703"/>
                      </a:lnTo>
                      <a:close/>
                    </a:path>
                    <a:path w="111125" h="829944">
                      <a:moveTo>
                        <a:pt x="63555" y="23703"/>
                      </a:moveTo>
                      <a:lnTo>
                        <a:pt x="47101" y="23703"/>
                      </a:lnTo>
                      <a:lnTo>
                        <a:pt x="55328" y="37806"/>
                      </a:lnTo>
                      <a:lnTo>
                        <a:pt x="63555" y="23703"/>
                      </a:lnTo>
                      <a:close/>
                    </a:path>
                  </a:pathLst>
                </a:custGeom>
                <a:solidFill>
                  <a:srgbClr val="7F7F7F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pic>
              <p:nvPicPr>
                <p:cNvPr id="88" name="object 88"/>
                <p:cNvPicPr/>
                <p:nvPr/>
              </p:nvPicPr>
              <p:blipFill>
                <a:blip r:embed="rId24" cstate="print"/>
                <a:stretch>
                  <a:fillRect/>
                </a:stretch>
              </p:blipFill>
              <p:spPr>
                <a:xfrm>
                  <a:off x="9113068" y="2525572"/>
                  <a:ext cx="335211" cy="204825"/>
                </a:xfrm>
                <a:prstGeom prst="rect">
                  <a:avLst/>
                </a:prstGeom>
              </p:spPr>
            </p:pic>
            <p:pic>
              <p:nvPicPr>
                <p:cNvPr id="89" name="object 89"/>
                <p:cNvPicPr/>
                <p:nvPr/>
              </p:nvPicPr>
              <p:blipFill>
                <a:blip r:embed="rId16" cstate="print"/>
                <a:stretch>
                  <a:fillRect/>
                </a:stretch>
              </p:blipFill>
              <p:spPr>
                <a:xfrm>
                  <a:off x="9446307" y="2840187"/>
                  <a:ext cx="165353" cy="173996"/>
                </a:xfrm>
                <a:prstGeom prst="rect">
                  <a:avLst/>
                </a:prstGeom>
              </p:spPr>
            </p:pic>
            <p:pic>
              <p:nvPicPr>
                <p:cNvPr id="90" name="object 90"/>
                <p:cNvPicPr/>
                <p:nvPr/>
              </p:nvPicPr>
              <p:blipFill>
                <a:blip r:embed="rId16" cstate="print"/>
                <a:stretch>
                  <a:fillRect/>
                </a:stretch>
              </p:blipFill>
              <p:spPr>
                <a:xfrm>
                  <a:off x="9446307" y="3072607"/>
                  <a:ext cx="165353" cy="173996"/>
                </a:xfrm>
                <a:prstGeom prst="rect">
                  <a:avLst/>
                </a:prstGeom>
              </p:spPr>
            </p:pic>
            <p:pic>
              <p:nvPicPr>
                <p:cNvPr id="91" name="object 91"/>
                <p:cNvPicPr/>
                <p:nvPr/>
              </p:nvPicPr>
              <p:blipFill>
                <a:blip r:embed="rId16" cstate="print"/>
                <a:stretch>
                  <a:fillRect/>
                </a:stretch>
              </p:blipFill>
              <p:spPr>
                <a:xfrm>
                  <a:off x="9446307" y="3305026"/>
                  <a:ext cx="165353" cy="173996"/>
                </a:xfrm>
                <a:prstGeom prst="rect">
                  <a:avLst/>
                </a:prstGeom>
              </p:spPr>
            </p:pic>
            <p:pic>
              <p:nvPicPr>
                <p:cNvPr id="92" name="object 92"/>
                <p:cNvPicPr/>
                <p:nvPr/>
              </p:nvPicPr>
              <p:blipFill>
                <a:blip r:embed="rId17" cstate="print"/>
                <a:stretch>
                  <a:fillRect/>
                </a:stretch>
              </p:blipFill>
              <p:spPr>
                <a:xfrm>
                  <a:off x="9446307" y="3537445"/>
                  <a:ext cx="165353" cy="173996"/>
                </a:xfrm>
                <a:prstGeom prst="rect">
                  <a:avLst/>
                </a:prstGeom>
              </p:spPr>
            </p:pic>
            <p:pic>
              <p:nvPicPr>
                <p:cNvPr id="93" name="object 93"/>
                <p:cNvPicPr/>
                <p:nvPr/>
              </p:nvPicPr>
              <p:blipFill>
                <a:blip r:embed="rId25" cstate="print"/>
                <a:stretch>
                  <a:fillRect/>
                </a:stretch>
              </p:blipFill>
              <p:spPr>
                <a:xfrm>
                  <a:off x="8990126" y="4548785"/>
                  <a:ext cx="334030" cy="224261"/>
                </a:xfrm>
                <a:prstGeom prst="rect">
                  <a:avLst/>
                </a:prstGeom>
              </p:spPr>
            </p:pic>
            <p:pic>
              <p:nvPicPr>
                <p:cNvPr id="94" name="object 94"/>
                <p:cNvPicPr/>
                <p:nvPr/>
              </p:nvPicPr>
              <p:blipFill>
                <a:blip r:embed="rId23" cstate="print"/>
                <a:stretch>
                  <a:fillRect/>
                </a:stretch>
              </p:blipFill>
              <p:spPr>
                <a:xfrm>
                  <a:off x="9446308" y="4328914"/>
                  <a:ext cx="165353" cy="157194"/>
                </a:xfrm>
                <a:prstGeom prst="rect">
                  <a:avLst/>
                </a:prstGeom>
              </p:spPr>
            </p:pic>
            <p:pic>
              <p:nvPicPr>
                <p:cNvPr id="95" name="object 95"/>
                <p:cNvPicPr/>
                <p:nvPr/>
              </p:nvPicPr>
              <p:blipFill>
                <a:blip r:embed="rId22" cstate="print"/>
                <a:stretch>
                  <a:fillRect/>
                </a:stretch>
              </p:blipFill>
              <p:spPr>
                <a:xfrm>
                  <a:off x="9446308" y="4536130"/>
                  <a:ext cx="165353" cy="157194"/>
                </a:xfrm>
                <a:prstGeom prst="rect">
                  <a:avLst/>
                </a:prstGeom>
              </p:spPr>
            </p:pic>
            <p:pic>
              <p:nvPicPr>
                <p:cNvPr id="96" name="object 96"/>
                <p:cNvPicPr/>
                <p:nvPr/>
              </p:nvPicPr>
              <p:blipFill>
                <a:blip r:embed="rId23" cstate="print"/>
                <a:stretch>
                  <a:fillRect/>
                </a:stretch>
              </p:blipFill>
              <p:spPr>
                <a:xfrm>
                  <a:off x="9446308" y="4743345"/>
                  <a:ext cx="165353" cy="157194"/>
                </a:xfrm>
                <a:prstGeom prst="rect">
                  <a:avLst/>
                </a:prstGeom>
              </p:spPr>
            </p:pic>
            <p:pic>
              <p:nvPicPr>
                <p:cNvPr id="97" name="object 97"/>
                <p:cNvPicPr/>
                <p:nvPr/>
              </p:nvPicPr>
              <p:blipFill>
                <a:blip r:embed="rId22" cstate="print"/>
                <a:stretch>
                  <a:fillRect/>
                </a:stretch>
              </p:blipFill>
              <p:spPr>
                <a:xfrm>
                  <a:off x="9446308" y="4950561"/>
                  <a:ext cx="165353" cy="157194"/>
                </a:xfrm>
                <a:prstGeom prst="rect">
                  <a:avLst/>
                </a:prstGeom>
              </p:spPr>
            </p:pic>
            <p:sp>
              <p:nvSpPr>
                <p:cNvPr id="98" name="object 98"/>
                <p:cNvSpPr/>
                <p:nvPr/>
              </p:nvSpPr>
              <p:spPr>
                <a:xfrm>
                  <a:off x="9340616" y="4246573"/>
                  <a:ext cx="365760" cy="9569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5759" h="956945">
                      <a:moveTo>
                        <a:pt x="304798" y="0"/>
                      </a:moveTo>
                      <a:lnTo>
                        <a:pt x="328527" y="4790"/>
                      </a:lnTo>
                      <a:lnTo>
                        <a:pt x="347904" y="17855"/>
                      </a:lnTo>
                      <a:lnTo>
                        <a:pt x="360969" y="37232"/>
                      </a:lnTo>
                      <a:lnTo>
                        <a:pt x="365760" y="60961"/>
                      </a:lnTo>
                      <a:lnTo>
                        <a:pt x="365760" y="895642"/>
                      </a:lnTo>
                      <a:lnTo>
                        <a:pt x="360969" y="919371"/>
                      </a:lnTo>
                      <a:lnTo>
                        <a:pt x="347904" y="938748"/>
                      </a:lnTo>
                      <a:lnTo>
                        <a:pt x="328527" y="951813"/>
                      </a:lnTo>
                      <a:lnTo>
                        <a:pt x="304798" y="956604"/>
                      </a:lnTo>
                      <a:lnTo>
                        <a:pt x="60961" y="956604"/>
                      </a:lnTo>
                      <a:lnTo>
                        <a:pt x="37232" y="951813"/>
                      </a:lnTo>
                      <a:lnTo>
                        <a:pt x="17855" y="938748"/>
                      </a:lnTo>
                      <a:lnTo>
                        <a:pt x="4790" y="919371"/>
                      </a:lnTo>
                      <a:lnTo>
                        <a:pt x="0" y="895642"/>
                      </a:lnTo>
                      <a:lnTo>
                        <a:pt x="0" y="60961"/>
                      </a:lnTo>
                      <a:lnTo>
                        <a:pt x="4790" y="37232"/>
                      </a:lnTo>
                      <a:lnTo>
                        <a:pt x="17855" y="17855"/>
                      </a:lnTo>
                      <a:lnTo>
                        <a:pt x="37232" y="4790"/>
                      </a:lnTo>
                      <a:lnTo>
                        <a:pt x="60961" y="0"/>
                      </a:lnTo>
                      <a:lnTo>
                        <a:pt x="304798" y="0"/>
                      </a:lnTo>
                      <a:close/>
                    </a:path>
                  </a:pathLst>
                </a:custGeom>
                <a:ln w="19050">
                  <a:solidFill>
                    <a:srgbClr val="610059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99" name="object 99"/>
                <p:cNvSpPr/>
                <p:nvPr/>
              </p:nvSpPr>
              <p:spPr>
                <a:xfrm>
                  <a:off x="9468169" y="5203133"/>
                  <a:ext cx="111125" cy="43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438150">
                      <a:moveTo>
                        <a:pt x="55328" y="37806"/>
                      </a:moveTo>
                      <a:lnTo>
                        <a:pt x="45803" y="54135"/>
                      </a:lnTo>
                      <a:lnTo>
                        <a:pt x="45802" y="438106"/>
                      </a:lnTo>
                      <a:lnTo>
                        <a:pt x="64852" y="438106"/>
                      </a:lnTo>
                      <a:lnTo>
                        <a:pt x="64853" y="54135"/>
                      </a:lnTo>
                      <a:lnTo>
                        <a:pt x="55328" y="37806"/>
                      </a:lnTo>
                      <a:close/>
                    </a:path>
                    <a:path w="111125" h="438150">
                      <a:moveTo>
                        <a:pt x="55328" y="0"/>
                      </a:moveTo>
                      <a:lnTo>
                        <a:pt x="0" y="94848"/>
                      </a:lnTo>
                      <a:lnTo>
                        <a:pt x="1535" y="100680"/>
                      </a:lnTo>
                      <a:lnTo>
                        <a:pt x="10623" y="105981"/>
                      </a:lnTo>
                      <a:lnTo>
                        <a:pt x="16455" y="104446"/>
                      </a:lnTo>
                      <a:lnTo>
                        <a:pt x="45803" y="54135"/>
                      </a:lnTo>
                      <a:lnTo>
                        <a:pt x="45803" y="18903"/>
                      </a:lnTo>
                      <a:lnTo>
                        <a:pt x="66355" y="18903"/>
                      </a:lnTo>
                      <a:lnTo>
                        <a:pt x="55328" y="0"/>
                      </a:lnTo>
                      <a:close/>
                    </a:path>
                    <a:path w="111125" h="438150">
                      <a:moveTo>
                        <a:pt x="66355" y="18903"/>
                      </a:moveTo>
                      <a:lnTo>
                        <a:pt x="64853" y="18903"/>
                      </a:lnTo>
                      <a:lnTo>
                        <a:pt x="64853" y="54135"/>
                      </a:lnTo>
                      <a:lnTo>
                        <a:pt x="94201" y="104447"/>
                      </a:lnTo>
                      <a:lnTo>
                        <a:pt x="100033" y="105981"/>
                      </a:lnTo>
                      <a:lnTo>
                        <a:pt x="109121" y="100680"/>
                      </a:lnTo>
                      <a:lnTo>
                        <a:pt x="110655" y="94847"/>
                      </a:lnTo>
                      <a:lnTo>
                        <a:pt x="66355" y="18903"/>
                      </a:lnTo>
                      <a:close/>
                    </a:path>
                    <a:path w="111125" h="438150">
                      <a:moveTo>
                        <a:pt x="64853" y="23703"/>
                      </a:moveTo>
                      <a:lnTo>
                        <a:pt x="63555" y="23703"/>
                      </a:lnTo>
                      <a:lnTo>
                        <a:pt x="55328" y="37806"/>
                      </a:lnTo>
                      <a:lnTo>
                        <a:pt x="64853" y="54135"/>
                      </a:lnTo>
                      <a:lnTo>
                        <a:pt x="64853" y="23703"/>
                      </a:lnTo>
                      <a:close/>
                    </a:path>
                    <a:path w="111125" h="438150">
                      <a:moveTo>
                        <a:pt x="64853" y="18903"/>
                      </a:moveTo>
                      <a:lnTo>
                        <a:pt x="45803" y="18903"/>
                      </a:lnTo>
                      <a:lnTo>
                        <a:pt x="45803" y="54135"/>
                      </a:lnTo>
                      <a:lnTo>
                        <a:pt x="55328" y="37806"/>
                      </a:lnTo>
                      <a:lnTo>
                        <a:pt x="47101" y="23703"/>
                      </a:lnTo>
                      <a:lnTo>
                        <a:pt x="64853" y="23703"/>
                      </a:lnTo>
                      <a:lnTo>
                        <a:pt x="64853" y="18903"/>
                      </a:lnTo>
                      <a:close/>
                    </a:path>
                    <a:path w="111125" h="438150">
                      <a:moveTo>
                        <a:pt x="63555" y="23703"/>
                      </a:moveTo>
                      <a:lnTo>
                        <a:pt x="47101" y="23703"/>
                      </a:lnTo>
                      <a:lnTo>
                        <a:pt x="55328" y="37806"/>
                      </a:lnTo>
                      <a:lnTo>
                        <a:pt x="63555" y="23703"/>
                      </a:lnTo>
                      <a:close/>
                    </a:path>
                  </a:pathLst>
                </a:custGeom>
                <a:solidFill>
                  <a:srgbClr val="7F7F7F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pic>
              <p:nvPicPr>
                <p:cNvPr id="100" name="object 100"/>
                <p:cNvPicPr/>
                <p:nvPr/>
              </p:nvPicPr>
              <p:blipFill>
                <a:blip r:embed="rId14" cstate="print"/>
                <a:stretch>
                  <a:fillRect/>
                </a:stretch>
              </p:blipFill>
              <p:spPr>
                <a:xfrm>
                  <a:off x="9547876" y="5317078"/>
                  <a:ext cx="235999" cy="278166"/>
                </a:xfrm>
                <a:prstGeom prst="rect">
                  <a:avLst/>
                </a:prstGeom>
              </p:spPr>
            </p:pic>
            <p:pic>
              <p:nvPicPr>
                <p:cNvPr id="101" name="object 101"/>
                <p:cNvPicPr/>
                <p:nvPr/>
              </p:nvPicPr>
              <p:blipFill>
                <a:blip r:embed="rId15" cstate="print"/>
                <a:stretch>
                  <a:fillRect/>
                </a:stretch>
              </p:blipFill>
              <p:spPr>
                <a:xfrm>
                  <a:off x="9573924" y="3966938"/>
                  <a:ext cx="327651" cy="198835"/>
                </a:xfrm>
                <a:prstGeom prst="rect">
                  <a:avLst/>
                </a:prstGeom>
              </p:spPr>
            </p:pic>
            <p:sp>
              <p:nvSpPr>
                <p:cNvPr id="102" name="object 102"/>
                <p:cNvSpPr/>
                <p:nvPr/>
              </p:nvSpPr>
              <p:spPr>
                <a:xfrm>
                  <a:off x="9468168" y="3819584"/>
                  <a:ext cx="111125" cy="427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427354">
                      <a:moveTo>
                        <a:pt x="55328" y="37807"/>
                      </a:moveTo>
                      <a:lnTo>
                        <a:pt x="45803" y="54135"/>
                      </a:lnTo>
                      <a:lnTo>
                        <a:pt x="45802" y="426987"/>
                      </a:lnTo>
                      <a:lnTo>
                        <a:pt x="64852" y="426987"/>
                      </a:lnTo>
                      <a:lnTo>
                        <a:pt x="64852" y="54135"/>
                      </a:lnTo>
                      <a:lnTo>
                        <a:pt x="55328" y="37807"/>
                      </a:lnTo>
                      <a:close/>
                    </a:path>
                    <a:path w="111125" h="427354">
                      <a:moveTo>
                        <a:pt x="55327" y="0"/>
                      </a:moveTo>
                      <a:lnTo>
                        <a:pt x="0" y="94848"/>
                      </a:lnTo>
                      <a:lnTo>
                        <a:pt x="1534" y="100680"/>
                      </a:lnTo>
                      <a:lnTo>
                        <a:pt x="10622" y="105981"/>
                      </a:lnTo>
                      <a:lnTo>
                        <a:pt x="16454" y="104447"/>
                      </a:lnTo>
                      <a:lnTo>
                        <a:pt x="45802" y="54136"/>
                      </a:lnTo>
                      <a:lnTo>
                        <a:pt x="45802" y="18903"/>
                      </a:lnTo>
                      <a:lnTo>
                        <a:pt x="66354" y="18903"/>
                      </a:lnTo>
                      <a:lnTo>
                        <a:pt x="55327" y="0"/>
                      </a:lnTo>
                      <a:close/>
                    </a:path>
                    <a:path w="111125" h="427354">
                      <a:moveTo>
                        <a:pt x="66354" y="18903"/>
                      </a:moveTo>
                      <a:lnTo>
                        <a:pt x="64852" y="18903"/>
                      </a:lnTo>
                      <a:lnTo>
                        <a:pt x="64853" y="54136"/>
                      </a:lnTo>
                      <a:lnTo>
                        <a:pt x="94200" y="104447"/>
                      </a:lnTo>
                      <a:lnTo>
                        <a:pt x="100032" y="105981"/>
                      </a:lnTo>
                      <a:lnTo>
                        <a:pt x="109120" y="100680"/>
                      </a:lnTo>
                      <a:lnTo>
                        <a:pt x="110656" y="94848"/>
                      </a:lnTo>
                      <a:lnTo>
                        <a:pt x="66354" y="18903"/>
                      </a:lnTo>
                      <a:close/>
                    </a:path>
                    <a:path w="111125" h="427354">
                      <a:moveTo>
                        <a:pt x="64852" y="18903"/>
                      </a:moveTo>
                      <a:lnTo>
                        <a:pt x="45802" y="18903"/>
                      </a:lnTo>
                      <a:lnTo>
                        <a:pt x="45802" y="54136"/>
                      </a:lnTo>
                      <a:lnTo>
                        <a:pt x="55328" y="37807"/>
                      </a:lnTo>
                      <a:lnTo>
                        <a:pt x="47100" y="23703"/>
                      </a:lnTo>
                      <a:lnTo>
                        <a:pt x="64852" y="23703"/>
                      </a:lnTo>
                      <a:lnTo>
                        <a:pt x="64852" y="18903"/>
                      </a:lnTo>
                      <a:close/>
                    </a:path>
                    <a:path w="111125" h="427354">
                      <a:moveTo>
                        <a:pt x="64852" y="23703"/>
                      </a:moveTo>
                      <a:lnTo>
                        <a:pt x="63555" y="23703"/>
                      </a:lnTo>
                      <a:lnTo>
                        <a:pt x="55328" y="37807"/>
                      </a:lnTo>
                      <a:lnTo>
                        <a:pt x="64852" y="54135"/>
                      </a:lnTo>
                      <a:lnTo>
                        <a:pt x="64852" y="23703"/>
                      </a:lnTo>
                      <a:close/>
                    </a:path>
                    <a:path w="111125" h="427354">
                      <a:moveTo>
                        <a:pt x="63555" y="23703"/>
                      </a:moveTo>
                      <a:lnTo>
                        <a:pt x="47100" y="23703"/>
                      </a:lnTo>
                      <a:lnTo>
                        <a:pt x="55328" y="37807"/>
                      </a:lnTo>
                      <a:lnTo>
                        <a:pt x="63555" y="23703"/>
                      </a:lnTo>
                      <a:close/>
                    </a:path>
                  </a:pathLst>
                </a:custGeom>
                <a:solidFill>
                  <a:srgbClr val="7F7F7F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03" name="object 103"/>
                <p:cNvSpPr/>
                <p:nvPr/>
              </p:nvSpPr>
              <p:spPr>
                <a:xfrm>
                  <a:off x="9340616" y="2746673"/>
                  <a:ext cx="365760" cy="1073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5759" h="1073150">
                      <a:moveTo>
                        <a:pt x="304798" y="0"/>
                      </a:moveTo>
                      <a:lnTo>
                        <a:pt x="328527" y="4790"/>
                      </a:lnTo>
                      <a:lnTo>
                        <a:pt x="347904" y="17855"/>
                      </a:lnTo>
                      <a:lnTo>
                        <a:pt x="360969" y="37232"/>
                      </a:lnTo>
                      <a:lnTo>
                        <a:pt x="365760" y="60961"/>
                      </a:lnTo>
                      <a:lnTo>
                        <a:pt x="365760" y="1011994"/>
                      </a:lnTo>
                      <a:lnTo>
                        <a:pt x="360969" y="1035723"/>
                      </a:lnTo>
                      <a:lnTo>
                        <a:pt x="347904" y="1055100"/>
                      </a:lnTo>
                      <a:lnTo>
                        <a:pt x="328527" y="1068165"/>
                      </a:lnTo>
                      <a:lnTo>
                        <a:pt x="304798" y="1072956"/>
                      </a:lnTo>
                      <a:lnTo>
                        <a:pt x="60961" y="1072956"/>
                      </a:lnTo>
                      <a:lnTo>
                        <a:pt x="37232" y="1068165"/>
                      </a:lnTo>
                      <a:lnTo>
                        <a:pt x="17855" y="1055100"/>
                      </a:lnTo>
                      <a:lnTo>
                        <a:pt x="4790" y="1035723"/>
                      </a:lnTo>
                      <a:lnTo>
                        <a:pt x="0" y="1011994"/>
                      </a:lnTo>
                      <a:lnTo>
                        <a:pt x="0" y="60961"/>
                      </a:lnTo>
                      <a:lnTo>
                        <a:pt x="4790" y="37232"/>
                      </a:lnTo>
                      <a:lnTo>
                        <a:pt x="17855" y="17855"/>
                      </a:lnTo>
                      <a:lnTo>
                        <a:pt x="37232" y="4790"/>
                      </a:lnTo>
                      <a:lnTo>
                        <a:pt x="60961" y="0"/>
                      </a:lnTo>
                      <a:lnTo>
                        <a:pt x="304798" y="0"/>
                      </a:lnTo>
                      <a:close/>
                    </a:path>
                  </a:pathLst>
                </a:custGeom>
                <a:ln w="19050">
                  <a:solidFill>
                    <a:srgbClr val="8C1515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pic>
              <p:nvPicPr>
                <p:cNvPr id="104" name="object 104"/>
                <p:cNvPicPr/>
                <p:nvPr/>
              </p:nvPicPr>
              <p:blipFill>
                <a:blip r:embed="rId26" cstate="print"/>
                <a:stretch>
                  <a:fillRect/>
                </a:stretch>
              </p:blipFill>
              <p:spPr>
                <a:xfrm>
                  <a:off x="5949299" y="2510942"/>
                  <a:ext cx="322522" cy="214685"/>
                </a:xfrm>
                <a:prstGeom prst="rect">
                  <a:avLst/>
                </a:prstGeom>
              </p:spPr>
            </p:pic>
            <p:pic>
              <p:nvPicPr>
                <p:cNvPr id="105" name="object 105"/>
                <p:cNvPicPr/>
                <p:nvPr/>
              </p:nvPicPr>
              <p:blipFill>
                <a:blip r:embed="rId27" cstate="print"/>
                <a:stretch>
                  <a:fillRect/>
                </a:stretch>
              </p:blipFill>
              <p:spPr>
                <a:xfrm>
                  <a:off x="6228264" y="2809260"/>
                  <a:ext cx="165353" cy="173996"/>
                </a:xfrm>
                <a:prstGeom prst="rect">
                  <a:avLst/>
                </a:prstGeom>
              </p:spPr>
            </p:pic>
            <p:pic>
              <p:nvPicPr>
                <p:cNvPr id="106" name="object 106"/>
                <p:cNvPicPr/>
                <p:nvPr/>
              </p:nvPicPr>
              <p:blipFill>
                <a:blip r:embed="rId27" cstate="print"/>
                <a:stretch>
                  <a:fillRect/>
                </a:stretch>
              </p:blipFill>
              <p:spPr>
                <a:xfrm>
                  <a:off x="6228264" y="3041679"/>
                  <a:ext cx="165353" cy="173996"/>
                </a:xfrm>
                <a:prstGeom prst="rect">
                  <a:avLst/>
                </a:prstGeom>
              </p:spPr>
            </p:pic>
            <p:pic>
              <p:nvPicPr>
                <p:cNvPr id="107" name="object 107"/>
                <p:cNvPicPr/>
                <p:nvPr/>
              </p:nvPicPr>
              <p:blipFill>
                <a:blip r:embed="rId28" cstate="print"/>
                <a:stretch>
                  <a:fillRect/>
                </a:stretch>
              </p:blipFill>
              <p:spPr>
                <a:xfrm>
                  <a:off x="6228264" y="3274099"/>
                  <a:ext cx="165353" cy="173996"/>
                </a:xfrm>
                <a:prstGeom prst="rect">
                  <a:avLst/>
                </a:prstGeom>
              </p:spPr>
            </p:pic>
            <p:pic>
              <p:nvPicPr>
                <p:cNvPr id="108" name="object 108"/>
                <p:cNvPicPr/>
                <p:nvPr/>
              </p:nvPicPr>
              <p:blipFill>
                <a:blip r:embed="rId28" cstate="print"/>
                <a:stretch>
                  <a:fillRect/>
                </a:stretch>
              </p:blipFill>
              <p:spPr>
                <a:xfrm>
                  <a:off x="6228264" y="3506518"/>
                  <a:ext cx="165353" cy="173996"/>
                </a:xfrm>
                <a:prstGeom prst="rect">
                  <a:avLst/>
                </a:prstGeom>
              </p:spPr>
            </p:pic>
            <p:sp>
              <p:nvSpPr>
                <p:cNvPr id="109" name="object 109"/>
                <p:cNvSpPr/>
                <p:nvPr/>
              </p:nvSpPr>
              <p:spPr>
                <a:xfrm>
                  <a:off x="6122573" y="2715745"/>
                  <a:ext cx="365760" cy="1073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5760" h="1073150">
                      <a:moveTo>
                        <a:pt x="304798" y="0"/>
                      </a:moveTo>
                      <a:lnTo>
                        <a:pt x="328527" y="4790"/>
                      </a:lnTo>
                      <a:lnTo>
                        <a:pt x="347904" y="17855"/>
                      </a:lnTo>
                      <a:lnTo>
                        <a:pt x="360969" y="37232"/>
                      </a:lnTo>
                      <a:lnTo>
                        <a:pt x="365760" y="60961"/>
                      </a:lnTo>
                      <a:lnTo>
                        <a:pt x="365760" y="1011994"/>
                      </a:lnTo>
                      <a:lnTo>
                        <a:pt x="360969" y="1035723"/>
                      </a:lnTo>
                      <a:lnTo>
                        <a:pt x="347904" y="1055100"/>
                      </a:lnTo>
                      <a:lnTo>
                        <a:pt x="328527" y="1068165"/>
                      </a:lnTo>
                      <a:lnTo>
                        <a:pt x="304798" y="1072956"/>
                      </a:lnTo>
                      <a:lnTo>
                        <a:pt x="60961" y="1072956"/>
                      </a:lnTo>
                      <a:lnTo>
                        <a:pt x="37232" y="1068165"/>
                      </a:lnTo>
                      <a:lnTo>
                        <a:pt x="17855" y="1055100"/>
                      </a:lnTo>
                      <a:lnTo>
                        <a:pt x="4790" y="1035723"/>
                      </a:lnTo>
                      <a:lnTo>
                        <a:pt x="0" y="1011994"/>
                      </a:lnTo>
                      <a:lnTo>
                        <a:pt x="0" y="60961"/>
                      </a:lnTo>
                      <a:lnTo>
                        <a:pt x="4790" y="37232"/>
                      </a:lnTo>
                      <a:lnTo>
                        <a:pt x="17855" y="17855"/>
                      </a:lnTo>
                      <a:lnTo>
                        <a:pt x="37232" y="4790"/>
                      </a:lnTo>
                      <a:lnTo>
                        <a:pt x="60961" y="0"/>
                      </a:lnTo>
                      <a:lnTo>
                        <a:pt x="304798" y="0"/>
                      </a:lnTo>
                      <a:close/>
                    </a:path>
                  </a:pathLst>
                </a:custGeom>
                <a:ln w="19050">
                  <a:solidFill>
                    <a:srgbClr val="8C1515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pic>
              <p:nvPicPr>
                <p:cNvPr id="110" name="object 110"/>
                <p:cNvPicPr/>
                <p:nvPr/>
              </p:nvPicPr>
              <p:blipFill>
                <a:blip r:embed="rId29" cstate="print"/>
                <a:stretch>
                  <a:fillRect/>
                </a:stretch>
              </p:blipFill>
              <p:spPr>
                <a:xfrm>
                  <a:off x="5754364" y="4575548"/>
                  <a:ext cx="334841" cy="214103"/>
                </a:xfrm>
                <a:prstGeom prst="rect">
                  <a:avLst/>
                </a:prstGeom>
              </p:spPr>
            </p:pic>
            <p:pic>
              <p:nvPicPr>
                <p:cNvPr id="111" name="object 111"/>
                <p:cNvPicPr/>
                <p:nvPr/>
              </p:nvPicPr>
              <p:blipFill>
                <a:blip r:embed="rId13" cstate="print"/>
                <a:stretch>
                  <a:fillRect/>
                </a:stretch>
              </p:blipFill>
              <p:spPr>
                <a:xfrm>
                  <a:off x="6244741" y="4297987"/>
                  <a:ext cx="165353" cy="157194"/>
                </a:xfrm>
                <a:prstGeom prst="rect">
                  <a:avLst/>
                </a:prstGeom>
              </p:spPr>
            </p:pic>
            <p:pic>
              <p:nvPicPr>
                <p:cNvPr id="112" name="object 112"/>
                <p:cNvPicPr/>
                <p:nvPr/>
              </p:nvPicPr>
              <p:blipFill>
                <a:blip r:embed="rId13" cstate="print"/>
                <a:stretch>
                  <a:fillRect/>
                </a:stretch>
              </p:blipFill>
              <p:spPr>
                <a:xfrm>
                  <a:off x="6244741" y="4505201"/>
                  <a:ext cx="165353" cy="157194"/>
                </a:xfrm>
                <a:prstGeom prst="rect">
                  <a:avLst/>
                </a:prstGeom>
              </p:spPr>
            </p:pic>
            <p:pic>
              <p:nvPicPr>
                <p:cNvPr id="113" name="object 113"/>
                <p:cNvPicPr/>
                <p:nvPr/>
              </p:nvPicPr>
              <p:blipFill>
                <a:blip r:embed="rId12" cstate="print"/>
                <a:stretch>
                  <a:fillRect/>
                </a:stretch>
              </p:blipFill>
              <p:spPr>
                <a:xfrm>
                  <a:off x="6244741" y="4712417"/>
                  <a:ext cx="165353" cy="157194"/>
                </a:xfrm>
                <a:prstGeom prst="rect">
                  <a:avLst/>
                </a:prstGeom>
              </p:spPr>
            </p:pic>
            <p:pic>
              <p:nvPicPr>
                <p:cNvPr id="114" name="object 114"/>
                <p:cNvPicPr/>
                <p:nvPr/>
              </p:nvPicPr>
              <p:blipFill>
                <a:blip r:embed="rId13" cstate="print"/>
                <a:stretch>
                  <a:fillRect/>
                </a:stretch>
              </p:blipFill>
              <p:spPr>
                <a:xfrm>
                  <a:off x="6244741" y="4919633"/>
                  <a:ext cx="165353" cy="157194"/>
                </a:xfrm>
                <a:prstGeom prst="rect">
                  <a:avLst/>
                </a:prstGeom>
              </p:spPr>
            </p:pic>
            <p:sp>
              <p:nvSpPr>
                <p:cNvPr id="115" name="object 115"/>
                <p:cNvSpPr/>
                <p:nvPr/>
              </p:nvSpPr>
              <p:spPr>
                <a:xfrm>
                  <a:off x="6139050" y="4215645"/>
                  <a:ext cx="365760" cy="9569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5759" h="956945">
                      <a:moveTo>
                        <a:pt x="304798" y="0"/>
                      </a:moveTo>
                      <a:lnTo>
                        <a:pt x="328527" y="4790"/>
                      </a:lnTo>
                      <a:lnTo>
                        <a:pt x="347904" y="17855"/>
                      </a:lnTo>
                      <a:lnTo>
                        <a:pt x="360969" y="37232"/>
                      </a:lnTo>
                      <a:lnTo>
                        <a:pt x="365760" y="60961"/>
                      </a:lnTo>
                      <a:lnTo>
                        <a:pt x="365760" y="895642"/>
                      </a:lnTo>
                      <a:lnTo>
                        <a:pt x="360969" y="919371"/>
                      </a:lnTo>
                      <a:lnTo>
                        <a:pt x="347904" y="938748"/>
                      </a:lnTo>
                      <a:lnTo>
                        <a:pt x="328527" y="951813"/>
                      </a:lnTo>
                      <a:lnTo>
                        <a:pt x="304798" y="956604"/>
                      </a:lnTo>
                      <a:lnTo>
                        <a:pt x="60961" y="956604"/>
                      </a:lnTo>
                      <a:lnTo>
                        <a:pt x="37232" y="951813"/>
                      </a:lnTo>
                      <a:lnTo>
                        <a:pt x="17855" y="938748"/>
                      </a:lnTo>
                      <a:lnTo>
                        <a:pt x="4790" y="919371"/>
                      </a:lnTo>
                      <a:lnTo>
                        <a:pt x="0" y="895642"/>
                      </a:lnTo>
                      <a:lnTo>
                        <a:pt x="0" y="60961"/>
                      </a:lnTo>
                      <a:lnTo>
                        <a:pt x="4790" y="37232"/>
                      </a:lnTo>
                      <a:lnTo>
                        <a:pt x="17855" y="17855"/>
                      </a:lnTo>
                      <a:lnTo>
                        <a:pt x="37232" y="4790"/>
                      </a:lnTo>
                      <a:lnTo>
                        <a:pt x="60961" y="0"/>
                      </a:lnTo>
                      <a:lnTo>
                        <a:pt x="304798" y="0"/>
                      </a:lnTo>
                      <a:close/>
                    </a:path>
                  </a:pathLst>
                </a:custGeom>
                <a:ln w="19050">
                  <a:solidFill>
                    <a:srgbClr val="610059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16" name="object 116"/>
                <p:cNvSpPr/>
                <p:nvPr/>
              </p:nvSpPr>
              <p:spPr>
                <a:xfrm>
                  <a:off x="6266601" y="5172205"/>
                  <a:ext cx="111125" cy="43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438150">
                      <a:moveTo>
                        <a:pt x="55328" y="37807"/>
                      </a:moveTo>
                      <a:lnTo>
                        <a:pt x="45803" y="54135"/>
                      </a:lnTo>
                      <a:lnTo>
                        <a:pt x="45802" y="438107"/>
                      </a:lnTo>
                      <a:lnTo>
                        <a:pt x="64852" y="438107"/>
                      </a:lnTo>
                      <a:lnTo>
                        <a:pt x="64852" y="54135"/>
                      </a:lnTo>
                      <a:lnTo>
                        <a:pt x="55328" y="37807"/>
                      </a:lnTo>
                      <a:close/>
                    </a:path>
                    <a:path w="111125" h="438150">
                      <a:moveTo>
                        <a:pt x="55328" y="0"/>
                      </a:moveTo>
                      <a:lnTo>
                        <a:pt x="0" y="94848"/>
                      </a:lnTo>
                      <a:lnTo>
                        <a:pt x="1535" y="100680"/>
                      </a:lnTo>
                      <a:lnTo>
                        <a:pt x="10622" y="105981"/>
                      </a:lnTo>
                      <a:lnTo>
                        <a:pt x="16455" y="104447"/>
                      </a:lnTo>
                      <a:lnTo>
                        <a:pt x="45802" y="54137"/>
                      </a:lnTo>
                      <a:lnTo>
                        <a:pt x="45803" y="18903"/>
                      </a:lnTo>
                      <a:lnTo>
                        <a:pt x="66355" y="18903"/>
                      </a:lnTo>
                      <a:lnTo>
                        <a:pt x="55328" y="0"/>
                      </a:lnTo>
                      <a:close/>
                    </a:path>
                    <a:path w="111125" h="438150">
                      <a:moveTo>
                        <a:pt x="66355" y="18903"/>
                      </a:moveTo>
                      <a:lnTo>
                        <a:pt x="64853" y="18903"/>
                      </a:lnTo>
                      <a:lnTo>
                        <a:pt x="64853" y="54137"/>
                      </a:lnTo>
                      <a:lnTo>
                        <a:pt x="94200" y="104447"/>
                      </a:lnTo>
                      <a:lnTo>
                        <a:pt x="100034" y="105981"/>
                      </a:lnTo>
                      <a:lnTo>
                        <a:pt x="109120" y="100680"/>
                      </a:lnTo>
                      <a:lnTo>
                        <a:pt x="110656" y="94848"/>
                      </a:lnTo>
                      <a:lnTo>
                        <a:pt x="66355" y="18903"/>
                      </a:lnTo>
                      <a:close/>
                    </a:path>
                    <a:path w="111125" h="438150">
                      <a:moveTo>
                        <a:pt x="64853" y="23703"/>
                      </a:moveTo>
                      <a:lnTo>
                        <a:pt x="63555" y="23703"/>
                      </a:lnTo>
                      <a:lnTo>
                        <a:pt x="55328" y="37807"/>
                      </a:lnTo>
                      <a:lnTo>
                        <a:pt x="64853" y="54137"/>
                      </a:lnTo>
                      <a:lnTo>
                        <a:pt x="64853" y="23703"/>
                      </a:lnTo>
                      <a:close/>
                    </a:path>
                    <a:path w="111125" h="438150">
                      <a:moveTo>
                        <a:pt x="64853" y="18903"/>
                      </a:moveTo>
                      <a:lnTo>
                        <a:pt x="45803" y="18903"/>
                      </a:lnTo>
                      <a:lnTo>
                        <a:pt x="45803" y="54135"/>
                      </a:lnTo>
                      <a:lnTo>
                        <a:pt x="55328" y="37807"/>
                      </a:lnTo>
                      <a:lnTo>
                        <a:pt x="47100" y="23703"/>
                      </a:lnTo>
                      <a:lnTo>
                        <a:pt x="64853" y="23703"/>
                      </a:lnTo>
                      <a:lnTo>
                        <a:pt x="64853" y="18903"/>
                      </a:lnTo>
                      <a:close/>
                    </a:path>
                    <a:path w="111125" h="438150">
                      <a:moveTo>
                        <a:pt x="63555" y="23703"/>
                      </a:moveTo>
                      <a:lnTo>
                        <a:pt x="47100" y="23703"/>
                      </a:lnTo>
                      <a:lnTo>
                        <a:pt x="55328" y="37807"/>
                      </a:lnTo>
                      <a:lnTo>
                        <a:pt x="63555" y="23703"/>
                      </a:lnTo>
                      <a:close/>
                    </a:path>
                  </a:pathLst>
                </a:custGeom>
                <a:solidFill>
                  <a:srgbClr val="7F7F7F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pic>
              <p:nvPicPr>
                <p:cNvPr id="117" name="object 117"/>
                <p:cNvPicPr/>
                <p:nvPr/>
              </p:nvPicPr>
              <p:blipFill>
                <a:blip r:embed="rId14" cstate="print"/>
                <a:stretch>
                  <a:fillRect/>
                </a:stretch>
              </p:blipFill>
              <p:spPr>
                <a:xfrm>
                  <a:off x="6361845" y="5317078"/>
                  <a:ext cx="235999" cy="278166"/>
                </a:xfrm>
                <a:prstGeom prst="rect">
                  <a:avLst/>
                </a:prstGeom>
              </p:spPr>
            </p:pic>
            <p:pic>
              <p:nvPicPr>
                <p:cNvPr id="118" name="object 118"/>
                <p:cNvPicPr/>
                <p:nvPr/>
              </p:nvPicPr>
              <p:blipFill>
                <a:blip r:embed="rId15" cstate="print"/>
                <a:stretch>
                  <a:fillRect/>
                </a:stretch>
              </p:blipFill>
              <p:spPr>
                <a:xfrm>
                  <a:off x="6355881" y="3966938"/>
                  <a:ext cx="327651" cy="198835"/>
                </a:xfrm>
                <a:prstGeom prst="rect">
                  <a:avLst/>
                </a:prstGeom>
              </p:spPr>
            </p:pic>
            <p:sp>
              <p:nvSpPr>
                <p:cNvPr id="119" name="object 119"/>
                <p:cNvSpPr/>
                <p:nvPr/>
              </p:nvSpPr>
              <p:spPr>
                <a:xfrm>
                  <a:off x="5424792" y="3229736"/>
                  <a:ext cx="935990" cy="98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5989" h="986154">
                      <a:moveTo>
                        <a:pt x="699300" y="55321"/>
                      </a:moveTo>
                      <a:lnTo>
                        <a:pt x="604456" y="0"/>
                      </a:lnTo>
                      <a:lnTo>
                        <a:pt x="598627" y="1536"/>
                      </a:lnTo>
                      <a:lnTo>
                        <a:pt x="593318" y="10617"/>
                      </a:lnTo>
                      <a:lnTo>
                        <a:pt x="594855" y="16446"/>
                      </a:lnTo>
                      <a:lnTo>
                        <a:pt x="645160" y="45796"/>
                      </a:lnTo>
                      <a:lnTo>
                        <a:pt x="0" y="45796"/>
                      </a:lnTo>
                      <a:lnTo>
                        <a:pt x="0" y="64846"/>
                      </a:lnTo>
                      <a:lnTo>
                        <a:pt x="645160" y="64846"/>
                      </a:lnTo>
                      <a:lnTo>
                        <a:pt x="594855" y="94195"/>
                      </a:lnTo>
                      <a:lnTo>
                        <a:pt x="593318" y="100025"/>
                      </a:lnTo>
                      <a:lnTo>
                        <a:pt x="598627" y="109118"/>
                      </a:lnTo>
                      <a:lnTo>
                        <a:pt x="604456" y="110655"/>
                      </a:lnTo>
                      <a:lnTo>
                        <a:pt x="682967" y="64846"/>
                      </a:lnTo>
                      <a:lnTo>
                        <a:pt x="699300" y="55321"/>
                      </a:lnTo>
                      <a:close/>
                    </a:path>
                    <a:path w="935989" h="986154">
                      <a:moveTo>
                        <a:pt x="935990" y="653770"/>
                      </a:moveTo>
                      <a:lnTo>
                        <a:pt x="891679" y="577824"/>
                      </a:lnTo>
                      <a:lnTo>
                        <a:pt x="880656" y="558927"/>
                      </a:lnTo>
                      <a:lnTo>
                        <a:pt x="825322" y="653770"/>
                      </a:lnTo>
                      <a:lnTo>
                        <a:pt x="826858" y="659599"/>
                      </a:lnTo>
                      <a:lnTo>
                        <a:pt x="835952" y="664908"/>
                      </a:lnTo>
                      <a:lnTo>
                        <a:pt x="841781" y="663371"/>
                      </a:lnTo>
                      <a:lnTo>
                        <a:pt x="871131" y="613067"/>
                      </a:lnTo>
                      <a:lnTo>
                        <a:pt x="871131" y="985913"/>
                      </a:lnTo>
                      <a:lnTo>
                        <a:pt x="890181" y="985913"/>
                      </a:lnTo>
                      <a:lnTo>
                        <a:pt x="890181" y="613067"/>
                      </a:lnTo>
                      <a:lnTo>
                        <a:pt x="919530" y="663371"/>
                      </a:lnTo>
                      <a:lnTo>
                        <a:pt x="925360" y="664908"/>
                      </a:lnTo>
                      <a:lnTo>
                        <a:pt x="934453" y="659599"/>
                      </a:lnTo>
                      <a:lnTo>
                        <a:pt x="935990" y="653770"/>
                      </a:lnTo>
                      <a:close/>
                    </a:path>
                  </a:pathLst>
                </a:custGeom>
                <a:solidFill>
                  <a:srgbClr val="7F7F7F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pic>
              <p:nvPicPr>
                <p:cNvPr id="120" name="object 120"/>
                <p:cNvPicPr/>
                <p:nvPr/>
              </p:nvPicPr>
              <p:blipFill>
                <a:blip r:embed="rId18" cstate="print"/>
                <a:stretch>
                  <a:fillRect/>
                </a:stretch>
              </p:blipFill>
              <p:spPr>
                <a:xfrm>
                  <a:off x="5538142" y="2959374"/>
                  <a:ext cx="427375" cy="292169"/>
                </a:xfrm>
                <a:prstGeom prst="rect">
                  <a:avLst/>
                </a:prstGeom>
              </p:spPr>
            </p:pic>
            <p:pic>
              <p:nvPicPr>
                <p:cNvPr id="121" name="object 121"/>
                <p:cNvPicPr/>
                <p:nvPr/>
              </p:nvPicPr>
              <p:blipFill>
                <a:blip r:embed="rId30" cstate="print"/>
                <a:stretch>
                  <a:fillRect/>
                </a:stretch>
              </p:blipFill>
              <p:spPr>
                <a:xfrm>
                  <a:off x="4792447" y="2539685"/>
                  <a:ext cx="333167" cy="195980"/>
                </a:xfrm>
                <a:prstGeom prst="rect">
                  <a:avLst/>
                </a:prstGeom>
              </p:spPr>
            </p:pic>
            <p:pic>
              <p:nvPicPr>
                <p:cNvPr id="122" name="object 122"/>
                <p:cNvPicPr/>
                <p:nvPr/>
              </p:nvPicPr>
              <p:blipFill>
                <a:blip r:embed="rId17" cstate="print"/>
                <a:stretch>
                  <a:fillRect/>
                </a:stretch>
              </p:blipFill>
              <p:spPr>
                <a:xfrm>
                  <a:off x="5155116" y="2813283"/>
                  <a:ext cx="165353" cy="173996"/>
                </a:xfrm>
                <a:prstGeom prst="rect">
                  <a:avLst/>
                </a:prstGeom>
              </p:spPr>
            </p:pic>
            <p:pic>
              <p:nvPicPr>
                <p:cNvPr id="123" name="object 123"/>
                <p:cNvPicPr/>
                <p:nvPr/>
              </p:nvPicPr>
              <p:blipFill>
                <a:blip r:embed="rId17" cstate="print"/>
                <a:stretch>
                  <a:fillRect/>
                </a:stretch>
              </p:blipFill>
              <p:spPr>
                <a:xfrm>
                  <a:off x="5155116" y="3045702"/>
                  <a:ext cx="165353" cy="173996"/>
                </a:xfrm>
                <a:prstGeom prst="rect">
                  <a:avLst/>
                </a:prstGeom>
              </p:spPr>
            </p:pic>
            <p:pic>
              <p:nvPicPr>
                <p:cNvPr id="124" name="object 124"/>
                <p:cNvPicPr/>
                <p:nvPr/>
              </p:nvPicPr>
              <p:blipFill>
                <a:blip r:embed="rId16" cstate="print"/>
                <a:stretch>
                  <a:fillRect/>
                </a:stretch>
              </p:blipFill>
              <p:spPr>
                <a:xfrm>
                  <a:off x="5155116" y="3278122"/>
                  <a:ext cx="165353" cy="173996"/>
                </a:xfrm>
                <a:prstGeom prst="rect">
                  <a:avLst/>
                </a:prstGeom>
              </p:spPr>
            </p:pic>
            <p:pic>
              <p:nvPicPr>
                <p:cNvPr id="125" name="object 125"/>
                <p:cNvPicPr/>
                <p:nvPr/>
              </p:nvPicPr>
              <p:blipFill>
                <a:blip r:embed="rId16" cstate="print"/>
                <a:stretch>
                  <a:fillRect/>
                </a:stretch>
              </p:blipFill>
              <p:spPr>
                <a:xfrm>
                  <a:off x="5155116" y="3510541"/>
                  <a:ext cx="165353" cy="173996"/>
                </a:xfrm>
                <a:prstGeom prst="rect">
                  <a:avLst/>
                </a:prstGeom>
              </p:spPr>
            </p:pic>
            <p:sp>
              <p:nvSpPr>
                <p:cNvPr id="126" name="object 126"/>
                <p:cNvSpPr/>
                <p:nvPr/>
              </p:nvSpPr>
              <p:spPr>
                <a:xfrm>
                  <a:off x="5049426" y="2719768"/>
                  <a:ext cx="365760" cy="1073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5760" h="1073150">
                      <a:moveTo>
                        <a:pt x="304798" y="0"/>
                      </a:moveTo>
                      <a:lnTo>
                        <a:pt x="328527" y="4790"/>
                      </a:lnTo>
                      <a:lnTo>
                        <a:pt x="347904" y="17855"/>
                      </a:lnTo>
                      <a:lnTo>
                        <a:pt x="360969" y="37232"/>
                      </a:lnTo>
                      <a:lnTo>
                        <a:pt x="365760" y="60961"/>
                      </a:lnTo>
                      <a:lnTo>
                        <a:pt x="365760" y="1011994"/>
                      </a:lnTo>
                      <a:lnTo>
                        <a:pt x="360969" y="1035723"/>
                      </a:lnTo>
                      <a:lnTo>
                        <a:pt x="347904" y="1055100"/>
                      </a:lnTo>
                      <a:lnTo>
                        <a:pt x="328527" y="1068165"/>
                      </a:lnTo>
                      <a:lnTo>
                        <a:pt x="304798" y="1072956"/>
                      </a:lnTo>
                      <a:lnTo>
                        <a:pt x="60961" y="1072956"/>
                      </a:lnTo>
                      <a:lnTo>
                        <a:pt x="37232" y="1068165"/>
                      </a:lnTo>
                      <a:lnTo>
                        <a:pt x="17855" y="1055100"/>
                      </a:lnTo>
                      <a:lnTo>
                        <a:pt x="4790" y="1035723"/>
                      </a:lnTo>
                      <a:lnTo>
                        <a:pt x="0" y="1011994"/>
                      </a:lnTo>
                      <a:lnTo>
                        <a:pt x="0" y="60961"/>
                      </a:lnTo>
                      <a:lnTo>
                        <a:pt x="4790" y="37232"/>
                      </a:lnTo>
                      <a:lnTo>
                        <a:pt x="17855" y="17855"/>
                      </a:lnTo>
                      <a:lnTo>
                        <a:pt x="37232" y="4790"/>
                      </a:lnTo>
                      <a:lnTo>
                        <a:pt x="60961" y="0"/>
                      </a:lnTo>
                      <a:lnTo>
                        <a:pt x="304798" y="0"/>
                      </a:lnTo>
                      <a:close/>
                    </a:path>
                  </a:pathLst>
                </a:custGeom>
                <a:ln w="19050">
                  <a:solidFill>
                    <a:srgbClr val="8C1515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sp>
            <p:nvSpPr>
              <p:cNvPr id="127" name="object 127"/>
              <p:cNvSpPr txBox="1"/>
              <p:nvPr/>
            </p:nvSpPr>
            <p:spPr>
              <a:xfrm>
                <a:off x="8393168" y="1784603"/>
                <a:ext cx="111125" cy="23876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1400" dirty="0">
                    <a:solidFill>
                      <a:srgbClr val="175E54"/>
                    </a:solidFill>
                    <a:latin typeface="Calibri"/>
                    <a:cs typeface="Calibri"/>
                  </a:rPr>
                  <a:t>a</a:t>
                </a:r>
                <a:endParaRPr sz="1400">
                  <a:latin typeface="Calibri"/>
                  <a:cs typeface="Calibri"/>
                </a:endParaRPr>
              </a:p>
            </p:txBody>
          </p:sp>
          <p:sp>
            <p:nvSpPr>
              <p:cNvPr id="128" name="object 128"/>
              <p:cNvSpPr txBox="1"/>
              <p:nvPr/>
            </p:nvSpPr>
            <p:spPr>
              <a:xfrm>
                <a:off x="9899003" y="1787652"/>
                <a:ext cx="279400" cy="23876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1400" spc="-35" dirty="0">
                    <a:solidFill>
                      <a:srgbClr val="175E54"/>
                    </a:solidFill>
                    <a:latin typeface="Calibri"/>
                    <a:cs typeface="Calibri"/>
                  </a:rPr>
                  <a:t>z</a:t>
                </a:r>
                <a:r>
                  <a:rPr sz="1400" spc="-5" dirty="0">
                    <a:solidFill>
                      <a:srgbClr val="175E54"/>
                    </a:solidFill>
                    <a:latin typeface="Calibri"/>
                    <a:cs typeface="Calibri"/>
                  </a:rPr>
                  <a:t>o</a:t>
                </a:r>
                <a:r>
                  <a:rPr sz="1400" dirty="0">
                    <a:solidFill>
                      <a:srgbClr val="175E54"/>
                    </a:solidFill>
                    <a:latin typeface="Calibri"/>
                    <a:cs typeface="Calibri"/>
                  </a:rPr>
                  <a:t>o</a:t>
                </a:r>
                <a:endParaRPr sz="1400">
                  <a:latin typeface="Calibri"/>
                  <a:cs typeface="Calibri"/>
                </a:endParaRPr>
              </a:p>
            </p:txBody>
          </p:sp>
          <p:grpSp>
            <p:nvGrpSpPr>
              <p:cNvPr id="129" name="object 129"/>
              <p:cNvGrpSpPr/>
              <p:nvPr/>
            </p:nvGrpSpPr>
            <p:grpSpPr>
              <a:xfrm>
                <a:off x="9379478" y="1183342"/>
                <a:ext cx="153035" cy="539750"/>
                <a:chOff x="9379478" y="1183342"/>
                <a:chExt cx="153035" cy="539750"/>
              </a:xfrm>
            </p:grpSpPr>
            <p:sp>
              <p:nvSpPr>
                <p:cNvPr id="130" name="object 130"/>
                <p:cNvSpPr/>
                <p:nvPr/>
              </p:nvSpPr>
              <p:spPr>
                <a:xfrm>
                  <a:off x="9384241" y="1188105"/>
                  <a:ext cx="143510" cy="530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509" h="530225">
                      <a:moveTo>
                        <a:pt x="143184" y="0"/>
                      </a:moveTo>
                      <a:lnTo>
                        <a:pt x="0" y="0"/>
                      </a:lnTo>
                      <a:lnTo>
                        <a:pt x="0" y="529694"/>
                      </a:lnTo>
                      <a:lnTo>
                        <a:pt x="143184" y="529694"/>
                      </a:lnTo>
                      <a:lnTo>
                        <a:pt x="143184" y="0"/>
                      </a:lnTo>
                      <a:close/>
                    </a:path>
                  </a:pathLst>
                </a:custGeom>
                <a:solidFill>
                  <a:srgbClr val="92D050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31" name="object 131"/>
                <p:cNvSpPr/>
                <p:nvPr/>
              </p:nvSpPr>
              <p:spPr>
                <a:xfrm>
                  <a:off x="9384241" y="1188105"/>
                  <a:ext cx="143510" cy="530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509" h="530225">
                      <a:moveTo>
                        <a:pt x="0" y="0"/>
                      </a:moveTo>
                      <a:lnTo>
                        <a:pt x="143184" y="0"/>
                      </a:lnTo>
                      <a:lnTo>
                        <a:pt x="143184" y="529694"/>
                      </a:lnTo>
                      <a:lnTo>
                        <a:pt x="0" y="52969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9525">
                  <a:solidFill>
                    <a:srgbClr val="175E54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</p:grp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FB519777-86BD-B775-EF1A-FFD05C45EF13}"/>
              </a:ext>
            </a:extLst>
          </p:cNvPr>
          <p:cNvGrpSpPr/>
          <p:nvPr/>
        </p:nvGrpSpPr>
        <p:grpSpPr>
          <a:xfrm>
            <a:off x="1650671" y="1801697"/>
            <a:ext cx="2771576" cy="750023"/>
            <a:chOff x="1662112" y="1090676"/>
            <a:chExt cx="2771576" cy="753085"/>
          </a:xfrm>
        </p:grpSpPr>
        <p:sp>
          <p:nvSpPr>
            <p:cNvPr id="132" name="object 132"/>
            <p:cNvSpPr txBox="1"/>
            <p:nvPr/>
          </p:nvSpPr>
          <p:spPr>
            <a:xfrm>
              <a:off x="1662112" y="1090676"/>
              <a:ext cx="1790064" cy="25904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600" spc="-5" dirty="0">
                  <a:solidFill>
                    <a:srgbClr val="00B050"/>
                  </a:solidFill>
                  <a:cs typeface="Calibri"/>
                </a:rPr>
                <a:t>output</a:t>
              </a:r>
              <a:r>
                <a:rPr sz="1600" spc="-55" dirty="0">
                  <a:solidFill>
                    <a:srgbClr val="00B050"/>
                  </a:solidFill>
                  <a:cs typeface="Calibri"/>
                </a:rPr>
                <a:t> </a:t>
              </a:r>
              <a:r>
                <a:rPr sz="1600" spc="-5" dirty="0">
                  <a:solidFill>
                    <a:srgbClr val="00B050"/>
                  </a:solidFill>
                  <a:cs typeface="Calibri"/>
                </a:rPr>
                <a:t>distribution</a:t>
              </a:r>
              <a:endParaRPr sz="1600" dirty="0">
                <a:solidFill>
                  <a:srgbClr val="00B050"/>
                </a:solidFill>
                <a:cs typeface="Calibri"/>
              </a:endParaRPr>
            </a:p>
          </p:txBody>
        </p:sp>
        <p:pic>
          <p:nvPicPr>
            <p:cNvPr id="133" name="object 133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673816" y="1503504"/>
              <a:ext cx="2759872" cy="340257"/>
            </a:xfrm>
            <a:prstGeom prst="rect">
              <a:avLst/>
            </a:prstGeom>
          </p:spPr>
        </p:pic>
      </p:grpSp>
      <p:sp>
        <p:nvSpPr>
          <p:cNvPr id="134" name="object 134"/>
          <p:cNvSpPr txBox="1"/>
          <p:nvPr/>
        </p:nvSpPr>
        <p:spPr>
          <a:xfrm>
            <a:off x="1070498" y="5885342"/>
            <a:ext cx="4453482" cy="243785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1313815" marR="279400" indent="-1028700">
              <a:lnSpc>
                <a:spcPct val="101400"/>
              </a:lnSpc>
              <a:spcBef>
                <a:spcPts val="240"/>
              </a:spcBef>
            </a:pPr>
            <a:r>
              <a:rPr sz="1400" b="1" i="1" u="sng" spc="-5" dirty="0">
                <a:solidFill>
                  <a:schemeClr val="accent1"/>
                </a:solidFill>
                <a:uFill>
                  <a:solidFill>
                    <a:srgbClr val="FF30EE"/>
                  </a:solidFill>
                </a:uFill>
                <a:cs typeface="Calibri"/>
              </a:rPr>
              <a:t>Note</a:t>
            </a:r>
            <a:r>
              <a:rPr sz="1400" i="1" spc="-5" dirty="0">
                <a:solidFill>
                  <a:schemeClr val="accent1"/>
                </a:solidFill>
                <a:cs typeface="Calibri"/>
              </a:rPr>
              <a:t>: </a:t>
            </a:r>
            <a:r>
              <a:rPr sz="1400" i="1" dirty="0">
                <a:solidFill>
                  <a:schemeClr val="accent1"/>
                </a:solidFill>
                <a:cs typeface="Calibri"/>
              </a:rPr>
              <a:t>this input </a:t>
            </a:r>
            <a:r>
              <a:rPr sz="1400" i="1" spc="-5" dirty="0">
                <a:solidFill>
                  <a:schemeClr val="accent1"/>
                </a:solidFill>
                <a:cs typeface="Calibri"/>
              </a:rPr>
              <a:t>sequence could </a:t>
            </a:r>
            <a:r>
              <a:rPr sz="1400" i="1" dirty="0">
                <a:solidFill>
                  <a:schemeClr val="accent1"/>
                </a:solidFill>
                <a:cs typeface="Calibri"/>
              </a:rPr>
              <a:t>be much </a:t>
            </a:r>
            <a:r>
              <a:rPr sz="1400" i="1" spc="-305" dirty="0">
                <a:solidFill>
                  <a:schemeClr val="accent1"/>
                </a:solidFill>
                <a:cs typeface="Calibri"/>
              </a:rPr>
              <a:t> </a:t>
            </a:r>
            <a:r>
              <a:rPr sz="1400" i="1" spc="-5" dirty="0">
                <a:solidFill>
                  <a:schemeClr val="accent1"/>
                </a:solidFill>
                <a:cs typeface="Calibri"/>
              </a:rPr>
              <a:t>longer</a:t>
            </a:r>
            <a:r>
              <a:rPr sz="1400" i="1" spc="-15" dirty="0">
                <a:solidFill>
                  <a:schemeClr val="accent1"/>
                </a:solidFill>
                <a:cs typeface="Calibri"/>
              </a:rPr>
              <a:t> </a:t>
            </a:r>
            <a:r>
              <a:rPr sz="1400" i="1" spc="-5" dirty="0">
                <a:solidFill>
                  <a:schemeClr val="accent1"/>
                </a:solidFill>
                <a:cs typeface="Calibri"/>
              </a:rPr>
              <a:t>now!</a:t>
            </a:r>
            <a:endParaRPr sz="1400">
              <a:solidFill>
                <a:schemeClr val="accent1"/>
              </a:solidFill>
              <a:cs typeface="Calibri"/>
            </a:endParaRPr>
          </a:p>
        </p:txBody>
      </p:sp>
      <p:sp>
        <p:nvSpPr>
          <p:cNvPr id="135" name="object 135"/>
          <p:cNvSpPr/>
          <p:nvPr/>
        </p:nvSpPr>
        <p:spPr>
          <a:xfrm>
            <a:off x="5517371" y="5783725"/>
            <a:ext cx="767238" cy="244096"/>
          </a:xfrm>
          <a:custGeom>
            <a:avLst/>
            <a:gdLst/>
            <a:ahLst/>
            <a:cxnLst/>
            <a:rect l="l" t="t" r="r" b="b"/>
            <a:pathLst>
              <a:path w="718820" h="318134">
                <a:moveTo>
                  <a:pt x="633832" y="26360"/>
                </a:moveTo>
                <a:lnTo>
                  <a:pt x="0" y="291606"/>
                </a:lnTo>
                <a:lnTo>
                  <a:pt x="11031" y="317966"/>
                </a:lnTo>
                <a:lnTo>
                  <a:pt x="644863" y="52720"/>
                </a:lnTo>
                <a:lnTo>
                  <a:pt x="633832" y="26360"/>
                </a:lnTo>
                <a:close/>
              </a:path>
              <a:path w="718820" h="318134">
                <a:moveTo>
                  <a:pt x="706031" y="20844"/>
                </a:moveTo>
                <a:lnTo>
                  <a:pt x="647012" y="20844"/>
                </a:lnTo>
                <a:lnTo>
                  <a:pt x="658044" y="47204"/>
                </a:lnTo>
                <a:lnTo>
                  <a:pt x="644863" y="52720"/>
                </a:lnTo>
                <a:lnTo>
                  <a:pt x="655894" y="79079"/>
                </a:lnTo>
                <a:lnTo>
                  <a:pt x="706031" y="20844"/>
                </a:lnTo>
                <a:close/>
              </a:path>
              <a:path w="718820" h="318134">
                <a:moveTo>
                  <a:pt x="647012" y="20844"/>
                </a:moveTo>
                <a:lnTo>
                  <a:pt x="633832" y="26360"/>
                </a:lnTo>
                <a:lnTo>
                  <a:pt x="644863" y="52720"/>
                </a:lnTo>
                <a:lnTo>
                  <a:pt x="658044" y="47204"/>
                </a:lnTo>
                <a:lnTo>
                  <a:pt x="647012" y="20844"/>
                </a:lnTo>
                <a:close/>
              </a:path>
              <a:path w="718820" h="318134">
                <a:moveTo>
                  <a:pt x="622801" y="0"/>
                </a:moveTo>
                <a:lnTo>
                  <a:pt x="633832" y="26360"/>
                </a:lnTo>
                <a:lnTo>
                  <a:pt x="647012" y="20844"/>
                </a:lnTo>
                <a:lnTo>
                  <a:pt x="706031" y="20844"/>
                </a:lnTo>
                <a:lnTo>
                  <a:pt x="718427" y="6446"/>
                </a:lnTo>
                <a:lnTo>
                  <a:pt x="622801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60A2C56C-7CB3-7077-3113-0960C0E24EB0}"/>
              </a:ext>
            </a:extLst>
          </p:cNvPr>
          <p:cNvGrpSpPr/>
          <p:nvPr/>
        </p:nvGrpSpPr>
        <p:grpSpPr>
          <a:xfrm>
            <a:off x="1618310" y="2749516"/>
            <a:ext cx="3388342" cy="997709"/>
            <a:chOff x="1640047" y="2788411"/>
            <a:chExt cx="2977515" cy="997709"/>
          </a:xfrm>
        </p:grpSpPr>
        <p:grpSp>
          <p:nvGrpSpPr>
            <p:cNvPr id="136" name="object 136"/>
            <p:cNvGrpSpPr/>
            <p:nvPr/>
          </p:nvGrpSpPr>
          <p:grpSpPr>
            <a:xfrm>
              <a:off x="1640047" y="3079931"/>
              <a:ext cx="2977515" cy="612775"/>
              <a:chOff x="1640047" y="3079931"/>
              <a:chExt cx="2977515" cy="612775"/>
            </a:xfrm>
          </p:grpSpPr>
          <p:pic>
            <p:nvPicPr>
              <p:cNvPr id="137" name="object 137"/>
              <p:cNvPicPr/>
              <p:nvPr/>
            </p:nvPicPr>
            <p:blipFill>
              <a:blip r:embed="rId32" cstate="print"/>
              <a:stretch>
                <a:fillRect/>
              </a:stretch>
            </p:blipFill>
            <p:spPr>
              <a:xfrm>
                <a:off x="1640047" y="3079931"/>
                <a:ext cx="2977271" cy="398811"/>
              </a:xfrm>
              <a:prstGeom prst="rect">
                <a:avLst/>
              </a:prstGeom>
            </p:spPr>
          </p:pic>
          <p:pic>
            <p:nvPicPr>
              <p:cNvPr id="138" name="object 138"/>
              <p:cNvPicPr/>
              <p:nvPr/>
            </p:nvPicPr>
            <p:blipFill>
              <a:blip r:embed="rId30" cstate="print"/>
              <a:stretch>
                <a:fillRect/>
              </a:stretch>
            </p:blipFill>
            <p:spPr>
              <a:xfrm>
                <a:off x="1661603" y="3496173"/>
                <a:ext cx="333167" cy="195980"/>
              </a:xfrm>
              <a:prstGeom prst="rect">
                <a:avLst/>
              </a:prstGeom>
            </p:spPr>
          </p:pic>
        </p:grpSp>
        <p:sp>
          <p:nvSpPr>
            <p:cNvPr id="139" name="object 139"/>
            <p:cNvSpPr txBox="1"/>
            <p:nvPr/>
          </p:nvSpPr>
          <p:spPr>
            <a:xfrm>
              <a:off x="1645635" y="2788411"/>
              <a:ext cx="2188845" cy="997709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600" spc="-5" dirty="0">
                  <a:solidFill>
                    <a:srgbClr val="8C1515"/>
                  </a:solidFill>
                  <a:cs typeface="Calibri"/>
                </a:rPr>
                <a:t>hidden</a:t>
              </a:r>
              <a:r>
                <a:rPr sz="1600" spc="-20" dirty="0">
                  <a:solidFill>
                    <a:srgbClr val="8C1515"/>
                  </a:solidFill>
                  <a:cs typeface="Calibri"/>
                </a:rPr>
                <a:t> states</a:t>
              </a:r>
              <a:endParaRPr sz="1600" dirty="0">
                <a:cs typeface="Calibri"/>
              </a:endParaRPr>
            </a:p>
            <a:p>
              <a:pPr>
                <a:lnSpc>
                  <a:spcPct val="100000"/>
                </a:lnSpc>
                <a:spcBef>
                  <a:spcPts val="20"/>
                </a:spcBef>
              </a:pPr>
              <a:endParaRPr sz="1600" dirty="0">
                <a:cs typeface="Calibri"/>
              </a:endParaRPr>
            </a:p>
            <a:p>
              <a:pPr marL="396240">
                <a:lnSpc>
                  <a:spcPct val="100000"/>
                </a:lnSpc>
              </a:pPr>
              <a:endParaRPr lang="en-US" sz="1600" dirty="0">
                <a:cs typeface="Calibri"/>
              </a:endParaRPr>
            </a:p>
            <a:p>
              <a:pPr marL="396240">
                <a:lnSpc>
                  <a:spcPct val="100000"/>
                </a:lnSpc>
              </a:pPr>
              <a:r>
                <a:rPr lang="en-US" sz="1600" dirty="0">
                  <a:cs typeface="Calibri"/>
                </a:rPr>
                <a:t> </a:t>
              </a:r>
              <a:r>
                <a:rPr sz="1600" dirty="0">
                  <a:cs typeface="Calibri"/>
                </a:rPr>
                <a:t>is</a:t>
              </a:r>
              <a:r>
                <a:rPr sz="1600" spc="-25" dirty="0">
                  <a:cs typeface="Calibri"/>
                </a:rPr>
                <a:t> </a:t>
              </a:r>
              <a:r>
                <a:rPr sz="1600" dirty="0">
                  <a:cs typeface="Calibri"/>
                </a:rPr>
                <a:t>the</a:t>
              </a:r>
              <a:r>
                <a:rPr sz="1600" spc="-25" dirty="0">
                  <a:cs typeface="Calibri"/>
                </a:rPr>
                <a:t> </a:t>
              </a:r>
              <a:r>
                <a:rPr sz="1600" dirty="0">
                  <a:cs typeface="Calibri"/>
                </a:rPr>
                <a:t>initial</a:t>
              </a:r>
              <a:r>
                <a:rPr sz="1600" spc="-25" dirty="0">
                  <a:cs typeface="Calibri"/>
                </a:rPr>
                <a:t> </a:t>
              </a:r>
              <a:r>
                <a:rPr sz="1600" dirty="0">
                  <a:cs typeface="Calibri"/>
                </a:rPr>
                <a:t>hidden</a:t>
              </a:r>
              <a:r>
                <a:rPr sz="1600" spc="-25" dirty="0">
                  <a:cs typeface="Calibri"/>
                </a:rPr>
                <a:t> </a:t>
              </a:r>
              <a:r>
                <a:rPr sz="1600" spc="-10" dirty="0">
                  <a:cs typeface="Calibri"/>
                </a:rPr>
                <a:t>state</a:t>
              </a:r>
              <a:endParaRPr sz="1600" dirty="0">
                <a:cs typeface="Calibri"/>
              </a:endParaRPr>
            </a:p>
          </p:txBody>
        </p:sp>
      </p:grp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F386CF27-066E-838E-FA18-E8A214F391F8}"/>
              </a:ext>
            </a:extLst>
          </p:cNvPr>
          <p:cNvCxnSpPr>
            <a:cxnSpLocks/>
          </p:cNvCxnSpPr>
          <p:nvPr/>
        </p:nvCxnSpPr>
        <p:spPr>
          <a:xfrm flipV="1">
            <a:off x="4543720" y="1387794"/>
            <a:ext cx="3782932" cy="748447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Rectangle 151">
            <a:extLst>
              <a:ext uri="{FF2B5EF4-FFF2-40B4-BE49-F238E27FC236}">
                <a16:creationId xmlns:a16="http://schemas.microsoft.com/office/drawing/2014/main" id="{652A22B5-69E6-85A6-486F-DFFD8012FF8F}"/>
              </a:ext>
            </a:extLst>
          </p:cNvPr>
          <p:cNvSpPr/>
          <p:nvPr/>
        </p:nvSpPr>
        <p:spPr>
          <a:xfrm>
            <a:off x="1523974" y="1689253"/>
            <a:ext cx="3026319" cy="919991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4712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1325" y="955948"/>
            <a:ext cx="1130776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5" dirty="0"/>
              <a:t>RNN</a:t>
            </a:r>
            <a:r>
              <a:rPr lang="en-IN" spc="-25" dirty="0"/>
              <a:t> </a:t>
            </a:r>
            <a:r>
              <a:rPr lang="en-IN" spc="-10" dirty="0"/>
              <a:t>Language</a:t>
            </a:r>
            <a:r>
              <a:rPr lang="en-IN" spc="-25" dirty="0"/>
              <a:t> </a:t>
            </a:r>
            <a:r>
              <a:rPr lang="en-IN" dirty="0"/>
              <a:t>Models</a:t>
            </a:r>
            <a:endParaRPr dirty="0"/>
          </a:p>
        </p:txBody>
      </p: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F91EA76B-10F3-80CB-E239-08DB379689D8}"/>
              </a:ext>
            </a:extLst>
          </p:cNvPr>
          <p:cNvGrpSpPr/>
          <p:nvPr/>
        </p:nvGrpSpPr>
        <p:grpSpPr>
          <a:xfrm>
            <a:off x="5001525" y="315074"/>
            <a:ext cx="5962821" cy="5609669"/>
            <a:chOff x="4819543" y="233224"/>
            <a:chExt cx="6026363" cy="5983100"/>
          </a:xfrm>
        </p:grpSpPr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28701" y="2224778"/>
              <a:ext cx="197914" cy="172897"/>
            </a:xfrm>
            <a:prstGeom prst="rect">
              <a:avLst/>
            </a:prstGeom>
          </p:spPr>
        </p:pic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664EBEE5-D9E3-D6E1-8750-011256717805}"/>
                </a:ext>
              </a:extLst>
            </p:cNvPr>
            <p:cNvGrpSpPr/>
            <p:nvPr/>
          </p:nvGrpSpPr>
          <p:grpSpPr>
            <a:xfrm>
              <a:off x="4819543" y="233224"/>
              <a:ext cx="6026363" cy="5983100"/>
              <a:chOff x="4792447" y="252138"/>
              <a:chExt cx="6026363" cy="5983100"/>
            </a:xfrm>
          </p:grpSpPr>
          <p:sp>
            <p:nvSpPr>
              <p:cNvPr id="3" name="object 3"/>
              <p:cNvSpPr txBox="1"/>
              <p:nvPr/>
            </p:nvSpPr>
            <p:spPr>
              <a:xfrm>
                <a:off x="6140953" y="5631179"/>
                <a:ext cx="1666875" cy="33020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  <a:tabLst>
                    <a:tab pos="779145" algn="l"/>
                  </a:tabLst>
                </a:pPr>
                <a:r>
                  <a:rPr sz="2000" i="1" spc="5" dirty="0">
                    <a:latin typeface="Calibri"/>
                    <a:cs typeface="Calibri"/>
                  </a:rPr>
                  <a:t>t</a:t>
                </a:r>
                <a:r>
                  <a:rPr sz="2000" i="1" spc="-5" dirty="0">
                    <a:latin typeface="Calibri"/>
                    <a:cs typeface="Calibri"/>
                  </a:rPr>
                  <a:t>h</a:t>
                </a:r>
                <a:r>
                  <a:rPr sz="2000" i="1" dirty="0">
                    <a:latin typeface="Calibri"/>
                    <a:cs typeface="Calibri"/>
                  </a:rPr>
                  <a:t>e	</a:t>
                </a:r>
                <a:r>
                  <a:rPr sz="2000" i="1" spc="-30" dirty="0">
                    <a:latin typeface="Calibri"/>
                    <a:cs typeface="Calibri"/>
                  </a:rPr>
                  <a:t>s</a:t>
                </a:r>
                <a:r>
                  <a:rPr sz="2000" i="1" dirty="0">
                    <a:latin typeface="Calibri"/>
                    <a:cs typeface="Calibri"/>
                  </a:rPr>
                  <a:t>t</a:t>
                </a:r>
                <a:r>
                  <a:rPr sz="2000" i="1" spc="-5" dirty="0">
                    <a:latin typeface="Calibri"/>
                    <a:cs typeface="Calibri"/>
                  </a:rPr>
                  <a:t>ude</a:t>
                </a:r>
                <a:r>
                  <a:rPr sz="2000" i="1" spc="-25" dirty="0">
                    <a:latin typeface="Calibri"/>
                    <a:cs typeface="Calibri"/>
                  </a:rPr>
                  <a:t>n</a:t>
                </a:r>
                <a:r>
                  <a:rPr sz="2000" i="1" dirty="0">
                    <a:latin typeface="Calibri"/>
                    <a:cs typeface="Calibri"/>
                  </a:rPr>
                  <a:t>ts</a:t>
                </a:r>
                <a:endParaRPr sz="2000">
                  <a:latin typeface="Calibri"/>
                  <a:cs typeface="Calibri"/>
                </a:endParaRPr>
              </a:p>
            </p:txBody>
          </p:sp>
          <p:sp>
            <p:nvSpPr>
              <p:cNvPr id="4" name="object 4"/>
              <p:cNvSpPr txBox="1"/>
              <p:nvPr/>
            </p:nvSpPr>
            <p:spPr>
              <a:xfrm>
                <a:off x="8053312" y="5631179"/>
                <a:ext cx="788035" cy="33020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2000" i="1" spc="-10" dirty="0">
                    <a:latin typeface="Calibri"/>
                    <a:cs typeface="Calibri"/>
                  </a:rPr>
                  <a:t>opened</a:t>
                </a:r>
                <a:endParaRPr sz="2000">
                  <a:latin typeface="Calibri"/>
                  <a:cs typeface="Calibri"/>
                </a:endParaRPr>
              </a:p>
            </p:txBody>
          </p:sp>
          <p:sp>
            <p:nvSpPr>
              <p:cNvPr id="5" name="object 5"/>
              <p:cNvSpPr txBox="1"/>
              <p:nvPr/>
            </p:nvSpPr>
            <p:spPr>
              <a:xfrm>
                <a:off x="9278720" y="5631179"/>
                <a:ext cx="508634" cy="33020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2000" i="1" spc="5" dirty="0">
                    <a:latin typeface="Calibri"/>
                    <a:cs typeface="Calibri"/>
                  </a:rPr>
                  <a:t>t</a:t>
                </a:r>
                <a:r>
                  <a:rPr sz="2000" i="1" spc="-5" dirty="0">
                    <a:latin typeface="Calibri"/>
                    <a:cs typeface="Calibri"/>
                  </a:rPr>
                  <a:t>h</a:t>
                </a:r>
                <a:r>
                  <a:rPr sz="2000" i="1" spc="-10" dirty="0">
                    <a:latin typeface="Calibri"/>
                    <a:cs typeface="Calibri"/>
                  </a:rPr>
                  <a:t>e</a:t>
                </a:r>
                <a:r>
                  <a:rPr sz="2000" i="1" dirty="0">
                    <a:latin typeface="Calibri"/>
                    <a:cs typeface="Calibri"/>
                  </a:rPr>
                  <a:t>ir</a:t>
                </a:r>
                <a:endParaRPr sz="2000">
                  <a:latin typeface="Calibri"/>
                  <a:cs typeface="Calibri"/>
                </a:endParaRPr>
              </a:p>
            </p:txBody>
          </p:sp>
          <p:pic>
            <p:nvPicPr>
              <p:cNvPr id="8" name="object 8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6101364" y="5915199"/>
                <a:ext cx="441131" cy="320039"/>
              </a:xfrm>
              <a:prstGeom prst="rect">
                <a:avLst/>
              </a:prstGeom>
            </p:spPr>
          </p:pic>
          <p:pic>
            <p:nvPicPr>
              <p:cNvPr id="9" name="object 9"/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9317608" y="5915199"/>
                <a:ext cx="424722" cy="320039"/>
              </a:xfrm>
              <a:prstGeom prst="rect">
                <a:avLst/>
              </a:prstGeom>
            </p:spPr>
          </p:pic>
          <p:pic>
            <p:nvPicPr>
              <p:cNvPr id="10" name="object 10"/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8233019" y="5915199"/>
                <a:ext cx="440474" cy="320039"/>
              </a:xfrm>
              <a:prstGeom prst="rect">
                <a:avLst/>
              </a:prstGeom>
            </p:spPr>
          </p:pic>
          <p:pic>
            <p:nvPicPr>
              <p:cNvPr id="11" name="object 11"/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7130992" y="5915199"/>
                <a:ext cx="467593" cy="320039"/>
              </a:xfrm>
              <a:prstGeom prst="rect">
                <a:avLst/>
              </a:prstGeom>
            </p:spPr>
          </p:pic>
          <p:sp>
            <p:nvSpPr>
              <p:cNvPr id="12" name="object 12"/>
              <p:cNvSpPr txBox="1"/>
              <p:nvPr/>
            </p:nvSpPr>
            <p:spPr>
              <a:xfrm>
                <a:off x="8375387" y="477011"/>
                <a:ext cx="447040" cy="23876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1400" i="1" spc="5" dirty="0">
                    <a:solidFill>
                      <a:srgbClr val="175E54"/>
                    </a:solidFill>
                    <a:latin typeface="Calibri"/>
                    <a:cs typeface="Calibri"/>
                  </a:rPr>
                  <a:t>b</a:t>
                </a:r>
                <a:r>
                  <a:rPr sz="1400" i="1" spc="-10" dirty="0">
                    <a:solidFill>
                      <a:srgbClr val="175E54"/>
                    </a:solidFill>
                    <a:latin typeface="Calibri"/>
                    <a:cs typeface="Calibri"/>
                  </a:rPr>
                  <a:t>oo</a:t>
                </a:r>
                <a:r>
                  <a:rPr sz="1400" i="1" spc="-15" dirty="0">
                    <a:solidFill>
                      <a:srgbClr val="175E54"/>
                    </a:solidFill>
                    <a:latin typeface="Calibri"/>
                    <a:cs typeface="Calibri"/>
                  </a:rPr>
                  <a:t>k</a:t>
                </a:r>
                <a:r>
                  <a:rPr sz="1400" i="1" dirty="0">
                    <a:solidFill>
                      <a:srgbClr val="175E54"/>
                    </a:solidFill>
                    <a:latin typeface="Calibri"/>
                    <a:cs typeface="Calibri"/>
                  </a:rPr>
                  <a:t>s</a:t>
                </a:r>
                <a:endParaRPr sz="1400">
                  <a:latin typeface="Calibri"/>
                  <a:cs typeface="Calibri"/>
                </a:endParaRPr>
              </a:p>
            </p:txBody>
          </p:sp>
          <p:sp>
            <p:nvSpPr>
              <p:cNvPr id="13" name="object 13"/>
              <p:cNvSpPr txBox="1"/>
              <p:nvPr/>
            </p:nvSpPr>
            <p:spPr>
              <a:xfrm>
                <a:off x="9175955" y="669035"/>
                <a:ext cx="559435" cy="23876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1400" i="1" dirty="0">
                    <a:solidFill>
                      <a:srgbClr val="175E54"/>
                    </a:solidFill>
                    <a:latin typeface="Calibri"/>
                    <a:cs typeface="Calibri"/>
                  </a:rPr>
                  <a:t>l</a:t>
                </a:r>
                <a:r>
                  <a:rPr sz="1400" i="1" spc="5" dirty="0">
                    <a:solidFill>
                      <a:srgbClr val="175E54"/>
                    </a:solidFill>
                    <a:latin typeface="Calibri"/>
                    <a:cs typeface="Calibri"/>
                  </a:rPr>
                  <a:t>a</a:t>
                </a:r>
                <a:r>
                  <a:rPr sz="1400" i="1" spc="-5" dirty="0">
                    <a:solidFill>
                      <a:srgbClr val="175E54"/>
                    </a:solidFill>
                    <a:latin typeface="Calibri"/>
                    <a:cs typeface="Calibri"/>
                  </a:rPr>
                  <a:t>p</a:t>
                </a:r>
                <a:r>
                  <a:rPr sz="1400" i="1" spc="-15" dirty="0">
                    <a:solidFill>
                      <a:srgbClr val="175E54"/>
                    </a:solidFill>
                    <a:latin typeface="Calibri"/>
                    <a:cs typeface="Calibri"/>
                  </a:rPr>
                  <a:t>t</a:t>
                </a:r>
                <a:r>
                  <a:rPr sz="1400" i="1" spc="-10" dirty="0">
                    <a:solidFill>
                      <a:srgbClr val="175E54"/>
                    </a:solidFill>
                    <a:latin typeface="Calibri"/>
                    <a:cs typeface="Calibri"/>
                  </a:rPr>
                  <a:t>o</a:t>
                </a:r>
                <a:r>
                  <a:rPr sz="1400" i="1" spc="-5" dirty="0">
                    <a:solidFill>
                      <a:srgbClr val="175E54"/>
                    </a:solidFill>
                    <a:latin typeface="Calibri"/>
                    <a:cs typeface="Calibri"/>
                  </a:rPr>
                  <a:t>p</a:t>
                </a:r>
                <a:r>
                  <a:rPr sz="1400" i="1" dirty="0">
                    <a:solidFill>
                      <a:srgbClr val="175E54"/>
                    </a:solidFill>
                    <a:latin typeface="Calibri"/>
                    <a:cs typeface="Calibri"/>
                  </a:rPr>
                  <a:t>s</a:t>
                </a:r>
                <a:endParaRPr sz="1400">
                  <a:latin typeface="Calibri"/>
                  <a:cs typeface="Calibri"/>
                </a:endParaRPr>
              </a:p>
            </p:txBody>
          </p:sp>
          <p:pic>
            <p:nvPicPr>
              <p:cNvPr id="16" name="object 16"/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7561337" y="252138"/>
                <a:ext cx="3257473" cy="281261"/>
              </a:xfrm>
              <a:prstGeom prst="rect">
                <a:avLst/>
              </a:prstGeom>
            </p:spPr>
          </p:pic>
          <p:grpSp>
            <p:nvGrpSpPr>
              <p:cNvPr id="18" name="object 18"/>
              <p:cNvGrpSpPr/>
              <p:nvPr/>
            </p:nvGrpSpPr>
            <p:grpSpPr>
              <a:xfrm>
                <a:off x="8185201" y="719274"/>
                <a:ext cx="2113280" cy="1118870"/>
                <a:chOff x="8185201" y="719274"/>
                <a:chExt cx="2113280" cy="1118870"/>
              </a:xfrm>
            </p:grpSpPr>
            <p:sp>
              <p:nvSpPr>
                <p:cNvPr id="19" name="object 19"/>
                <p:cNvSpPr/>
                <p:nvPr/>
              </p:nvSpPr>
              <p:spPr>
                <a:xfrm>
                  <a:off x="8561431" y="719274"/>
                  <a:ext cx="76200" cy="2933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293369">
                      <a:moveTo>
                        <a:pt x="33336" y="216655"/>
                      </a:moveTo>
                      <a:lnTo>
                        <a:pt x="0" y="216707"/>
                      </a:lnTo>
                      <a:lnTo>
                        <a:pt x="38218" y="292848"/>
                      </a:lnTo>
                      <a:lnTo>
                        <a:pt x="69841" y="229355"/>
                      </a:lnTo>
                      <a:lnTo>
                        <a:pt x="33356" y="229355"/>
                      </a:lnTo>
                      <a:lnTo>
                        <a:pt x="33336" y="216655"/>
                      </a:lnTo>
                      <a:close/>
                    </a:path>
                    <a:path w="76200" h="293369">
                      <a:moveTo>
                        <a:pt x="42861" y="216640"/>
                      </a:moveTo>
                      <a:lnTo>
                        <a:pt x="33336" y="216655"/>
                      </a:lnTo>
                      <a:lnTo>
                        <a:pt x="33356" y="229355"/>
                      </a:lnTo>
                      <a:lnTo>
                        <a:pt x="42881" y="229340"/>
                      </a:lnTo>
                      <a:lnTo>
                        <a:pt x="42861" y="216640"/>
                      </a:lnTo>
                      <a:close/>
                    </a:path>
                    <a:path w="76200" h="293369">
                      <a:moveTo>
                        <a:pt x="76200" y="216588"/>
                      </a:moveTo>
                      <a:lnTo>
                        <a:pt x="42861" y="216640"/>
                      </a:lnTo>
                      <a:lnTo>
                        <a:pt x="42881" y="229340"/>
                      </a:lnTo>
                      <a:lnTo>
                        <a:pt x="33356" y="229355"/>
                      </a:lnTo>
                      <a:lnTo>
                        <a:pt x="69841" y="229355"/>
                      </a:lnTo>
                      <a:lnTo>
                        <a:pt x="76200" y="216588"/>
                      </a:lnTo>
                      <a:close/>
                    </a:path>
                    <a:path w="76200" h="293369">
                      <a:moveTo>
                        <a:pt x="42524" y="0"/>
                      </a:moveTo>
                      <a:lnTo>
                        <a:pt x="32999" y="15"/>
                      </a:lnTo>
                      <a:lnTo>
                        <a:pt x="33336" y="216655"/>
                      </a:lnTo>
                      <a:lnTo>
                        <a:pt x="42861" y="216640"/>
                      </a:lnTo>
                      <a:lnTo>
                        <a:pt x="42524" y="0"/>
                      </a:lnTo>
                      <a:close/>
                    </a:path>
                  </a:pathLst>
                </a:custGeom>
                <a:solidFill>
                  <a:srgbClr val="175E54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0" name="object 20"/>
                <p:cNvSpPr/>
                <p:nvPr/>
              </p:nvSpPr>
              <p:spPr>
                <a:xfrm>
                  <a:off x="8191551" y="1711511"/>
                  <a:ext cx="33655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6550">
                      <a:moveTo>
                        <a:pt x="0" y="0"/>
                      </a:moveTo>
                      <a:lnTo>
                        <a:pt x="336506" y="0"/>
                      </a:lnTo>
                    </a:path>
                  </a:pathLst>
                </a:custGeom>
                <a:ln w="12576">
                  <a:solidFill>
                    <a:srgbClr val="175E54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1" name="object 21"/>
                <p:cNvSpPr/>
                <p:nvPr/>
              </p:nvSpPr>
              <p:spPr>
                <a:xfrm>
                  <a:off x="8191551" y="1716273"/>
                  <a:ext cx="479425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9425">
                      <a:moveTo>
                        <a:pt x="0" y="0"/>
                      </a:moveTo>
                      <a:lnTo>
                        <a:pt x="479204" y="0"/>
                      </a:lnTo>
                    </a:path>
                  </a:pathLst>
                </a:custGeom>
                <a:ln w="3175">
                  <a:solidFill>
                    <a:srgbClr val="175E54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2" name="object 22"/>
                <p:cNvSpPr/>
                <p:nvPr/>
              </p:nvSpPr>
              <p:spPr>
                <a:xfrm>
                  <a:off x="10098210" y="1711511"/>
                  <a:ext cx="193675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675">
                      <a:moveTo>
                        <a:pt x="0" y="0"/>
                      </a:moveTo>
                      <a:lnTo>
                        <a:pt x="193322" y="0"/>
                      </a:lnTo>
                    </a:path>
                  </a:pathLst>
                </a:custGeom>
                <a:ln w="12576">
                  <a:solidFill>
                    <a:srgbClr val="175E54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3" name="object 23"/>
                <p:cNvSpPr/>
                <p:nvPr/>
              </p:nvSpPr>
              <p:spPr>
                <a:xfrm>
                  <a:off x="8191551" y="1716273"/>
                  <a:ext cx="2100580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0579" h="6350">
                      <a:moveTo>
                        <a:pt x="1906658" y="0"/>
                      </a:moveTo>
                      <a:lnTo>
                        <a:pt x="2099981" y="0"/>
                      </a:lnTo>
                    </a:path>
                    <a:path w="2100579" h="6350">
                      <a:moveTo>
                        <a:pt x="0" y="6288"/>
                      </a:moveTo>
                      <a:lnTo>
                        <a:pt x="2099981" y="6288"/>
                      </a:lnTo>
                    </a:path>
                  </a:pathLst>
                </a:custGeom>
                <a:ln w="3175">
                  <a:solidFill>
                    <a:srgbClr val="175E54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4" name="object 24"/>
                <p:cNvSpPr/>
                <p:nvPr/>
              </p:nvSpPr>
              <p:spPr>
                <a:xfrm>
                  <a:off x="8385361" y="1630302"/>
                  <a:ext cx="143510" cy="876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509" h="87630">
                      <a:moveTo>
                        <a:pt x="143183" y="0"/>
                      </a:moveTo>
                      <a:lnTo>
                        <a:pt x="0" y="0"/>
                      </a:lnTo>
                      <a:lnTo>
                        <a:pt x="0" y="87496"/>
                      </a:lnTo>
                      <a:lnTo>
                        <a:pt x="143183" y="87496"/>
                      </a:lnTo>
                      <a:lnTo>
                        <a:pt x="143183" y="0"/>
                      </a:lnTo>
                      <a:close/>
                    </a:path>
                  </a:pathLst>
                </a:custGeom>
                <a:solidFill>
                  <a:srgbClr val="92D050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5" name="object 25"/>
                <p:cNvSpPr/>
                <p:nvPr/>
              </p:nvSpPr>
              <p:spPr>
                <a:xfrm>
                  <a:off x="8385361" y="1630302"/>
                  <a:ext cx="143510" cy="876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509" h="87630">
                      <a:moveTo>
                        <a:pt x="0" y="0"/>
                      </a:moveTo>
                      <a:lnTo>
                        <a:pt x="143184" y="0"/>
                      </a:lnTo>
                      <a:lnTo>
                        <a:pt x="143184" y="87496"/>
                      </a:lnTo>
                      <a:lnTo>
                        <a:pt x="0" y="87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9525">
                  <a:solidFill>
                    <a:srgbClr val="175E54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6" name="object 26"/>
                <p:cNvSpPr/>
                <p:nvPr/>
              </p:nvSpPr>
              <p:spPr>
                <a:xfrm>
                  <a:off x="8528058" y="1012122"/>
                  <a:ext cx="143510" cy="7061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509" h="706119">
                      <a:moveTo>
                        <a:pt x="143183" y="0"/>
                      </a:moveTo>
                      <a:lnTo>
                        <a:pt x="0" y="0"/>
                      </a:lnTo>
                      <a:lnTo>
                        <a:pt x="0" y="705676"/>
                      </a:lnTo>
                      <a:lnTo>
                        <a:pt x="143183" y="705676"/>
                      </a:lnTo>
                      <a:lnTo>
                        <a:pt x="143183" y="0"/>
                      </a:lnTo>
                      <a:close/>
                    </a:path>
                  </a:pathLst>
                </a:custGeom>
                <a:solidFill>
                  <a:srgbClr val="92D050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7" name="object 27"/>
                <p:cNvSpPr/>
                <p:nvPr/>
              </p:nvSpPr>
              <p:spPr>
                <a:xfrm>
                  <a:off x="8528058" y="1012122"/>
                  <a:ext cx="143510" cy="7061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509" h="706119">
                      <a:moveTo>
                        <a:pt x="0" y="0"/>
                      </a:moveTo>
                      <a:lnTo>
                        <a:pt x="143184" y="0"/>
                      </a:lnTo>
                      <a:lnTo>
                        <a:pt x="143184" y="705676"/>
                      </a:lnTo>
                      <a:lnTo>
                        <a:pt x="0" y="70567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9525">
                  <a:solidFill>
                    <a:srgbClr val="175E54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8" name="object 28"/>
                <p:cNvSpPr/>
                <p:nvPr/>
              </p:nvSpPr>
              <p:spPr>
                <a:xfrm>
                  <a:off x="8670755" y="1535343"/>
                  <a:ext cx="143510" cy="182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509" h="182880">
                      <a:moveTo>
                        <a:pt x="143183" y="0"/>
                      </a:moveTo>
                      <a:lnTo>
                        <a:pt x="0" y="0"/>
                      </a:lnTo>
                      <a:lnTo>
                        <a:pt x="0" y="182455"/>
                      </a:lnTo>
                      <a:lnTo>
                        <a:pt x="143183" y="182455"/>
                      </a:lnTo>
                      <a:lnTo>
                        <a:pt x="143183" y="0"/>
                      </a:lnTo>
                      <a:close/>
                    </a:path>
                  </a:pathLst>
                </a:custGeom>
                <a:solidFill>
                  <a:srgbClr val="92D050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9" name="object 29"/>
                <p:cNvSpPr/>
                <p:nvPr/>
              </p:nvSpPr>
              <p:spPr>
                <a:xfrm>
                  <a:off x="8670755" y="1535343"/>
                  <a:ext cx="143510" cy="182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509" h="182880">
                      <a:moveTo>
                        <a:pt x="0" y="0"/>
                      </a:moveTo>
                      <a:lnTo>
                        <a:pt x="143184" y="0"/>
                      </a:lnTo>
                      <a:lnTo>
                        <a:pt x="143184" y="182455"/>
                      </a:lnTo>
                      <a:lnTo>
                        <a:pt x="0" y="18245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9525">
                  <a:solidFill>
                    <a:srgbClr val="175E54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30" name="object 30"/>
                <p:cNvSpPr/>
                <p:nvPr/>
              </p:nvSpPr>
              <p:spPr>
                <a:xfrm>
                  <a:off x="8813451" y="1427091"/>
                  <a:ext cx="143510" cy="2908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509" h="290830">
                      <a:moveTo>
                        <a:pt x="143184" y="0"/>
                      </a:moveTo>
                      <a:lnTo>
                        <a:pt x="0" y="0"/>
                      </a:lnTo>
                      <a:lnTo>
                        <a:pt x="0" y="290708"/>
                      </a:lnTo>
                      <a:lnTo>
                        <a:pt x="143184" y="290708"/>
                      </a:lnTo>
                      <a:lnTo>
                        <a:pt x="143184" y="0"/>
                      </a:lnTo>
                      <a:close/>
                    </a:path>
                  </a:pathLst>
                </a:custGeom>
                <a:solidFill>
                  <a:srgbClr val="92D050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31" name="object 31"/>
                <p:cNvSpPr/>
                <p:nvPr/>
              </p:nvSpPr>
              <p:spPr>
                <a:xfrm>
                  <a:off x="8813451" y="1427091"/>
                  <a:ext cx="143510" cy="2908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509" h="290830">
                      <a:moveTo>
                        <a:pt x="0" y="0"/>
                      </a:moveTo>
                      <a:lnTo>
                        <a:pt x="143184" y="0"/>
                      </a:lnTo>
                      <a:lnTo>
                        <a:pt x="143184" y="290707"/>
                      </a:lnTo>
                      <a:lnTo>
                        <a:pt x="0" y="29070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9525">
                  <a:solidFill>
                    <a:srgbClr val="175E54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32" name="object 32"/>
                <p:cNvSpPr/>
                <p:nvPr/>
              </p:nvSpPr>
              <p:spPr>
                <a:xfrm>
                  <a:off x="8956149" y="1630302"/>
                  <a:ext cx="143510" cy="876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509" h="87630">
                      <a:moveTo>
                        <a:pt x="143184" y="0"/>
                      </a:moveTo>
                      <a:lnTo>
                        <a:pt x="0" y="0"/>
                      </a:lnTo>
                      <a:lnTo>
                        <a:pt x="0" y="87496"/>
                      </a:lnTo>
                      <a:lnTo>
                        <a:pt x="143184" y="87496"/>
                      </a:lnTo>
                      <a:lnTo>
                        <a:pt x="143184" y="0"/>
                      </a:lnTo>
                      <a:close/>
                    </a:path>
                  </a:pathLst>
                </a:custGeom>
                <a:solidFill>
                  <a:srgbClr val="92D050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33" name="object 33"/>
                <p:cNvSpPr/>
                <p:nvPr/>
              </p:nvSpPr>
              <p:spPr>
                <a:xfrm>
                  <a:off x="8956149" y="1630302"/>
                  <a:ext cx="143510" cy="876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509" h="87630">
                      <a:moveTo>
                        <a:pt x="0" y="0"/>
                      </a:moveTo>
                      <a:lnTo>
                        <a:pt x="143184" y="0"/>
                      </a:lnTo>
                      <a:lnTo>
                        <a:pt x="143184" y="87496"/>
                      </a:lnTo>
                      <a:lnTo>
                        <a:pt x="0" y="87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9525">
                  <a:solidFill>
                    <a:srgbClr val="175E54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34" name="object 34"/>
                <p:cNvSpPr/>
                <p:nvPr/>
              </p:nvSpPr>
              <p:spPr>
                <a:xfrm>
                  <a:off x="9098846" y="1403269"/>
                  <a:ext cx="143510" cy="314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509" h="314960">
                      <a:moveTo>
                        <a:pt x="143184" y="0"/>
                      </a:moveTo>
                      <a:lnTo>
                        <a:pt x="0" y="0"/>
                      </a:lnTo>
                      <a:lnTo>
                        <a:pt x="0" y="314529"/>
                      </a:lnTo>
                      <a:lnTo>
                        <a:pt x="143184" y="314529"/>
                      </a:lnTo>
                      <a:lnTo>
                        <a:pt x="143184" y="0"/>
                      </a:lnTo>
                      <a:close/>
                    </a:path>
                  </a:pathLst>
                </a:custGeom>
                <a:solidFill>
                  <a:srgbClr val="92D050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35" name="object 35"/>
                <p:cNvSpPr/>
                <p:nvPr/>
              </p:nvSpPr>
              <p:spPr>
                <a:xfrm>
                  <a:off x="9098846" y="1403269"/>
                  <a:ext cx="143510" cy="314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509" h="314960">
                      <a:moveTo>
                        <a:pt x="0" y="0"/>
                      </a:moveTo>
                      <a:lnTo>
                        <a:pt x="143184" y="0"/>
                      </a:lnTo>
                      <a:lnTo>
                        <a:pt x="143184" y="314529"/>
                      </a:lnTo>
                      <a:lnTo>
                        <a:pt x="0" y="3145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9525">
                  <a:solidFill>
                    <a:srgbClr val="175E54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36" name="object 36"/>
                <p:cNvSpPr/>
                <p:nvPr/>
              </p:nvSpPr>
              <p:spPr>
                <a:xfrm>
                  <a:off x="9241543" y="1427091"/>
                  <a:ext cx="143510" cy="2908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509" h="290830">
                      <a:moveTo>
                        <a:pt x="143184" y="0"/>
                      </a:moveTo>
                      <a:lnTo>
                        <a:pt x="0" y="0"/>
                      </a:lnTo>
                      <a:lnTo>
                        <a:pt x="0" y="290708"/>
                      </a:lnTo>
                      <a:lnTo>
                        <a:pt x="143184" y="290708"/>
                      </a:lnTo>
                      <a:lnTo>
                        <a:pt x="143184" y="0"/>
                      </a:lnTo>
                      <a:close/>
                    </a:path>
                  </a:pathLst>
                </a:custGeom>
                <a:solidFill>
                  <a:srgbClr val="92D050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37" name="object 37"/>
                <p:cNvSpPr/>
                <p:nvPr/>
              </p:nvSpPr>
              <p:spPr>
                <a:xfrm>
                  <a:off x="9241543" y="1427091"/>
                  <a:ext cx="143510" cy="2908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509" h="290830">
                      <a:moveTo>
                        <a:pt x="0" y="0"/>
                      </a:moveTo>
                      <a:lnTo>
                        <a:pt x="143184" y="0"/>
                      </a:lnTo>
                      <a:lnTo>
                        <a:pt x="143184" y="290708"/>
                      </a:lnTo>
                      <a:lnTo>
                        <a:pt x="0" y="29070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9525">
                  <a:solidFill>
                    <a:srgbClr val="175E54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38" name="object 38"/>
                <p:cNvSpPr/>
                <p:nvPr/>
              </p:nvSpPr>
              <p:spPr>
                <a:xfrm>
                  <a:off x="9526937" y="1585520"/>
                  <a:ext cx="143510" cy="1327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509" h="132714">
                      <a:moveTo>
                        <a:pt x="143183" y="0"/>
                      </a:moveTo>
                      <a:lnTo>
                        <a:pt x="0" y="0"/>
                      </a:lnTo>
                      <a:lnTo>
                        <a:pt x="0" y="132279"/>
                      </a:lnTo>
                      <a:lnTo>
                        <a:pt x="143183" y="132279"/>
                      </a:lnTo>
                      <a:lnTo>
                        <a:pt x="143183" y="0"/>
                      </a:lnTo>
                      <a:close/>
                    </a:path>
                  </a:pathLst>
                </a:custGeom>
                <a:solidFill>
                  <a:srgbClr val="92D050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39" name="object 39"/>
                <p:cNvSpPr/>
                <p:nvPr/>
              </p:nvSpPr>
              <p:spPr>
                <a:xfrm>
                  <a:off x="9526937" y="1585520"/>
                  <a:ext cx="143510" cy="1327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509" h="132714">
                      <a:moveTo>
                        <a:pt x="0" y="0"/>
                      </a:moveTo>
                      <a:lnTo>
                        <a:pt x="143184" y="0"/>
                      </a:lnTo>
                      <a:lnTo>
                        <a:pt x="143184" y="132279"/>
                      </a:lnTo>
                      <a:lnTo>
                        <a:pt x="0" y="13227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9525">
                  <a:solidFill>
                    <a:srgbClr val="175E54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40" name="object 40"/>
                <p:cNvSpPr/>
                <p:nvPr/>
              </p:nvSpPr>
              <p:spPr>
                <a:xfrm>
                  <a:off x="9669635" y="1479669"/>
                  <a:ext cx="143510" cy="23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509" h="238125">
                      <a:moveTo>
                        <a:pt x="143183" y="0"/>
                      </a:moveTo>
                      <a:lnTo>
                        <a:pt x="0" y="0"/>
                      </a:lnTo>
                      <a:lnTo>
                        <a:pt x="0" y="238130"/>
                      </a:lnTo>
                      <a:lnTo>
                        <a:pt x="143183" y="238130"/>
                      </a:lnTo>
                      <a:lnTo>
                        <a:pt x="143183" y="0"/>
                      </a:lnTo>
                      <a:close/>
                    </a:path>
                  </a:pathLst>
                </a:custGeom>
                <a:solidFill>
                  <a:srgbClr val="92D050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41" name="object 41"/>
                <p:cNvSpPr/>
                <p:nvPr/>
              </p:nvSpPr>
              <p:spPr>
                <a:xfrm>
                  <a:off x="9669635" y="1479669"/>
                  <a:ext cx="143510" cy="23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509" h="238125">
                      <a:moveTo>
                        <a:pt x="0" y="0"/>
                      </a:moveTo>
                      <a:lnTo>
                        <a:pt x="143184" y="0"/>
                      </a:lnTo>
                      <a:lnTo>
                        <a:pt x="143184" y="238129"/>
                      </a:lnTo>
                      <a:lnTo>
                        <a:pt x="0" y="2381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9525">
                  <a:solidFill>
                    <a:srgbClr val="175E54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42" name="object 42"/>
                <p:cNvSpPr/>
                <p:nvPr/>
              </p:nvSpPr>
              <p:spPr>
                <a:xfrm>
                  <a:off x="9812332" y="1396268"/>
                  <a:ext cx="143510" cy="3219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509" h="321944">
                      <a:moveTo>
                        <a:pt x="143183" y="0"/>
                      </a:moveTo>
                      <a:lnTo>
                        <a:pt x="0" y="0"/>
                      </a:lnTo>
                      <a:lnTo>
                        <a:pt x="0" y="321530"/>
                      </a:lnTo>
                      <a:lnTo>
                        <a:pt x="143183" y="321530"/>
                      </a:lnTo>
                      <a:lnTo>
                        <a:pt x="143183" y="0"/>
                      </a:lnTo>
                      <a:close/>
                    </a:path>
                  </a:pathLst>
                </a:custGeom>
                <a:solidFill>
                  <a:srgbClr val="92D050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43" name="object 43"/>
                <p:cNvSpPr/>
                <p:nvPr/>
              </p:nvSpPr>
              <p:spPr>
                <a:xfrm>
                  <a:off x="9812332" y="1396268"/>
                  <a:ext cx="143510" cy="3219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509" h="321944">
                      <a:moveTo>
                        <a:pt x="0" y="0"/>
                      </a:moveTo>
                      <a:lnTo>
                        <a:pt x="143184" y="0"/>
                      </a:lnTo>
                      <a:lnTo>
                        <a:pt x="143184" y="321531"/>
                      </a:lnTo>
                      <a:lnTo>
                        <a:pt x="0" y="32153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9525">
                  <a:solidFill>
                    <a:srgbClr val="175E54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44" name="object 44"/>
                <p:cNvSpPr/>
                <p:nvPr/>
              </p:nvSpPr>
              <p:spPr>
                <a:xfrm>
                  <a:off x="9955026" y="1661887"/>
                  <a:ext cx="143510" cy="565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509" h="56514">
                      <a:moveTo>
                        <a:pt x="143183" y="0"/>
                      </a:moveTo>
                      <a:lnTo>
                        <a:pt x="0" y="0"/>
                      </a:lnTo>
                      <a:lnTo>
                        <a:pt x="0" y="55911"/>
                      </a:lnTo>
                      <a:lnTo>
                        <a:pt x="143183" y="55911"/>
                      </a:lnTo>
                      <a:lnTo>
                        <a:pt x="143183" y="0"/>
                      </a:lnTo>
                      <a:close/>
                    </a:path>
                  </a:pathLst>
                </a:custGeom>
                <a:solidFill>
                  <a:srgbClr val="92D050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45" name="object 45"/>
                <p:cNvSpPr/>
                <p:nvPr/>
              </p:nvSpPr>
              <p:spPr>
                <a:xfrm>
                  <a:off x="9955026" y="1661887"/>
                  <a:ext cx="143510" cy="565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509" h="56514">
                      <a:moveTo>
                        <a:pt x="0" y="0"/>
                      </a:moveTo>
                      <a:lnTo>
                        <a:pt x="143184" y="0"/>
                      </a:lnTo>
                      <a:lnTo>
                        <a:pt x="143184" y="55911"/>
                      </a:lnTo>
                      <a:lnTo>
                        <a:pt x="0" y="5591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9525">
                  <a:solidFill>
                    <a:srgbClr val="175E54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46" name="object 46"/>
                <p:cNvSpPr/>
                <p:nvPr/>
              </p:nvSpPr>
              <p:spPr>
                <a:xfrm>
                  <a:off x="8385361" y="1761524"/>
                  <a:ext cx="171323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3229" h="76200">
                      <a:moveTo>
                        <a:pt x="76200" y="0"/>
                      </a:moveTo>
                      <a:lnTo>
                        <a:pt x="0" y="38100"/>
                      </a:lnTo>
                      <a:lnTo>
                        <a:pt x="76200" y="76200"/>
                      </a:lnTo>
                      <a:lnTo>
                        <a:pt x="76200" y="47625"/>
                      </a:lnTo>
                      <a:lnTo>
                        <a:pt x="63500" y="47625"/>
                      </a:lnTo>
                      <a:lnTo>
                        <a:pt x="63500" y="28575"/>
                      </a:lnTo>
                      <a:lnTo>
                        <a:pt x="76200" y="28575"/>
                      </a:lnTo>
                      <a:lnTo>
                        <a:pt x="76200" y="0"/>
                      </a:lnTo>
                      <a:close/>
                    </a:path>
                    <a:path w="1713229" h="76200">
                      <a:moveTo>
                        <a:pt x="1636649" y="0"/>
                      </a:moveTo>
                      <a:lnTo>
                        <a:pt x="1636649" y="76200"/>
                      </a:lnTo>
                      <a:lnTo>
                        <a:pt x="1693799" y="47625"/>
                      </a:lnTo>
                      <a:lnTo>
                        <a:pt x="1649349" y="47625"/>
                      </a:lnTo>
                      <a:lnTo>
                        <a:pt x="1649349" y="28575"/>
                      </a:lnTo>
                      <a:lnTo>
                        <a:pt x="1693799" y="28575"/>
                      </a:lnTo>
                      <a:lnTo>
                        <a:pt x="1636649" y="0"/>
                      </a:lnTo>
                      <a:close/>
                    </a:path>
                    <a:path w="1713229" h="76200">
                      <a:moveTo>
                        <a:pt x="76200" y="28575"/>
                      </a:moveTo>
                      <a:lnTo>
                        <a:pt x="63500" y="28575"/>
                      </a:lnTo>
                      <a:lnTo>
                        <a:pt x="63500" y="47625"/>
                      </a:lnTo>
                      <a:lnTo>
                        <a:pt x="76200" y="47625"/>
                      </a:lnTo>
                      <a:lnTo>
                        <a:pt x="76200" y="28575"/>
                      </a:lnTo>
                      <a:close/>
                    </a:path>
                    <a:path w="1713229" h="76200">
                      <a:moveTo>
                        <a:pt x="1636649" y="28575"/>
                      </a:moveTo>
                      <a:lnTo>
                        <a:pt x="76200" y="28575"/>
                      </a:lnTo>
                      <a:lnTo>
                        <a:pt x="76200" y="47625"/>
                      </a:lnTo>
                      <a:lnTo>
                        <a:pt x="1636649" y="47625"/>
                      </a:lnTo>
                      <a:lnTo>
                        <a:pt x="1636649" y="28575"/>
                      </a:lnTo>
                      <a:close/>
                    </a:path>
                    <a:path w="1713229" h="76200">
                      <a:moveTo>
                        <a:pt x="1693799" y="28575"/>
                      </a:moveTo>
                      <a:lnTo>
                        <a:pt x="1649349" y="28575"/>
                      </a:lnTo>
                      <a:lnTo>
                        <a:pt x="1649349" y="47625"/>
                      </a:lnTo>
                      <a:lnTo>
                        <a:pt x="1693799" y="47625"/>
                      </a:lnTo>
                      <a:lnTo>
                        <a:pt x="1712849" y="38100"/>
                      </a:lnTo>
                      <a:lnTo>
                        <a:pt x="1693799" y="28575"/>
                      </a:lnTo>
                      <a:close/>
                    </a:path>
                  </a:pathLst>
                </a:custGeom>
                <a:solidFill>
                  <a:srgbClr val="175E54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pic>
              <p:nvPicPr>
                <p:cNvPr id="47" name="object 47"/>
                <p:cNvPicPr/>
                <p:nvPr/>
              </p:nvPicPr>
              <p:blipFill>
                <a:blip r:embed="rId8" cstate="print"/>
                <a:stretch>
                  <a:fillRect/>
                </a:stretch>
              </p:blipFill>
              <p:spPr>
                <a:xfrm>
                  <a:off x="9417733" y="954994"/>
                  <a:ext cx="76200" cy="233111"/>
                </a:xfrm>
                <a:prstGeom prst="rect">
                  <a:avLst/>
                </a:prstGeom>
              </p:spPr>
            </p:pic>
          </p:grpSp>
          <p:grpSp>
            <p:nvGrpSpPr>
              <p:cNvPr id="48" name="object 48"/>
              <p:cNvGrpSpPr/>
              <p:nvPr/>
            </p:nvGrpSpPr>
            <p:grpSpPr>
              <a:xfrm>
                <a:off x="4792447" y="1917292"/>
                <a:ext cx="5109210" cy="3733800"/>
                <a:chOff x="4792447" y="1917292"/>
                <a:chExt cx="5109210" cy="3733800"/>
              </a:xfrm>
            </p:grpSpPr>
            <p:pic>
              <p:nvPicPr>
                <p:cNvPr id="49" name="object 49"/>
                <p:cNvPicPr/>
                <p:nvPr/>
              </p:nvPicPr>
              <p:blipFill>
                <a:blip r:embed="rId9" cstate="print"/>
                <a:stretch>
                  <a:fillRect/>
                </a:stretch>
              </p:blipFill>
              <p:spPr>
                <a:xfrm>
                  <a:off x="6831717" y="4548785"/>
                  <a:ext cx="348939" cy="224261"/>
                </a:xfrm>
                <a:prstGeom prst="rect">
                  <a:avLst/>
                </a:prstGeom>
              </p:spPr>
            </p:pic>
            <p:pic>
              <p:nvPicPr>
                <p:cNvPr id="50" name="object 50"/>
                <p:cNvPicPr/>
                <p:nvPr/>
              </p:nvPicPr>
              <p:blipFill>
                <a:blip r:embed="rId10" cstate="print"/>
                <a:stretch>
                  <a:fillRect/>
                </a:stretch>
              </p:blipFill>
              <p:spPr>
                <a:xfrm>
                  <a:off x="7312567" y="4328914"/>
                  <a:ext cx="165353" cy="157194"/>
                </a:xfrm>
                <a:prstGeom prst="rect">
                  <a:avLst/>
                </a:prstGeom>
              </p:spPr>
            </p:pic>
            <p:pic>
              <p:nvPicPr>
                <p:cNvPr id="51" name="object 51"/>
                <p:cNvPicPr/>
                <p:nvPr/>
              </p:nvPicPr>
              <p:blipFill>
                <a:blip r:embed="rId11" cstate="print"/>
                <a:stretch>
                  <a:fillRect/>
                </a:stretch>
              </p:blipFill>
              <p:spPr>
                <a:xfrm>
                  <a:off x="7312567" y="4536130"/>
                  <a:ext cx="165353" cy="157194"/>
                </a:xfrm>
                <a:prstGeom prst="rect">
                  <a:avLst/>
                </a:prstGeom>
              </p:spPr>
            </p:pic>
            <p:pic>
              <p:nvPicPr>
                <p:cNvPr id="52" name="object 52"/>
                <p:cNvPicPr/>
                <p:nvPr/>
              </p:nvPicPr>
              <p:blipFill>
                <a:blip r:embed="rId10" cstate="print"/>
                <a:stretch>
                  <a:fillRect/>
                </a:stretch>
              </p:blipFill>
              <p:spPr>
                <a:xfrm>
                  <a:off x="7312567" y="4743345"/>
                  <a:ext cx="165353" cy="157194"/>
                </a:xfrm>
                <a:prstGeom prst="rect">
                  <a:avLst/>
                </a:prstGeom>
              </p:spPr>
            </p:pic>
            <p:pic>
              <p:nvPicPr>
                <p:cNvPr id="53" name="object 53"/>
                <p:cNvPicPr/>
                <p:nvPr/>
              </p:nvPicPr>
              <p:blipFill>
                <a:blip r:embed="rId11" cstate="print"/>
                <a:stretch>
                  <a:fillRect/>
                </a:stretch>
              </p:blipFill>
              <p:spPr>
                <a:xfrm>
                  <a:off x="7312567" y="4950561"/>
                  <a:ext cx="165353" cy="157194"/>
                </a:xfrm>
                <a:prstGeom prst="rect">
                  <a:avLst/>
                </a:prstGeom>
              </p:spPr>
            </p:pic>
            <p:sp>
              <p:nvSpPr>
                <p:cNvPr id="54" name="object 54"/>
                <p:cNvSpPr/>
                <p:nvPr/>
              </p:nvSpPr>
              <p:spPr>
                <a:xfrm>
                  <a:off x="7206876" y="4246573"/>
                  <a:ext cx="365760" cy="9569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5759" h="956945">
                      <a:moveTo>
                        <a:pt x="304798" y="0"/>
                      </a:moveTo>
                      <a:lnTo>
                        <a:pt x="328527" y="4790"/>
                      </a:lnTo>
                      <a:lnTo>
                        <a:pt x="347904" y="17855"/>
                      </a:lnTo>
                      <a:lnTo>
                        <a:pt x="360969" y="37232"/>
                      </a:lnTo>
                      <a:lnTo>
                        <a:pt x="365760" y="60961"/>
                      </a:lnTo>
                      <a:lnTo>
                        <a:pt x="365760" y="895642"/>
                      </a:lnTo>
                      <a:lnTo>
                        <a:pt x="360969" y="919371"/>
                      </a:lnTo>
                      <a:lnTo>
                        <a:pt x="347904" y="938748"/>
                      </a:lnTo>
                      <a:lnTo>
                        <a:pt x="328527" y="951813"/>
                      </a:lnTo>
                      <a:lnTo>
                        <a:pt x="304798" y="956604"/>
                      </a:lnTo>
                      <a:lnTo>
                        <a:pt x="60961" y="956604"/>
                      </a:lnTo>
                      <a:lnTo>
                        <a:pt x="37232" y="951813"/>
                      </a:lnTo>
                      <a:lnTo>
                        <a:pt x="17855" y="938748"/>
                      </a:lnTo>
                      <a:lnTo>
                        <a:pt x="4790" y="919371"/>
                      </a:lnTo>
                      <a:lnTo>
                        <a:pt x="0" y="895642"/>
                      </a:lnTo>
                      <a:lnTo>
                        <a:pt x="0" y="60961"/>
                      </a:lnTo>
                      <a:lnTo>
                        <a:pt x="4790" y="37232"/>
                      </a:lnTo>
                      <a:lnTo>
                        <a:pt x="17855" y="17855"/>
                      </a:lnTo>
                      <a:lnTo>
                        <a:pt x="37232" y="4790"/>
                      </a:lnTo>
                      <a:lnTo>
                        <a:pt x="60961" y="0"/>
                      </a:lnTo>
                      <a:lnTo>
                        <a:pt x="304798" y="0"/>
                      </a:lnTo>
                      <a:close/>
                    </a:path>
                  </a:pathLst>
                </a:custGeom>
                <a:ln w="19050">
                  <a:solidFill>
                    <a:srgbClr val="610059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55" name="object 55"/>
                <p:cNvSpPr/>
                <p:nvPr/>
              </p:nvSpPr>
              <p:spPr>
                <a:xfrm>
                  <a:off x="7334429" y="5203133"/>
                  <a:ext cx="111125" cy="43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438150">
                      <a:moveTo>
                        <a:pt x="55327" y="37807"/>
                      </a:moveTo>
                      <a:lnTo>
                        <a:pt x="45802" y="54135"/>
                      </a:lnTo>
                      <a:lnTo>
                        <a:pt x="45802" y="438106"/>
                      </a:lnTo>
                      <a:lnTo>
                        <a:pt x="64852" y="438106"/>
                      </a:lnTo>
                      <a:lnTo>
                        <a:pt x="64852" y="54135"/>
                      </a:lnTo>
                      <a:lnTo>
                        <a:pt x="55327" y="37807"/>
                      </a:lnTo>
                      <a:close/>
                    </a:path>
                    <a:path w="111125" h="438150">
                      <a:moveTo>
                        <a:pt x="55327" y="0"/>
                      </a:moveTo>
                      <a:lnTo>
                        <a:pt x="0" y="94848"/>
                      </a:lnTo>
                      <a:lnTo>
                        <a:pt x="1533" y="100680"/>
                      </a:lnTo>
                      <a:lnTo>
                        <a:pt x="10621" y="105981"/>
                      </a:lnTo>
                      <a:lnTo>
                        <a:pt x="16453" y="104446"/>
                      </a:lnTo>
                      <a:lnTo>
                        <a:pt x="45802" y="54136"/>
                      </a:lnTo>
                      <a:lnTo>
                        <a:pt x="45802" y="18903"/>
                      </a:lnTo>
                      <a:lnTo>
                        <a:pt x="66354" y="18903"/>
                      </a:lnTo>
                      <a:lnTo>
                        <a:pt x="55327" y="0"/>
                      </a:lnTo>
                      <a:close/>
                    </a:path>
                    <a:path w="111125" h="438150">
                      <a:moveTo>
                        <a:pt x="66354" y="18903"/>
                      </a:moveTo>
                      <a:lnTo>
                        <a:pt x="64852" y="18903"/>
                      </a:lnTo>
                      <a:lnTo>
                        <a:pt x="64852" y="54136"/>
                      </a:lnTo>
                      <a:lnTo>
                        <a:pt x="94200" y="104447"/>
                      </a:lnTo>
                      <a:lnTo>
                        <a:pt x="100032" y="105981"/>
                      </a:lnTo>
                      <a:lnTo>
                        <a:pt x="109120" y="100680"/>
                      </a:lnTo>
                      <a:lnTo>
                        <a:pt x="110655" y="94847"/>
                      </a:lnTo>
                      <a:lnTo>
                        <a:pt x="66354" y="18903"/>
                      </a:lnTo>
                      <a:close/>
                    </a:path>
                    <a:path w="111125" h="438150">
                      <a:moveTo>
                        <a:pt x="64852" y="18903"/>
                      </a:moveTo>
                      <a:lnTo>
                        <a:pt x="45802" y="18903"/>
                      </a:lnTo>
                      <a:lnTo>
                        <a:pt x="45802" y="54136"/>
                      </a:lnTo>
                      <a:lnTo>
                        <a:pt x="55327" y="37807"/>
                      </a:lnTo>
                      <a:lnTo>
                        <a:pt x="47100" y="23703"/>
                      </a:lnTo>
                      <a:lnTo>
                        <a:pt x="64852" y="23703"/>
                      </a:lnTo>
                      <a:lnTo>
                        <a:pt x="64852" y="18903"/>
                      </a:lnTo>
                      <a:close/>
                    </a:path>
                    <a:path w="111125" h="438150">
                      <a:moveTo>
                        <a:pt x="64852" y="23703"/>
                      </a:moveTo>
                      <a:lnTo>
                        <a:pt x="63555" y="23703"/>
                      </a:lnTo>
                      <a:lnTo>
                        <a:pt x="55327" y="37807"/>
                      </a:lnTo>
                      <a:lnTo>
                        <a:pt x="64852" y="54135"/>
                      </a:lnTo>
                      <a:lnTo>
                        <a:pt x="64852" y="23703"/>
                      </a:lnTo>
                      <a:close/>
                    </a:path>
                    <a:path w="111125" h="438150">
                      <a:moveTo>
                        <a:pt x="63555" y="23703"/>
                      </a:moveTo>
                      <a:lnTo>
                        <a:pt x="47100" y="23703"/>
                      </a:lnTo>
                      <a:lnTo>
                        <a:pt x="55327" y="37807"/>
                      </a:lnTo>
                      <a:lnTo>
                        <a:pt x="63555" y="23703"/>
                      </a:lnTo>
                      <a:close/>
                    </a:path>
                  </a:pathLst>
                </a:custGeom>
                <a:solidFill>
                  <a:srgbClr val="7F7F7F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pic>
              <p:nvPicPr>
                <p:cNvPr id="56" name="object 56"/>
                <p:cNvPicPr/>
                <p:nvPr/>
              </p:nvPicPr>
              <p:blipFill>
                <a:blip r:embed="rId12" cstate="print"/>
                <a:stretch>
                  <a:fillRect/>
                </a:stretch>
              </p:blipFill>
              <p:spPr>
                <a:xfrm>
                  <a:off x="7414134" y="5317078"/>
                  <a:ext cx="236000" cy="278166"/>
                </a:xfrm>
                <a:prstGeom prst="rect">
                  <a:avLst/>
                </a:prstGeom>
              </p:spPr>
            </p:pic>
            <p:pic>
              <p:nvPicPr>
                <p:cNvPr id="57" name="object 57"/>
                <p:cNvPicPr/>
                <p:nvPr/>
              </p:nvPicPr>
              <p:blipFill>
                <a:blip r:embed="rId13" cstate="print"/>
                <a:stretch>
                  <a:fillRect/>
                </a:stretch>
              </p:blipFill>
              <p:spPr>
                <a:xfrm>
                  <a:off x="7440183" y="3966938"/>
                  <a:ext cx="327652" cy="198835"/>
                </a:xfrm>
                <a:prstGeom prst="rect">
                  <a:avLst/>
                </a:prstGeom>
              </p:spPr>
            </p:pic>
            <p:sp>
              <p:nvSpPr>
                <p:cNvPr id="58" name="object 58"/>
                <p:cNvSpPr/>
                <p:nvPr/>
              </p:nvSpPr>
              <p:spPr>
                <a:xfrm>
                  <a:off x="7334427" y="3819584"/>
                  <a:ext cx="111125" cy="427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427354">
                      <a:moveTo>
                        <a:pt x="55327" y="37806"/>
                      </a:moveTo>
                      <a:lnTo>
                        <a:pt x="45802" y="54135"/>
                      </a:lnTo>
                      <a:lnTo>
                        <a:pt x="45801" y="426987"/>
                      </a:lnTo>
                      <a:lnTo>
                        <a:pt x="64851" y="426987"/>
                      </a:lnTo>
                      <a:lnTo>
                        <a:pt x="64852" y="54135"/>
                      </a:lnTo>
                      <a:lnTo>
                        <a:pt x="55327" y="37806"/>
                      </a:lnTo>
                      <a:close/>
                    </a:path>
                    <a:path w="111125" h="427354">
                      <a:moveTo>
                        <a:pt x="55327" y="0"/>
                      </a:moveTo>
                      <a:lnTo>
                        <a:pt x="0" y="94848"/>
                      </a:lnTo>
                      <a:lnTo>
                        <a:pt x="1534" y="100680"/>
                      </a:lnTo>
                      <a:lnTo>
                        <a:pt x="10622" y="105981"/>
                      </a:lnTo>
                      <a:lnTo>
                        <a:pt x="16454" y="104447"/>
                      </a:lnTo>
                      <a:lnTo>
                        <a:pt x="45802" y="54135"/>
                      </a:lnTo>
                      <a:lnTo>
                        <a:pt x="45802" y="18903"/>
                      </a:lnTo>
                      <a:lnTo>
                        <a:pt x="66354" y="18903"/>
                      </a:lnTo>
                      <a:lnTo>
                        <a:pt x="55327" y="0"/>
                      </a:lnTo>
                      <a:close/>
                    </a:path>
                    <a:path w="111125" h="427354">
                      <a:moveTo>
                        <a:pt x="66354" y="18903"/>
                      </a:moveTo>
                      <a:lnTo>
                        <a:pt x="64852" y="18903"/>
                      </a:lnTo>
                      <a:lnTo>
                        <a:pt x="64852" y="54135"/>
                      </a:lnTo>
                      <a:lnTo>
                        <a:pt x="94200" y="104447"/>
                      </a:lnTo>
                      <a:lnTo>
                        <a:pt x="100032" y="105981"/>
                      </a:lnTo>
                      <a:lnTo>
                        <a:pt x="109120" y="100680"/>
                      </a:lnTo>
                      <a:lnTo>
                        <a:pt x="110655" y="94848"/>
                      </a:lnTo>
                      <a:lnTo>
                        <a:pt x="66354" y="18903"/>
                      </a:lnTo>
                      <a:close/>
                    </a:path>
                    <a:path w="111125" h="427354">
                      <a:moveTo>
                        <a:pt x="64852" y="18903"/>
                      </a:moveTo>
                      <a:lnTo>
                        <a:pt x="45802" y="18903"/>
                      </a:lnTo>
                      <a:lnTo>
                        <a:pt x="45802" y="54135"/>
                      </a:lnTo>
                      <a:lnTo>
                        <a:pt x="55327" y="37806"/>
                      </a:lnTo>
                      <a:lnTo>
                        <a:pt x="47100" y="23703"/>
                      </a:lnTo>
                      <a:lnTo>
                        <a:pt x="64852" y="23703"/>
                      </a:lnTo>
                      <a:lnTo>
                        <a:pt x="64852" y="18903"/>
                      </a:lnTo>
                      <a:close/>
                    </a:path>
                    <a:path w="111125" h="427354">
                      <a:moveTo>
                        <a:pt x="64852" y="23703"/>
                      </a:moveTo>
                      <a:lnTo>
                        <a:pt x="63554" y="23703"/>
                      </a:lnTo>
                      <a:lnTo>
                        <a:pt x="55327" y="37806"/>
                      </a:lnTo>
                      <a:lnTo>
                        <a:pt x="64852" y="54135"/>
                      </a:lnTo>
                      <a:lnTo>
                        <a:pt x="64852" y="23703"/>
                      </a:lnTo>
                      <a:close/>
                    </a:path>
                    <a:path w="111125" h="427354">
                      <a:moveTo>
                        <a:pt x="63554" y="23703"/>
                      </a:moveTo>
                      <a:lnTo>
                        <a:pt x="47100" y="23703"/>
                      </a:lnTo>
                      <a:lnTo>
                        <a:pt x="55327" y="37806"/>
                      </a:lnTo>
                      <a:lnTo>
                        <a:pt x="63554" y="23703"/>
                      </a:lnTo>
                      <a:close/>
                    </a:path>
                  </a:pathLst>
                </a:custGeom>
                <a:solidFill>
                  <a:srgbClr val="7F7F7F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pic>
              <p:nvPicPr>
                <p:cNvPr id="59" name="object 59"/>
                <p:cNvPicPr/>
                <p:nvPr/>
              </p:nvPicPr>
              <p:blipFill>
                <a:blip r:embed="rId14" cstate="print"/>
                <a:stretch>
                  <a:fillRect/>
                </a:stretch>
              </p:blipFill>
              <p:spPr>
                <a:xfrm>
                  <a:off x="7312566" y="2840187"/>
                  <a:ext cx="165353" cy="173996"/>
                </a:xfrm>
                <a:prstGeom prst="rect">
                  <a:avLst/>
                </a:prstGeom>
              </p:spPr>
            </p:pic>
            <p:pic>
              <p:nvPicPr>
                <p:cNvPr id="60" name="object 60"/>
                <p:cNvPicPr/>
                <p:nvPr/>
              </p:nvPicPr>
              <p:blipFill>
                <a:blip r:embed="rId14" cstate="print"/>
                <a:stretch>
                  <a:fillRect/>
                </a:stretch>
              </p:blipFill>
              <p:spPr>
                <a:xfrm>
                  <a:off x="7312566" y="3072607"/>
                  <a:ext cx="165353" cy="173996"/>
                </a:xfrm>
                <a:prstGeom prst="rect">
                  <a:avLst/>
                </a:prstGeom>
              </p:spPr>
            </p:pic>
            <p:pic>
              <p:nvPicPr>
                <p:cNvPr id="61" name="object 61"/>
                <p:cNvPicPr/>
                <p:nvPr/>
              </p:nvPicPr>
              <p:blipFill>
                <a:blip r:embed="rId14" cstate="print"/>
                <a:stretch>
                  <a:fillRect/>
                </a:stretch>
              </p:blipFill>
              <p:spPr>
                <a:xfrm>
                  <a:off x="7312566" y="3305026"/>
                  <a:ext cx="165353" cy="173996"/>
                </a:xfrm>
                <a:prstGeom prst="rect">
                  <a:avLst/>
                </a:prstGeom>
              </p:spPr>
            </p:pic>
            <p:pic>
              <p:nvPicPr>
                <p:cNvPr id="62" name="object 62"/>
                <p:cNvPicPr/>
                <p:nvPr/>
              </p:nvPicPr>
              <p:blipFill>
                <a:blip r:embed="rId15" cstate="print"/>
                <a:stretch>
                  <a:fillRect/>
                </a:stretch>
              </p:blipFill>
              <p:spPr>
                <a:xfrm>
                  <a:off x="7312566" y="3537445"/>
                  <a:ext cx="165353" cy="173996"/>
                </a:xfrm>
                <a:prstGeom prst="rect">
                  <a:avLst/>
                </a:prstGeom>
              </p:spPr>
            </p:pic>
            <p:sp>
              <p:nvSpPr>
                <p:cNvPr id="63" name="object 63"/>
                <p:cNvSpPr/>
                <p:nvPr/>
              </p:nvSpPr>
              <p:spPr>
                <a:xfrm>
                  <a:off x="6507612" y="3227823"/>
                  <a:ext cx="699770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9770" h="111125">
                      <a:moveTo>
                        <a:pt x="604459" y="0"/>
                      </a:moveTo>
                      <a:lnTo>
                        <a:pt x="598625" y="1535"/>
                      </a:lnTo>
                      <a:lnTo>
                        <a:pt x="593324" y="10623"/>
                      </a:lnTo>
                      <a:lnTo>
                        <a:pt x="594859" y="16455"/>
                      </a:lnTo>
                      <a:lnTo>
                        <a:pt x="645170" y="45803"/>
                      </a:lnTo>
                      <a:lnTo>
                        <a:pt x="680402" y="45803"/>
                      </a:lnTo>
                      <a:lnTo>
                        <a:pt x="680402" y="64853"/>
                      </a:lnTo>
                      <a:lnTo>
                        <a:pt x="645170" y="64853"/>
                      </a:lnTo>
                      <a:lnTo>
                        <a:pt x="594859" y="94202"/>
                      </a:lnTo>
                      <a:lnTo>
                        <a:pt x="593324" y="100034"/>
                      </a:lnTo>
                      <a:lnTo>
                        <a:pt x="598625" y="109122"/>
                      </a:lnTo>
                      <a:lnTo>
                        <a:pt x="604457" y="110656"/>
                      </a:lnTo>
                      <a:lnTo>
                        <a:pt x="682977" y="64853"/>
                      </a:lnTo>
                      <a:lnTo>
                        <a:pt x="680402" y="64853"/>
                      </a:lnTo>
                      <a:lnTo>
                        <a:pt x="682979" y="64852"/>
                      </a:lnTo>
                      <a:lnTo>
                        <a:pt x="699306" y="55328"/>
                      </a:lnTo>
                      <a:lnTo>
                        <a:pt x="604459" y="0"/>
                      </a:lnTo>
                      <a:close/>
                    </a:path>
                    <a:path w="699770" h="111125">
                      <a:moveTo>
                        <a:pt x="661499" y="55328"/>
                      </a:moveTo>
                      <a:lnTo>
                        <a:pt x="645171" y="64853"/>
                      </a:lnTo>
                      <a:lnTo>
                        <a:pt x="680402" y="64853"/>
                      </a:lnTo>
                      <a:lnTo>
                        <a:pt x="680402" y="63555"/>
                      </a:lnTo>
                      <a:lnTo>
                        <a:pt x="675603" y="63555"/>
                      </a:lnTo>
                      <a:lnTo>
                        <a:pt x="661499" y="55328"/>
                      </a:lnTo>
                      <a:close/>
                    </a:path>
                    <a:path w="699770" h="111125">
                      <a:moveTo>
                        <a:pt x="0" y="45802"/>
                      </a:moveTo>
                      <a:lnTo>
                        <a:pt x="0" y="64852"/>
                      </a:lnTo>
                      <a:lnTo>
                        <a:pt x="645173" y="64852"/>
                      </a:lnTo>
                      <a:lnTo>
                        <a:pt x="661499" y="55328"/>
                      </a:lnTo>
                      <a:lnTo>
                        <a:pt x="645170" y="45803"/>
                      </a:lnTo>
                      <a:lnTo>
                        <a:pt x="0" y="45802"/>
                      </a:lnTo>
                      <a:close/>
                    </a:path>
                    <a:path w="699770" h="111125">
                      <a:moveTo>
                        <a:pt x="675603" y="47101"/>
                      </a:moveTo>
                      <a:lnTo>
                        <a:pt x="661499" y="55328"/>
                      </a:lnTo>
                      <a:lnTo>
                        <a:pt x="675603" y="63555"/>
                      </a:lnTo>
                      <a:lnTo>
                        <a:pt x="675603" y="47101"/>
                      </a:lnTo>
                      <a:close/>
                    </a:path>
                    <a:path w="699770" h="111125">
                      <a:moveTo>
                        <a:pt x="680402" y="47101"/>
                      </a:moveTo>
                      <a:lnTo>
                        <a:pt x="675603" y="47101"/>
                      </a:lnTo>
                      <a:lnTo>
                        <a:pt x="675603" y="63555"/>
                      </a:lnTo>
                      <a:lnTo>
                        <a:pt x="680402" y="63555"/>
                      </a:lnTo>
                      <a:lnTo>
                        <a:pt x="680402" y="47101"/>
                      </a:lnTo>
                      <a:close/>
                    </a:path>
                    <a:path w="699770" h="111125">
                      <a:moveTo>
                        <a:pt x="645170" y="45803"/>
                      </a:moveTo>
                      <a:lnTo>
                        <a:pt x="661499" y="55328"/>
                      </a:lnTo>
                      <a:lnTo>
                        <a:pt x="675603" y="47101"/>
                      </a:lnTo>
                      <a:lnTo>
                        <a:pt x="680402" y="47101"/>
                      </a:lnTo>
                      <a:lnTo>
                        <a:pt x="680402" y="45803"/>
                      </a:lnTo>
                      <a:lnTo>
                        <a:pt x="645170" y="45803"/>
                      </a:lnTo>
                      <a:close/>
                    </a:path>
                  </a:pathLst>
                </a:custGeom>
                <a:solidFill>
                  <a:srgbClr val="7F7F7F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pic>
              <p:nvPicPr>
                <p:cNvPr id="64" name="object 64"/>
                <p:cNvPicPr/>
                <p:nvPr/>
              </p:nvPicPr>
              <p:blipFill>
                <a:blip r:embed="rId16" cstate="print"/>
                <a:stretch>
                  <a:fillRect/>
                </a:stretch>
              </p:blipFill>
              <p:spPr>
                <a:xfrm>
                  <a:off x="6620960" y="2959374"/>
                  <a:ext cx="427375" cy="292169"/>
                </a:xfrm>
                <a:prstGeom prst="rect">
                  <a:avLst/>
                </a:prstGeom>
              </p:spPr>
            </p:pic>
            <p:pic>
              <p:nvPicPr>
                <p:cNvPr id="65" name="object 65"/>
                <p:cNvPicPr/>
                <p:nvPr/>
              </p:nvPicPr>
              <p:blipFill>
                <a:blip r:embed="rId17" cstate="print"/>
                <a:stretch>
                  <a:fillRect/>
                </a:stretch>
              </p:blipFill>
              <p:spPr>
                <a:xfrm>
                  <a:off x="6988628" y="2510942"/>
                  <a:ext cx="335287" cy="219456"/>
                </a:xfrm>
                <a:prstGeom prst="rect">
                  <a:avLst/>
                </a:prstGeom>
              </p:spPr>
            </p:pic>
            <p:sp>
              <p:nvSpPr>
                <p:cNvPr id="66" name="object 66"/>
                <p:cNvSpPr/>
                <p:nvPr/>
              </p:nvSpPr>
              <p:spPr>
                <a:xfrm>
                  <a:off x="7206874" y="2746673"/>
                  <a:ext cx="365760" cy="1073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5759" h="1073150">
                      <a:moveTo>
                        <a:pt x="304798" y="0"/>
                      </a:moveTo>
                      <a:lnTo>
                        <a:pt x="328527" y="4790"/>
                      </a:lnTo>
                      <a:lnTo>
                        <a:pt x="347904" y="17855"/>
                      </a:lnTo>
                      <a:lnTo>
                        <a:pt x="360969" y="37232"/>
                      </a:lnTo>
                      <a:lnTo>
                        <a:pt x="365760" y="60961"/>
                      </a:lnTo>
                      <a:lnTo>
                        <a:pt x="365760" y="1011994"/>
                      </a:lnTo>
                      <a:lnTo>
                        <a:pt x="360969" y="1035723"/>
                      </a:lnTo>
                      <a:lnTo>
                        <a:pt x="347904" y="1055100"/>
                      </a:lnTo>
                      <a:lnTo>
                        <a:pt x="328527" y="1068165"/>
                      </a:lnTo>
                      <a:lnTo>
                        <a:pt x="304798" y="1072956"/>
                      </a:lnTo>
                      <a:lnTo>
                        <a:pt x="60961" y="1072956"/>
                      </a:lnTo>
                      <a:lnTo>
                        <a:pt x="37232" y="1068165"/>
                      </a:lnTo>
                      <a:lnTo>
                        <a:pt x="17855" y="1055100"/>
                      </a:lnTo>
                      <a:lnTo>
                        <a:pt x="4790" y="1035723"/>
                      </a:lnTo>
                      <a:lnTo>
                        <a:pt x="0" y="1011994"/>
                      </a:lnTo>
                      <a:lnTo>
                        <a:pt x="0" y="60961"/>
                      </a:lnTo>
                      <a:lnTo>
                        <a:pt x="4790" y="37232"/>
                      </a:lnTo>
                      <a:lnTo>
                        <a:pt x="17855" y="17855"/>
                      </a:lnTo>
                      <a:lnTo>
                        <a:pt x="37232" y="4790"/>
                      </a:lnTo>
                      <a:lnTo>
                        <a:pt x="60961" y="0"/>
                      </a:lnTo>
                      <a:lnTo>
                        <a:pt x="304798" y="0"/>
                      </a:lnTo>
                      <a:close/>
                    </a:path>
                  </a:pathLst>
                </a:custGeom>
                <a:ln w="19050">
                  <a:solidFill>
                    <a:srgbClr val="8C1515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pic>
              <p:nvPicPr>
                <p:cNvPr id="67" name="object 67"/>
                <p:cNvPicPr/>
                <p:nvPr/>
              </p:nvPicPr>
              <p:blipFill>
                <a:blip r:embed="rId18" cstate="print"/>
                <a:stretch>
                  <a:fillRect/>
                </a:stretch>
              </p:blipFill>
              <p:spPr>
                <a:xfrm>
                  <a:off x="8036933" y="2510942"/>
                  <a:ext cx="368519" cy="219456"/>
                </a:xfrm>
                <a:prstGeom prst="rect">
                  <a:avLst/>
                </a:prstGeom>
              </p:spPr>
            </p:pic>
            <p:sp>
              <p:nvSpPr>
                <p:cNvPr id="68" name="object 68"/>
                <p:cNvSpPr/>
                <p:nvPr/>
              </p:nvSpPr>
              <p:spPr>
                <a:xfrm>
                  <a:off x="8264133" y="2755918"/>
                  <a:ext cx="365760" cy="1073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5759" h="1073150">
                      <a:moveTo>
                        <a:pt x="304798" y="0"/>
                      </a:moveTo>
                      <a:lnTo>
                        <a:pt x="328527" y="4790"/>
                      </a:lnTo>
                      <a:lnTo>
                        <a:pt x="347904" y="17855"/>
                      </a:lnTo>
                      <a:lnTo>
                        <a:pt x="360969" y="37232"/>
                      </a:lnTo>
                      <a:lnTo>
                        <a:pt x="365760" y="60961"/>
                      </a:lnTo>
                      <a:lnTo>
                        <a:pt x="365760" y="1011994"/>
                      </a:lnTo>
                      <a:lnTo>
                        <a:pt x="360969" y="1035723"/>
                      </a:lnTo>
                      <a:lnTo>
                        <a:pt x="347904" y="1055100"/>
                      </a:lnTo>
                      <a:lnTo>
                        <a:pt x="328527" y="1068165"/>
                      </a:lnTo>
                      <a:lnTo>
                        <a:pt x="304798" y="1072956"/>
                      </a:lnTo>
                      <a:lnTo>
                        <a:pt x="60961" y="1072956"/>
                      </a:lnTo>
                      <a:lnTo>
                        <a:pt x="37232" y="1068165"/>
                      </a:lnTo>
                      <a:lnTo>
                        <a:pt x="17855" y="1055100"/>
                      </a:lnTo>
                      <a:lnTo>
                        <a:pt x="4790" y="1035723"/>
                      </a:lnTo>
                      <a:lnTo>
                        <a:pt x="0" y="1011994"/>
                      </a:lnTo>
                      <a:lnTo>
                        <a:pt x="0" y="60961"/>
                      </a:lnTo>
                      <a:lnTo>
                        <a:pt x="4790" y="37232"/>
                      </a:lnTo>
                      <a:lnTo>
                        <a:pt x="17855" y="17855"/>
                      </a:lnTo>
                      <a:lnTo>
                        <a:pt x="37232" y="4790"/>
                      </a:lnTo>
                      <a:lnTo>
                        <a:pt x="60961" y="0"/>
                      </a:lnTo>
                      <a:lnTo>
                        <a:pt x="304798" y="0"/>
                      </a:lnTo>
                      <a:close/>
                    </a:path>
                  </a:pathLst>
                </a:custGeom>
                <a:ln w="19050">
                  <a:solidFill>
                    <a:srgbClr val="8C1515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69" name="object 69"/>
                <p:cNvSpPr/>
                <p:nvPr/>
              </p:nvSpPr>
              <p:spPr>
                <a:xfrm>
                  <a:off x="7564870" y="3237069"/>
                  <a:ext cx="699770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9770" h="111125">
                      <a:moveTo>
                        <a:pt x="661499" y="55328"/>
                      </a:moveTo>
                      <a:lnTo>
                        <a:pt x="594860" y="94200"/>
                      </a:lnTo>
                      <a:lnTo>
                        <a:pt x="593326" y="100032"/>
                      </a:lnTo>
                      <a:lnTo>
                        <a:pt x="598627" y="109120"/>
                      </a:lnTo>
                      <a:lnTo>
                        <a:pt x="604459" y="110656"/>
                      </a:lnTo>
                      <a:lnTo>
                        <a:pt x="682979" y="64852"/>
                      </a:lnTo>
                      <a:lnTo>
                        <a:pt x="680403" y="64852"/>
                      </a:lnTo>
                      <a:lnTo>
                        <a:pt x="680403" y="63555"/>
                      </a:lnTo>
                      <a:lnTo>
                        <a:pt x="675604" y="63555"/>
                      </a:lnTo>
                      <a:lnTo>
                        <a:pt x="661499" y="55328"/>
                      </a:lnTo>
                      <a:close/>
                    </a:path>
                    <a:path w="699770" h="111125">
                      <a:moveTo>
                        <a:pt x="645170" y="45802"/>
                      </a:moveTo>
                      <a:lnTo>
                        <a:pt x="0" y="45802"/>
                      </a:lnTo>
                      <a:lnTo>
                        <a:pt x="0" y="64852"/>
                      </a:lnTo>
                      <a:lnTo>
                        <a:pt x="645172" y="64852"/>
                      </a:lnTo>
                      <a:lnTo>
                        <a:pt x="661499" y="55328"/>
                      </a:lnTo>
                      <a:lnTo>
                        <a:pt x="645170" y="45802"/>
                      </a:lnTo>
                      <a:close/>
                    </a:path>
                    <a:path w="699770" h="111125">
                      <a:moveTo>
                        <a:pt x="682978" y="45802"/>
                      </a:moveTo>
                      <a:lnTo>
                        <a:pt x="680403" y="45802"/>
                      </a:lnTo>
                      <a:lnTo>
                        <a:pt x="680403" y="64852"/>
                      </a:lnTo>
                      <a:lnTo>
                        <a:pt x="682979" y="64852"/>
                      </a:lnTo>
                      <a:lnTo>
                        <a:pt x="699307" y="55327"/>
                      </a:lnTo>
                      <a:lnTo>
                        <a:pt x="682978" y="45802"/>
                      </a:lnTo>
                      <a:close/>
                    </a:path>
                    <a:path w="699770" h="111125">
                      <a:moveTo>
                        <a:pt x="675604" y="47100"/>
                      </a:moveTo>
                      <a:lnTo>
                        <a:pt x="661499" y="55328"/>
                      </a:lnTo>
                      <a:lnTo>
                        <a:pt x="675604" y="63555"/>
                      </a:lnTo>
                      <a:lnTo>
                        <a:pt x="675604" y="47100"/>
                      </a:lnTo>
                      <a:close/>
                    </a:path>
                    <a:path w="699770" h="111125">
                      <a:moveTo>
                        <a:pt x="680403" y="47100"/>
                      </a:moveTo>
                      <a:lnTo>
                        <a:pt x="675604" y="47100"/>
                      </a:lnTo>
                      <a:lnTo>
                        <a:pt x="675604" y="63555"/>
                      </a:lnTo>
                      <a:lnTo>
                        <a:pt x="680403" y="63555"/>
                      </a:lnTo>
                      <a:lnTo>
                        <a:pt x="680403" y="47100"/>
                      </a:lnTo>
                      <a:close/>
                    </a:path>
                    <a:path w="699770" h="111125">
                      <a:moveTo>
                        <a:pt x="604459" y="0"/>
                      </a:moveTo>
                      <a:lnTo>
                        <a:pt x="598627" y="1534"/>
                      </a:lnTo>
                      <a:lnTo>
                        <a:pt x="593326" y="10622"/>
                      </a:lnTo>
                      <a:lnTo>
                        <a:pt x="594860" y="16454"/>
                      </a:lnTo>
                      <a:lnTo>
                        <a:pt x="661500" y="55327"/>
                      </a:lnTo>
                      <a:lnTo>
                        <a:pt x="675604" y="47100"/>
                      </a:lnTo>
                      <a:lnTo>
                        <a:pt x="680403" y="47100"/>
                      </a:lnTo>
                      <a:lnTo>
                        <a:pt x="680403" y="45802"/>
                      </a:lnTo>
                      <a:lnTo>
                        <a:pt x="682978" y="45802"/>
                      </a:lnTo>
                      <a:lnTo>
                        <a:pt x="604459" y="0"/>
                      </a:lnTo>
                      <a:close/>
                    </a:path>
                  </a:pathLst>
                </a:custGeom>
                <a:solidFill>
                  <a:srgbClr val="7F7F7F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pic>
              <p:nvPicPr>
                <p:cNvPr id="70" name="object 70"/>
                <p:cNvPicPr/>
                <p:nvPr/>
              </p:nvPicPr>
              <p:blipFill>
                <a:blip r:embed="rId16" cstate="print"/>
                <a:stretch>
                  <a:fillRect/>
                </a:stretch>
              </p:blipFill>
              <p:spPr>
                <a:xfrm>
                  <a:off x="7678219" y="2959374"/>
                  <a:ext cx="427376" cy="292169"/>
                </a:xfrm>
                <a:prstGeom prst="rect">
                  <a:avLst/>
                </a:prstGeom>
              </p:spPr>
            </p:pic>
            <p:pic>
              <p:nvPicPr>
                <p:cNvPr id="71" name="object 71"/>
                <p:cNvPicPr/>
                <p:nvPr/>
              </p:nvPicPr>
              <p:blipFill>
                <a:blip r:embed="rId19" cstate="print"/>
                <a:stretch>
                  <a:fillRect/>
                </a:stretch>
              </p:blipFill>
              <p:spPr>
                <a:xfrm>
                  <a:off x="7894935" y="4548785"/>
                  <a:ext cx="350761" cy="224261"/>
                </a:xfrm>
                <a:prstGeom prst="rect">
                  <a:avLst/>
                </a:prstGeom>
              </p:spPr>
            </p:pic>
            <p:pic>
              <p:nvPicPr>
                <p:cNvPr id="72" name="object 72"/>
                <p:cNvPicPr/>
                <p:nvPr/>
              </p:nvPicPr>
              <p:blipFill>
                <a:blip r:embed="rId20" cstate="print"/>
                <a:stretch>
                  <a:fillRect/>
                </a:stretch>
              </p:blipFill>
              <p:spPr>
                <a:xfrm>
                  <a:off x="8369825" y="4338161"/>
                  <a:ext cx="165353" cy="157194"/>
                </a:xfrm>
                <a:prstGeom prst="rect">
                  <a:avLst/>
                </a:prstGeom>
              </p:spPr>
            </p:pic>
            <p:pic>
              <p:nvPicPr>
                <p:cNvPr id="73" name="object 73"/>
                <p:cNvPicPr/>
                <p:nvPr/>
              </p:nvPicPr>
              <p:blipFill>
                <a:blip r:embed="rId20" cstate="print"/>
                <a:stretch>
                  <a:fillRect/>
                </a:stretch>
              </p:blipFill>
              <p:spPr>
                <a:xfrm>
                  <a:off x="8369825" y="4545375"/>
                  <a:ext cx="165353" cy="157194"/>
                </a:xfrm>
                <a:prstGeom prst="rect">
                  <a:avLst/>
                </a:prstGeom>
              </p:spPr>
            </p:pic>
            <p:pic>
              <p:nvPicPr>
                <p:cNvPr id="74" name="object 74"/>
                <p:cNvPicPr/>
                <p:nvPr/>
              </p:nvPicPr>
              <p:blipFill>
                <a:blip r:embed="rId21" cstate="print"/>
                <a:stretch>
                  <a:fillRect/>
                </a:stretch>
              </p:blipFill>
              <p:spPr>
                <a:xfrm>
                  <a:off x="8369825" y="4752591"/>
                  <a:ext cx="165353" cy="157194"/>
                </a:xfrm>
                <a:prstGeom prst="rect">
                  <a:avLst/>
                </a:prstGeom>
              </p:spPr>
            </p:pic>
            <p:pic>
              <p:nvPicPr>
                <p:cNvPr id="75" name="object 75"/>
                <p:cNvPicPr/>
                <p:nvPr/>
              </p:nvPicPr>
              <p:blipFill>
                <a:blip r:embed="rId20" cstate="print"/>
                <a:stretch>
                  <a:fillRect/>
                </a:stretch>
              </p:blipFill>
              <p:spPr>
                <a:xfrm>
                  <a:off x="8369825" y="4959807"/>
                  <a:ext cx="165353" cy="157194"/>
                </a:xfrm>
                <a:prstGeom prst="rect">
                  <a:avLst/>
                </a:prstGeom>
              </p:spPr>
            </p:pic>
            <p:sp>
              <p:nvSpPr>
                <p:cNvPr id="76" name="object 76"/>
                <p:cNvSpPr/>
                <p:nvPr/>
              </p:nvSpPr>
              <p:spPr>
                <a:xfrm>
                  <a:off x="8264135" y="4255819"/>
                  <a:ext cx="365760" cy="9569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5759" h="956945">
                      <a:moveTo>
                        <a:pt x="304798" y="0"/>
                      </a:moveTo>
                      <a:lnTo>
                        <a:pt x="328527" y="4790"/>
                      </a:lnTo>
                      <a:lnTo>
                        <a:pt x="347904" y="17855"/>
                      </a:lnTo>
                      <a:lnTo>
                        <a:pt x="360969" y="37232"/>
                      </a:lnTo>
                      <a:lnTo>
                        <a:pt x="365760" y="60961"/>
                      </a:lnTo>
                      <a:lnTo>
                        <a:pt x="365760" y="895642"/>
                      </a:lnTo>
                      <a:lnTo>
                        <a:pt x="360969" y="919371"/>
                      </a:lnTo>
                      <a:lnTo>
                        <a:pt x="347904" y="938748"/>
                      </a:lnTo>
                      <a:lnTo>
                        <a:pt x="328527" y="951813"/>
                      </a:lnTo>
                      <a:lnTo>
                        <a:pt x="304798" y="956604"/>
                      </a:lnTo>
                      <a:lnTo>
                        <a:pt x="60961" y="956604"/>
                      </a:lnTo>
                      <a:lnTo>
                        <a:pt x="37232" y="951813"/>
                      </a:lnTo>
                      <a:lnTo>
                        <a:pt x="17855" y="938748"/>
                      </a:lnTo>
                      <a:lnTo>
                        <a:pt x="4790" y="919371"/>
                      </a:lnTo>
                      <a:lnTo>
                        <a:pt x="0" y="895642"/>
                      </a:lnTo>
                      <a:lnTo>
                        <a:pt x="0" y="60961"/>
                      </a:lnTo>
                      <a:lnTo>
                        <a:pt x="4790" y="37232"/>
                      </a:lnTo>
                      <a:lnTo>
                        <a:pt x="17855" y="17855"/>
                      </a:lnTo>
                      <a:lnTo>
                        <a:pt x="37232" y="4790"/>
                      </a:lnTo>
                      <a:lnTo>
                        <a:pt x="60961" y="0"/>
                      </a:lnTo>
                      <a:lnTo>
                        <a:pt x="304798" y="0"/>
                      </a:lnTo>
                      <a:close/>
                    </a:path>
                  </a:pathLst>
                </a:custGeom>
                <a:ln w="19050">
                  <a:solidFill>
                    <a:srgbClr val="610059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77" name="object 77"/>
                <p:cNvSpPr/>
                <p:nvPr/>
              </p:nvSpPr>
              <p:spPr>
                <a:xfrm>
                  <a:off x="8391687" y="5212379"/>
                  <a:ext cx="111125" cy="43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438150">
                      <a:moveTo>
                        <a:pt x="55328" y="37807"/>
                      </a:moveTo>
                      <a:lnTo>
                        <a:pt x="45803" y="54135"/>
                      </a:lnTo>
                      <a:lnTo>
                        <a:pt x="45802" y="438107"/>
                      </a:lnTo>
                      <a:lnTo>
                        <a:pt x="64852" y="438107"/>
                      </a:lnTo>
                      <a:lnTo>
                        <a:pt x="64852" y="54135"/>
                      </a:lnTo>
                      <a:lnTo>
                        <a:pt x="55328" y="37807"/>
                      </a:lnTo>
                      <a:close/>
                    </a:path>
                    <a:path w="111125" h="438150">
                      <a:moveTo>
                        <a:pt x="55327" y="0"/>
                      </a:moveTo>
                      <a:lnTo>
                        <a:pt x="0" y="94848"/>
                      </a:lnTo>
                      <a:lnTo>
                        <a:pt x="1534" y="100680"/>
                      </a:lnTo>
                      <a:lnTo>
                        <a:pt x="10622" y="105981"/>
                      </a:lnTo>
                      <a:lnTo>
                        <a:pt x="16454" y="104447"/>
                      </a:lnTo>
                      <a:lnTo>
                        <a:pt x="45802" y="54136"/>
                      </a:lnTo>
                      <a:lnTo>
                        <a:pt x="45802" y="18903"/>
                      </a:lnTo>
                      <a:lnTo>
                        <a:pt x="66354" y="18903"/>
                      </a:lnTo>
                      <a:lnTo>
                        <a:pt x="55327" y="0"/>
                      </a:lnTo>
                      <a:close/>
                    </a:path>
                    <a:path w="111125" h="438150">
                      <a:moveTo>
                        <a:pt x="66354" y="18903"/>
                      </a:moveTo>
                      <a:lnTo>
                        <a:pt x="64852" y="18903"/>
                      </a:lnTo>
                      <a:lnTo>
                        <a:pt x="64853" y="54136"/>
                      </a:lnTo>
                      <a:lnTo>
                        <a:pt x="94200" y="104447"/>
                      </a:lnTo>
                      <a:lnTo>
                        <a:pt x="100032" y="105981"/>
                      </a:lnTo>
                      <a:lnTo>
                        <a:pt x="109120" y="100680"/>
                      </a:lnTo>
                      <a:lnTo>
                        <a:pt x="110656" y="94848"/>
                      </a:lnTo>
                      <a:lnTo>
                        <a:pt x="66354" y="18903"/>
                      </a:lnTo>
                      <a:close/>
                    </a:path>
                    <a:path w="111125" h="438150">
                      <a:moveTo>
                        <a:pt x="64852" y="18903"/>
                      </a:moveTo>
                      <a:lnTo>
                        <a:pt x="45802" y="18903"/>
                      </a:lnTo>
                      <a:lnTo>
                        <a:pt x="45802" y="54136"/>
                      </a:lnTo>
                      <a:lnTo>
                        <a:pt x="55328" y="37807"/>
                      </a:lnTo>
                      <a:lnTo>
                        <a:pt x="47100" y="23703"/>
                      </a:lnTo>
                      <a:lnTo>
                        <a:pt x="64852" y="23703"/>
                      </a:lnTo>
                      <a:lnTo>
                        <a:pt x="64852" y="18903"/>
                      </a:lnTo>
                      <a:close/>
                    </a:path>
                    <a:path w="111125" h="438150">
                      <a:moveTo>
                        <a:pt x="64852" y="23703"/>
                      </a:moveTo>
                      <a:lnTo>
                        <a:pt x="63555" y="23703"/>
                      </a:lnTo>
                      <a:lnTo>
                        <a:pt x="55328" y="37807"/>
                      </a:lnTo>
                      <a:lnTo>
                        <a:pt x="64852" y="54135"/>
                      </a:lnTo>
                      <a:lnTo>
                        <a:pt x="64852" y="23703"/>
                      </a:lnTo>
                      <a:close/>
                    </a:path>
                    <a:path w="111125" h="438150">
                      <a:moveTo>
                        <a:pt x="63555" y="23703"/>
                      </a:moveTo>
                      <a:lnTo>
                        <a:pt x="47100" y="23703"/>
                      </a:lnTo>
                      <a:lnTo>
                        <a:pt x="55328" y="37807"/>
                      </a:lnTo>
                      <a:lnTo>
                        <a:pt x="63555" y="23703"/>
                      </a:lnTo>
                      <a:close/>
                    </a:path>
                  </a:pathLst>
                </a:custGeom>
                <a:solidFill>
                  <a:srgbClr val="7F7F7F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pic>
              <p:nvPicPr>
                <p:cNvPr id="78" name="object 78"/>
                <p:cNvPicPr/>
                <p:nvPr/>
              </p:nvPicPr>
              <p:blipFill>
                <a:blip r:embed="rId12" cstate="print"/>
                <a:stretch>
                  <a:fillRect/>
                </a:stretch>
              </p:blipFill>
              <p:spPr>
                <a:xfrm>
                  <a:off x="8471394" y="5317078"/>
                  <a:ext cx="236000" cy="278166"/>
                </a:xfrm>
                <a:prstGeom prst="rect">
                  <a:avLst/>
                </a:prstGeom>
              </p:spPr>
            </p:pic>
            <p:pic>
              <p:nvPicPr>
                <p:cNvPr id="79" name="object 79"/>
                <p:cNvPicPr/>
                <p:nvPr/>
              </p:nvPicPr>
              <p:blipFill>
                <a:blip r:embed="rId13" cstate="print"/>
                <a:stretch>
                  <a:fillRect/>
                </a:stretch>
              </p:blipFill>
              <p:spPr>
                <a:xfrm>
                  <a:off x="8497442" y="3966938"/>
                  <a:ext cx="327652" cy="198835"/>
                </a:xfrm>
                <a:prstGeom prst="rect">
                  <a:avLst/>
                </a:prstGeom>
              </p:spPr>
            </p:pic>
            <p:sp>
              <p:nvSpPr>
                <p:cNvPr id="80" name="object 80"/>
                <p:cNvSpPr/>
                <p:nvPr/>
              </p:nvSpPr>
              <p:spPr>
                <a:xfrm>
                  <a:off x="8391686" y="3828830"/>
                  <a:ext cx="111125" cy="427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427354">
                      <a:moveTo>
                        <a:pt x="55328" y="37807"/>
                      </a:moveTo>
                      <a:lnTo>
                        <a:pt x="45803" y="54135"/>
                      </a:lnTo>
                      <a:lnTo>
                        <a:pt x="45802" y="426989"/>
                      </a:lnTo>
                      <a:lnTo>
                        <a:pt x="64852" y="426989"/>
                      </a:lnTo>
                      <a:lnTo>
                        <a:pt x="64852" y="54135"/>
                      </a:lnTo>
                      <a:lnTo>
                        <a:pt x="55328" y="37807"/>
                      </a:lnTo>
                      <a:close/>
                    </a:path>
                    <a:path w="111125" h="427354">
                      <a:moveTo>
                        <a:pt x="55328" y="0"/>
                      </a:moveTo>
                      <a:lnTo>
                        <a:pt x="0" y="94848"/>
                      </a:lnTo>
                      <a:lnTo>
                        <a:pt x="1537" y="100681"/>
                      </a:lnTo>
                      <a:lnTo>
                        <a:pt x="10622" y="105982"/>
                      </a:lnTo>
                      <a:lnTo>
                        <a:pt x="16455" y="104447"/>
                      </a:lnTo>
                      <a:lnTo>
                        <a:pt x="45802" y="54137"/>
                      </a:lnTo>
                      <a:lnTo>
                        <a:pt x="45803" y="18903"/>
                      </a:lnTo>
                      <a:lnTo>
                        <a:pt x="66355" y="18903"/>
                      </a:lnTo>
                      <a:lnTo>
                        <a:pt x="55328" y="0"/>
                      </a:lnTo>
                      <a:close/>
                    </a:path>
                    <a:path w="111125" h="427354">
                      <a:moveTo>
                        <a:pt x="66355" y="18903"/>
                      </a:moveTo>
                      <a:lnTo>
                        <a:pt x="64853" y="18903"/>
                      </a:lnTo>
                      <a:lnTo>
                        <a:pt x="64853" y="54137"/>
                      </a:lnTo>
                      <a:lnTo>
                        <a:pt x="94200" y="104447"/>
                      </a:lnTo>
                      <a:lnTo>
                        <a:pt x="100034" y="105982"/>
                      </a:lnTo>
                      <a:lnTo>
                        <a:pt x="109122" y="100680"/>
                      </a:lnTo>
                      <a:lnTo>
                        <a:pt x="110656" y="94848"/>
                      </a:lnTo>
                      <a:lnTo>
                        <a:pt x="66355" y="18903"/>
                      </a:lnTo>
                      <a:close/>
                    </a:path>
                    <a:path w="111125" h="427354">
                      <a:moveTo>
                        <a:pt x="64853" y="23703"/>
                      </a:moveTo>
                      <a:lnTo>
                        <a:pt x="63555" y="23703"/>
                      </a:lnTo>
                      <a:lnTo>
                        <a:pt x="55328" y="37807"/>
                      </a:lnTo>
                      <a:lnTo>
                        <a:pt x="64853" y="54137"/>
                      </a:lnTo>
                      <a:lnTo>
                        <a:pt x="64853" y="23703"/>
                      </a:lnTo>
                      <a:close/>
                    </a:path>
                    <a:path w="111125" h="427354">
                      <a:moveTo>
                        <a:pt x="64853" y="18903"/>
                      </a:moveTo>
                      <a:lnTo>
                        <a:pt x="45803" y="18903"/>
                      </a:lnTo>
                      <a:lnTo>
                        <a:pt x="45803" y="54135"/>
                      </a:lnTo>
                      <a:lnTo>
                        <a:pt x="55328" y="37807"/>
                      </a:lnTo>
                      <a:lnTo>
                        <a:pt x="47100" y="23703"/>
                      </a:lnTo>
                      <a:lnTo>
                        <a:pt x="64853" y="23703"/>
                      </a:lnTo>
                      <a:lnTo>
                        <a:pt x="64853" y="18903"/>
                      </a:lnTo>
                      <a:close/>
                    </a:path>
                    <a:path w="111125" h="427354">
                      <a:moveTo>
                        <a:pt x="63555" y="23703"/>
                      </a:moveTo>
                      <a:lnTo>
                        <a:pt x="47100" y="23703"/>
                      </a:lnTo>
                      <a:lnTo>
                        <a:pt x="55328" y="37807"/>
                      </a:lnTo>
                      <a:lnTo>
                        <a:pt x="63555" y="23703"/>
                      </a:lnTo>
                      <a:close/>
                    </a:path>
                  </a:pathLst>
                </a:custGeom>
                <a:solidFill>
                  <a:srgbClr val="7F7F7F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pic>
              <p:nvPicPr>
                <p:cNvPr id="81" name="object 81"/>
                <p:cNvPicPr/>
                <p:nvPr/>
              </p:nvPicPr>
              <p:blipFill>
                <a:blip r:embed="rId14" cstate="print"/>
                <a:stretch>
                  <a:fillRect/>
                </a:stretch>
              </p:blipFill>
              <p:spPr>
                <a:xfrm>
                  <a:off x="8369824" y="2849434"/>
                  <a:ext cx="165353" cy="173996"/>
                </a:xfrm>
                <a:prstGeom prst="rect">
                  <a:avLst/>
                </a:prstGeom>
              </p:spPr>
            </p:pic>
            <p:pic>
              <p:nvPicPr>
                <p:cNvPr id="82" name="object 82"/>
                <p:cNvPicPr/>
                <p:nvPr/>
              </p:nvPicPr>
              <p:blipFill>
                <a:blip r:embed="rId14" cstate="print"/>
                <a:stretch>
                  <a:fillRect/>
                </a:stretch>
              </p:blipFill>
              <p:spPr>
                <a:xfrm>
                  <a:off x="8369824" y="3081853"/>
                  <a:ext cx="165353" cy="173996"/>
                </a:xfrm>
                <a:prstGeom prst="rect">
                  <a:avLst/>
                </a:prstGeom>
              </p:spPr>
            </p:pic>
            <p:pic>
              <p:nvPicPr>
                <p:cNvPr id="83" name="object 83"/>
                <p:cNvPicPr/>
                <p:nvPr/>
              </p:nvPicPr>
              <p:blipFill>
                <a:blip r:embed="rId15" cstate="print"/>
                <a:stretch>
                  <a:fillRect/>
                </a:stretch>
              </p:blipFill>
              <p:spPr>
                <a:xfrm>
                  <a:off x="8369824" y="3314273"/>
                  <a:ext cx="165353" cy="173996"/>
                </a:xfrm>
                <a:prstGeom prst="rect">
                  <a:avLst/>
                </a:prstGeom>
              </p:spPr>
            </p:pic>
            <p:pic>
              <p:nvPicPr>
                <p:cNvPr id="84" name="object 84"/>
                <p:cNvPicPr/>
                <p:nvPr/>
              </p:nvPicPr>
              <p:blipFill>
                <a:blip r:embed="rId15" cstate="print"/>
                <a:stretch>
                  <a:fillRect/>
                </a:stretch>
              </p:blipFill>
              <p:spPr>
                <a:xfrm>
                  <a:off x="8369824" y="3546692"/>
                  <a:ext cx="165353" cy="173996"/>
                </a:xfrm>
                <a:prstGeom prst="rect">
                  <a:avLst/>
                </a:prstGeom>
              </p:spPr>
            </p:pic>
            <p:sp>
              <p:nvSpPr>
                <p:cNvPr id="85" name="object 85"/>
                <p:cNvSpPr/>
                <p:nvPr/>
              </p:nvSpPr>
              <p:spPr>
                <a:xfrm>
                  <a:off x="8641353" y="3227823"/>
                  <a:ext cx="699770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9770" h="111125">
                      <a:moveTo>
                        <a:pt x="604459" y="0"/>
                      </a:moveTo>
                      <a:lnTo>
                        <a:pt x="598625" y="1535"/>
                      </a:lnTo>
                      <a:lnTo>
                        <a:pt x="593324" y="10623"/>
                      </a:lnTo>
                      <a:lnTo>
                        <a:pt x="594860" y="16455"/>
                      </a:lnTo>
                      <a:lnTo>
                        <a:pt x="645172" y="45803"/>
                      </a:lnTo>
                      <a:lnTo>
                        <a:pt x="680402" y="45803"/>
                      </a:lnTo>
                      <a:lnTo>
                        <a:pt x="680402" y="64853"/>
                      </a:lnTo>
                      <a:lnTo>
                        <a:pt x="645172" y="64853"/>
                      </a:lnTo>
                      <a:lnTo>
                        <a:pt x="594860" y="94202"/>
                      </a:lnTo>
                      <a:lnTo>
                        <a:pt x="593324" y="100034"/>
                      </a:lnTo>
                      <a:lnTo>
                        <a:pt x="598625" y="109122"/>
                      </a:lnTo>
                      <a:lnTo>
                        <a:pt x="604459" y="110656"/>
                      </a:lnTo>
                      <a:lnTo>
                        <a:pt x="682977" y="64853"/>
                      </a:lnTo>
                      <a:lnTo>
                        <a:pt x="680402" y="64853"/>
                      </a:lnTo>
                      <a:lnTo>
                        <a:pt x="682980" y="64852"/>
                      </a:lnTo>
                      <a:lnTo>
                        <a:pt x="699306" y="55328"/>
                      </a:lnTo>
                      <a:lnTo>
                        <a:pt x="604459" y="0"/>
                      </a:lnTo>
                      <a:close/>
                    </a:path>
                    <a:path w="699770" h="111125">
                      <a:moveTo>
                        <a:pt x="661500" y="55328"/>
                      </a:moveTo>
                      <a:lnTo>
                        <a:pt x="645172" y="64853"/>
                      </a:lnTo>
                      <a:lnTo>
                        <a:pt x="680402" y="64853"/>
                      </a:lnTo>
                      <a:lnTo>
                        <a:pt x="680402" y="63555"/>
                      </a:lnTo>
                      <a:lnTo>
                        <a:pt x="675604" y="63555"/>
                      </a:lnTo>
                      <a:lnTo>
                        <a:pt x="661500" y="55328"/>
                      </a:lnTo>
                      <a:close/>
                    </a:path>
                    <a:path w="699770" h="111125">
                      <a:moveTo>
                        <a:pt x="0" y="45802"/>
                      </a:moveTo>
                      <a:lnTo>
                        <a:pt x="0" y="64852"/>
                      </a:lnTo>
                      <a:lnTo>
                        <a:pt x="645174" y="64852"/>
                      </a:lnTo>
                      <a:lnTo>
                        <a:pt x="661500" y="55328"/>
                      </a:lnTo>
                      <a:lnTo>
                        <a:pt x="645172" y="45803"/>
                      </a:lnTo>
                      <a:lnTo>
                        <a:pt x="0" y="45802"/>
                      </a:lnTo>
                      <a:close/>
                    </a:path>
                    <a:path w="699770" h="111125">
                      <a:moveTo>
                        <a:pt x="675604" y="47101"/>
                      </a:moveTo>
                      <a:lnTo>
                        <a:pt x="661500" y="55328"/>
                      </a:lnTo>
                      <a:lnTo>
                        <a:pt x="675604" y="63555"/>
                      </a:lnTo>
                      <a:lnTo>
                        <a:pt x="675604" y="47101"/>
                      </a:lnTo>
                      <a:close/>
                    </a:path>
                    <a:path w="699770" h="111125">
                      <a:moveTo>
                        <a:pt x="680402" y="47101"/>
                      </a:moveTo>
                      <a:lnTo>
                        <a:pt x="675604" y="47101"/>
                      </a:lnTo>
                      <a:lnTo>
                        <a:pt x="675604" y="63555"/>
                      </a:lnTo>
                      <a:lnTo>
                        <a:pt x="680402" y="63555"/>
                      </a:lnTo>
                      <a:lnTo>
                        <a:pt x="680402" y="47101"/>
                      </a:lnTo>
                      <a:close/>
                    </a:path>
                    <a:path w="699770" h="111125">
                      <a:moveTo>
                        <a:pt x="645172" y="45803"/>
                      </a:moveTo>
                      <a:lnTo>
                        <a:pt x="661500" y="55328"/>
                      </a:lnTo>
                      <a:lnTo>
                        <a:pt x="675604" y="47101"/>
                      </a:lnTo>
                      <a:lnTo>
                        <a:pt x="680402" y="47101"/>
                      </a:lnTo>
                      <a:lnTo>
                        <a:pt x="680402" y="45803"/>
                      </a:lnTo>
                      <a:lnTo>
                        <a:pt x="645172" y="45803"/>
                      </a:lnTo>
                      <a:close/>
                    </a:path>
                  </a:pathLst>
                </a:custGeom>
                <a:solidFill>
                  <a:srgbClr val="7F7F7F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pic>
              <p:nvPicPr>
                <p:cNvPr id="86" name="object 86"/>
                <p:cNvPicPr/>
                <p:nvPr/>
              </p:nvPicPr>
              <p:blipFill>
                <a:blip r:embed="rId16" cstate="print"/>
                <a:stretch>
                  <a:fillRect/>
                </a:stretch>
              </p:blipFill>
              <p:spPr>
                <a:xfrm>
                  <a:off x="8754702" y="2959374"/>
                  <a:ext cx="427376" cy="292169"/>
                </a:xfrm>
                <a:prstGeom prst="rect">
                  <a:avLst/>
                </a:prstGeom>
              </p:spPr>
            </p:pic>
            <p:sp>
              <p:nvSpPr>
                <p:cNvPr id="87" name="object 87"/>
                <p:cNvSpPr/>
                <p:nvPr/>
              </p:nvSpPr>
              <p:spPr>
                <a:xfrm>
                  <a:off x="9468168" y="1917292"/>
                  <a:ext cx="111125" cy="8299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829944">
                      <a:moveTo>
                        <a:pt x="55328" y="37806"/>
                      </a:moveTo>
                      <a:lnTo>
                        <a:pt x="45803" y="54135"/>
                      </a:lnTo>
                      <a:lnTo>
                        <a:pt x="45802" y="829381"/>
                      </a:lnTo>
                      <a:lnTo>
                        <a:pt x="64852" y="829381"/>
                      </a:lnTo>
                      <a:lnTo>
                        <a:pt x="64853" y="54135"/>
                      </a:lnTo>
                      <a:lnTo>
                        <a:pt x="55328" y="37806"/>
                      </a:lnTo>
                      <a:close/>
                    </a:path>
                    <a:path w="111125" h="829944">
                      <a:moveTo>
                        <a:pt x="55328" y="0"/>
                      </a:moveTo>
                      <a:lnTo>
                        <a:pt x="0" y="94848"/>
                      </a:lnTo>
                      <a:lnTo>
                        <a:pt x="1535" y="100680"/>
                      </a:lnTo>
                      <a:lnTo>
                        <a:pt x="10623" y="105982"/>
                      </a:lnTo>
                      <a:lnTo>
                        <a:pt x="16455" y="104447"/>
                      </a:lnTo>
                      <a:lnTo>
                        <a:pt x="45803" y="54135"/>
                      </a:lnTo>
                      <a:lnTo>
                        <a:pt x="45803" y="18903"/>
                      </a:lnTo>
                      <a:lnTo>
                        <a:pt x="66355" y="18903"/>
                      </a:lnTo>
                      <a:lnTo>
                        <a:pt x="55328" y="0"/>
                      </a:lnTo>
                      <a:close/>
                    </a:path>
                    <a:path w="111125" h="829944">
                      <a:moveTo>
                        <a:pt x="66355" y="18903"/>
                      </a:moveTo>
                      <a:lnTo>
                        <a:pt x="64853" y="18903"/>
                      </a:lnTo>
                      <a:lnTo>
                        <a:pt x="64853" y="54135"/>
                      </a:lnTo>
                      <a:lnTo>
                        <a:pt x="94202" y="104447"/>
                      </a:lnTo>
                      <a:lnTo>
                        <a:pt x="100034" y="105982"/>
                      </a:lnTo>
                      <a:lnTo>
                        <a:pt x="109122" y="100680"/>
                      </a:lnTo>
                      <a:lnTo>
                        <a:pt x="110656" y="94848"/>
                      </a:lnTo>
                      <a:lnTo>
                        <a:pt x="66355" y="18903"/>
                      </a:lnTo>
                      <a:close/>
                    </a:path>
                    <a:path w="111125" h="829944">
                      <a:moveTo>
                        <a:pt x="64853" y="18903"/>
                      </a:moveTo>
                      <a:lnTo>
                        <a:pt x="45803" y="18903"/>
                      </a:lnTo>
                      <a:lnTo>
                        <a:pt x="45803" y="54135"/>
                      </a:lnTo>
                      <a:lnTo>
                        <a:pt x="55328" y="37806"/>
                      </a:lnTo>
                      <a:lnTo>
                        <a:pt x="47101" y="23703"/>
                      </a:lnTo>
                      <a:lnTo>
                        <a:pt x="64853" y="23703"/>
                      </a:lnTo>
                      <a:lnTo>
                        <a:pt x="64853" y="18903"/>
                      </a:lnTo>
                      <a:close/>
                    </a:path>
                    <a:path w="111125" h="829944">
                      <a:moveTo>
                        <a:pt x="64853" y="23703"/>
                      </a:moveTo>
                      <a:lnTo>
                        <a:pt x="63555" y="23703"/>
                      </a:lnTo>
                      <a:lnTo>
                        <a:pt x="55328" y="37806"/>
                      </a:lnTo>
                      <a:lnTo>
                        <a:pt x="64853" y="54135"/>
                      </a:lnTo>
                      <a:lnTo>
                        <a:pt x="64853" y="23703"/>
                      </a:lnTo>
                      <a:close/>
                    </a:path>
                    <a:path w="111125" h="829944">
                      <a:moveTo>
                        <a:pt x="63555" y="23703"/>
                      </a:moveTo>
                      <a:lnTo>
                        <a:pt x="47101" y="23703"/>
                      </a:lnTo>
                      <a:lnTo>
                        <a:pt x="55328" y="37806"/>
                      </a:lnTo>
                      <a:lnTo>
                        <a:pt x="63555" y="23703"/>
                      </a:lnTo>
                      <a:close/>
                    </a:path>
                  </a:pathLst>
                </a:custGeom>
                <a:solidFill>
                  <a:srgbClr val="7F7F7F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pic>
              <p:nvPicPr>
                <p:cNvPr id="88" name="object 88"/>
                <p:cNvPicPr/>
                <p:nvPr/>
              </p:nvPicPr>
              <p:blipFill>
                <a:blip r:embed="rId22" cstate="print"/>
                <a:stretch>
                  <a:fillRect/>
                </a:stretch>
              </p:blipFill>
              <p:spPr>
                <a:xfrm>
                  <a:off x="9113068" y="2525572"/>
                  <a:ext cx="335211" cy="204825"/>
                </a:xfrm>
                <a:prstGeom prst="rect">
                  <a:avLst/>
                </a:prstGeom>
              </p:spPr>
            </p:pic>
            <p:pic>
              <p:nvPicPr>
                <p:cNvPr id="89" name="object 89"/>
                <p:cNvPicPr/>
                <p:nvPr/>
              </p:nvPicPr>
              <p:blipFill>
                <a:blip r:embed="rId14" cstate="print"/>
                <a:stretch>
                  <a:fillRect/>
                </a:stretch>
              </p:blipFill>
              <p:spPr>
                <a:xfrm>
                  <a:off x="9446307" y="2840187"/>
                  <a:ext cx="165353" cy="173996"/>
                </a:xfrm>
                <a:prstGeom prst="rect">
                  <a:avLst/>
                </a:prstGeom>
              </p:spPr>
            </p:pic>
            <p:pic>
              <p:nvPicPr>
                <p:cNvPr id="90" name="object 90"/>
                <p:cNvPicPr/>
                <p:nvPr/>
              </p:nvPicPr>
              <p:blipFill>
                <a:blip r:embed="rId14" cstate="print"/>
                <a:stretch>
                  <a:fillRect/>
                </a:stretch>
              </p:blipFill>
              <p:spPr>
                <a:xfrm>
                  <a:off x="9446307" y="3072607"/>
                  <a:ext cx="165353" cy="173996"/>
                </a:xfrm>
                <a:prstGeom prst="rect">
                  <a:avLst/>
                </a:prstGeom>
              </p:spPr>
            </p:pic>
            <p:pic>
              <p:nvPicPr>
                <p:cNvPr id="91" name="object 91"/>
                <p:cNvPicPr/>
                <p:nvPr/>
              </p:nvPicPr>
              <p:blipFill>
                <a:blip r:embed="rId14" cstate="print"/>
                <a:stretch>
                  <a:fillRect/>
                </a:stretch>
              </p:blipFill>
              <p:spPr>
                <a:xfrm>
                  <a:off x="9446307" y="3305026"/>
                  <a:ext cx="165353" cy="173996"/>
                </a:xfrm>
                <a:prstGeom prst="rect">
                  <a:avLst/>
                </a:prstGeom>
              </p:spPr>
            </p:pic>
            <p:pic>
              <p:nvPicPr>
                <p:cNvPr id="92" name="object 92"/>
                <p:cNvPicPr/>
                <p:nvPr/>
              </p:nvPicPr>
              <p:blipFill>
                <a:blip r:embed="rId15" cstate="print"/>
                <a:stretch>
                  <a:fillRect/>
                </a:stretch>
              </p:blipFill>
              <p:spPr>
                <a:xfrm>
                  <a:off x="9446307" y="3537445"/>
                  <a:ext cx="165353" cy="173996"/>
                </a:xfrm>
                <a:prstGeom prst="rect">
                  <a:avLst/>
                </a:prstGeom>
              </p:spPr>
            </p:pic>
            <p:pic>
              <p:nvPicPr>
                <p:cNvPr id="93" name="object 93"/>
                <p:cNvPicPr/>
                <p:nvPr/>
              </p:nvPicPr>
              <p:blipFill>
                <a:blip r:embed="rId23" cstate="print"/>
                <a:stretch>
                  <a:fillRect/>
                </a:stretch>
              </p:blipFill>
              <p:spPr>
                <a:xfrm>
                  <a:off x="8990126" y="4548785"/>
                  <a:ext cx="334030" cy="224261"/>
                </a:xfrm>
                <a:prstGeom prst="rect">
                  <a:avLst/>
                </a:prstGeom>
              </p:spPr>
            </p:pic>
            <p:pic>
              <p:nvPicPr>
                <p:cNvPr id="94" name="object 94"/>
                <p:cNvPicPr/>
                <p:nvPr/>
              </p:nvPicPr>
              <p:blipFill>
                <a:blip r:embed="rId21" cstate="print"/>
                <a:stretch>
                  <a:fillRect/>
                </a:stretch>
              </p:blipFill>
              <p:spPr>
                <a:xfrm>
                  <a:off x="9446308" y="4328914"/>
                  <a:ext cx="165353" cy="157194"/>
                </a:xfrm>
                <a:prstGeom prst="rect">
                  <a:avLst/>
                </a:prstGeom>
              </p:spPr>
            </p:pic>
            <p:pic>
              <p:nvPicPr>
                <p:cNvPr id="95" name="object 95"/>
                <p:cNvPicPr/>
                <p:nvPr/>
              </p:nvPicPr>
              <p:blipFill>
                <a:blip r:embed="rId20" cstate="print"/>
                <a:stretch>
                  <a:fillRect/>
                </a:stretch>
              </p:blipFill>
              <p:spPr>
                <a:xfrm>
                  <a:off x="9446308" y="4536130"/>
                  <a:ext cx="165353" cy="157194"/>
                </a:xfrm>
                <a:prstGeom prst="rect">
                  <a:avLst/>
                </a:prstGeom>
              </p:spPr>
            </p:pic>
            <p:pic>
              <p:nvPicPr>
                <p:cNvPr id="96" name="object 96"/>
                <p:cNvPicPr/>
                <p:nvPr/>
              </p:nvPicPr>
              <p:blipFill>
                <a:blip r:embed="rId21" cstate="print"/>
                <a:stretch>
                  <a:fillRect/>
                </a:stretch>
              </p:blipFill>
              <p:spPr>
                <a:xfrm>
                  <a:off x="9446308" y="4743345"/>
                  <a:ext cx="165353" cy="157194"/>
                </a:xfrm>
                <a:prstGeom prst="rect">
                  <a:avLst/>
                </a:prstGeom>
              </p:spPr>
            </p:pic>
            <p:pic>
              <p:nvPicPr>
                <p:cNvPr id="97" name="object 97"/>
                <p:cNvPicPr/>
                <p:nvPr/>
              </p:nvPicPr>
              <p:blipFill>
                <a:blip r:embed="rId20" cstate="print"/>
                <a:stretch>
                  <a:fillRect/>
                </a:stretch>
              </p:blipFill>
              <p:spPr>
                <a:xfrm>
                  <a:off x="9446308" y="4950561"/>
                  <a:ext cx="165353" cy="157194"/>
                </a:xfrm>
                <a:prstGeom prst="rect">
                  <a:avLst/>
                </a:prstGeom>
              </p:spPr>
            </p:pic>
            <p:sp>
              <p:nvSpPr>
                <p:cNvPr id="98" name="object 98"/>
                <p:cNvSpPr/>
                <p:nvPr/>
              </p:nvSpPr>
              <p:spPr>
                <a:xfrm>
                  <a:off x="9340616" y="4246573"/>
                  <a:ext cx="365760" cy="9569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5759" h="956945">
                      <a:moveTo>
                        <a:pt x="304798" y="0"/>
                      </a:moveTo>
                      <a:lnTo>
                        <a:pt x="328527" y="4790"/>
                      </a:lnTo>
                      <a:lnTo>
                        <a:pt x="347904" y="17855"/>
                      </a:lnTo>
                      <a:lnTo>
                        <a:pt x="360969" y="37232"/>
                      </a:lnTo>
                      <a:lnTo>
                        <a:pt x="365760" y="60961"/>
                      </a:lnTo>
                      <a:lnTo>
                        <a:pt x="365760" y="895642"/>
                      </a:lnTo>
                      <a:lnTo>
                        <a:pt x="360969" y="919371"/>
                      </a:lnTo>
                      <a:lnTo>
                        <a:pt x="347904" y="938748"/>
                      </a:lnTo>
                      <a:lnTo>
                        <a:pt x="328527" y="951813"/>
                      </a:lnTo>
                      <a:lnTo>
                        <a:pt x="304798" y="956604"/>
                      </a:lnTo>
                      <a:lnTo>
                        <a:pt x="60961" y="956604"/>
                      </a:lnTo>
                      <a:lnTo>
                        <a:pt x="37232" y="951813"/>
                      </a:lnTo>
                      <a:lnTo>
                        <a:pt x="17855" y="938748"/>
                      </a:lnTo>
                      <a:lnTo>
                        <a:pt x="4790" y="919371"/>
                      </a:lnTo>
                      <a:lnTo>
                        <a:pt x="0" y="895642"/>
                      </a:lnTo>
                      <a:lnTo>
                        <a:pt x="0" y="60961"/>
                      </a:lnTo>
                      <a:lnTo>
                        <a:pt x="4790" y="37232"/>
                      </a:lnTo>
                      <a:lnTo>
                        <a:pt x="17855" y="17855"/>
                      </a:lnTo>
                      <a:lnTo>
                        <a:pt x="37232" y="4790"/>
                      </a:lnTo>
                      <a:lnTo>
                        <a:pt x="60961" y="0"/>
                      </a:lnTo>
                      <a:lnTo>
                        <a:pt x="304798" y="0"/>
                      </a:lnTo>
                      <a:close/>
                    </a:path>
                  </a:pathLst>
                </a:custGeom>
                <a:ln w="19050">
                  <a:solidFill>
                    <a:srgbClr val="610059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99" name="object 99"/>
                <p:cNvSpPr/>
                <p:nvPr/>
              </p:nvSpPr>
              <p:spPr>
                <a:xfrm>
                  <a:off x="9468169" y="5203133"/>
                  <a:ext cx="111125" cy="43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438150">
                      <a:moveTo>
                        <a:pt x="55328" y="37806"/>
                      </a:moveTo>
                      <a:lnTo>
                        <a:pt x="45803" y="54135"/>
                      </a:lnTo>
                      <a:lnTo>
                        <a:pt x="45802" y="438106"/>
                      </a:lnTo>
                      <a:lnTo>
                        <a:pt x="64852" y="438106"/>
                      </a:lnTo>
                      <a:lnTo>
                        <a:pt x="64853" y="54135"/>
                      </a:lnTo>
                      <a:lnTo>
                        <a:pt x="55328" y="37806"/>
                      </a:lnTo>
                      <a:close/>
                    </a:path>
                    <a:path w="111125" h="438150">
                      <a:moveTo>
                        <a:pt x="55328" y="0"/>
                      </a:moveTo>
                      <a:lnTo>
                        <a:pt x="0" y="94848"/>
                      </a:lnTo>
                      <a:lnTo>
                        <a:pt x="1535" y="100680"/>
                      </a:lnTo>
                      <a:lnTo>
                        <a:pt x="10623" y="105981"/>
                      </a:lnTo>
                      <a:lnTo>
                        <a:pt x="16455" y="104446"/>
                      </a:lnTo>
                      <a:lnTo>
                        <a:pt x="45803" y="54135"/>
                      </a:lnTo>
                      <a:lnTo>
                        <a:pt x="45803" y="18903"/>
                      </a:lnTo>
                      <a:lnTo>
                        <a:pt x="66355" y="18903"/>
                      </a:lnTo>
                      <a:lnTo>
                        <a:pt x="55328" y="0"/>
                      </a:lnTo>
                      <a:close/>
                    </a:path>
                    <a:path w="111125" h="438150">
                      <a:moveTo>
                        <a:pt x="66355" y="18903"/>
                      </a:moveTo>
                      <a:lnTo>
                        <a:pt x="64853" y="18903"/>
                      </a:lnTo>
                      <a:lnTo>
                        <a:pt x="64853" y="54135"/>
                      </a:lnTo>
                      <a:lnTo>
                        <a:pt x="94201" y="104447"/>
                      </a:lnTo>
                      <a:lnTo>
                        <a:pt x="100033" y="105981"/>
                      </a:lnTo>
                      <a:lnTo>
                        <a:pt x="109121" y="100680"/>
                      </a:lnTo>
                      <a:lnTo>
                        <a:pt x="110655" y="94847"/>
                      </a:lnTo>
                      <a:lnTo>
                        <a:pt x="66355" y="18903"/>
                      </a:lnTo>
                      <a:close/>
                    </a:path>
                    <a:path w="111125" h="438150">
                      <a:moveTo>
                        <a:pt x="64853" y="23703"/>
                      </a:moveTo>
                      <a:lnTo>
                        <a:pt x="63555" y="23703"/>
                      </a:lnTo>
                      <a:lnTo>
                        <a:pt x="55328" y="37806"/>
                      </a:lnTo>
                      <a:lnTo>
                        <a:pt x="64853" y="54135"/>
                      </a:lnTo>
                      <a:lnTo>
                        <a:pt x="64853" y="23703"/>
                      </a:lnTo>
                      <a:close/>
                    </a:path>
                    <a:path w="111125" h="438150">
                      <a:moveTo>
                        <a:pt x="64853" y="18903"/>
                      </a:moveTo>
                      <a:lnTo>
                        <a:pt x="45803" y="18903"/>
                      </a:lnTo>
                      <a:lnTo>
                        <a:pt x="45803" y="54135"/>
                      </a:lnTo>
                      <a:lnTo>
                        <a:pt x="55328" y="37806"/>
                      </a:lnTo>
                      <a:lnTo>
                        <a:pt x="47101" y="23703"/>
                      </a:lnTo>
                      <a:lnTo>
                        <a:pt x="64853" y="23703"/>
                      </a:lnTo>
                      <a:lnTo>
                        <a:pt x="64853" y="18903"/>
                      </a:lnTo>
                      <a:close/>
                    </a:path>
                    <a:path w="111125" h="438150">
                      <a:moveTo>
                        <a:pt x="63555" y="23703"/>
                      </a:moveTo>
                      <a:lnTo>
                        <a:pt x="47101" y="23703"/>
                      </a:lnTo>
                      <a:lnTo>
                        <a:pt x="55328" y="37806"/>
                      </a:lnTo>
                      <a:lnTo>
                        <a:pt x="63555" y="23703"/>
                      </a:lnTo>
                      <a:close/>
                    </a:path>
                  </a:pathLst>
                </a:custGeom>
                <a:solidFill>
                  <a:srgbClr val="7F7F7F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pic>
              <p:nvPicPr>
                <p:cNvPr id="100" name="object 100"/>
                <p:cNvPicPr/>
                <p:nvPr/>
              </p:nvPicPr>
              <p:blipFill>
                <a:blip r:embed="rId12" cstate="print"/>
                <a:stretch>
                  <a:fillRect/>
                </a:stretch>
              </p:blipFill>
              <p:spPr>
                <a:xfrm>
                  <a:off x="9547876" y="5317078"/>
                  <a:ext cx="235999" cy="278166"/>
                </a:xfrm>
                <a:prstGeom prst="rect">
                  <a:avLst/>
                </a:prstGeom>
              </p:spPr>
            </p:pic>
            <p:pic>
              <p:nvPicPr>
                <p:cNvPr id="101" name="object 101"/>
                <p:cNvPicPr/>
                <p:nvPr/>
              </p:nvPicPr>
              <p:blipFill>
                <a:blip r:embed="rId13" cstate="print"/>
                <a:stretch>
                  <a:fillRect/>
                </a:stretch>
              </p:blipFill>
              <p:spPr>
                <a:xfrm>
                  <a:off x="9573924" y="3966938"/>
                  <a:ext cx="327651" cy="198835"/>
                </a:xfrm>
                <a:prstGeom prst="rect">
                  <a:avLst/>
                </a:prstGeom>
              </p:spPr>
            </p:pic>
            <p:sp>
              <p:nvSpPr>
                <p:cNvPr id="102" name="object 102"/>
                <p:cNvSpPr/>
                <p:nvPr/>
              </p:nvSpPr>
              <p:spPr>
                <a:xfrm>
                  <a:off x="9468168" y="3819584"/>
                  <a:ext cx="111125" cy="427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427354">
                      <a:moveTo>
                        <a:pt x="55328" y="37807"/>
                      </a:moveTo>
                      <a:lnTo>
                        <a:pt x="45803" y="54135"/>
                      </a:lnTo>
                      <a:lnTo>
                        <a:pt x="45802" y="426987"/>
                      </a:lnTo>
                      <a:lnTo>
                        <a:pt x="64852" y="426987"/>
                      </a:lnTo>
                      <a:lnTo>
                        <a:pt x="64852" y="54135"/>
                      </a:lnTo>
                      <a:lnTo>
                        <a:pt x="55328" y="37807"/>
                      </a:lnTo>
                      <a:close/>
                    </a:path>
                    <a:path w="111125" h="427354">
                      <a:moveTo>
                        <a:pt x="55327" y="0"/>
                      </a:moveTo>
                      <a:lnTo>
                        <a:pt x="0" y="94848"/>
                      </a:lnTo>
                      <a:lnTo>
                        <a:pt x="1534" y="100680"/>
                      </a:lnTo>
                      <a:lnTo>
                        <a:pt x="10622" y="105981"/>
                      </a:lnTo>
                      <a:lnTo>
                        <a:pt x="16454" y="104447"/>
                      </a:lnTo>
                      <a:lnTo>
                        <a:pt x="45802" y="54136"/>
                      </a:lnTo>
                      <a:lnTo>
                        <a:pt x="45802" y="18903"/>
                      </a:lnTo>
                      <a:lnTo>
                        <a:pt x="66354" y="18903"/>
                      </a:lnTo>
                      <a:lnTo>
                        <a:pt x="55327" y="0"/>
                      </a:lnTo>
                      <a:close/>
                    </a:path>
                    <a:path w="111125" h="427354">
                      <a:moveTo>
                        <a:pt x="66354" y="18903"/>
                      </a:moveTo>
                      <a:lnTo>
                        <a:pt x="64852" y="18903"/>
                      </a:lnTo>
                      <a:lnTo>
                        <a:pt x="64853" y="54136"/>
                      </a:lnTo>
                      <a:lnTo>
                        <a:pt x="94200" y="104447"/>
                      </a:lnTo>
                      <a:lnTo>
                        <a:pt x="100032" y="105981"/>
                      </a:lnTo>
                      <a:lnTo>
                        <a:pt x="109120" y="100680"/>
                      </a:lnTo>
                      <a:lnTo>
                        <a:pt x="110656" y="94848"/>
                      </a:lnTo>
                      <a:lnTo>
                        <a:pt x="66354" y="18903"/>
                      </a:lnTo>
                      <a:close/>
                    </a:path>
                    <a:path w="111125" h="427354">
                      <a:moveTo>
                        <a:pt x="64852" y="18903"/>
                      </a:moveTo>
                      <a:lnTo>
                        <a:pt x="45802" y="18903"/>
                      </a:lnTo>
                      <a:lnTo>
                        <a:pt x="45802" y="54136"/>
                      </a:lnTo>
                      <a:lnTo>
                        <a:pt x="55328" y="37807"/>
                      </a:lnTo>
                      <a:lnTo>
                        <a:pt x="47100" y="23703"/>
                      </a:lnTo>
                      <a:lnTo>
                        <a:pt x="64852" y="23703"/>
                      </a:lnTo>
                      <a:lnTo>
                        <a:pt x="64852" y="18903"/>
                      </a:lnTo>
                      <a:close/>
                    </a:path>
                    <a:path w="111125" h="427354">
                      <a:moveTo>
                        <a:pt x="64852" y="23703"/>
                      </a:moveTo>
                      <a:lnTo>
                        <a:pt x="63555" y="23703"/>
                      </a:lnTo>
                      <a:lnTo>
                        <a:pt x="55328" y="37807"/>
                      </a:lnTo>
                      <a:lnTo>
                        <a:pt x="64852" y="54135"/>
                      </a:lnTo>
                      <a:lnTo>
                        <a:pt x="64852" y="23703"/>
                      </a:lnTo>
                      <a:close/>
                    </a:path>
                    <a:path w="111125" h="427354">
                      <a:moveTo>
                        <a:pt x="63555" y="23703"/>
                      </a:moveTo>
                      <a:lnTo>
                        <a:pt x="47100" y="23703"/>
                      </a:lnTo>
                      <a:lnTo>
                        <a:pt x="55328" y="37807"/>
                      </a:lnTo>
                      <a:lnTo>
                        <a:pt x="63555" y="23703"/>
                      </a:lnTo>
                      <a:close/>
                    </a:path>
                  </a:pathLst>
                </a:custGeom>
                <a:solidFill>
                  <a:srgbClr val="7F7F7F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03" name="object 103"/>
                <p:cNvSpPr/>
                <p:nvPr/>
              </p:nvSpPr>
              <p:spPr>
                <a:xfrm>
                  <a:off x="9340616" y="2746673"/>
                  <a:ext cx="365760" cy="1073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5759" h="1073150">
                      <a:moveTo>
                        <a:pt x="304798" y="0"/>
                      </a:moveTo>
                      <a:lnTo>
                        <a:pt x="328527" y="4790"/>
                      </a:lnTo>
                      <a:lnTo>
                        <a:pt x="347904" y="17855"/>
                      </a:lnTo>
                      <a:lnTo>
                        <a:pt x="360969" y="37232"/>
                      </a:lnTo>
                      <a:lnTo>
                        <a:pt x="365760" y="60961"/>
                      </a:lnTo>
                      <a:lnTo>
                        <a:pt x="365760" y="1011994"/>
                      </a:lnTo>
                      <a:lnTo>
                        <a:pt x="360969" y="1035723"/>
                      </a:lnTo>
                      <a:lnTo>
                        <a:pt x="347904" y="1055100"/>
                      </a:lnTo>
                      <a:lnTo>
                        <a:pt x="328527" y="1068165"/>
                      </a:lnTo>
                      <a:lnTo>
                        <a:pt x="304798" y="1072956"/>
                      </a:lnTo>
                      <a:lnTo>
                        <a:pt x="60961" y="1072956"/>
                      </a:lnTo>
                      <a:lnTo>
                        <a:pt x="37232" y="1068165"/>
                      </a:lnTo>
                      <a:lnTo>
                        <a:pt x="17855" y="1055100"/>
                      </a:lnTo>
                      <a:lnTo>
                        <a:pt x="4790" y="1035723"/>
                      </a:lnTo>
                      <a:lnTo>
                        <a:pt x="0" y="1011994"/>
                      </a:lnTo>
                      <a:lnTo>
                        <a:pt x="0" y="60961"/>
                      </a:lnTo>
                      <a:lnTo>
                        <a:pt x="4790" y="37232"/>
                      </a:lnTo>
                      <a:lnTo>
                        <a:pt x="17855" y="17855"/>
                      </a:lnTo>
                      <a:lnTo>
                        <a:pt x="37232" y="4790"/>
                      </a:lnTo>
                      <a:lnTo>
                        <a:pt x="60961" y="0"/>
                      </a:lnTo>
                      <a:lnTo>
                        <a:pt x="304798" y="0"/>
                      </a:lnTo>
                      <a:close/>
                    </a:path>
                  </a:pathLst>
                </a:custGeom>
                <a:ln w="19050">
                  <a:solidFill>
                    <a:srgbClr val="8C1515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pic>
              <p:nvPicPr>
                <p:cNvPr id="104" name="object 104"/>
                <p:cNvPicPr/>
                <p:nvPr/>
              </p:nvPicPr>
              <p:blipFill>
                <a:blip r:embed="rId24" cstate="print"/>
                <a:stretch>
                  <a:fillRect/>
                </a:stretch>
              </p:blipFill>
              <p:spPr>
                <a:xfrm>
                  <a:off x="5949299" y="2510942"/>
                  <a:ext cx="322522" cy="214685"/>
                </a:xfrm>
                <a:prstGeom prst="rect">
                  <a:avLst/>
                </a:prstGeom>
              </p:spPr>
            </p:pic>
            <p:pic>
              <p:nvPicPr>
                <p:cNvPr id="105" name="object 105"/>
                <p:cNvPicPr/>
                <p:nvPr/>
              </p:nvPicPr>
              <p:blipFill>
                <a:blip r:embed="rId25" cstate="print"/>
                <a:stretch>
                  <a:fillRect/>
                </a:stretch>
              </p:blipFill>
              <p:spPr>
                <a:xfrm>
                  <a:off x="6228264" y="2809260"/>
                  <a:ext cx="165353" cy="173996"/>
                </a:xfrm>
                <a:prstGeom prst="rect">
                  <a:avLst/>
                </a:prstGeom>
              </p:spPr>
            </p:pic>
            <p:pic>
              <p:nvPicPr>
                <p:cNvPr id="106" name="object 106"/>
                <p:cNvPicPr/>
                <p:nvPr/>
              </p:nvPicPr>
              <p:blipFill>
                <a:blip r:embed="rId25" cstate="print"/>
                <a:stretch>
                  <a:fillRect/>
                </a:stretch>
              </p:blipFill>
              <p:spPr>
                <a:xfrm>
                  <a:off x="6228264" y="3041679"/>
                  <a:ext cx="165353" cy="173996"/>
                </a:xfrm>
                <a:prstGeom prst="rect">
                  <a:avLst/>
                </a:prstGeom>
              </p:spPr>
            </p:pic>
            <p:pic>
              <p:nvPicPr>
                <p:cNvPr id="107" name="object 107"/>
                <p:cNvPicPr/>
                <p:nvPr/>
              </p:nvPicPr>
              <p:blipFill>
                <a:blip r:embed="rId26" cstate="print"/>
                <a:stretch>
                  <a:fillRect/>
                </a:stretch>
              </p:blipFill>
              <p:spPr>
                <a:xfrm>
                  <a:off x="6228264" y="3274099"/>
                  <a:ext cx="165353" cy="173996"/>
                </a:xfrm>
                <a:prstGeom prst="rect">
                  <a:avLst/>
                </a:prstGeom>
              </p:spPr>
            </p:pic>
            <p:pic>
              <p:nvPicPr>
                <p:cNvPr id="108" name="object 108"/>
                <p:cNvPicPr/>
                <p:nvPr/>
              </p:nvPicPr>
              <p:blipFill>
                <a:blip r:embed="rId26" cstate="print"/>
                <a:stretch>
                  <a:fillRect/>
                </a:stretch>
              </p:blipFill>
              <p:spPr>
                <a:xfrm>
                  <a:off x="6228264" y="3506518"/>
                  <a:ext cx="165353" cy="173996"/>
                </a:xfrm>
                <a:prstGeom prst="rect">
                  <a:avLst/>
                </a:prstGeom>
              </p:spPr>
            </p:pic>
            <p:sp>
              <p:nvSpPr>
                <p:cNvPr id="109" name="object 109"/>
                <p:cNvSpPr/>
                <p:nvPr/>
              </p:nvSpPr>
              <p:spPr>
                <a:xfrm>
                  <a:off x="6122573" y="2715745"/>
                  <a:ext cx="365760" cy="1073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5760" h="1073150">
                      <a:moveTo>
                        <a:pt x="304798" y="0"/>
                      </a:moveTo>
                      <a:lnTo>
                        <a:pt x="328527" y="4790"/>
                      </a:lnTo>
                      <a:lnTo>
                        <a:pt x="347904" y="17855"/>
                      </a:lnTo>
                      <a:lnTo>
                        <a:pt x="360969" y="37232"/>
                      </a:lnTo>
                      <a:lnTo>
                        <a:pt x="365760" y="60961"/>
                      </a:lnTo>
                      <a:lnTo>
                        <a:pt x="365760" y="1011994"/>
                      </a:lnTo>
                      <a:lnTo>
                        <a:pt x="360969" y="1035723"/>
                      </a:lnTo>
                      <a:lnTo>
                        <a:pt x="347904" y="1055100"/>
                      </a:lnTo>
                      <a:lnTo>
                        <a:pt x="328527" y="1068165"/>
                      </a:lnTo>
                      <a:lnTo>
                        <a:pt x="304798" y="1072956"/>
                      </a:lnTo>
                      <a:lnTo>
                        <a:pt x="60961" y="1072956"/>
                      </a:lnTo>
                      <a:lnTo>
                        <a:pt x="37232" y="1068165"/>
                      </a:lnTo>
                      <a:lnTo>
                        <a:pt x="17855" y="1055100"/>
                      </a:lnTo>
                      <a:lnTo>
                        <a:pt x="4790" y="1035723"/>
                      </a:lnTo>
                      <a:lnTo>
                        <a:pt x="0" y="1011994"/>
                      </a:lnTo>
                      <a:lnTo>
                        <a:pt x="0" y="60961"/>
                      </a:lnTo>
                      <a:lnTo>
                        <a:pt x="4790" y="37232"/>
                      </a:lnTo>
                      <a:lnTo>
                        <a:pt x="17855" y="17855"/>
                      </a:lnTo>
                      <a:lnTo>
                        <a:pt x="37232" y="4790"/>
                      </a:lnTo>
                      <a:lnTo>
                        <a:pt x="60961" y="0"/>
                      </a:lnTo>
                      <a:lnTo>
                        <a:pt x="304798" y="0"/>
                      </a:lnTo>
                      <a:close/>
                    </a:path>
                  </a:pathLst>
                </a:custGeom>
                <a:ln w="19050">
                  <a:solidFill>
                    <a:srgbClr val="8C1515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pic>
              <p:nvPicPr>
                <p:cNvPr id="110" name="object 110"/>
                <p:cNvPicPr/>
                <p:nvPr/>
              </p:nvPicPr>
              <p:blipFill>
                <a:blip r:embed="rId27" cstate="print"/>
                <a:stretch>
                  <a:fillRect/>
                </a:stretch>
              </p:blipFill>
              <p:spPr>
                <a:xfrm>
                  <a:off x="5754364" y="4575548"/>
                  <a:ext cx="334841" cy="214103"/>
                </a:xfrm>
                <a:prstGeom prst="rect">
                  <a:avLst/>
                </a:prstGeom>
              </p:spPr>
            </p:pic>
            <p:pic>
              <p:nvPicPr>
                <p:cNvPr id="111" name="object 111"/>
                <p:cNvPicPr/>
                <p:nvPr/>
              </p:nvPicPr>
              <p:blipFill>
                <a:blip r:embed="rId11" cstate="print"/>
                <a:stretch>
                  <a:fillRect/>
                </a:stretch>
              </p:blipFill>
              <p:spPr>
                <a:xfrm>
                  <a:off x="6244741" y="4297987"/>
                  <a:ext cx="165353" cy="157194"/>
                </a:xfrm>
                <a:prstGeom prst="rect">
                  <a:avLst/>
                </a:prstGeom>
              </p:spPr>
            </p:pic>
            <p:pic>
              <p:nvPicPr>
                <p:cNvPr id="112" name="object 112"/>
                <p:cNvPicPr/>
                <p:nvPr/>
              </p:nvPicPr>
              <p:blipFill>
                <a:blip r:embed="rId11" cstate="print"/>
                <a:stretch>
                  <a:fillRect/>
                </a:stretch>
              </p:blipFill>
              <p:spPr>
                <a:xfrm>
                  <a:off x="6244741" y="4505201"/>
                  <a:ext cx="165353" cy="157194"/>
                </a:xfrm>
                <a:prstGeom prst="rect">
                  <a:avLst/>
                </a:prstGeom>
              </p:spPr>
            </p:pic>
            <p:pic>
              <p:nvPicPr>
                <p:cNvPr id="113" name="object 113"/>
                <p:cNvPicPr/>
                <p:nvPr/>
              </p:nvPicPr>
              <p:blipFill>
                <a:blip r:embed="rId10" cstate="print"/>
                <a:stretch>
                  <a:fillRect/>
                </a:stretch>
              </p:blipFill>
              <p:spPr>
                <a:xfrm>
                  <a:off x="6244741" y="4712417"/>
                  <a:ext cx="165353" cy="157194"/>
                </a:xfrm>
                <a:prstGeom prst="rect">
                  <a:avLst/>
                </a:prstGeom>
              </p:spPr>
            </p:pic>
            <p:pic>
              <p:nvPicPr>
                <p:cNvPr id="114" name="object 114"/>
                <p:cNvPicPr/>
                <p:nvPr/>
              </p:nvPicPr>
              <p:blipFill>
                <a:blip r:embed="rId11" cstate="print"/>
                <a:stretch>
                  <a:fillRect/>
                </a:stretch>
              </p:blipFill>
              <p:spPr>
                <a:xfrm>
                  <a:off x="6244741" y="4919633"/>
                  <a:ext cx="165353" cy="157194"/>
                </a:xfrm>
                <a:prstGeom prst="rect">
                  <a:avLst/>
                </a:prstGeom>
              </p:spPr>
            </p:pic>
            <p:sp>
              <p:nvSpPr>
                <p:cNvPr id="115" name="object 115"/>
                <p:cNvSpPr/>
                <p:nvPr/>
              </p:nvSpPr>
              <p:spPr>
                <a:xfrm>
                  <a:off x="6139050" y="4215645"/>
                  <a:ext cx="365760" cy="9569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5759" h="956945">
                      <a:moveTo>
                        <a:pt x="304798" y="0"/>
                      </a:moveTo>
                      <a:lnTo>
                        <a:pt x="328527" y="4790"/>
                      </a:lnTo>
                      <a:lnTo>
                        <a:pt x="347904" y="17855"/>
                      </a:lnTo>
                      <a:lnTo>
                        <a:pt x="360969" y="37232"/>
                      </a:lnTo>
                      <a:lnTo>
                        <a:pt x="365760" y="60961"/>
                      </a:lnTo>
                      <a:lnTo>
                        <a:pt x="365760" y="895642"/>
                      </a:lnTo>
                      <a:lnTo>
                        <a:pt x="360969" y="919371"/>
                      </a:lnTo>
                      <a:lnTo>
                        <a:pt x="347904" y="938748"/>
                      </a:lnTo>
                      <a:lnTo>
                        <a:pt x="328527" y="951813"/>
                      </a:lnTo>
                      <a:lnTo>
                        <a:pt x="304798" y="956604"/>
                      </a:lnTo>
                      <a:lnTo>
                        <a:pt x="60961" y="956604"/>
                      </a:lnTo>
                      <a:lnTo>
                        <a:pt x="37232" y="951813"/>
                      </a:lnTo>
                      <a:lnTo>
                        <a:pt x="17855" y="938748"/>
                      </a:lnTo>
                      <a:lnTo>
                        <a:pt x="4790" y="919371"/>
                      </a:lnTo>
                      <a:lnTo>
                        <a:pt x="0" y="895642"/>
                      </a:lnTo>
                      <a:lnTo>
                        <a:pt x="0" y="60961"/>
                      </a:lnTo>
                      <a:lnTo>
                        <a:pt x="4790" y="37232"/>
                      </a:lnTo>
                      <a:lnTo>
                        <a:pt x="17855" y="17855"/>
                      </a:lnTo>
                      <a:lnTo>
                        <a:pt x="37232" y="4790"/>
                      </a:lnTo>
                      <a:lnTo>
                        <a:pt x="60961" y="0"/>
                      </a:lnTo>
                      <a:lnTo>
                        <a:pt x="304798" y="0"/>
                      </a:lnTo>
                      <a:close/>
                    </a:path>
                  </a:pathLst>
                </a:custGeom>
                <a:ln w="19050">
                  <a:solidFill>
                    <a:srgbClr val="610059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16" name="object 116"/>
                <p:cNvSpPr/>
                <p:nvPr/>
              </p:nvSpPr>
              <p:spPr>
                <a:xfrm>
                  <a:off x="6266601" y="5172205"/>
                  <a:ext cx="111125" cy="43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438150">
                      <a:moveTo>
                        <a:pt x="55328" y="37807"/>
                      </a:moveTo>
                      <a:lnTo>
                        <a:pt x="45803" y="54135"/>
                      </a:lnTo>
                      <a:lnTo>
                        <a:pt x="45802" y="438107"/>
                      </a:lnTo>
                      <a:lnTo>
                        <a:pt x="64852" y="438107"/>
                      </a:lnTo>
                      <a:lnTo>
                        <a:pt x="64852" y="54135"/>
                      </a:lnTo>
                      <a:lnTo>
                        <a:pt x="55328" y="37807"/>
                      </a:lnTo>
                      <a:close/>
                    </a:path>
                    <a:path w="111125" h="438150">
                      <a:moveTo>
                        <a:pt x="55328" y="0"/>
                      </a:moveTo>
                      <a:lnTo>
                        <a:pt x="0" y="94848"/>
                      </a:lnTo>
                      <a:lnTo>
                        <a:pt x="1535" y="100680"/>
                      </a:lnTo>
                      <a:lnTo>
                        <a:pt x="10622" y="105981"/>
                      </a:lnTo>
                      <a:lnTo>
                        <a:pt x="16455" y="104447"/>
                      </a:lnTo>
                      <a:lnTo>
                        <a:pt x="45802" y="54137"/>
                      </a:lnTo>
                      <a:lnTo>
                        <a:pt x="45803" y="18903"/>
                      </a:lnTo>
                      <a:lnTo>
                        <a:pt x="66355" y="18903"/>
                      </a:lnTo>
                      <a:lnTo>
                        <a:pt x="55328" y="0"/>
                      </a:lnTo>
                      <a:close/>
                    </a:path>
                    <a:path w="111125" h="438150">
                      <a:moveTo>
                        <a:pt x="66355" y="18903"/>
                      </a:moveTo>
                      <a:lnTo>
                        <a:pt x="64853" y="18903"/>
                      </a:lnTo>
                      <a:lnTo>
                        <a:pt x="64853" y="54137"/>
                      </a:lnTo>
                      <a:lnTo>
                        <a:pt x="94200" y="104447"/>
                      </a:lnTo>
                      <a:lnTo>
                        <a:pt x="100034" y="105981"/>
                      </a:lnTo>
                      <a:lnTo>
                        <a:pt x="109120" y="100680"/>
                      </a:lnTo>
                      <a:lnTo>
                        <a:pt x="110656" y="94848"/>
                      </a:lnTo>
                      <a:lnTo>
                        <a:pt x="66355" y="18903"/>
                      </a:lnTo>
                      <a:close/>
                    </a:path>
                    <a:path w="111125" h="438150">
                      <a:moveTo>
                        <a:pt x="64853" y="23703"/>
                      </a:moveTo>
                      <a:lnTo>
                        <a:pt x="63555" y="23703"/>
                      </a:lnTo>
                      <a:lnTo>
                        <a:pt x="55328" y="37807"/>
                      </a:lnTo>
                      <a:lnTo>
                        <a:pt x="64853" y="54137"/>
                      </a:lnTo>
                      <a:lnTo>
                        <a:pt x="64853" y="23703"/>
                      </a:lnTo>
                      <a:close/>
                    </a:path>
                    <a:path w="111125" h="438150">
                      <a:moveTo>
                        <a:pt x="64853" y="18903"/>
                      </a:moveTo>
                      <a:lnTo>
                        <a:pt x="45803" y="18903"/>
                      </a:lnTo>
                      <a:lnTo>
                        <a:pt x="45803" y="54135"/>
                      </a:lnTo>
                      <a:lnTo>
                        <a:pt x="55328" y="37807"/>
                      </a:lnTo>
                      <a:lnTo>
                        <a:pt x="47100" y="23703"/>
                      </a:lnTo>
                      <a:lnTo>
                        <a:pt x="64853" y="23703"/>
                      </a:lnTo>
                      <a:lnTo>
                        <a:pt x="64853" y="18903"/>
                      </a:lnTo>
                      <a:close/>
                    </a:path>
                    <a:path w="111125" h="438150">
                      <a:moveTo>
                        <a:pt x="63555" y="23703"/>
                      </a:moveTo>
                      <a:lnTo>
                        <a:pt x="47100" y="23703"/>
                      </a:lnTo>
                      <a:lnTo>
                        <a:pt x="55328" y="37807"/>
                      </a:lnTo>
                      <a:lnTo>
                        <a:pt x="63555" y="23703"/>
                      </a:lnTo>
                      <a:close/>
                    </a:path>
                  </a:pathLst>
                </a:custGeom>
                <a:solidFill>
                  <a:srgbClr val="7F7F7F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pic>
              <p:nvPicPr>
                <p:cNvPr id="117" name="object 117"/>
                <p:cNvPicPr/>
                <p:nvPr/>
              </p:nvPicPr>
              <p:blipFill>
                <a:blip r:embed="rId12" cstate="print"/>
                <a:stretch>
                  <a:fillRect/>
                </a:stretch>
              </p:blipFill>
              <p:spPr>
                <a:xfrm>
                  <a:off x="6361845" y="5317078"/>
                  <a:ext cx="235999" cy="278166"/>
                </a:xfrm>
                <a:prstGeom prst="rect">
                  <a:avLst/>
                </a:prstGeom>
              </p:spPr>
            </p:pic>
            <p:pic>
              <p:nvPicPr>
                <p:cNvPr id="118" name="object 118"/>
                <p:cNvPicPr/>
                <p:nvPr/>
              </p:nvPicPr>
              <p:blipFill>
                <a:blip r:embed="rId13" cstate="print"/>
                <a:stretch>
                  <a:fillRect/>
                </a:stretch>
              </p:blipFill>
              <p:spPr>
                <a:xfrm>
                  <a:off x="6355881" y="3966938"/>
                  <a:ext cx="327651" cy="198835"/>
                </a:xfrm>
                <a:prstGeom prst="rect">
                  <a:avLst/>
                </a:prstGeom>
              </p:spPr>
            </p:pic>
            <p:sp>
              <p:nvSpPr>
                <p:cNvPr id="119" name="object 119"/>
                <p:cNvSpPr/>
                <p:nvPr/>
              </p:nvSpPr>
              <p:spPr>
                <a:xfrm>
                  <a:off x="5424792" y="3229736"/>
                  <a:ext cx="935990" cy="98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5989" h="986154">
                      <a:moveTo>
                        <a:pt x="699300" y="55321"/>
                      </a:moveTo>
                      <a:lnTo>
                        <a:pt x="604456" y="0"/>
                      </a:lnTo>
                      <a:lnTo>
                        <a:pt x="598627" y="1536"/>
                      </a:lnTo>
                      <a:lnTo>
                        <a:pt x="593318" y="10617"/>
                      </a:lnTo>
                      <a:lnTo>
                        <a:pt x="594855" y="16446"/>
                      </a:lnTo>
                      <a:lnTo>
                        <a:pt x="645160" y="45796"/>
                      </a:lnTo>
                      <a:lnTo>
                        <a:pt x="0" y="45796"/>
                      </a:lnTo>
                      <a:lnTo>
                        <a:pt x="0" y="64846"/>
                      </a:lnTo>
                      <a:lnTo>
                        <a:pt x="645160" y="64846"/>
                      </a:lnTo>
                      <a:lnTo>
                        <a:pt x="594855" y="94195"/>
                      </a:lnTo>
                      <a:lnTo>
                        <a:pt x="593318" y="100025"/>
                      </a:lnTo>
                      <a:lnTo>
                        <a:pt x="598627" y="109118"/>
                      </a:lnTo>
                      <a:lnTo>
                        <a:pt x="604456" y="110655"/>
                      </a:lnTo>
                      <a:lnTo>
                        <a:pt x="682967" y="64846"/>
                      </a:lnTo>
                      <a:lnTo>
                        <a:pt x="699300" y="55321"/>
                      </a:lnTo>
                      <a:close/>
                    </a:path>
                    <a:path w="935989" h="986154">
                      <a:moveTo>
                        <a:pt x="935990" y="653770"/>
                      </a:moveTo>
                      <a:lnTo>
                        <a:pt x="891679" y="577824"/>
                      </a:lnTo>
                      <a:lnTo>
                        <a:pt x="880656" y="558927"/>
                      </a:lnTo>
                      <a:lnTo>
                        <a:pt x="825322" y="653770"/>
                      </a:lnTo>
                      <a:lnTo>
                        <a:pt x="826858" y="659599"/>
                      </a:lnTo>
                      <a:lnTo>
                        <a:pt x="835952" y="664908"/>
                      </a:lnTo>
                      <a:lnTo>
                        <a:pt x="841781" y="663371"/>
                      </a:lnTo>
                      <a:lnTo>
                        <a:pt x="871131" y="613067"/>
                      </a:lnTo>
                      <a:lnTo>
                        <a:pt x="871131" y="985913"/>
                      </a:lnTo>
                      <a:lnTo>
                        <a:pt x="890181" y="985913"/>
                      </a:lnTo>
                      <a:lnTo>
                        <a:pt x="890181" y="613067"/>
                      </a:lnTo>
                      <a:lnTo>
                        <a:pt x="919530" y="663371"/>
                      </a:lnTo>
                      <a:lnTo>
                        <a:pt x="925360" y="664908"/>
                      </a:lnTo>
                      <a:lnTo>
                        <a:pt x="934453" y="659599"/>
                      </a:lnTo>
                      <a:lnTo>
                        <a:pt x="935990" y="653770"/>
                      </a:lnTo>
                      <a:close/>
                    </a:path>
                  </a:pathLst>
                </a:custGeom>
                <a:solidFill>
                  <a:srgbClr val="7F7F7F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pic>
              <p:nvPicPr>
                <p:cNvPr id="120" name="object 120"/>
                <p:cNvPicPr/>
                <p:nvPr/>
              </p:nvPicPr>
              <p:blipFill>
                <a:blip r:embed="rId16" cstate="print"/>
                <a:stretch>
                  <a:fillRect/>
                </a:stretch>
              </p:blipFill>
              <p:spPr>
                <a:xfrm>
                  <a:off x="5538142" y="2959374"/>
                  <a:ext cx="427375" cy="292169"/>
                </a:xfrm>
                <a:prstGeom prst="rect">
                  <a:avLst/>
                </a:prstGeom>
              </p:spPr>
            </p:pic>
            <p:pic>
              <p:nvPicPr>
                <p:cNvPr id="121" name="object 121"/>
                <p:cNvPicPr/>
                <p:nvPr/>
              </p:nvPicPr>
              <p:blipFill>
                <a:blip r:embed="rId28" cstate="print"/>
                <a:stretch>
                  <a:fillRect/>
                </a:stretch>
              </p:blipFill>
              <p:spPr>
                <a:xfrm>
                  <a:off x="4792447" y="2539685"/>
                  <a:ext cx="333167" cy="195980"/>
                </a:xfrm>
                <a:prstGeom prst="rect">
                  <a:avLst/>
                </a:prstGeom>
              </p:spPr>
            </p:pic>
            <p:pic>
              <p:nvPicPr>
                <p:cNvPr id="122" name="object 122"/>
                <p:cNvPicPr/>
                <p:nvPr/>
              </p:nvPicPr>
              <p:blipFill>
                <a:blip r:embed="rId15" cstate="print"/>
                <a:stretch>
                  <a:fillRect/>
                </a:stretch>
              </p:blipFill>
              <p:spPr>
                <a:xfrm>
                  <a:off x="5155116" y="2813283"/>
                  <a:ext cx="165353" cy="173996"/>
                </a:xfrm>
                <a:prstGeom prst="rect">
                  <a:avLst/>
                </a:prstGeom>
              </p:spPr>
            </p:pic>
            <p:pic>
              <p:nvPicPr>
                <p:cNvPr id="123" name="object 123"/>
                <p:cNvPicPr/>
                <p:nvPr/>
              </p:nvPicPr>
              <p:blipFill>
                <a:blip r:embed="rId15" cstate="print"/>
                <a:stretch>
                  <a:fillRect/>
                </a:stretch>
              </p:blipFill>
              <p:spPr>
                <a:xfrm>
                  <a:off x="5155116" y="3045702"/>
                  <a:ext cx="165353" cy="173996"/>
                </a:xfrm>
                <a:prstGeom prst="rect">
                  <a:avLst/>
                </a:prstGeom>
              </p:spPr>
            </p:pic>
            <p:pic>
              <p:nvPicPr>
                <p:cNvPr id="124" name="object 124"/>
                <p:cNvPicPr/>
                <p:nvPr/>
              </p:nvPicPr>
              <p:blipFill>
                <a:blip r:embed="rId14" cstate="print"/>
                <a:stretch>
                  <a:fillRect/>
                </a:stretch>
              </p:blipFill>
              <p:spPr>
                <a:xfrm>
                  <a:off x="5155116" y="3278122"/>
                  <a:ext cx="165353" cy="173996"/>
                </a:xfrm>
                <a:prstGeom prst="rect">
                  <a:avLst/>
                </a:prstGeom>
              </p:spPr>
            </p:pic>
            <p:pic>
              <p:nvPicPr>
                <p:cNvPr id="125" name="object 125"/>
                <p:cNvPicPr/>
                <p:nvPr/>
              </p:nvPicPr>
              <p:blipFill>
                <a:blip r:embed="rId14" cstate="print"/>
                <a:stretch>
                  <a:fillRect/>
                </a:stretch>
              </p:blipFill>
              <p:spPr>
                <a:xfrm>
                  <a:off x="5155116" y="3510541"/>
                  <a:ext cx="165353" cy="173996"/>
                </a:xfrm>
                <a:prstGeom prst="rect">
                  <a:avLst/>
                </a:prstGeom>
              </p:spPr>
            </p:pic>
            <p:sp>
              <p:nvSpPr>
                <p:cNvPr id="126" name="object 126"/>
                <p:cNvSpPr/>
                <p:nvPr/>
              </p:nvSpPr>
              <p:spPr>
                <a:xfrm>
                  <a:off x="5049426" y="2719768"/>
                  <a:ext cx="365760" cy="1073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5760" h="1073150">
                      <a:moveTo>
                        <a:pt x="304798" y="0"/>
                      </a:moveTo>
                      <a:lnTo>
                        <a:pt x="328527" y="4790"/>
                      </a:lnTo>
                      <a:lnTo>
                        <a:pt x="347904" y="17855"/>
                      </a:lnTo>
                      <a:lnTo>
                        <a:pt x="360969" y="37232"/>
                      </a:lnTo>
                      <a:lnTo>
                        <a:pt x="365760" y="60961"/>
                      </a:lnTo>
                      <a:lnTo>
                        <a:pt x="365760" y="1011994"/>
                      </a:lnTo>
                      <a:lnTo>
                        <a:pt x="360969" y="1035723"/>
                      </a:lnTo>
                      <a:lnTo>
                        <a:pt x="347904" y="1055100"/>
                      </a:lnTo>
                      <a:lnTo>
                        <a:pt x="328527" y="1068165"/>
                      </a:lnTo>
                      <a:lnTo>
                        <a:pt x="304798" y="1072956"/>
                      </a:lnTo>
                      <a:lnTo>
                        <a:pt x="60961" y="1072956"/>
                      </a:lnTo>
                      <a:lnTo>
                        <a:pt x="37232" y="1068165"/>
                      </a:lnTo>
                      <a:lnTo>
                        <a:pt x="17855" y="1055100"/>
                      </a:lnTo>
                      <a:lnTo>
                        <a:pt x="4790" y="1035723"/>
                      </a:lnTo>
                      <a:lnTo>
                        <a:pt x="0" y="1011994"/>
                      </a:lnTo>
                      <a:lnTo>
                        <a:pt x="0" y="60961"/>
                      </a:lnTo>
                      <a:lnTo>
                        <a:pt x="4790" y="37232"/>
                      </a:lnTo>
                      <a:lnTo>
                        <a:pt x="17855" y="17855"/>
                      </a:lnTo>
                      <a:lnTo>
                        <a:pt x="37232" y="4790"/>
                      </a:lnTo>
                      <a:lnTo>
                        <a:pt x="60961" y="0"/>
                      </a:lnTo>
                      <a:lnTo>
                        <a:pt x="304798" y="0"/>
                      </a:lnTo>
                      <a:close/>
                    </a:path>
                  </a:pathLst>
                </a:custGeom>
                <a:ln w="19050">
                  <a:solidFill>
                    <a:srgbClr val="8C1515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sp>
            <p:nvSpPr>
              <p:cNvPr id="127" name="object 127"/>
              <p:cNvSpPr txBox="1"/>
              <p:nvPr/>
            </p:nvSpPr>
            <p:spPr>
              <a:xfrm>
                <a:off x="8393168" y="1784603"/>
                <a:ext cx="111125" cy="23876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1400" dirty="0">
                    <a:solidFill>
                      <a:srgbClr val="175E54"/>
                    </a:solidFill>
                    <a:latin typeface="Calibri"/>
                    <a:cs typeface="Calibri"/>
                  </a:rPr>
                  <a:t>a</a:t>
                </a:r>
                <a:endParaRPr sz="1400">
                  <a:latin typeface="Calibri"/>
                  <a:cs typeface="Calibri"/>
                </a:endParaRPr>
              </a:p>
            </p:txBody>
          </p:sp>
          <p:sp>
            <p:nvSpPr>
              <p:cNvPr id="128" name="object 128"/>
              <p:cNvSpPr txBox="1"/>
              <p:nvPr/>
            </p:nvSpPr>
            <p:spPr>
              <a:xfrm>
                <a:off x="9899003" y="1787652"/>
                <a:ext cx="279400" cy="23876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1400" spc="-35" dirty="0">
                    <a:solidFill>
                      <a:srgbClr val="175E54"/>
                    </a:solidFill>
                    <a:latin typeface="Calibri"/>
                    <a:cs typeface="Calibri"/>
                  </a:rPr>
                  <a:t>z</a:t>
                </a:r>
                <a:r>
                  <a:rPr sz="1400" spc="-5" dirty="0">
                    <a:solidFill>
                      <a:srgbClr val="175E54"/>
                    </a:solidFill>
                    <a:latin typeface="Calibri"/>
                    <a:cs typeface="Calibri"/>
                  </a:rPr>
                  <a:t>o</a:t>
                </a:r>
                <a:r>
                  <a:rPr sz="1400" dirty="0">
                    <a:solidFill>
                      <a:srgbClr val="175E54"/>
                    </a:solidFill>
                    <a:latin typeface="Calibri"/>
                    <a:cs typeface="Calibri"/>
                  </a:rPr>
                  <a:t>o</a:t>
                </a:r>
                <a:endParaRPr sz="1400">
                  <a:latin typeface="Calibri"/>
                  <a:cs typeface="Calibri"/>
                </a:endParaRPr>
              </a:p>
            </p:txBody>
          </p:sp>
          <p:grpSp>
            <p:nvGrpSpPr>
              <p:cNvPr id="129" name="object 129"/>
              <p:cNvGrpSpPr/>
              <p:nvPr/>
            </p:nvGrpSpPr>
            <p:grpSpPr>
              <a:xfrm>
                <a:off x="9379478" y="1183342"/>
                <a:ext cx="153035" cy="539750"/>
                <a:chOff x="9379478" y="1183342"/>
                <a:chExt cx="153035" cy="539750"/>
              </a:xfrm>
            </p:grpSpPr>
            <p:sp>
              <p:nvSpPr>
                <p:cNvPr id="130" name="object 130"/>
                <p:cNvSpPr/>
                <p:nvPr/>
              </p:nvSpPr>
              <p:spPr>
                <a:xfrm>
                  <a:off x="9384241" y="1188105"/>
                  <a:ext cx="143510" cy="530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509" h="530225">
                      <a:moveTo>
                        <a:pt x="143184" y="0"/>
                      </a:moveTo>
                      <a:lnTo>
                        <a:pt x="0" y="0"/>
                      </a:lnTo>
                      <a:lnTo>
                        <a:pt x="0" y="529694"/>
                      </a:lnTo>
                      <a:lnTo>
                        <a:pt x="143184" y="529694"/>
                      </a:lnTo>
                      <a:lnTo>
                        <a:pt x="143184" y="0"/>
                      </a:lnTo>
                      <a:close/>
                    </a:path>
                  </a:pathLst>
                </a:custGeom>
                <a:solidFill>
                  <a:srgbClr val="92D050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31" name="object 131"/>
                <p:cNvSpPr/>
                <p:nvPr/>
              </p:nvSpPr>
              <p:spPr>
                <a:xfrm>
                  <a:off x="9384241" y="1188105"/>
                  <a:ext cx="143510" cy="530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509" h="530225">
                      <a:moveTo>
                        <a:pt x="0" y="0"/>
                      </a:moveTo>
                      <a:lnTo>
                        <a:pt x="143184" y="0"/>
                      </a:lnTo>
                      <a:lnTo>
                        <a:pt x="143184" y="529694"/>
                      </a:lnTo>
                      <a:lnTo>
                        <a:pt x="0" y="52969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9525">
                  <a:solidFill>
                    <a:srgbClr val="175E54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</p:grpSp>
      </p:grpSp>
      <p:sp>
        <p:nvSpPr>
          <p:cNvPr id="148" name="TextBox 147">
            <a:extLst>
              <a:ext uri="{FF2B5EF4-FFF2-40B4-BE49-F238E27FC236}">
                <a16:creationId xmlns:a16="http://schemas.microsoft.com/office/drawing/2014/main" id="{66317C14-5920-CE77-28F6-94E62736076D}"/>
              </a:ext>
            </a:extLst>
          </p:cNvPr>
          <p:cNvSpPr txBox="1"/>
          <p:nvPr/>
        </p:nvSpPr>
        <p:spPr>
          <a:xfrm>
            <a:off x="442914" y="1801697"/>
            <a:ext cx="4725556" cy="3506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1800" b="1" dirty="0">
                <a:cs typeface="Calibri"/>
              </a:rPr>
              <a:t>RNN</a:t>
            </a:r>
            <a:r>
              <a:rPr lang="en-US" sz="1800" b="1" spc="-25" dirty="0">
                <a:cs typeface="Calibri"/>
              </a:rPr>
              <a:t> </a:t>
            </a:r>
            <a:r>
              <a:rPr lang="en-US" sz="1800" b="1" spc="-15" dirty="0">
                <a:solidFill>
                  <a:srgbClr val="00B050"/>
                </a:solidFill>
                <a:cs typeface="Calibri"/>
              </a:rPr>
              <a:t>Advantages</a:t>
            </a:r>
            <a:r>
              <a:rPr lang="en-US" sz="1800" spc="-15" dirty="0">
                <a:cs typeface="Calibri"/>
              </a:rPr>
              <a:t>:</a:t>
            </a:r>
            <a:endParaRPr lang="en-US" sz="1800" dirty="0">
              <a:cs typeface="Calibri"/>
            </a:endParaRPr>
          </a:p>
          <a:p>
            <a:pPr marL="298450" indent="-285750"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lang="en-US" sz="1800" spc="-5" dirty="0">
                <a:cs typeface="Calibri"/>
              </a:rPr>
              <a:t>Can</a:t>
            </a:r>
            <a:r>
              <a:rPr lang="en-US" sz="1800" spc="-15" dirty="0">
                <a:cs typeface="Calibri"/>
              </a:rPr>
              <a:t> </a:t>
            </a:r>
            <a:r>
              <a:rPr lang="en-US" sz="1800" spc="-10" dirty="0">
                <a:cs typeface="Calibri"/>
              </a:rPr>
              <a:t>process</a:t>
            </a:r>
            <a:r>
              <a:rPr lang="en-US" sz="1800" spc="-5" dirty="0">
                <a:cs typeface="Calibri"/>
              </a:rPr>
              <a:t> </a:t>
            </a:r>
            <a:r>
              <a:rPr lang="en-US" sz="1800" spc="-20" dirty="0">
                <a:solidFill>
                  <a:srgbClr val="00B050"/>
                </a:solidFill>
                <a:cs typeface="Calibri"/>
              </a:rPr>
              <a:t>any</a:t>
            </a:r>
            <a:r>
              <a:rPr lang="en-US" sz="1800" dirty="0">
                <a:solidFill>
                  <a:srgbClr val="00B050"/>
                </a:solidFill>
                <a:cs typeface="Calibri"/>
              </a:rPr>
              <a:t> </a:t>
            </a:r>
            <a:r>
              <a:rPr lang="en-US" sz="1800" spc="-10" dirty="0">
                <a:solidFill>
                  <a:srgbClr val="00B050"/>
                </a:solidFill>
                <a:cs typeface="Calibri"/>
              </a:rPr>
              <a:t>length</a:t>
            </a:r>
            <a:r>
              <a:rPr lang="en-US" sz="1800" spc="-15" dirty="0">
                <a:solidFill>
                  <a:srgbClr val="00B050"/>
                </a:solidFill>
                <a:cs typeface="Calibri"/>
              </a:rPr>
              <a:t> </a:t>
            </a:r>
            <a:r>
              <a:rPr lang="en-US" sz="1800" spc="-10" dirty="0">
                <a:cs typeface="Calibri"/>
              </a:rPr>
              <a:t>input</a:t>
            </a:r>
            <a:endParaRPr lang="en-US" sz="1800" dirty="0">
              <a:cs typeface="Calibri"/>
            </a:endParaRPr>
          </a:p>
          <a:p>
            <a:pPr marL="298450" indent="-285750"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lang="en-US" sz="1800" spc="-10" dirty="0">
                <a:cs typeface="Calibri"/>
              </a:rPr>
              <a:t>Computation</a:t>
            </a:r>
            <a:r>
              <a:rPr lang="en-US" sz="1800" spc="-15" dirty="0">
                <a:cs typeface="Calibri"/>
              </a:rPr>
              <a:t> for step</a:t>
            </a:r>
            <a:r>
              <a:rPr lang="en-US" sz="1800" spc="-5" dirty="0">
                <a:cs typeface="Calibri"/>
              </a:rPr>
              <a:t> </a:t>
            </a:r>
            <a:r>
              <a:rPr lang="en-US" sz="1800" i="1" dirty="0">
                <a:cs typeface="Calibri"/>
              </a:rPr>
              <a:t>t</a:t>
            </a:r>
            <a:r>
              <a:rPr lang="en-US" sz="1800" i="1" spc="-10" dirty="0">
                <a:cs typeface="Calibri"/>
              </a:rPr>
              <a:t> </a:t>
            </a:r>
            <a:r>
              <a:rPr lang="en-US" sz="1800" spc="-10" dirty="0">
                <a:cs typeface="Calibri"/>
              </a:rPr>
              <a:t>can </a:t>
            </a:r>
            <a:r>
              <a:rPr lang="en-US" sz="1800" spc="-5" dirty="0">
                <a:cs typeface="Calibri"/>
              </a:rPr>
              <a:t>(in</a:t>
            </a:r>
            <a:endParaRPr lang="en-US" sz="1800" dirty="0">
              <a:cs typeface="Calibri"/>
            </a:endParaRPr>
          </a:p>
          <a:p>
            <a:pPr marL="298450" marR="222885">
              <a:spcBef>
                <a:spcPts val="150"/>
              </a:spcBef>
            </a:pPr>
            <a:r>
              <a:rPr lang="en-US" sz="1800" dirty="0">
                <a:cs typeface="Calibri"/>
              </a:rPr>
              <a:t>theory)</a:t>
            </a:r>
            <a:r>
              <a:rPr lang="en-US" sz="1800" spc="-30" dirty="0">
                <a:cs typeface="Calibri"/>
              </a:rPr>
              <a:t> </a:t>
            </a:r>
            <a:r>
              <a:rPr lang="en-US" sz="1800" spc="-5" dirty="0">
                <a:cs typeface="Calibri"/>
              </a:rPr>
              <a:t>use</a:t>
            </a:r>
            <a:r>
              <a:rPr lang="en-US" sz="1800" spc="-20" dirty="0">
                <a:cs typeface="Calibri"/>
              </a:rPr>
              <a:t> </a:t>
            </a:r>
            <a:r>
              <a:rPr lang="en-US" sz="1800" spc="-10" dirty="0">
                <a:cs typeface="Calibri"/>
              </a:rPr>
              <a:t>information</a:t>
            </a:r>
            <a:r>
              <a:rPr lang="en-US" sz="1800" spc="-30" dirty="0">
                <a:cs typeface="Calibri"/>
              </a:rPr>
              <a:t> </a:t>
            </a:r>
            <a:r>
              <a:rPr lang="en-US" sz="1800" spc="-15" dirty="0">
                <a:cs typeface="Calibri"/>
              </a:rPr>
              <a:t>from </a:t>
            </a:r>
            <a:r>
              <a:rPr lang="en-US" sz="1800" spc="-480" dirty="0">
                <a:cs typeface="Calibri"/>
              </a:rPr>
              <a:t> </a:t>
            </a:r>
            <a:r>
              <a:rPr lang="en-US" sz="1800" spc="-15" dirty="0">
                <a:solidFill>
                  <a:srgbClr val="00B050"/>
                </a:solidFill>
                <a:cs typeface="Calibri"/>
              </a:rPr>
              <a:t>many</a:t>
            </a:r>
            <a:r>
              <a:rPr lang="en-US" sz="1800" dirty="0">
                <a:solidFill>
                  <a:srgbClr val="00B050"/>
                </a:solidFill>
                <a:cs typeface="Calibri"/>
              </a:rPr>
              <a:t> </a:t>
            </a:r>
            <a:r>
              <a:rPr lang="en-US" sz="1800" spc="-15" dirty="0">
                <a:solidFill>
                  <a:srgbClr val="00B050"/>
                </a:solidFill>
                <a:cs typeface="Calibri"/>
              </a:rPr>
              <a:t>steps</a:t>
            </a:r>
            <a:r>
              <a:rPr lang="en-US" sz="1800" spc="-5" dirty="0">
                <a:solidFill>
                  <a:srgbClr val="00B050"/>
                </a:solidFill>
                <a:cs typeface="Calibri"/>
              </a:rPr>
              <a:t> back</a:t>
            </a:r>
            <a:endParaRPr lang="en-US" sz="1800" dirty="0">
              <a:cs typeface="Calibri"/>
            </a:endParaRPr>
          </a:p>
          <a:p>
            <a:pPr marL="298450" marR="5080" indent="-285750">
              <a:spcBef>
                <a:spcPts val="90"/>
              </a:spcBef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lang="en-US" sz="1800" spc="-5" dirty="0">
                <a:solidFill>
                  <a:srgbClr val="00B050"/>
                </a:solidFill>
                <a:cs typeface="Calibri"/>
              </a:rPr>
              <a:t>Model</a:t>
            </a:r>
            <a:r>
              <a:rPr lang="en-US" sz="1800" spc="-15" dirty="0">
                <a:solidFill>
                  <a:srgbClr val="00B050"/>
                </a:solidFill>
                <a:cs typeface="Calibri"/>
              </a:rPr>
              <a:t> size</a:t>
            </a:r>
            <a:r>
              <a:rPr lang="en-US" sz="1800" spc="-5" dirty="0">
                <a:solidFill>
                  <a:srgbClr val="00B050"/>
                </a:solidFill>
                <a:cs typeface="Calibri"/>
              </a:rPr>
              <a:t> doesn’t</a:t>
            </a:r>
            <a:r>
              <a:rPr lang="en-US" sz="1800" spc="-10" dirty="0">
                <a:solidFill>
                  <a:srgbClr val="00B050"/>
                </a:solidFill>
                <a:cs typeface="Calibri"/>
              </a:rPr>
              <a:t> increase</a:t>
            </a:r>
            <a:r>
              <a:rPr lang="en-US" sz="1800" spc="-5" dirty="0">
                <a:solidFill>
                  <a:srgbClr val="00B050"/>
                </a:solidFill>
                <a:cs typeface="Calibri"/>
              </a:rPr>
              <a:t> </a:t>
            </a:r>
            <a:r>
              <a:rPr lang="en-US" sz="1800" spc="-15" dirty="0">
                <a:cs typeface="Calibri"/>
              </a:rPr>
              <a:t>for </a:t>
            </a:r>
            <a:r>
              <a:rPr lang="en-US" sz="1800" spc="-484" dirty="0">
                <a:cs typeface="Calibri"/>
              </a:rPr>
              <a:t> </a:t>
            </a:r>
            <a:r>
              <a:rPr lang="en-US" sz="1800" spc="-5" dirty="0">
                <a:cs typeface="Calibri"/>
              </a:rPr>
              <a:t>longer</a:t>
            </a:r>
            <a:r>
              <a:rPr lang="en-US" sz="1800" spc="-10" dirty="0">
                <a:cs typeface="Calibri"/>
              </a:rPr>
              <a:t> input</a:t>
            </a:r>
            <a:r>
              <a:rPr lang="en-US" sz="1800" spc="-5" dirty="0">
                <a:cs typeface="Calibri"/>
              </a:rPr>
              <a:t> </a:t>
            </a:r>
            <a:r>
              <a:rPr lang="en-US" sz="1800" spc="-20" dirty="0">
                <a:cs typeface="Calibri"/>
              </a:rPr>
              <a:t>context</a:t>
            </a:r>
            <a:endParaRPr lang="en-US" sz="1800" dirty="0">
              <a:cs typeface="Calibri"/>
            </a:endParaRPr>
          </a:p>
          <a:p>
            <a:pPr marL="298450" indent="-285750"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lang="en-US" sz="1800" dirty="0">
                <a:cs typeface="Calibri"/>
              </a:rPr>
              <a:t>Same</a:t>
            </a:r>
            <a:r>
              <a:rPr lang="en-US" sz="1800" spc="-10" dirty="0">
                <a:cs typeface="Calibri"/>
              </a:rPr>
              <a:t> weights </a:t>
            </a:r>
            <a:r>
              <a:rPr lang="en-US" sz="1800" spc="-5" dirty="0">
                <a:cs typeface="Calibri"/>
              </a:rPr>
              <a:t>applied</a:t>
            </a:r>
            <a:r>
              <a:rPr lang="en-US" sz="1800" spc="-20" dirty="0">
                <a:cs typeface="Calibri"/>
              </a:rPr>
              <a:t> </a:t>
            </a:r>
            <a:r>
              <a:rPr lang="en-US" sz="1800" dirty="0">
                <a:cs typeface="Calibri"/>
              </a:rPr>
              <a:t>on</a:t>
            </a:r>
            <a:r>
              <a:rPr lang="en-US" sz="1800" spc="-15" dirty="0">
                <a:cs typeface="Calibri"/>
              </a:rPr>
              <a:t> </a:t>
            </a:r>
            <a:r>
              <a:rPr lang="en-US" sz="1800" spc="-10" dirty="0">
                <a:cs typeface="Calibri"/>
              </a:rPr>
              <a:t>every</a:t>
            </a:r>
            <a:endParaRPr lang="en-US" sz="1800" dirty="0">
              <a:cs typeface="Calibri"/>
            </a:endParaRPr>
          </a:p>
          <a:p>
            <a:pPr marL="298450" marR="26670">
              <a:spcBef>
                <a:spcPts val="150"/>
              </a:spcBef>
            </a:pPr>
            <a:r>
              <a:rPr lang="en-US" sz="1800" spc="-10" dirty="0">
                <a:cs typeface="Calibri"/>
              </a:rPr>
              <a:t>timestep, </a:t>
            </a:r>
            <a:r>
              <a:rPr lang="en-US" sz="1800" dirty="0">
                <a:cs typeface="Calibri"/>
              </a:rPr>
              <a:t>so </a:t>
            </a:r>
            <a:r>
              <a:rPr lang="en-US" sz="1800" spc="-10" dirty="0">
                <a:cs typeface="Calibri"/>
              </a:rPr>
              <a:t>there </a:t>
            </a:r>
            <a:r>
              <a:rPr lang="en-US" sz="1800" spc="-5" dirty="0">
                <a:cs typeface="Calibri"/>
              </a:rPr>
              <a:t>is </a:t>
            </a:r>
            <a:r>
              <a:rPr lang="en-US" sz="1800" spc="-5" dirty="0">
                <a:solidFill>
                  <a:srgbClr val="00B050"/>
                </a:solidFill>
                <a:cs typeface="Calibri"/>
              </a:rPr>
              <a:t>symmetry </a:t>
            </a:r>
            <a:r>
              <a:rPr lang="en-US" sz="1800" spc="-484" dirty="0">
                <a:solidFill>
                  <a:srgbClr val="00B050"/>
                </a:solidFill>
                <a:cs typeface="Calibri"/>
              </a:rPr>
              <a:t> </a:t>
            </a:r>
            <a:r>
              <a:rPr lang="en-US" sz="1800" spc="-5" dirty="0">
                <a:cs typeface="Calibri"/>
              </a:rPr>
              <a:t>in</a:t>
            </a:r>
            <a:r>
              <a:rPr lang="en-US" sz="1800" spc="-10" dirty="0">
                <a:cs typeface="Calibri"/>
              </a:rPr>
              <a:t> how</a:t>
            </a:r>
            <a:r>
              <a:rPr lang="en-US" sz="1800" spc="5" dirty="0">
                <a:cs typeface="Calibri"/>
              </a:rPr>
              <a:t> </a:t>
            </a:r>
            <a:r>
              <a:rPr lang="en-US" sz="1800" spc="-10" dirty="0">
                <a:cs typeface="Calibri"/>
              </a:rPr>
              <a:t>inputs</a:t>
            </a:r>
            <a:r>
              <a:rPr lang="en-US" sz="1800" dirty="0">
                <a:cs typeface="Calibri"/>
              </a:rPr>
              <a:t> </a:t>
            </a:r>
            <a:r>
              <a:rPr lang="en-US" sz="1800" spc="-15" dirty="0">
                <a:cs typeface="Calibri"/>
              </a:rPr>
              <a:t>are</a:t>
            </a:r>
            <a:r>
              <a:rPr lang="en-US" sz="1800" spc="5" dirty="0">
                <a:cs typeface="Calibri"/>
              </a:rPr>
              <a:t> </a:t>
            </a:r>
            <a:r>
              <a:rPr lang="en-US" sz="1800" spc="-10" dirty="0">
                <a:cs typeface="Calibri"/>
              </a:rPr>
              <a:t>processed.</a:t>
            </a:r>
          </a:p>
          <a:p>
            <a:pPr marL="298450" marR="26670">
              <a:spcBef>
                <a:spcPts val="150"/>
              </a:spcBef>
            </a:pPr>
            <a:endParaRPr lang="en-US" sz="1800" dirty="0">
              <a:cs typeface="Calibri"/>
            </a:endParaRP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CA08E4-4B7E-C9A3-4AE8-E1CF79EE08FE}"/>
              </a:ext>
            </a:extLst>
          </p:cNvPr>
          <p:cNvSpPr txBox="1"/>
          <p:nvPr/>
        </p:nvSpPr>
        <p:spPr>
          <a:xfrm>
            <a:off x="373300" y="4879356"/>
            <a:ext cx="45182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just">
              <a:spcBef>
                <a:spcPts val="100"/>
              </a:spcBef>
            </a:pPr>
            <a:r>
              <a:rPr lang="en-US" sz="1800" b="1" dirty="0">
                <a:cs typeface="Calibri"/>
              </a:rPr>
              <a:t>RNN</a:t>
            </a:r>
            <a:r>
              <a:rPr lang="en-US" sz="1800" b="1" spc="-10" dirty="0">
                <a:cs typeface="Calibri"/>
              </a:rPr>
              <a:t> </a:t>
            </a:r>
            <a:r>
              <a:rPr lang="en-US" sz="1800" b="1" spc="-15" dirty="0">
                <a:solidFill>
                  <a:srgbClr val="FF0000"/>
                </a:solidFill>
                <a:cs typeface="Calibri"/>
              </a:rPr>
              <a:t>Disadvantages</a:t>
            </a:r>
            <a:r>
              <a:rPr lang="en-US" sz="1800" spc="-15" dirty="0">
                <a:cs typeface="Calibri"/>
              </a:rPr>
              <a:t>:</a:t>
            </a:r>
            <a:endParaRPr lang="en-US" sz="1800" dirty="0">
              <a:cs typeface="Calibri"/>
            </a:endParaRPr>
          </a:p>
          <a:p>
            <a:pPr marL="298450" indent="-285750" algn="just">
              <a:buFont typeface="Arial MT"/>
              <a:buChar char="•"/>
              <a:tabLst>
                <a:tab pos="298450" algn="l"/>
              </a:tabLst>
            </a:pPr>
            <a:r>
              <a:rPr lang="en-US" sz="1800" spc="-15" dirty="0">
                <a:cs typeface="Calibri"/>
              </a:rPr>
              <a:t>Recurrent</a:t>
            </a:r>
            <a:r>
              <a:rPr lang="en-US" sz="1800" spc="-25" dirty="0">
                <a:cs typeface="Calibri"/>
              </a:rPr>
              <a:t> </a:t>
            </a:r>
            <a:r>
              <a:rPr lang="en-US" sz="1800" spc="-10" dirty="0">
                <a:cs typeface="Calibri"/>
              </a:rPr>
              <a:t>computation</a:t>
            </a:r>
            <a:r>
              <a:rPr lang="en-US" sz="1800" spc="-25" dirty="0">
                <a:cs typeface="Calibri"/>
              </a:rPr>
              <a:t> </a:t>
            </a:r>
            <a:r>
              <a:rPr lang="en-US" sz="1800" spc="-5" dirty="0">
                <a:cs typeface="Calibri"/>
              </a:rPr>
              <a:t>is</a:t>
            </a:r>
            <a:r>
              <a:rPr lang="en-US" sz="1800" spc="-20" dirty="0">
                <a:cs typeface="Calibri"/>
              </a:rPr>
              <a:t> </a:t>
            </a:r>
            <a:r>
              <a:rPr lang="en-US" sz="1800" spc="-5" dirty="0">
                <a:solidFill>
                  <a:srgbClr val="C00000"/>
                </a:solidFill>
                <a:cs typeface="Calibri"/>
              </a:rPr>
              <a:t>slow</a:t>
            </a:r>
            <a:endParaRPr lang="en-US" sz="1800" dirty="0">
              <a:cs typeface="Calibri"/>
            </a:endParaRPr>
          </a:p>
          <a:p>
            <a:pPr marL="298450" marR="161925" indent="-285750" algn="just">
              <a:spcBef>
                <a:spcPts val="35"/>
              </a:spcBef>
              <a:buFont typeface="Arial MT"/>
              <a:buChar char="•"/>
              <a:tabLst>
                <a:tab pos="298450" algn="l"/>
              </a:tabLst>
            </a:pPr>
            <a:r>
              <a:rPr lang="en-US" sz="1800" spc="-5" dirty="0">
                <a:cs typeface="Calibri"/>
              </a:rPr>
              <a:t>In </a:t>
            </a:r>
            <a:r>
              <a:rPr lang="en-US" sz="1800" spc="-10" dirty="0">
                <a:cs typeface="Calibri"/>
              </a:rPr>
              <a:t>practice, difficult </a:t>
            </a:r>
            <a:r>
              <a:rPr lang="en-US" sz="1800" spc="-15" dirty="0">
                <a:cs typeface="Calibri"/>
              </a:rPr>
              <a:t>to </a:t>
            </a:r>
            <a:r>
              <a:rPr lang="en-US" sz="1800" spc="-5" dirty="0">
                <a:cs typeface="Calibri"/>
              </a:rPr>
              <a:t>access </a:t>
            </a:r>
            <a:r>
              <a:rPr lang="en-US" sz="1800" spc="-484" dirty="0">
                <a:cs typeface="Calibri"/>
              </a:rPr>
              <a:t> </a:t>
            </a:r>
            <a:r>
              <a:rPr lang="en-US" sz="1800" spc="-10" dirty="0">
                <a:cs typeface="Calibri"/>
              </a:rPr>
              <a:t>information </a:t>
            </a:r>
            <a:r>
              <a:rPr lang="en-US" sz="1800" spc="-15" dirty="0">
                <a:cs typeface="Calibri"/>
              </a:rPr>
              <a:t>from </a:t>
            </a:r>
            <a:r>
              <a:rPr lang="en-US" sz="1800" spc="-15" dirty="0">
                <a:solidFill>
                  <a:srgbClr val="C00000"/>
                </a:solidFill>
                <a:cs typeface="Calibri"/>
              </a:rPr>
              <a:t>many steps </a:t>
            </a:r>
            <a:r>
              <a:rPr lang="en-US" sz="1800" spc="-484" dirty="0">
                <a:solidFill>
                  <a:srgbClr val="C00000"/>
                </a:solidFill>
                <a:cs typeface="Calibri"/>
              </a:rPr>
              <a:t> </a:t>
            </a:r>
            <a:r>
              <a:rPr lang="en-US" sz="1800" spc="-10" dirty="0">
                <a:solidFill>
                  <a:srgbClr val="C00000"/>
                </a:solidFill>
                <a:cs typeface="Calibri"/>
              </a:rPr>
              <a:t>back</a:t>
            </a:r>
            <a:endParaRPr lang="en-US" sz="18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18875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74838" y="3006768"/>
            <a:ext cx="9242323" cy="844462"/>
          </a:xfrm>
          <a:prstGeom prst="rect">
            <a:avLst/>
          </a:prstGeom>
        </p:spPr>
        <p:txBody>
          <a:bodyPr vert="horz" wrap="square" lIns="0" tIns="1333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5400" dirty="0"/>
              <a:t>Training an RNN Language Model</a:t>
            </a:r>
            <a:endParaRPr sz="5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8B752-24C4-3DC1-8038-B1A7F831E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 dirty="0"/>
              <a:t>Training</a:t>
            </a:r>
            <a:r>
              <a:rPr lang="en-US" spc="-20" dirty="0"/>
              <a:t> </a:t>
            </a:r>
            <a:r>
              <a:rPr lang="en-US" spc="-5" dirty="0"/>
              <a:t>an</a:t>
            </a:r>
            <a:r>
              <a:rPr lang="en-US" spc="-20" dirty="0"/>
              <a:t> </a:t>
            </a:r>
            <a:r>
              <a:rPr lang="en-US" dirty="0"/>
              <a:t>RNN</a:t>
            </a:r>
            <a:r>
              <a:rPr lang="en-US" spc="-5" dirty="0"/>
              <a:t> Language</a:t>
            </a:r>
            <a:r>
              <a:rPr lang="en-US" spc="-15" dirty="0"/>
              <a:t> </a:t>
            </a:r>
            <a:r>
              <a:rPr lang="en-US" spc="-5" dirty="0"/>
              <a:t>Model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7C5EC0-718E-B511-F3FD-3D71D01A45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en-US" sz="2000" spc="-5" dirty="0">
                    <a:cs typeface="Calibri"/>
                  </a:rPr>
                  <a:t>Get a </a:t>
                </a:r>
                <a:r>
                  <a:rPr lang="en-US" sz="2000" spc="-5" dirty="0">
                    <a:solidFill>
                      <a:schemeClr val="accent1"/>
                    </a:solidFill>
                    <a:cs typeface="Calibri"/>
                  </a:rPr>
                  <a:t>big corpus of text </a:t>
                </a:r>
                <a:r>
                  <a:rPr lang="en-US" sz="2000" spc="-5" dirty="0">
                    <a:cs typeface="Calibri"/>
                  </a:rPr>
                  <a:t>which is a sequence of words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2000" i="1" spc="-5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pPr>
                      <m:e>
                        <m:r>
                          <a:rPr lang="ar-AE" sz="2000" b="0" i="1" spc="-5" smtClean="0">
                            <a:latin typeface="Cambria Math" panose="02040503050406030204" pitchFamily="18" charset="0"/>
                            <a:cs typeface="Calibri"/>
                          </a:rPr>
                          <m:t>𝑥</m:t>
                        </m:r>
                      </m:e>
                      <m:sup>
                        <m:r>
                          <a:rPr lang="ar-AE" sz="2000" b="0" i="1" spc="-5" smtClean="0">
                            <a:latin typeface="Cambria Math" panose="02040503050406030204" pitchFamily="18" charset="0"/>
                            <a:cs typeface="Calibri"/>
                          </a:rPr>
                          <m:t>(1)</m:t>
                        </m:r>
                      </m:sup>
                    </m:sSup>
                    <m:r>
                      <a:rPr lang="ar-AE" sz="2000" b="0" i="1" spc="-5" smtClean="0">
                        <a:latin typeface="Cambria Math" panose="02040503050406030204" pitchFamily="18" charset="0"/>
                        <a:cs typeface="Calibri"/>
                      </a:rPr>
                      <m:t>,</m:t>
                    </m:r>
                    <m:sSup>
                      <m:sSupPr>
                        <m:ctrlPr>
                          <a:rPr lang="ar-AE" sz="2000" i="1" spc="-5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pPr>
                      <m:e>
                        <m:r>
                          <a:rPr lang="ar-AE" sz="2000" b="0" i="1" spc="-5">
                            <a:latin typeface="Cambria Math" panose="02040503050406030204" pitchFamily="18" charset="0"/>
                            <a:cs typeface="Calibri"/>
                          </a:rPr>
                          <m:t>𝑥</m:t>
                        </m:r>
                      </m:e>
                      <m:sup>
                        <m:r>
                          <a:rPr lang="ar-AE" sz="2000" b="0" i="1" spc="-5">
                            <a:latin typeface="Cambria Math" panose="02040503050406030204" pitchFamily="18" charset="0"/>
                            <a:cs typeface="Calibri"/>
                          </a:rPr>
                          <m:t>(</m:t>
                        </m:r>
                        <m:r>
                          <a:rPr lang="en-US" sz="2000" b="0" i="1" spc="-5" smtClean="0">
                            <a:latin typeface="Cambria Math" panose="02040503050406030204" pitchFamily="18" charset="0"/>
                            <a:cs typeface="Calibri"/>
                          </a:rPr>
                          <m:t>2</m:t>
                        </m:r>
                        <m:r>
                          <a:rPr lang="ar-AE" sz="2000" b="0" i="1" spc="-5">
                            <a:latin typeface="Cambria Math" panose="02040503050406030204" pitchFamily="18" charset="0"/>
                            <a:cs typeface="Calibri"/>
                          </a:rPr>
                          <m:t>)</m:t>
                        </m:r>
                      </m:sup>
                    </m:sSup>
                    <m:r>
                      <a:rPr lang="ar-AE" sz="2000" b="0" i="1" spc="-5">
                        <a:latin typeface="Cambria Math" panose="02040503050406030204" pitchFamily="18" charset="0"/>
                        <a:cs typeface="Calibri"/>
                      </a:rPr>
                      <m:t>,…,</m:t>
                    </m:r>
                    <m:sSup>
                      <m:sSupPr>
                        <m:ctrlPr>
                          <a:rPr lang="ar-AE" sz="2000" i="1" spc="-5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pPr>
                      <m:e>
                        <m:r>
                          <a:rPr lang="ar-AE" sz="2000" b="0" i="1" spc="-5">
                            <a:latin typeface="Cambria Math" panose="02040503050406030204" pitchFamily="18" charset="0"/>
                            <a:cs typeface="Calibri"/>
                          </a:rPr>
                          <m:t>𝑥</m:t>
                        </m:r>
                      </m:e>
                      <m:sup>
                        <m:r>
                          <a:rPr lang="ar-AE" sz="2000" b="0" i="1" spc="-5">
                            <a:latin typeface="Cambria Math" panose="02040503050406030204" pitchFamily="18" charset="0"/>
                            <a:cs typeface="Calibri"/>
                          </a:rPr>
                          <m:t>(</m:t>
                        </m:r>
                        <m:r>
                          <a:rPr lang="en-US" sz="2000" b="0" i="1" spc="-5" smtClean="0">
                            <a:latin typeface="Cambria Math" panose="02040503050406030204" pitchFamily="18" charset="0"/>
                            <a:cs typeface="Calibri"/>
                          </a:rPr>
                          <m:t>𝑇</m:t>
                        </m:r>
                        <m:r>
                          <a:rPr lang="ar-AE" sz="2000" b="0" i="1" spc="-5">
                            <a:latin typeface="Cambria Math" panose="02040503050406030204" pitchFamily="18" charset="0"/>
                            <a:cs typeface="Calibri"/>
                          </a:rPr>
                          <m:t>)</m:t>
                        </m:r>
                      </m:sup>
                    </m:sSup>
                  </m:oMath>
                </a14:m>
                <a:endParaRPr lang="en-US" sz="2000" spc="-5" dirty="0">
                  <a:cs typeface="Calibri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sz="2000" spc="-5" dirty="0">
                    <a:cs typeface="Calibri"/>
                  </a:rPr>
                  <a:t>Feed into RNN-LM; compute output distribution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pc="-5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2000" i="1" spc="-5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accPr>
                          <m:e>
                            <m:r>
                              <a:rPr lang="en-US" sz="2000" b="0" i="1" spc="-5" smtClean="0">
                                <a:latin typeface="Cambria Math" panose="02040503050406030204" pitchFamily="18" charset="0"/>
                                <a:cs typeface="Calibri"/>
                              </a:rPr>
                              <m:t>𝑦</m:t>
                            </m:r>
                          </m:e>
                        </m:acc>
                      </m:e>
                      <m:sup>
                        <m:r>
                          <a:rPr lang="en-US" sz="2000" b="0" i="1" spc="-5" smtClean="0">
                            <a:latin typeface="Cambria Math" panose="02040503050406030204" pitchFamily="18" charset="0"/>
                            <a:cs typeface="Calibri"/>
                          </a:rPr>
                          <m:t>(</m:t>
                        </m:r>
                        <m:r>
                          <a:rPr lang="en-US" sz="2000" b="0" i="1" spc="-5" smtClean="0">
                            <a:latin typeface="Cambria Math" panose="02040503050406030204" pitchFamily="18" charset="0"/>
                            <a:cs typeface="Calibri"/>
                          </a:rPr>
                          <m:t>𝑡</m:t>
                        </m:r>
                        <m:r>
                          <a:rPr lang="en-US" sz="2000" b="0" i="1" spc="-5" smtClean="0">
                            <a:latin typeface="Cambria Math" panose="02040503050406030204" pitchFamily="18" charset="0"/>
                            <a:cs typeface="Calibri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sz="2000" spc="-5" dirty="0">
                    <a:cs typeface="Calibri"/>
                  </a:rPr>
                  <a:t> </a:t>
                </a:r>
                <a:r>
                  <a:rPr lang="en-US" sz="2000" spc="-5" dirty="0">
                    <a:solidFill>
                      <a:schemeClr val="accent1"/>
                    </a:solidFill>
                    <a:cs typeface="Calibri"/>
                  </a:rPr>
                  <a:t>for every step </a:t>
                </a:r>
                <a:r>
                  <a:rPr lang="en-US" sz="2000" i="1" spc="-5" dirty="0">
                    <a:solidFill>
                      <a:schemeClr val="accent1"/>
                    </a:solidFill>
                    <a:cs typeface="Calibri"/>
                  </a:rPr>
                  <a:t>t</a:t>
                </a:r>
                <a:r>
                  <a:rPr lang="en-US" sz="2000" spc="-5" dirty="0">
                    <a:cs typeface="Calibri"/>
                  </a:rPr>
                  <a:t>.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sz="1600" spc="-5" dirty="0">
                    <a:cs typeface="Calibri"/>
                  </a:rPr>
                  <a:t>i.e., predict probability distribution of every word, given words so far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2000" spc="-5" dirty="0">
                    <a:solidFill>
                      <a:schemeClr val="accent1"/>
                    </a:solidFill>
                    <a:cs typeface="Calibri"/>
                  </a:rPr>
                  <a:t>Loss function </a:t>
                </a:r>
                <a:r>
                  <a:rPr lang="en-US" sz="2000" spc="-5" dirty="0">
                    <a:cs typeface="Calibri"/>
                  </a:rPr>
                  <a:t>on step </a:t>
                </a:r>
                <a:r>
                  <a:rPr lang="en-US" sz="2000" i="1" spc="-5" dirty="0">
                    <a:cs typeface="Calibri"/>
                  </a:rPr>
                  <a:t>t</a:t>
                </a:r>
                <a:r>
                  <a:rPr lang="en-US" sz="2000" spc="-5" dirty="0">
                    <a:cs typeface="Calibri"/>
                  </a:rPr>
                  <a:t> is </a:t>
                </a:r>
                <a:r>
                  <a:rPr lang="en-US" sz="2000" spc="-5" dirty="0">
                    <a:solidFill>
                      <a:schemeClr val="accent1"/>
                    </a:solidFill>
                    <a:cs typeface="Calibri"/>
                  </a:rPr>
                  <a:t>cross-entropy</a:t>
                </a:r>
                <a:r>
                  <a:rPr lang="en-US" sz="2000" spc="-5" dirty="0">
                    <a:cs typeface="Calibri"/>
                  </a:rPr>
                  <a:t> between predicted probability distribution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pc="-5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2000" i="1" spc="-5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accPr>
                          <m:e>
                            <m:r>
                              <a:rPr lang="en-US" sz="2000" b="0" i="1" spc="-5" smtClean="0">
                                <a:latin typeface="Cambria Math" panose="02040503050406030204" pitchFamily="18" charset="0"/>
                                <a:cs typeface="Calibri"/>
                              </a:rPr>
                              <m:t>𝑦</m:t>
                            </m:r>
                          </m:e>
                        </m:acc>
                      </m:e>
                      <m:sup>
                        <m:r>
                          <a:rPr lang="en-US" sz="2000" b="0" i="1" spc="-5" smtClean="0">
                            <a:latin typeface="Cambria Math" panose="02040503050406030204" pitchFamily="18" charset="0"/>
                            <a:cs typeface="Calibri"/>
                          </a:rPr>
                          <m:t>(</m:t>
                        </m:r>
                        <m:r>
                          <a:rPr lang="en-US" sz="2000" b="0" i="1" spc="-5" smtClean="0">
                            <a:latin typeface="Cambria Math" panose="02040503050406030204" pitchFamily="18" charset="0"/>
                            <a:cs typeface="Calibri"/>
                          </a:rPr>
                          <m:t>𝑡</m:t>
                        </m:r>
                        <m:r>
                          <a:rPr lang="en-US" sz="2000" b="0" i="1" spc="-5" smtClean="0">
                            <a:latin typeface="Cambria Math" panose="02040503050406030204" pitchFamily="18" charset="0"/>
                            <a:cs typeface="Calibri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sz="2000" spc="-5" dirty="0">
                    <a:cs typeface="Calibri"/>
                  </a:rPr>
                  <a:t> , and the true next word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pc="-5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pPr>
                      <m:e>
                        <m:r>
                          <a:rPr lang="en-US" sz="2000" b="0" i="1" spc="-5" smtClean="0">
                            <a:latin typeface="Cambria Math" panose="02040503050406030204" pitchFamily="18" charset="0"/>
                            <a:cs typeface="Calibri"/>
                          </a:rPr>
                          <m:t>𝑦</m:t>
                        </m:r>
                      </m:e>
                      <m:sup>
                        <m:r>
                          <a:rPr lang="en-US" sz="2000" b="0" i="1" spc="-5" smtClean="0">
                            <a:latin typeface="Cambria Math" panose="02040503050406030204" pitchFamily="18" charset="0"/>
                            <a:cs typeface="Calibri"/>
                          </a:rPr>
                          <m:t>(</m:t>
                        </m:r>
                        <m:r>
                          <a:rPr lang="en-US" sz="2000" b="0" i="1" spc="-5" smtClean="0">
                            <a:latin typeface="Cambria Math" panose="02040503050406030204" pitchFamily="18" charset="0"/>
                            <a:cs typeface="Calibri"/>
                          </a:rPr>
                          <m:t>𝑡</m:t>
                        </m:r>
                        <m:r>
                          <a:rPr lang="en-US" sz="2000" b="0" i="1" spc="-5" smtClean="0">
                            <a:latin typeface="Cambria Math" panose="02040503050406030204" pitchFamily="18" charset="0"/>
                            <a:cs typeface="Calibri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sz="2000" spc="-5" dirty="0">
                    <a:cs typeface="Calibri"/>
                  </a:rPr>
                  <a:t> (one-hot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pc="-5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pPr>
                      <m:e>
                        <m:r>
                          <a:rPr lang="en-US" sz="2000" b="0" i="1" spc="-5" smtClean="0">
                            <a:latin typeface="Cambria Math" panose="02040503050406030204" pitchFamily="18" charset="0"/>
                            <a:cs typeface="Calibri"/>
                          </a:rPr>
                          <m:t>𝑥</m:t>
                        </m:r>
                      </m:e>
                      <m:sup>
                        <m:r>
                          <a:rPr lang="en-US" sz="2000" b="0" i="1" spc="-5" smtClean="0">
                            <a:latin typeface="Cambria Math" panose="02040503050406030204" pitchFamily="18" charset="0"/>
                            <a:cs typeface="Calibri"/>
                          </a:rPr>
                          <m:t>(</m:t>
                        </m:r>
                        <m:r>
                          <a:rPr lang="en-US" sz="2000" i="1" spc="-5">
                            <a:latin typeface="Cambria Math" panose="02040503050406030204" pitchFamily="18" charset="0"/>
                            <a:cs typeface="Calibri"/>
                          </a:rPr>
                          <m:t>𝑡</m:t>
                        </m:r>
                        <m:r>
                          <a:rPr lang="en-US" sz="2000" b="0" i="1" spc="-5" smtClean="0">
                            <a:latin typeface="Cambria Math" panose="02040503050406030204" pitchFamily="18" charset="0"/>
                            <a:cs typeface="Calibri"/>
                          </a:rPr>
                          <m:t>+1)</m:t>
                        </m:r>
                      </m:sup>
                    </m:sSup>
                  </m:oMath>
                </a14:m>
                <a:r>
                  <a:rPr lang="en-US" sz="2000" spc="-5" dirty="0">
                    <a:cs typeface="Calibri"/>
                  </a:rPr>
                  <a:t>):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sz="2000" spc="-5" dirty="0">
                  <a:cs typeface="Calibri"/>
                </a:endParaRPr>
              </a:p>
              <a:p>
                <a:pPr>
                  <a:lnSpc>
                    <a:spcPct val="100000"/>
                  </a:lnSpc>
                </a:pPr>
                <a:endParaRPr lang="en-US" sz="2000" spc="-5" dirty="0">
                  <a:cs typeface="Calibri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sz="2000" spc="-5" dirty="0">
                    <a:cs typeface="Calibri"/>
                  </a:rPr>
                  <a:t>Average this to get </a:t>
                </a:r>
                <a:r>
                  <a:rPr lang="en-US" sz="2000" spc="-5" dirty="0">
                    <a:solidFill>
                      <a:schemeClr val="accent1"/>
                    </a:solidFill>
                    <a:cs typeface="Calibri"/>
                  </a:rPr>
                  <a:t>overall loss </a:t>
                </a:r>
                <a:r>
                  <a:rPr lang="en-US" sz="2000" spc="-5" dirty="0">
                    <a:cs typeface="Calibri"/>
                  </a:rPr>
                  <a:t>for entire training set:</a:t>
                </a:r>
                <a:endParaRPr lang="en-IN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7C5EC0-718E-B511-F3FD-3D71D01A45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85" t="-4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object 10">
            <a:extLst>
              <a:ext uri="{FF2B5EF4-FFF2-40B4-BE49-F238E27FC236}">
                <a16:creationId xmlns:a16="http://schemas.microsoft.com/office/drawing/2014/main" id="{ABF3AE2D-6E43-C893-351B-487397F3FAB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27218" y="3983831"/>
            <a:ext cx="6010590" cy="523526"/>
          </a:xfrm>
          <a:prstGeom prst="rect">
            <a:avLst/>
          </a:prstGeom>
        </p:spPr>
      </p:pic>
      <p:pic>
        <p:nvPicPr>
          <p:cNvPr id="5" name="object 7">
            <a:extLst>
              <a:ext uri="{FF2B5EF4-FFF2-40B4-BE49-F238E27FC236}">
                <a16:creationId xmlns:a16="http://schemas.microsoft.com/office/drawing/2014/main" id="{7C872C42-7F44-DD8C-6451-96FCD9C23075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94495" y="5176163"/>
            <a:ext cx="4276036" cy="710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3122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roup 127">
            <a:extLst>
              <a:ext uri="{FF2B5EF4-FFF2-40B4-BE49-F238E27FC236}">
                <a16:creationId xmlns:a16="http://schemas.microsoft.com/office/drawing/2014/main" id="{1A7AE8EA-2300-81EB-FD1F-A3E0791CC087}"/>
              </a:ext>
            </a:extLst>
          </p:cNvPr>
          <p:cNvGrpSpPr/>
          <p:nvPr/>
        </p:nvGrpSpPr>
        <p:grpSpPr>
          <a:xfrm>
            <a:off x="2907283" y="1290281"/>
            <a:ext cx="6903662" cy="5247906"/>
            <a:chOff x="2831064" y="1262001"/>
            <a:chExt cx="6903662" cy="5247906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2667" y="6194364"/>
              <a:ext cx="392886" cy="22758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86668" y="6200515"/>
              <a:ext cx="405649" cy="24219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84102" y="6200515"/>
              <a:ext cx="404278" cy="24219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61855" y="6200515"/>
              <a:ext cx="425021" cy="242192"/>
            </a:xfrm>
            <a:prstGeom prst="rect">
              <a:avLst/>
            </a:prstGeom>
          </p:spPr>
        </p:pic>
        <p:grpSp>
          <p:nvGrpSpPr>
            <p:cNvPr id="7" name="object 7"/>
            <p:cNvGrpSpPr/>
            <p:nvPr/>
          </p:nvGrpSpPr>
          <p:grpSpPr>
            <a:xfrm>
              <a:off x="3351949" y="2418044"/>
              <a:ext cx="5728435" cy="3483610"/>
              <a:chOff x="2522924" y="2582193"/>
              <a:chExt cx="5601970" cy="3483610"/>
            </a:xfrm>
          </p:grpSpPr>
          <p:pic>
            <p:nvPicPr>
              <p:cNvPr id="8" name="object 8"/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4538256" y="4963651"/>
                <a:ext cx="348939" cy="224261"/>
              </a:xfrm>
              <a:prstGeom prst="rect">
                <a:avLst/>
              </a:prstGeom>
            </p:spPr>
          </p:pic>
          <p:pic>
            <p:nvPicPr>
              <p:cNvPr id="9" name="object 9"/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5019104" y="4743781"/>
                <a:ext cx="165353" cy="157194"/>
              </a:xfrm>
              <a:prstGeom prst="rect">
                <a:avLst/>
              </a:prstGeom>
            </p:spPr>
          </p:pic>
          <p:pic>
            <p:nvPicPr>
              <p:cNvPr id="10" name="object 10"/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5019104" y="4950995"/>
                <a:ext cx="165353" cy="157194"/>
              </a:xfrm>
              <a:prstGeom prst="rect">
                <a:avLst/>
              </a:prstGeom>
            </p:spPr>
          </p:pic>
          <p:pic>
            <p:nvPicPr>
              <p:cNvPr id="11" name="object 11"/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5019104" y="5158211"/>
                <a:ext cx="165353" cy="157194"/>
              </a:xfrm>
              <a:prstGeom prst="rect">
                <a:avLst/>
              </a:prstGeom>
            </p:spPr>
          </p:pic>
          <p:pic>
            <p:nvPicPr>
              <p:cNvPr id="12" name="object 12"/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5019104" y="5365427"/>
                <a:ext cx="165353" cy="157194"/>
              </a:xfrm>
              <a:prstGeom prst="rect">
                <a:avLst/>
              </a:prstGeom>
            </p:spPr>
          </p:pic>
          <p:sp>
            <p:nvSpPr>
              <p:cNvPr id="13" name="object 13"/>
              <p:cNvSpPr/>
              <p:nvPr/>
            </p:nvSpPr>
            <p:spPr>
              <a:xfrm>
                <a:off x="4913414" y="4661439"/>
                <a:ext cx="365760" cy="956944"/>
              </a:xfrm>
              <a:custGeom>
                <a:avLst/>
                <a:gdLst/>
                <a:ahLst/>
                <a:cxnLst/>
                <a:rect l="l" t="t" r="r" b="b"/>
                <a:pathLst>
                  <a:path w="365760" h="956945">
                    <a:moveTo>
                      <a:pt x="304798" y="0"/>
                    </a:moveTo>
                    <a:lnTo>
                      <a:pt x="328527" y="4790"/>
                    </a:lnTo>
                    <a:lnTo>
                      <a:pt x="347904" y="17855"/>
                    </a:lnTo>
                    <a:lnTo>
                      <a:pt x="360969" y="37232"/>
                    </a:lnTo>
                    <a:lnTo>
                      <a:pt x="365760" y="60961"/>
                    </a:lnTo>
                    <a:lnTo>
                      <a:pt x="365760" y="895642"/>
                    </a:lnTo>
                    <a:lnTo>
                      <a:pt x="360969" y="919371"/>
                    </a:lnTo>
                    <a:lnTo>
                      <a:pt x="347904" y="938748"/>
                    </a:lnTo>
                    <a:lnTo>
                      <a:pt x="328527" y="951813"/>
                    </a:lnTo>
                    <a:lnTo>
                      <a:pt x="304798" y="956604"/>
                    </a:lnTo>
                    <a:lnTo>
                      <a:pt x="60961" y="956604"/>
                    </a:lnTo>
                    <a:lnTo>
                      <a:pt x="37232" y="951813"/>
                    </a:lnTo>
                    <a:lnTo>
                      <a:pt x="17855" y="938748"/>
                    </a:lnTo>
                    <a:lnTo>
                      <a:pt x="4790" y="919371"/>
                    </a:lnTo>
                    <a:lnTo>
                      <a:pt x="0" y="895642"/>
                    </a:lnTo>
                    <a:lnTo>
                      <a:pt x="0" y="60961"/>
                    </a:lnTo>
                    <a:lnTo>
                      <a:pt x="4790" y="37232"/>
                    </a:lnTo>
                    <a:lnTo>
                      <a:pt x="17855" y="17855"/>
                    </a:lnTo>
                    <a:lnTo>
                      <a:pt x="37232" y="4790"/>
                    </a:lnTo>
                    <a:lnTo>
                      <a:pt x="60961" y="0"/>
                    </a:lnTo>
                    <a:lnTo>
                      <a:pt x="304798" y="0"/>
                    </a:lnTo>
                    <a:close/>
                  </a:path>
                </a:pathLst>
              </a:custGeom>
              <a:ln w="19050">
                <a:solidFill>
                  <a:srgbClr val="610059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solidFill>
                    <a:schemeClr val="accent1"/>
                  </a:solidFill>
                </a:endParaRPr>
              </a:p>
            </p:txBody>
          </p:sp>
          <p:sp>
            <p:nvSpPr>
              <p:cNvPr id="14" name="object 14"/>
              <p:cNvSpPr/>
              <p:nvPr/>
            </p:nvSpPr>
            <p:spPr>
              <a:xfrm>
                <a:off x="5040966" y="5617999"/>
                <a:ext cx="111125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438150">
                    <a:moveTo>
                      <a:pt x="55328" y="37807"/>
                    </a:moveTo>
                    <a:lnTo>
                      <a:pt x="45803" y="54135"/>
                    </a:lnTo>
                    <a:lnTo>
                      <a:pt x="45802" y="438107"/>
                    </a:lnTo>
                    <a:lnTo>
                      <a:pt x="64852" y="438107"/>
                    </a:lnTo>
                    <a:lnTo>
                      <a:pt x="64852" y="54135"/>
                    </a:lnTo>
                    <a:lnTo>
                      <a:pt x="55328" y="37807"/>
                    </a:lnTo>
                    <a:close/>
                  </a:path>
                  <a:path w="111125" h="438150">
                    <a:moveTo>
                      <a:pt x="66355" y="18903"/>
                    </a:moveTo>
                    <a:lnTo>
                      <a:pt x="45803" y="18903"/>
                    </a:lnTo>
                    <a:lnTo>
                      <a:pt x="64853" y="18903"/>
                    </a:lnTo>
                    <a:lnTo>
                      <a:pt x="64853" y="54137"/>
                    </a:lnTo>
                    <a:lnTo>
                      <a:pt x="94200" y="104447"/>
                    </a:lnTo>
                    <a:lnTo>
                      <a:pt x="100034" y="105981"/>
                    </a:lnTo>
                    <a:lnTo>
                      <a:pt x="109120" y="100680"/>
                    </a:lnTo>
                    <a:lnTo>
                      <a:pt x="110656" y="94848"/>
                    </a:lnTo>
                    <a:lnTo>
                      <a:pt x="66355" y="18903"/>
                    </a:lnTo>
                    <a:close/>
                  </a:path>
                  <a:path w="111125" h="438150">
                    <a:moveTo>
                      <a:pt x="55328" y="0"/>
                    </a:moveTo>
                    <a:lnTo>
                      <a:pt x="0" y="94848"/>
                    </a:lnTo>
                    <a:lnTo>
                      <a:pt x="1534" y="100680"/>
                    </a:lnTo>
                    <a:lnTo>
                      <a:pt x="10622" y="105981"/>
                    </a:lnTo>
                    <a:lnTo>
                      <a:pt x="16455" y="104446"/>
                    </a:lnTo>
                    <a:lnTo>
                      <a:pt x="45802" y="54137"/>
                    </a:lnTo>
                    <a:lnTo>
                      <a:pt x="45803" y="18903"/>
                    </a:lnTo>
                    <a:lnTo>
                      <a:pt x="66355" y="18903"/>
                    </a:lnTo>
                    <a:lnTo>
                      <a:pt x="55328" y="0"/>
                    </a:lnTo>
                    <a:close/>
                  </a:path>
                  <a:path w="111125" h="438150">
                    <a:moveTo>
                      <a:pt x="64853" y="23703"/>
                    </a:moveTo>
                    <a:lnTo>
                      <a:pt x="63555" y="23703"/>
                    </a:lnTo>
                    <a:lnTo>
                      <a:pt x="55328" y="37807"/>
                    </a:lnTo>
                    <a:lnTo>
                      <a:pt x="64853" y="54137"/>
                    </a:lnTo>
                    <a:lnTo>
                      <a:pt x="64853" y="23703"/>
                    </a:lnTo>
                    <a:close/>
                  </a:path>
                  <a:path w="111125" h="438150">
                    <a:moveTo>
                      <a:pt x="45803" y="18903"/>
                    </a:moveTo>
                    <a:lnTo>
                      <a:pt x="45803" y="54135"/>
                    </a:lnTo>
                    <a:lnTo>
                      <a:pt x="55328" y="37807"/>
                    </a:lnTo>
                    <a:lnTo>
                      <a:pt x="47100" y="23703"/>
                    </a:lnTo>
                    <a:lnTo>
                      <a:pt x="64853" y="23703"/>
                    </a:lnTo>
                    <a:lnTo>
                      <a:pt x="64853" y="18903"/>
                    </a:lnTo>
                    <a:lnTo>
                      <a:pt x="45803" y="18903"/>
                    </a:lnTo>
                    <a:close/>
                  </a:path>
                  <a:path w="111125" h="438150">
                    <a:moveTo>
                      <a:pt x="63555" y="23703"/>
                    </a:moveTo>
                    <a:lnTo>
                      <a:pt x="47100" y="23703"/>
                    </a:lnTo>
                    <a:lnTo>
                      <a:pt x="55328" y="37807"/>
                    </a:lnTo>
                    <a:lnTo>
                      <a:pt x="63555" y="23703"/>
                    </a:lnTo>
                    <a:close/>
                  </a:path>
                </a:pathLst>
              </a:custGeom>
              <a:solidFill>
                <a:srgbClr val="7F7F7F"/>
              </a:solidFill>
            </p:spPr>
            <p:txBody>
              <a:bodyPr wrap="square" lIns="0" tIns="0" rIns="0" bIns="0" rtlCol="0"/>
              <a:lstStyle/>
              <a:p>
                <a:endParaRPr>
                  <a:solidFill>
                    <a:schemeClr val="accent1"/>
                  </a:solidFill>
                </a:endParaRPr>
              </a:p>
            </p:txBody>
          </p:sp>
          <p:pic>
            <p:nvPicPr>
              <p:cNvPr id="15" name="object 15"/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5120673" y="5731943"/>
                <a:ext cx="236000" cy="278166"/>
              </a:xfrm>
              <a:prstGeom prst="rect">
                <a:avLst/>
              </a:prstGeom>
            </p:spPr>
          </p:pic>
          <p:pic>
            <p:nvPicPr>
              <p:cNvPr id="16" name="object 16"/>
              <p:cNvPicPr/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5154183" y="4381804"/>
                <a:ext cx="327652" cy="198835"/>
              </a:xfrm>
              <a:prstGeom prst="rect">
                <a:avLst/>
              </a:prstGeom>
            </p:spPr>
          </p:pic>
          <p:sp>
            <p:nvSpPr>
              <p:cNvPr id="17" name="object 17"/>
              <p:cNvSpPr/>
              <p:nvPr/>
            </p:nvSpPr>
            <p:spPr>
              <a:xfrm>
                <a:off x="5048427" y="4234450"/>
                <a:ext cx="111125" cy="42735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427354">
                    <a:moveTo>
                      <a:pt x="55328" y="37807"/>
                    </a:moveTo>
                    <a:lnTo>
                      <a:pt x="45803" y="54135"/>
                    </a:lnTo>
                    <a:lnTo>
                      <a:pt x="45802" y="426987"/>
                    </a:lnTo>
                    <a:lnTo>
                      <a:pt x="64852" y="426987"/>
                    </a:lnTo>
                    <a:lnTo>
                      <a:pt x="64852" y="54135"/>
                    </a:lnTo>
                    <a:lnTo>
                      <a:pt x="55328" y="37807"/>
                    </a:lnTo>
                    <a:close/>
                  </a:path>
                  <a:path w="111125" h="427354">
                    <a:moveTo>
                      <a:pt x="55327" y="0"/>
                    </a:moveTo>
                    <a:lnTo>
                      <a:pt x="0" y="94848"/>
                    </a:lnTo>
                    <a:lnTo>
                      <a:pt x="1534" y="100680"/>
                    </a:lnTo>
                    <a:lnTo>
                      <a:pt x="10622" y="105981"/>
                    </a:lnTo>
                    <a:lnTo>
                      <a:pt x="16455" y="104447"/>
                    </a:lnTo>
                    <a:lnTo>
                      <a:pt x="45802" y="54137"/>
                    </a:lnTo>
                    <a:lnTo>
                      <a:pt x="45802" y="18903"/>
                    </a:lnTo>
                    <a:lnTo>
                      <a:pt x="66354" y="18903"/>
                    </a:lnTo>
                    <a:lnTo>
                      <a:pt x="55327" y="0"/>
                    </a:lnTo>
                    <a:close/>
                  </a:path>
                  <a:path w="111125" h="427354">
                    <a:moveTo>
                      <a:pt x="66354" y="18903"/>
                    </a:moveTo>
                    <a:lnTo>
                      <a:pt x="64852" y="18903"/>
                    </a:lnTo>
                    <a:lnTo>
                      <a:pt x="64853" y="54137"/>
                    </a:lnTo>
                    <a:lnTo>
                      <a:pt x="94200" y="104447"/>
                    </a:lnTo>
                    <a:lnTo>
                      <a:pt x="100032" y="105981"/>
                    </a:lnTo>
                    <a:lnTo>
                      <a:pt x="109120" y="100680"/>
                    </a:lnTo>
                    <a:lnTo>
                      <a:pt x="110656" y="94848"/>
                    </a:lnTo>
                    <a:lnTo>
                      <a:pt x="66354" y="18903"/>
                    </a:lnTo>
                    <a:close/>
                  </a:path>
                  <a:path w="111125" h="427354">
                    <a:moveTo>
                      <a:pt x="64852" y="18903"/>
                    </a:moveTo>
                    <a:lnTo>
                      <a:pt x="45802" y="18903"/>
                    </a:lnTo>
                    <a:lnTo>
                      <a:pt x="45802" y="54137"/>
                    </a:lnTo>
                    <a:lnTo>
                      <a:pt x="55328" y="37807"/>
                    </a:lnTo>
                    <a:lnTo>
                      <a:pt x="47100" y="23703"/>
                    </a:lnTo>
                    <a:lnTo>
                      <a:pt x="64852" y="23703"/>
                    </a:lnTo>
                    <a:lnTo>
                      <a:pt x="64852" y="18903"/>
                    </a:lnTo>
                    <a:close/>
                  </a:path>
                  <a:path w="111125" h="427354">
                    <a:moveTo>
                      <a:pt x="64852" y="23703"/>
                    </a:moveTo>
                    <a:lnTo>
                      <a:pt x="63555" y="23703"/>
                    </a:lnTo>
                    <a:lnTo>
                      <a:pt x="55328" y="37807"/>
                    </a:lnTo>
                    <a:lnTo>
                      <a:pt x="64852" y="54135"/>
                    </a:lnTo>
                    <a:lnTo>
                      <a:pt x="64852" y="23703"/>
                    </a:lnTo>
                    <a:close/>
                  </a:path>
                  <a:path w="111125" h="427354">
                    <a:moveTo>
                      <a:pt x="63555" y="23703"/>
                    </a:moveTo>
                    <a:lnTo>
                      <a:pt x="47100" y="23703"/>
                    </a:lnTo>
                    <a:lnTo>
                      <a:pt x="55328" y="37807"/>
                    </a:lnTo>
                    <a:lnTo>
                      <a:pt x="63555" y="23703"/>
                    </a:lnTo>
                    <a:close/>
                  </a:path>
                </a:pathLst>
              </a:custGeom>
              <a:solidFill>
                <a:srgbClr val="7F7F7F"/>
              </a:solidFill>
            </p:spPr>
            <p:txBody>
              <a:bodyPr wrap="square" lIns="0" tIns="0" rIns="0" bIns="0" rtlCol="0"/>
              <a:lstStyle/>
              <a:p>
                <a:endParaRPr>
                  <a:solidFill>
                    <a:schemeClr val="accent1"/>
                  </a:solidFill>
                </a:endParaRPr>
              </a:p>
            </p:txBody>
          </p:sp>
          <p:pic>
            <p:nvPicPr>
              <p:cNvPr id="18" name="object 18"/>
              <p:cNvPicPr/>
              <p:nvPr/>
            </p:nvPicPr>
            <p:blipFill>
              <a:blip r:embed="rId11" cstate="print"/>
              <a:stretch>
                <a:fillRect/>
              </a:stretch>
            </p:blipFill>
            <p:spPr>
              <a:xfrm>
                <a:off x="3460901" y="4990414"/>
                <a:ext cx="334841" cy="214103"/>
              </a:xfrm>
              <a:prstGeom prst="rect">
                <a:avLst/>
              </a:prstGeom>
            </p:spPr>
          </p:pic>
          <p:pic>
            <p:nvPicPr>
              <p:cNvPr id="19" name="object 19"/>
              <p:cNvPicPr/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3951278" y="4712853"/>
                <a:ext cx="165353" cy="157194"/>
              </a:xfrm>
              <a:prstGeom prst="rect">
                <a:avLst/>
              </a:prstGeom>
            </p:spPr>
          </p:pic>
          <p:pic>
            <p:nvPicPr>
              <p:cNvPr id="20" name="object 20"/>
              <p:cNvPicPr/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3951278" y="4920067"/>
                <a:ext cx="165353" cy="157194"/>
              </a:xfrm>
              <a:prstGeom prst="rect">
                <a:avLst/>
              </a:prstGeom>
            </p:spPr>
          </p:pic>
          <p:pic>
            <p:nvPicPr>
              <p:cNvPr id="21" name="object 21"/>
              <p:cNvPicPr/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3951278" y="5127283"/>
                <a:ext cx="165353" cy="157194"/>
              </a:xfrm>
              <a:prstGeom prst="rect">
                <a:avLst/>
              </a:prstGeom>
            </p:spPr>
          </p:pic>
          <p:pic>
            <p:nvPicPr>
              <p:cNvPr id="22" name="object 22"/>
              <p:cNvPicPr/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3951278" y="5334499"/>
                <a:ext cx="165353" cy="157194"/>
              </a:xfrm>
              <a:prstGeom prst="rect">
                <a:avLst/>
              </a:prstGeom>
            </p:spPr>
          </p:pic>
          <p:sp>
            <p:nvSpPr>
              <p:cNvPr id="23" name="object 23"/>
              <p:cNvSpPr/>
              <p:nvPr/>
            </p:nvSpPr>
            <p:spPr>
              <a:xfrm>
                <a:off x="3845587" y="4630511"/>
                <a:ext cx="365760" cy="956944"/>
              </a:xfrm>
              <a:custGeom>
                <a:avLst/>
                <a:gdLst/>
                <a:ahLst/>
                <a:cxnLst/>
                <a:rect l="l" t="t" r="r" b="b"/>
                <a:pathLst>
                  <a:path w="365760" h="956945">
                    <a:moveTo>
                      <a:pt x="304798" y="0"/>
                    </a:moveTo>
                    <a:lnTo>
                      <a:pt x="328527" y="4790"/>
                    </a:lnTo>
                    <a:lnTo>
                      <a:pt x="347904" y="17855"/>
                    </a:lnTo>
                    <a:lnTo>
                      <a:pt x="360969" y="37232"/>
                    </a:lnTo>
                    <a:lnTo>
                      <a:pt x="365760" y="60961"/>
                    </a:lnTo>
                    <a:lnTo>
                      <a:pt x="365760" y="895642"/>
                    </a:lnTo>
                    <a:lnTo>
                      <a:pt x="360969" y="919371"/>
                    </a:lnTo>
                    <a:lnTo>
                      <a:pt x="347904" y="938748"/>
                    </a:lnTo>
                    <a:lnTo>
                      <a:pt x="328527" y="951813"/>
                    </a:lnTo>
                    <a:lnTo>
                      <a:pt x="304798" y="956604"/>
                    </a:lnTo>
                    <a:lnTo>
                      <a:pt x="60961" y="956604"/>
                    </a:lnTo>
                    <a:lnTo>
                      <a:pt x="37232" y="951813"/>
                    </a:lnTo>
                    <a:lnTo>
                      <a:pt x="17855" y="938748"/>
                    </a:lnTo>
                    <a:lnTo>
                      <a:pt x="4790" y="919371"/>
                    </a:lnTo>
                    <a:lnTo>
                      <a:pt x="0" y="895642"/>
                    </a:lnTo>
                    <a:lnTo>
                      <a:pt x="0" y="60961"/>
                    </a:lnTo>
                    <a:lnTo>
                      <a:pt x="4790" y="37232"/>
                    </a:lnTo>
                    <a:lnTo>
                      <a:pt x="17855" y="17855"/>
                    </a:lnTo>
                    <a:lnTo>
                      <a:pt x="37232" y="4790"/>
                    </a:lnTo>
                    <a:lnTo>
                      <a:pt x="60961" y="0"/>
                    </a:lnTo>
                    <a:lnTo>
                      <a:pt x="304798" y="0"/>
                    </a:lnTo>
                    <a:close/>
                  </a:path>
                </a:pathLst>
              </a:custGeom>
              <a:ln w="19050">
                <a:solidFill>
                  <a:srgbClr val="610059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solidFill>
                    <a:schemeClr val="accent1"/>
                  </a:solidFill>
                </a:endParaRPr>
              </a:p>
            </p:txBody>
          </p:sp>
          <p:sp>
            <p:nvSpPr>
              <p:cNvPr id="24" name="object 24"/>
              <p:cNvSpPr/>
              <p:nvPr/>
            </p:nvSpPr>
            <p:spPr>
              <a:xfrm>
                <a:off x="3974762" y="5587071"/>
                <a:ext cx="111125" cy="438784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438785">
                    <a:moveTo>
                      <a:pt x="54349" y="37802"/>
                    </a:moveTo>
                    <a:lnTo>
                      <a:pt x="45103" y="54291"/>
                    </a:lnTo>
                    <a:lnTo>
                      <a:pt x="51643" y="438269"/>
                    </a:lnTo>
                    <a:lnTo>
                      <a:pt x="70690" y="437945"/>
                    </a:lnTo>
                    <a:lnTo>
                      <a:pt x="64150" y="53966"/>
                    </a:lnTo>
                    <a:lnTo>
                      <a:pt x="54349" y="37802"/>
                    </a:lnTo>
                    <a:close/>
                  </a:path>
                  <a:path w="111125" h="438785">
                    <a:moveTo>
                      <a:pt x="53704" y="0"/>
                    </a:moveTo>
                    <a:lnTo>
                      <a:pt x="0" y="95776"/>
                    </a:lnTo>
                    <a:lnTo>
                      <a:pt x="1634" y="101582"/>
                    </a:lnTo>
                    <a:lnTo>
                      <a:pt x="10810" y="106727"/>
                    </a:lnTo>
                    <a:lnTo>
                      <a:pt x="16616" y="105093"/>
                    </a:lnTo>
                    <a:lnTo>
                      <a:pt x="45103" y="54291"/>
                    </a:lnTo>
                    <a:lnTo>
                      <a:pt x="44503" y="19063"/>
                    </a:lnTo>
                    <a:lnTo>
                      <a:pt x="63550" y="18738"/>
                    </a:lnTo>
                    <a:lnTo>
                      <a:pt x="65067" y="18738"/>
                    </a:lnTo>
                    <a:lnTo>
                      <a:pt x="53704" y="0"/>
                    </a:lnTo>
                    <a:close/>
                  </a:path>
                  <a:path w="111125" h="438785">
                    <a:moveTo>
                      <a:pt x="65067" y="18738"/>
                    </a:moveTo>
                    <a:lnTo>
                      <a:pt x="63550" y="18738"/>
                    </a:lnTo>
                    <a:lnTo>
                      <a:pt x="64150" y="53966"/>
                    </a:lnTo>
                    <a:lnTo>
                      <a:pt x="94350" y="103769"/>
                    </a:lnTo>
                    <a:lnTo>
                      <a:pt x="100208" y="105205"/>
                    </a:lnTo>
                    <a:lnTo>
                      <a:pt x="109204" y="99749"/>
                    </a:lnTo>
                    <a:lnTo>
                      <a:pt x="110639" y="93892"/>
                    </a:lnTo>
                    <a:lnTo>
                      <a:pt x="65067" y="18738"/>
                    </a:lnTo>
                    <a:close/>
                  </a:path>
                  <a:path w="111125" h="438785">
                    <a:moveTo>
                      <a:pt x="63550" y="18738"/>
                    </a:moveTo>
                    <a:lnTo>
                      <a:pt x="44503" y="19063"/>
                    </a:lnTo>
                    <a:lnTo>
                      <a:pt x="45103" y="54291"/>
                    </a:lnTo>
                    <a:lnTo>
                      <a:pt x="54349" y="37802"/>
                    </a:lnTo>
                    <a:lnTo>
                      <a:pt x="45882" y="23839"/>
                    </a:lnTo>
                    <a:lnTo>
                      <a:pt x="62335" y="23559"/>
                    </a:lnTo>
                    <a:lnTo>
                      <a:pt x="63632" y="23559"/>
                    </a:lnTo>
                    <a:lnTo>
                      <a:pt x="63550" y="18738"/>
                    </a:lnTo>
                    <a:close/>
                  </a:path>
                  <a:path w="111125" h="438785">
                    <a:moveTo>
                      <a:pt x="63632" y="23559"/>
                    </a:moveTo>
                    <a:lnTo>
                      <a:pt x="62335" y="23559"/>
                    </a:lnTo>
                    <a:lnTo>
                      <a:pt x="54349" y="37802"/>
                    </a:lnTo>
                    <a:lnTo>
                      <a:pt x="64150" y="53966"/>
                    </a:lnTo>
                    <a:lnTo>
                      <a:pt x="63632" y="23559"/>
                    </a:lnTo>
                    <a:close/>
                  </a:path>
                  <a:path w="111125" h="438785">
                    <a:moveTo>
                      <a:pt x="62335" y="23559"/>
                    </a:moveTo>
                    <a:lnTo>
                      <a:pt x="45882" y="23839"/>
                    </a:lnTo>
                    <a:lnTo>
                      <a:pt x="54349" y="37802"/>
                    </a:lnTo>
                    <a:lnTo>
                      <a:pt x="62335" y="23559"/>
                    </a:lnTo>
                    <a:close/>
                  </a:path>
                </a:pathLst>
              </a:custGeom>
              <a:solidFill>
                <a:srgbClr val="7F7F7F"/>
              </a:solidFill>
            </p:spPr>
            <p:txBody>
              <a:bodyPr wrap="square" lIns="0" tIns="0" rIns="0" bIns="0" rtlCol="0"/>
              <a:lstStyle/>
              <a:p>
                <a:endParaRPr>
                  <a:solidFill>
                    <a:schemeClr val="accent1"/>
                  </a:solidFill>
                </a:endParaRPr>
              </a:p>
            </p:txBody>
          </p:sp>
          <p:pic>
            <p:nvPicPr>
              <p:cNvPr id="25" name="object 25"/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4068382" y="5731943"/>
                <a:ext cx="236000" cy="278166"/>
              </a:xfrm>
              <a:prstGeom prst="rect">
                <a:avLst/>
              </a:prstGeom>
            </p:spPr>
          </p:pic>
          <p:pic>
            <p:nvPicPr>
              <p:cNvPr id="26" name="object 26"/>
              <p:cNvPicPr/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4086357" y="4381804"/>
                <a:ext cx="327652" cy="198835"/>
              </a:xfrm>
              <a:prstGeom prst="rect">
                <a:avLst/>
              </a:prstGeom>
            </p:spPr>
          </p:pic>
          <p:pic>
            <p:nvPicPr>
              <p:cNvPr id="27" name="object 27"/>
              <p:cNvPicPr/>
              <p:nvPr/>
            </p:nvPicPr>
            <p:blipFill>
              <a:blip r:embed="rId13" cstate="print"/>
              <a:stretch>
                <a:fillRect/>
              </a:stretch>
            </p:blipFill>
            <p:spPr>
              <a:xfrm>
                <a:off x="3679775" y="2925809"/>
                <a:ext cx="322521" cy="214685"/>
              </a:xfrm>
              <a:prstGeom prst="rect">
                <a:avLst/>
              </a:prstGeom>
            </p:spPr>
          </p:pic>
          <p:pic>
            <p:nvPicPr>
              <p:cNvPr id="28" name="object 28"/>
              <p:cNvPicPr/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3958739" y="3224126"/>
                <a:ext cx="165353" cy="173996"/>
              </a:xfrm>
              <a:prstGeom prst="rect">
                <a:avLst/>
              </a:prstGeom>
            </p:spPr>
          </p:pic>
          <p:pic>
            <p:nvPicPr>
              <p:cNvPr id="29" name="object 29"/>
              <p:cNvPicPr/>
              <p:nvPr/>
            </p:nvPicPr>
            <p:blipFill>
              <a:blip r:embed="rId15" cstate="print"/>
              <a:stretch>
                <a:fillRect/>
              </a:stretch>
            </p:blipFill>
            <p:spPr>
              <a:xfrm>
                <a:off x="3958739" y="3456545"/>
                <a:ext cx="165353" cy="173996"/>
              </a:xfrm>
              <a:prstGeom prst="rect">
                <a:avLst/>
              </a:prstGeom>
            </p:spPr>
          </p:pic>
          <p:pic>
            <p:nvPicPr>
              <p:cNvPr id="30" name="object 30"/>
              <p:cNvPicPr/>
              <p:nvPr/>
            </p:nvPicPr>
            <p:blipFill>
              <a:blip r:embed="rId15" cstate="print"/>
              <a:stretch>
                <a:fillRect/>
              </a:stretch>
            </p:blipFill>
            <p:spPr>
              <a:xfrm>
                <a:off x="3958739" y="3688965"/>
                <a:ext cx="165353" cy="173996"/>
              </a:xfrm>
              <a:prstGeom prst="rect">
                <a:avLst/>
              </a:prstGeom>
            </p:spPr>
          </p:pic>
          <p:pic>
            <p:nvPicPr>
              <p:cNvPr id="31" name="object 31"/>
              <p:cNvPicPr/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3958739" y="3921383"/>
                <a:ext cx="165353" cy="173996"/>
              </a:xfrm>
              <a:prstGeom prst="rect">
                <a:avLst/>
              </a:prstGeom>
            </p:spPr>
          </p:pic>
          <p:sp>
            <p:nvSpPr>
              <p:cNvPr id="32" name="object 32"/>
              <p:cNvSpPr/>
              <p:nvPr/>
            </p:nvSpPr>
            <p:spPr>
              <a:xfrm>
                <a:off x="3853049" y="3130610"/>
                <a:ext cx="365760" cy="1073150"/>
              </a:xfrm>
              <a:custGeom>
                <a:avLst/>
                <a:gdLst/>
                <a:ahLst/>
                <a:cxnLst/>
                <a:rect l="l" t="t" r="r" b="b"/>
                <a:pathLst>
                  <a:path w="365760" h="1073150">
                    <a:moveTo>
                      <a:pt x="304798" y="0"/>
                    </a:moveTo>
                    <a:lnTo>
                      <a:pt x="328527" y="4790"/>
                    </a:lnTo>
                    <a:lnTo>
                      <a:pt x="347904" y="17855"/>
                    </a:lnTo>
                    <a:lnTo>
                      <a:pt x="360969" y="37232"/>
                    </a:lnTo>
                    <a:lnTo>
                      <a:pt x="365760" y="60961"/>
                    </a:lnTo>
                    <a:lnTo>
                      <a:pt x="365760" y="1011994"/>
                    </a:lnTo>
                    <a:lnTo>
                      <a:pt x="360969" y="1035723"/>
                    </a:lnTo>
                    <a:lnTo>
                      <a:pt x="347904" y="1055100"/>
                    </a:lnTo>
                    <a:lnTo>
                      <a:pt x="328527" y="1068165"/>
                    </a:lnTo>
                    <a:lnTo>
                      <a:pt x="304798" y="1072956"/>
                    </a:lnTo>
                    <a:lnTo>
                      <a:pt x="60961" y="1072956"/>
                    </a:lnTo>
                    <a:lnTo>
                      <a:pt x="37232" y="1068165"/>
                    </a:lnTo>
                    <a:lnTo>
                      <a:pt x="17855" y="1055100"/>
                    </a:lnTo>
                    <a:lnTo>
                      <a:pt x="4790" y="1035723"/>
                    </a:lnTo>
                    <a:lnTo>
                      <a:pt x="0" y="1011994"/>
                    </a:lnTo>
                    <a:lnTo>
                      <a:pt x="0" y="60961"/>
                    </a:lnTo>
                    <a:lnTo>
                      <a:pt x="4790" y="37232"/>
                    </a:lnTo>
                    <a:lnTo>
                      <a:pt x="17855" y="17855"/>
                    </a:lnTo>
                    <a:lnTo>
                      <a:pt x="37232" y="4790"/>
                    </a:lnTo>
                    <a:lnTo>
                      <a:pt x="60961" y="0"/>
                    </a:lnTo>
                    <a:lnTo>
                      <a:pt x="304798" y="0"/>
                    </a:lnTo>
                    <a:close/>
                  </a:path>
                </a:pathLst>
              </a:custGeom>
              <a:ln w="19050">
                <a:solidFill>
                  <a:srgbClr val="8C1515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solidFill>
                    <a:schemeClr val="accent1"/>
                  </a:solidFill>
                </a:endParaRPr>
              </a:p>
            </p:txBody>
          </p:sp>
          <p:sp>
            <p:nvSpPr>
              <p:cNvPr id="33" name="object 33"/>
              <p:cNvSpPr/>
              <p:nvPr/>
            </p:nvSpPr>
            <p:spPr>
              <a:xfrm>
                <a:off x="3155264" y="3644594"/>
                <a:ext cx="934719" cy="986155"/>
              </a:xfrm>
              <a:custGeom>
                <a:avLst/>
                <a:gdLst/>
                <a:ahLst/>
                <a:cxnLst/>
                <a:rect l="l" t="t" r="r" b="b"/>
                <a:pathLst>
                  <a:path w="934720" h="986154">
                    <a:moveTo>
                      <a:pt x="699300" y="55333"/>
                    </a:moveTo>
                    <a:lnTo>
                      <a:pt x="604456" y="0"/>
                    </a:lnTo>
                    <a:lnTo>
                      <a:pt x="598627" y="1536"/>
                    </a:lnTo>
                    <a:lnTo>
                      <a:pt x="593318" y="10629"/>
                    </a:lnTo>
                    <a:lnTo>
                      <a:pt x="594855" y="16459"/>
                    </a:lnTo>
                    <a:lnTo>
                      <a:pt x="645172" y="45808"/>
                    </a:lnTo>
                    <a:lnTo>
                      <a:pt x="0" y="45808"/>
                    </a:lnTo>
                    <a:lnTo>
                      <a:pt x="0" y="64858"/>
                    </a:lnTo>
                    <a:lnTo>
                      <a:pt x="645172" y="64858"/>
                    </a:lnTo>
                    <a:lnTo>
                      <a:pt x="594855" y="94208"/>
                    </a:lnTo>
                    <a:lnTo>
                      <a:pt x="593318" y="100037"/>
                    </a:lnTo>
                    <a:lnTo>
                      <a:pt x="598627" y="109131"/>
                    </a:lnTo>
                    <a:lnTo>
                      <a:pt x="604456" y="110655"/>
                    </a:lnTo>
                    <a:lnTo>
                      <a:pt x="682980" y="64858"/>
                    </a:lnTo>
                    <a:lnTo>
                      <a:pt x="699300" y="55333"/>
                    </a:lnTo>
                    <a:close/>
                  </a:path>
                  <a:path w="934720" h="986154">
                    <a:moveTo>
                      <a:pt x="934326" y="654735"/>
                    </a:moveTo>
                    <a:lnTo>
                      <a:pt x="891159" y="577672"/>
                    </a:lnTo>
                    <a:lnTo>
                      <a:pt x="880656" y="558927"/>
                    </a:lnTo>
                    <a:lnTo>
                      <a:pt x="823683" y="652805"/>
                    </a:lnTo>
                    <a:lnTo>
                      <a:pt x="825119" y="658660"/>
                    </a:lnTo>
                    <a:lnTo>
                      <a:pt x="834110" y="664121"/>
                    </a:lnTo>
                    <a:lnTo>
                      <a:pt x="839965" y="662686"/>
                    </a:lnTo>
                    <a:lnTo>
                      <a:pt x="870191" y="612902"/>
                    </a:lnTo>
                    <a:lnTo>
                      <a:pt x="863676" y="985761"/>
                    </a:lnTo>
                    <a:lnTo>
                      <a:pt x="882726" y="986091"/>
                    </a:lnTo>
                    <a:lnTo>
                      <a:pt x="889241" y="613232"/>
                    </a:lnTo>
                    <a:lnTo>
                      <a:pt x="917702" y="664044"/>
                    </a:lnTo>
                    <a:lnTo>
                      <a:pt x="923505" y="665683"/>
                    </a:lnTo>
                    <a:lnTo>
                      <a:pt x="932688" y="660539"/>
                    </a:lnTo>
                    <a:lnTo>
                      <a:pt x="934326" y="654735"/>
                    </a:lnTo>
                    <a:close/>
                  </a:path>
                </a:pathLst>
              </a:custGeom>
              <a:solidFill>
                <a:srgbClr val="7F7F7F"/>
              </a:solidFill>
            </p:spPr>
            <p:txBody>
              <a:bodyPr wrap="square" lIns="0" tIns="0" rIns="0" bIns="0" rtlCol="0"/>
              <a:lstStyle/>
              <a:p>
                <a:endParaRPr>
                  <a:solidFill>
                    <a:schemeClr val="accent1"/>
                  </a:solidFill>
                </a:endParaRPr>
              </a:p>
            </p:txBody>
          </p:sp>
          <p:pic>
            <p:nvPicPr>
              <p:cNvPr id="34" name="object 34"/>
              <p:cNvPicPr/>
              <p:nvPr/>
            </p:nvPicPr>
            <p:blipFill>
              <a:blip r:embed="rId16" cstate="print"/>
              <a:stretch>
                <a:fillRect/>
              </a:stretch>
            </p:blipFill>
            <p:spPr>
              <a:xfrm>
                <a:off x="3268618" y="3374240"/>
                <a:ext cx="427375" cy="292169"/>
              </a:xfrm>
              <a:prstGeom prst="rect">
                <a:avLst/>
              </a:prstGeom>
            </p:spPr>
          </p:pic>
          <p:pic>
            <p:nvPicPr>
              <p:cNvPr id="35" name="object 35"/>
              <p:cNvPicPr/>
              <p:nvPr/>
            </p:nvPicPr>
            <p:blipFill>
              <a:blip r:embed="rId17" cstate="print"/>
              <a:stretch>
                <a:fillRect/>
              </a:stretch>
            </p:blipFill>
            <p:spPr>
              <a:xfrm>
                <a:off x="2522924" y="2954551"/>
                <a:ext cx="333167" cy="195980"/>
              </a:xfrm>
              <a:prstGeom prst="rect">
                <a:avLst/>
              </a:prstGeom>
            </p:spPr>
          </p:pic>
          <p:pic>
            <p:nvPicPr>
              <p:cNvPr id="36" name="object 36"/>
              <p:cNvPicPr/>
              <p:nvPr/>
            </p:nvPicPr>
            <p:blipFill>
              <a:blip r:embed="rId15" cstate="print"/>
              <a:stretch>
                <a:fillRect/>
              </a:stretch>
            </p:blipFill>
            <p:spPr>
              <a:xfrm>
                <a:off x="2885592" y="3228149"/>
                <a:ext cx="165353" cy="173996"/>
              </a:xfrm>
              <a:prstGeom prst="rect">
                <a:avLst/>
              </a:prstGeom>
            </p:spPr>
          </p:pic>
          <p:pic>
            <p:nvPicPr>
              <p:cNvPr id="37" name="object 37"/>
              <p:cNvPicPr/>
              <p:nvPr/>
            </p:nvPicPr>
            <p:blipFill>
              <a:blip r:embed="rId15" cstate="print"/>
              <a:stretch>
                <a:fillRect/>
              </a:stretch>
            </p:blipFill>
            <p:spPr>
              <a:xfrm>
                <a:off x="2885592" y="3460568"/>
                <a:ext cx="165353" cy="173996"/>
              </a:xfrm>
              <a:prstGeom prst="rect">
                <a:avLst/>
              </a:prstGeom>
            </p:spPr>
          </p:pic>
          <p:pic>
            <p:nvPicPr>
              <p:cNvPr id="38" name="object 38"/>
              <p:cNvPicPr/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2885592" y="3692988"/>
                <a:ext cx="165353" cy="173996"/>
              </a:xfrm>
              <a:prstGeom prst="rect">
                <a:avLst/>
              </a:prstGeom>
            </p:spPr>
          </p:pic>
          <p:pic>
            <p:nvPicPr>
              <p:cNvPr id="39" name="object 39"/>
              <p:cNvPicPr/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2885592" y="3925407"/>
                <a:ext cx="165353" cy="173996"/>
              </a:xfrm>
              <a:prstGeom prst="rect">
                <a:avLst/>
              </a:prstGeom>
            </p:spPr>
          </p:pic>
          <p:sp>
            <p:nvSpPr>
              <p:cNvPr id="40" name="object 40"/>
              <p:cNvSpPr/>
              <p:nvPr/>
            </p:nvSpPr>
            <p:spPr>
              <a:xfrm>
                <a:off x="2779901" y="3134635"/>
                <a:ext cx="365760" cy="1073150"/>
              </a:xfrm>
              <a:custGeom>
                <a:avLst/>
                <a:gdLst/>
                <a:ahLst/>
                <a:cxnLst/>
                <a:rect l="l" t="t" r="r" b="b"/>
                <a:pathLst>
                  <a:path w="365760" h="1073150">
                    <a:moveTo>
                      <a:pt x="304798" y="0"/>
                    </a:moveTo>
                    <a:lnTo>
                      <a:pt x="328527" y="4790"/>
                    </a:lnTo>
                    <a:lnTo>
                      <a:pt x="347904" y="17855"/>
                    </a:lnTo>
                    <a:lnTo>
                      <a:pt x="360969" y="37232"/>
                    </a:lnTo>
                    <a:lnTo>
                      <a:pt x="365760" y="60961"/>
                    </a:lnTo>
                    <a:lnTo>
                      <a:pt x="365760" y="1011994"/>
                    </a:lnTo>
                    <a:lnTo>
                      <a:pt x="360969" y="1035723"/>
                    </a:lnTo>
                    <a:lnTo>
                      <a:pt x="347904" y="1055100"/>
                    </a:lnTo>
                    <a:lnTo>
                      <a:pt x="328527" y="1068165"/>
                    </a:lnTo>
                    <a:lnTo>
                      <a:pt x="304798" y="1072956"/>
                    </a:lnTo>
                    <a:lnTo>
                      <a:pt x="60961" y="1072956"/>
                    </a:lnTo>
                    <a:lnTo>
                      <a:pt x="37232" y="1068165"/>
                    </a:lnTo>
                    <a:lnTo>
                      <a:pt x="17855" y="1055100"/>
                    </a:lnTo>
                    <a:lnTo>
                      <a:pt x="4790" y="1035723"/>
                    </a:lnTo>
                    <a:lnTo>
                      <a:pt x="0" y="1011994"/>
                    </a:lnTo>
                    <a:lnTo>
                      <a:pt x="0" y="60961"/>
                    </a:lnTo>
                    <a:lnTo>
                      <a:pt x="4790" y="37232"/>
                    </a:lnTo>
                    <a:lnTo>
                      <a:pt x="17855" y="17855"/>
                    </a:lnTo>
                    <a:lnTo>
                      <a:pt x="37232" y="4790"/>
                    </a:lnTo>
                    <a:lnTo>
                      <a:pt x="60961" y="0"/>
                    </a:lnTo>
                    <a:lnTo>
                      <a:pt x="304798" y="0"/>
                    </a:lnTo>
                    <a:close/>
                  </a:path>
                </a:pathLst>
              </a:custGeom>
              <a:ln w="19050">
                <a:solidFill>
                  <a:srgbClr val="8C1515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solidFill>
                    <a:schemeClr val="accent1"/>
                  </a:solidFill>
                </a:endParaRPr>
              </a:p>
            </p:txBody>
          </p:sp>
          <p:sp>
            <p:nvSpPr>
              <p:cNvPr id="41" name="object 41"/>
              <p:cNvSpPr/>
              <p:nvPr/>
            </p:nvSpPr>
            <p:spPr>
              <a:xfrm>
                <a:off x="4221612" y="3642688"/>
                <a:ext cx="69977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699770" h="111125">
                    <a:moveTo>
                      <a:pt x="604459" y="0"/>
                    </a:moveTo>
                    <a:lnTo>
                      <a:pt x="598627" y="1535"/>
                    </a:lnTo>
                    <a:lnTo>
                      <a:pt x="593324" y="10623"/>
                    </a:lnTo>
                    <a:lnTo>
                      <a:pt x="594860" y="16455"/>
                    </a:lnTo>
                    <a:lnTo>
                      <a:pt x="645172" y="45803"/>
                    </a:lnTo>
                    <a:lnTo>
                      <a:pt x="680403" y="45803"/>
                    </a:lnTo>
                    <a:lnTo>
                      <a:pt x="680403" y="64853"/>
                    </a:lnTo>
                    <a:lnTo>
                      <a:pt x="645172" y="64853"/>
                    </a:lnTo>
                    <a:lnTo>
                      <a:pt x="594860" y="94202"/>
                    </a:lnTo>
                    <a:lnTo>
                      <a:pt x="593324" y="100034"/>
                    </a:lnTo>
                    <a:lnTo>
                      <a:pt x="598625" y="109122"/>
                    </a:lnTo>
                    <a:lnTo>
                      <a:pt x="604459" y="110656"/>
                    </a:lnTo>
                    <a:lnTo>
                      <a:pt x="682977" y="64853"/>
                    </a:lnTo>
                    <a:lnTo>
                      <a:pt x="680403" y="64853"/>
                    </a:lnTo>
                    <a:lnTo>
                      <a:pt x="682980" y="64852"/>
                    </a:lnTo>
                    <a:lnTo>
                      <a:pt x="699306" y="55328"/>
                    </a:lnTo>
                    <a:lnTo>
                      <a:pt x="604459" y="0"/>
                    </a:lnTo>
                    <a:close/>
                  </a:path>
                  <a:path w="699770" h="111125">
                    <a:moveTo>
                      <a:pt x="661500" y="55328"/>
                    </a:moveTo>
                    <a:lnTo>
                      <a:pt x="645172" y="64853"/>
                    </a:lnTo>
                    <a:lnTo>
                      <a:pt x="680403" y="64853"/>
                    </a:lnTo>
                    <a:lnTo>
                      <a:pt x="680403" y="63555"/>
                    </a:lnTo>
                    <a:lnTo>
                      <a:pt x="675604" y="63555"/>
                    </a:lnTo>
                    <a:lnTo>
                      <a:pt x="661500" y="55328"/>
                    </a:lnTo>
                    <a:close/>
                  </a:path>
                  <a:path w="699770" h="111125">
                    <a:moveTo>
                      <a:pt x="0" y="45802"/>
                    </a:moveTo>
                    <a:lnTo>
                      <a:pt x="0" y="64852"/>
                    </a:lnTo>
                    <a:lnTo>
                      <a:pt x="645174" y="64852"/>
                    </a:lnTo>
                    <a:lnTo>
                      <a:pt x="661500" y="55328"/>
                    </a:lnTo>
                    <a:lnTo>
                      <a:pt x="645172" y="45803"/>
                    </a:lnTo>
                    <a:lnTo>
                      <a:pt x="0" y="45802"/>
                    </a:lnTo>
                    <a:close/>
                  </a:path>
                  <a:path w="699770" h="111125">
                    <a:moveTo>
                      <a:pt x="675604" y="47101"/>
                    </a:moveTo>
                    <a:lnTo>
                      <a:pt x="661500" y="55328"/>
                    </a:lnTo>
                    <a:lnTo>
                      <a:pt x="675604" y="63555"/>
                    </a:lnTo>
                    <a:lnTo>
                      <a:pt x="675604" y="47101"/>
                    </a:lnTo>
                    <a:close/>
                  </a:path>
                  <a:path w="699770" h="111125">
                    <a:moveTo>
                      <a:pt x="680403" y="47101"/>
                    </a:moveTo>
                    <a:lnTo>
                      <a:pt x="675604" y="47101"/>
                    </a:lnTo>
                    <a:lnTo>
                      <a:pt x="675604" y="63555"/>
                    </a:lnTo>
                    <a:lnTo>
                      <a:pt x="680403" y="63555"/>
                    </a:lnTo>
                    <a:lnTo>
                      <a:pt x="680403" y="47101"/>
                    </a:lnTo>
                    <a:close/>
                  </a:path>
                  <a:path w="699770" h="111125">
                    <a:moveTo>
                      <a:pt x="645172" y="45803"/>
                    </a:moveTo>
                    <a:lnTo>
                      <a:pt x="661500" y="55328"/>
                    </a:lnTo>
                    <a:lnTo>
                      <a:pt x="675604" y="47101"/>
                    </a:lnTo>
                    <a:lnTo>
                      <a:pt x="680403" y="47101"/>
                    </a:lnTo>
                    <a:lnTo>
                      <a:pt x="680403" y="45803"/>
                    </a:lnTo>
                    <a:lnTo>
                      <a:pt x="645172" y="45803"/>
                    </a:lnTo>
                    <a:close/>
                  </a:path>
                </a:pathLst>
              </a:custGeom>
              <a:solidFill>
                <a:srgbClr val="7F7F7F"/>
              </a:solidFill>
            </p:spPr>
            <p:txBody>
              <a:bodyPr wrap="square" lIns="0" tIns="0" rIns="0" bIns="0" rtlCol="0"/>
              <a:lstStyle/>
              <a:p>
                <a:endParaRPr>
                  <a:solidFill>
                    <a:schemeClr val="accent1"/>
                  </a:solidFill>
                </a:endParaRPr>
              </a:p>
            </p:txBody>
          </p:sp>
          <p:pic>
            <p:nvPicPr>
              <p:cNvPr id="42" name="object 42"/>
              <p:cNvPicPr/>
              <p:nvPr/>
            </p:nvPicPr>
            <p:blipFill>
              <a:blip r:embed="rId16" cstate="print"/>
              <a:stretch>
                <a:fillRect/>
              </a:stretch>
            </p:blipFill>
            <p:spPr>
              <a:xfrm>
                <a:off x="4334960" y="3374240"/>
                <a:ext cx="427376" cy="292169"/>
              </a:xfrm>
              <a:prstGeom prst="rect">
                <a:avLst/>
              </a:prstGeom>
            </p:spPr>
          </p:pic>
          <p:pic>
            <p:nvPicPr>
              <p:cNvPr id="43" name="object 43"/>
              <p:cNvPicPr/>
              <p:nvPr/>
            </p:nvPicPr>
            <p:blipFill>
              <a:blip r:embed="rId18" cstate="print"/>
              <a:stretch>
                <a:fillRect/>
              </a:stretch>
            </p:blipFill>
            <p:spPr>
              <a:xfrm>
                <a:off x="4702628" y="2925809"/>
                <a:ext cx="335287" cy="219456"/>
              </a:xfrm>
              <a:prstGeom prst="rect">
                <a:avLst/>
              </a:prstGeom>
            </p:spPr>
          </p:pic>
          <p:pic>
            <p:nvPicPr>
              <p:cNvPr id="44" name="object 44"/>
              <p:cNvPicPr/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5026566" y="3255054"/>
                <a:ext cx="165353" cy="173996"/>
              </a:xfrm>
              <a:prstGeom prst="rect">
                <a:avLst/>
              </a:prstGeom>
            </p:spPr>
          </p:pic>
          <p:pic>
            <p:nvPicPr>
              <p:cNvPr id="45" name="object 45"/>
              <p:cNvPicPr/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5026566" y="3487473"/>
                <a:ext cx="165353" cy="173996"/>
              </a:xfrm>
              <a:prstGeom prst="rect">
                <a:avLst/>
              </a:prstGeom>
            </p:spPr>
          </p:pic>
          <p:pic>
            <p:nvPicPr>
              <p:cNvPr id="46" name="object 46"/>
              <p:cNvPicPr/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5026566" y="3719893"/>
                <a:ext cx="165353" cy="173996"/>
              </a:xfrm>
              <a:prstGeom prst="rect">
                <a:avLst/>
              </a:prstGeom>
            </p:spPr>
          </p:pic>
          <p:pic>
            <p:nvPicPr>
              <p:cNvPr id="47" name="object 47"/>
              <p:cNvPicPr/>
              <p:nvPr/>
            </p:nvPicPr>
            <p:blipFill>
              <a:blip r:embed="rId15" cstate="print"/>
              <a:stretch>
                <a:fillRect/>
              </a:stretch>
            </p:blipFill>
            <p:spPr>
              <a:xfrm>
                <a:off x="5026566" y="3952312"/>
                <a:ext cx="165353" cy="173996"/>
              </a:xfrm>
              <a:prstGeom prst="rect">
                <a:avLst/>
              </a:prstGeom>
            </p:spPr>
          </p:pic>
          <p:sp>
            <p:nvSpPr>
              <p:cNvPr id="48" name="object 48"/>
              <p:cNvSpPr/>
              <p:nvPr/>
            </p:nvSpPr>
            <p:spPr>
              <a:xfrm>
                <a:off x="4920875" y="3161539"/>
                <a:ext cx="365760" cy="1073150"/>
              </a:xfrm>
              <a:custGeom>
                <a:avLst/>
                <a:gdLst/>
                <a:ahLst/>
                <a:cxnLst/>
                <a:rect l="l" t="t" r="r" b="b"/>
                <a:pathLst>
                  <a:path w="365760" h="1073150">
                    <a:moveTo>
                      <a:pt x="304798" y="0"/>
                    </a:moveTo>
                    <a:lnTo>
                      <a:pt x="328527" y="4790"/>
                    </a:lnTo>
                    <a:lnTo>
                      <a:pt x="347904" y="17855"/>
                    </a:lnTo>
                    <a:lnTo>
                      <a:pt x="360969" y="37232"/>
                    </a:lnTo>
                    <a:lnTo>
                      <a:pt x="365760" y="60961"/>
                    </a:lnTo>
                    <a:lnTo>
                      <a:pt x="365760" y="1011994"/>
                    </a:lnTo>
                    <a:lnTo>
                      <a:pt x="360969" y="1035723"/>
                    </a:lnTo>
                    <a:lnTo>
                      <a:pt x="347904" y="1055100"/>
                    </a:lnTo>
                    <a:lnTo>
                      <a:pt x="328527" y="1068165"/>
                    </a:lnTo>
                    <a:lnTo>
                      <a:pt x="304798" y="1072956"/>
                    </a:lnTo>
                    <a:lnTo>
                      <a:pt x="60961" y="1072956"/>
                    </a:lnTo>
                    <a:lnTo>
                      <a:pt x="37232" y="1068165"/>
                    </a:lnTo>
                    <a:lnTo>
                      <a:pt x="17855" y="1055100"/>
                    </a:lnTo>
                    <a:lnTo>
                      <a:pt x="4790" y="1035723"/>
                    </a:lnTo>
                    <a:lnTo>
                      <a:pt x="0" y="1011994"/>
                    </a:lnTo>
                    <a:lnTo>
                      <a:pt x="0" y="60961"/>
                    </a:lnTo>
                    <a:lnTo>
                      <a:pt x="4790" y="37232"/>
                    </a:lnTo>
                    <a:lnTo>
                      <a:pt x="17855" y="17855"/>
                    </a:lnTo>
                    <a:lnTo>
                      <a:pt x="37232" y="4790"/>
                    </a:lnTo>
                    <a:lnTo>
                      <a:pt x="60961" y="0"/>
                    </a:lnTo>
                    <a:lnTo>
                      <a:pt x="304798" y="0"/>
                    </a:lnTo>
                    <a:close/>
                  </a:path>
                </a:pathLst>
              </a:custGeom>
              <a:ln w="19050">
                <a:solidFill>
                  <a:srgbClr val="8C1515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solidFill>
                    <a:schemeClr val="accent1"/>
                  </a:solidFill>
                </a:endParaRPr>
              </a:p>
            </p:txBody>
          </p:sp>
          <p:pic>
            <p:nvPicPr>
              <p:cNvPr id="49" name="object 49"/>
              <p:cNvPicPr/>
              <p:nvPr/>
            </p:nvPicPr>
            <p:blipFill>
              <a:blip r:embed="rId19" cstate="print"/>
              <a:stretch>
                <a:fillRect/>
              </a:stretch>
            </p:blipFill>
            <p:spPr>
              <a:xfrm>
                <a:off x="5750933" y="2925809"/>
                <a:ext cx="368520" cy="219456"/>
              </a:xfrm>
              <a:prstGeom prst="rect">
                <a:avLst/>
              </a:prstGeom>
            </p:spPr>
          </p:pic>
          <p:sp>
            <p:nvSpPr>
              <p:cNvPr id="50" name="object 50"/>
              <p:cNvSpPr/>
              <p:nvPr/>
            </p:nvSpPr>
            <p:spPr>
              <a:xfrm>
                <a:off x="5978133" y="3170784"/>
                <a:ext cx="365760" cy="1073150"/>
              </a:xfrm>
              <a:custGeom>
                <a:avLst/>
                <a:gdLst/>
                <a:ahLst/>
                <a:cxnLst/>
                <a:rect l="l" t="t" r="r" b="b"/>
                <a:pathLst>
                  <a:path w="365760" h="1073150">
                    <a:moveTo>
                      <a:pt x="304798" y="0"/>
                    </a:moveTo>
                    <a:lnTo>
                      <a:pt x="328527" y="4790"/>
                    </a:lnTo>
                    <a:lnTo>
                      <a:pt x="347904" y="17855"/>
                    </a:lnTo>
                    <a:lnTo>
                      <a:pt x="360969" y="37232"/>
                    </a:lnTo>
                    <a:lnTo>
                      <a:pt x="365760" y="60961"/>
                    </a:lnTo>
                    <a:lnTo>
                      <a:pt x="365760" y="1011994"/>
                    </a:lnTo>
                    <a:lnTo>
                      <a:pt x="360969" y="1035723"/>
                    </a:lnTo>
                    <a:lnTo>
                      <a:pt x="347904" y="1055100"/>
                    </a:lnTo>
                    <a:lnTo>
                      <a:pt x="328527" y="1068165"/>
                    </a:lnTo>
                    <a:lnTo>
                      <a:pt x="304798" y="1072956"/>
                    </a:lnTo>
                    <a:lnTo>
                      <a:pt x="60961" y="1072956"/>
                    </a:lnTo>
                    <a:lnTo>
                      <a:pt x="37232" y="1068165"/>
                    </a:lnTo>
                    <a:lnTo>
                      <a:pt x="17855" y="1055100"/>
                    </a:lnTo>
                    <a:lnTo>
                      <a:pt x="4790" y="1035723"/>
                    </a:lnTo>
                    <a:lnTo>
                      <a:pt x="0" y="1011994"/>
                    </a:lnTo>
                    <a:lnTo>
                      <a:pt x="0" y="60961"/>
                    </a:lnTo>
                    <a:lnTo>
                      <a:pt x="4790" y="37232"/>
                    </a:lnTo>
                    <a:lnTo>
                      <a:pt x="17855" y="17855"/>
                    </a:lnTo>
                    <a:lnTo>
                      <a:pt x="37232" y="4790"/>
                    </a:lnTo>
                    <a:lnTo>
                      <a:pt x="60961" y="0"/>
                    </a:lnTo>
                    <a:lnTo>
                      <a:pt x="304798" y="0"/>
                    </a:lnTo>
                    <a:close/>
                  </a:path>
                </a:pathLst>
              </a:custGeom>
              <a:ln w="19050">
                <a:solidFill>
                  <a:srgbClr val="8C1515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solidFill>
                    <a:schemeClr val="accent1"/>
                  </a:solidFill>
                </a:endParaRPr>
              </a:p>
            </p:txBody>
          </p:sp>
          <p:sp>
            <p:nvSpPr>
              <p:cNvPr id="51" name="object 51"/>
              <p:cNvSpPr/>
              <p:nvPr/>
            </p:nvSpPr>
            <p:spPr>
              <a:xfrm>
                <a:off x="5278870" y="3651935"/>
                <a:ext cx="69977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699770" h="111125">
                    <a:moveTo>
                      <a:pt x="661499" y="55328"/>
                    </a:moveTo>
                    <a:lnTo>
                      <a:pt x="594860" y="94200"/>
                    </a:lnTo>
                    <a:lnTo>
                      <a:pt x="593326" y="100032"/>
                    </a:lnTo>
                    <a:lnTo>
                      <a:pt x="598627" y="109120"/>
                    </a:lnTo>
                    <a:lnTo>
                      <a:pt x="604459" y="110656"/>
                    </a:lnTo>
                    <a:lnTo>
                      <a:pt x="682979" y="64852"/>
                    </a:lnTo>
                    <a:lnTo>
                      <a:pt x="680403" y="64852"/>
                    </a:lnTo>
                    <a:lnTo>
                      <a:pt x="680403" y="63555"/>
                    </a:lnTo>
                    <a:lnTo>
                      <a:pt x="675604" y="63555"/>
                    </a:lnTo>
                    <a:lnTo>
                      <a:pt x="661499" y="55328"/>
                    </a:lnTo>
                    <a:close/>
                  </a:path>
                  <a:path w="699770" h="111125">
                    <a:moveTo>
                      <a:pt x="645170" y="45802"/>
                    </a:moveTo>
                    <a:lnTo>
                      <a:pt x="0" y="45802"/>
                    </a:lnTo>
                    <a:lnTo>
                      <a:pt x="0" y="64852"/>
                    </a:lnTo>
                    <a:lnTo>
                      <a:pt x="645172" y="64852"/>
                    </a:lnTo>
                    <a:lnTo>
                      <a:pt x="661499" y="55328"/>
                    </a:lnTo>
                    <a:lnTo>
                      <a:pt x="645170" y="45802"/>
                    </a:lnTo>
                    <a:close/>
                  </a:path>
                  <a:path w="699770" h="111125">
                    <a:moveTo>
                      <a:pt x="682978" y="45802"/>
                    </a:moveTo>
                    <a:lnTo>
                      <a:pt x="680403" y="45802"/>
                    </a:lnTo>
                    <a:lnTo>
                      <a:pt x="680403" y="64852"/>
                    </a:lnTo>
                    <a:lnTo>
                      <a:pt x="682979" y="64852"/>
                    </a:lnTo>
                    <a:lnTo>
                      <a:pt x="699307" y="55327"/>
                    </a:lnTo>
                    <a:lnTo>
                      <a:pt x="682978" y="45802"/>
                    </a:lnTo>
                    <a:close/>
                  </a:path>
                  <a:path w="699770" h="111125">
                    <a:moveTo>
                      <a:pt x="675604" y="47100"/>
                    </a:moveTo>
                    <a:lnTo>
                      <a:pt x="661499" y="55328"/>
                    </a:lnTo>
                    <a:lnTo>
                      <a:pt x="675604" y="63555"/>
                    </a:lnTo>
                    <a:lnTo>
                      <a:pt x="675604" y="47100"/>
                    </a:lnTo>
                    <a:close/>
                  </a:path>
                  <a:path w="699770" h="111125">
                    <a:moveTo>
                      <a:pt x="680403" y="47100"/>
                    </a:moveTo>
                    <a:lnTo>
                      <a:pt x="675604" y="47100"/>
                    </a:lnTo>
                    <a:lnTo>
                      <a:pt x="675604" y="63555"/>
                    </a:lnTo>
                    <a:lnTo>
                      <a:pt x="680403" y="63555"/>
                    </a:lnTo>
                    <a:lnTo>
                      <a:pt x="680403" y="47100"/>
                    </a:lnTo>
                    <a:close/>
                  </a:path>
                  <a:path w="699770" h="111125">
                    <a:moveTo>
                      <a:pt x="604459" y="0"/>
                    </a:moveTo>
                    <a:lnTo>
                      <a:pt x="598627" y="1534"/>
                    </a:lnTo>
                    <a:lnTo>
                      <a:pt x="593326" y="10622"/>
                    </a:lnTo>
                    <a:lnTo>
                      <a:pt x="594860" y="16454"/>
                    </a:lnTo>
                    <a:lnTo>
                      <a:pt x="661500" y="55327"/>
                    </a:lnTo>
                    <a:lnTo>
                      <a:pt x="675604" y="47100"/>
                    </a:lnTo>
                    <a:lnTo>
                      <a:pt x="680403" y="47100"/>
                    </a:lnTo>
                    <a:lnTo>
                      <a:pt x="680403" y="45802"/>
                    </a:lnTo>
                    <a:lnTo>
                      <a:pt x="682978" y="45802"/>
                    </a:lnTo>
                    <a:lnTo>
                      <a:pt x="604459" y="0"/>
                    </a:lnTo>
                    <a:close/>
                  </a:path>
                </a:pathLst>
              </a:custGeom>
              <a:solidFill>
                <a:srgbClr val="7F7F7F"/>
              </a:solidFill>
            </p:spPr>
            <p:txBody>
              <a:bodyPr wrap="square" lIns="0" tIns="0" rIns="0" bIns="0" rtlCol="0"/>
              <a:lstStyle/>
              <a:p>
                <a:endParaRPr>
                  <a:solidFill>
                    <a:schemeClr val="accent1"/>
                  </a:solidFill>
                </a:endParaRPr>
              </a:p>
            </p:txBody>
          </p:sp>
          <p:pic>
            <p:nvPicPr>
              <p:cNvPr id="52" name="object 52"/>
              <p:cNvPicPr/>
              <p:nvPr/>
            </p:nvPicPr>
            <p:blipFill>
              <a:blip r:embed="rId16" cstate="print"/>
              <a:stretch>
                <a:fillRect/>
              </a:stretch>
            </p:blipFill>
            <p:spPr>
              <a:xfrm>
                <a:off x="5392219" y="3374240"/>
                <a:ext cx="427376" cy="292169"/>
              </a:xfrm>
              <a:prstGeom prst="rect">
                <a:avLst/>
              </a:prstGeom>
            </p:spPr>
          </p:pic>
          <p:pic>
            <p:nvPicPr>
              <p:cNvPr id="53" name="object 53"/>
              <p:cNvPicPr/>
              <p:nvPr/>
            </p:nvPicPr>
            <p:blipFill>
              <a:blip r:embed="rId20" cstate="print"/>
              <a:stretch>
                <a:fillRect/>
              </a:stretch>
            </p:blipFill>
            <p:spPr>
              <a:xfrm>
                <a:off x="5601473" y="4963651"/>
                <a:ext cx="350760" cy="224261"/>
              </a:xfrm>
              <a:prstGeom prst="rect">
                <a:avLst/>
              </a:prstGeom>
            </p:spPr>
          </p:pic>
          <p:pic>
            <p:nvPicPr>
              <p:cNvPr id="54" name="object 54"/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6076363" y="4753026"/>
                <a:ext cx="165353" cy="157194"/>
              </a:xfrm>
              <a:prstGeom prst="rect">
                <a:avLst/>
              </a:prstGeom>
            </p:spPr>
          </p:pic>
          <p:pic>
            <p:nvPicPr>
              <p:cNvPr id="55" name="object 55"/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6076363" y="4960241"/>
                <a:ext cx="165353" cy="157194"/>
              </a:xfrm>
              <a:prstGeom prst="rect">
                <a:avLst/>
              </a:prstGeom>
            </p:spPr>
          </p:pic>
          <p:pic>
            <p:nvPicPr>
              <p:cNvPr id="56" name="object 56"/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6076363" y="5167457"/>
                <a:ext cx="165353" cy="157194"/>
              </a:xfrm>
              <a:prstGeom prst="rect">
                <a:avLst/>
              </a:prstGeom>
            </p:spPr>
          </p:pic>
          <p:pic>
            <p:nvPicPr>
              <p:cNvPr id="57" name="object 57"/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6076363" y="5374672"/>
                <a:ext cx="165353" cy="157194"/>
              </a:xfrm>
              <a:prstGeom prst="rect">
                <a:avLst/>
              </a:prstGeom>
            </p:spPr>
          </p:pic>
          <p:sp>
            <p:nvSpPr>
              <p:cNvPr id="58" name="object 58"/>
              <p:cNvSpPr/>
              <p:nvPr/>
            </p:nvSpPr>
            <p:spPr>
              <a:xfrm>
                <a:off x="5970672" y="4670685"/>
                <a:ext cx="365760" cy="956944"/>
              </a:xfrm>
              <a:custGeom>
                <a:avLst/>
                <a:gdLst/>
                <a:ahLst/>
                <a:cxnLst/>
                <a:rect l="l" t="t" r="r" b="b"/>
                <a:pathLst>
                  <a:path w="365760" h="956945">
                    <a:moveTo>
                      <a:pt x="304798" y="0"/>
                    </a:moveTo>
                    <a:lnTo>
                      <a:pt x="328527" y="4790"/>
                    </a:lnTo>
                    <a:lnTo>
                      <a:pt x="347904" y="17855"/>
                    </a:lnTo>
                    <a:lnTo>
                      <a:pt x="360969" y="37232"/>
                    </a:lnTo>
                    <a:lnTo>
                      <a:pt x="365760" y="60961"/>
                    </a:lnTo>
                    <a:lnTo>
                      <a:pt x="365760" y="895642"/>
                    </a:lnTo>
                    <a:lnTo>
                      <a:pt x="360969" y="919371"/>
                    </a:lnTo>
                    <a:lnTo>
                      <a:pt x="347904" y="938748"/>
                    </a:lnTo>
                    <a:lnTo>
                      <a:pt x="328527" y="951813"/>
                    </a:lnTo>
                    <a:lnTo>
                      <a:pt x="304798" y="956604"/>
                    </a:lnTo>
                    <a:lnTo>
                      <a:pt x="60961" y="956604"/>
                    </a:lnTo>
                    <a:lnTo>
                      <a:pt x="37232" y="951813"/>
                    </a:lnTo>
                    <a:lnTo>
                      <a:pt x="17855" y="938748"/>
                    </a:lnTo>
                    <a:lnTo>
                      <a:pt x="4790" y="919371"/>
                    </a:lnTo>
                    <a:lnTo>
                      <a:pt x="0" y="895642"/>
                    </a:lnTo>
                    <a:lnTo>
                      <a:pt x="0" y="60961"/>
                    </a:lnTo>
                    <a:lnTo>
                      <a:pt x="4790" y="37232"/>
                    </a:lnTo>
                    <a:lnTo>
                      <a:pt x="17855" y="17855"/>
                    </a:lnTo>
                    <a:lnTo>
                      <a:pt x="37232" y="4790"/>
                    </a:lnTo>
                    <a:lnTo>
                      <a:pt x="60961" y="0"/>
                    </a:lnTo>
                    <a:lnTo>
                      <a:pt x="304798" y="0"/>
                    </a:lnTo>
                    <a:close/>
                  </a:path>
                </a:pathLst>
              </a:custGeom>
              <a:ln w="19050">
                <a:solidFill>
                  <a:srgbClr val="610059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solidFill>
                    <a:schemeClr val="accent1"/>
                  </a:solidFill>
                </a:endParaRPr>
              </a:p>
            </p:txBody>
          </p:sp>
          <p:sp>
            <p:nvSpPr>
              <p:cNvPr id="59" name="object 59"/>
              <p:cNvSpPr/>
              <p:nvPr/>
            </p:nvSpPr>
            <p:spPr>
              <a:xfrm>
                <a:off x="6098225" y="5627245"/>
                <a:ext cx="111125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438150">
                    <a:moveTo>
                      <a:pt x="55328" y="37806"/>
                    </a:moveTo>
                    <a:lnTo>
                      <a:pt x="45803" y="54135"/>
                    </a:lnTo>
                    <a:lnTo>
                      <a:pt x="45802" y="438107"/>
                    </a:lnTo>
                    <a:lnTo>
                      <a:pt x="64852" y="438107"/>
                    </a:lnTo>
                    <a:lnTo>
                      <a:pt x="64853" y="54135"/>
                    </a:lnTo>
                    <a:lnTo>
                      <a:pt x="55328" y="37806"/>
                    </a:lnTo>
                    <a:close/>
                  </a:path>
                  <a:path w="111125" h="438150">
                    <a:moveTo>
                      <a:pt x="66355" y="18903"/>
                    </a:moveTo>
                    <a:lnTo>
                      <a:pt x="64853" y="18903"/>
                    </a:lnTo>
                    <a:lnTo>
                      <a:pt x="64853" y="54135"/>
                    </a:lnTo>
                    <a:lnTo>
                      <a:pt x="94202" y="104446"/>
                    </a:lnTo>
                    <a:lnTo>
                      <a:pt x="100034" y="105981"/>
                    </a:lnTo>
                    <a:lnTo>
                      <a:pt x="109122" y="100680"/>
                    </a:lnTo>
                    <a:lnTo>
                      <a:pt x="110656" y="94848"/>
                    </a:lnTo>
                    <a:lnTo>
                      <a:pt x="66355" y="18903"/>
                    </a:lnTo>
                    <a:close/>
                  </a:path>
                  <a:path w="111125" h="438150">
                    <a:moveTo>
                      <a:pt x="55328" y="0"/>
                    </a:moveTo>
                    <a:lnTo>
                      <a:pt x="0" y="94848"/>
                    </a:lnTo>
                    <a:lnTo>
                      <a:pt x="1535" y="100680"/>
                    </a:lnTo>
                    <a:lnTo>
                      <a:pt x="10623" y="105981"/>
                    </a:lnTo>
                    <a:lnTo>
                      <a:pt x="16455" y="104446"/>
                    </a:lnTo>
                    <a:lnTo>
                      <a:pt x="45803" y="54135"/>
                    </a:lnTo>
                    <a:lnTo>
                      <a:pt x="45803" y="18903"/>
                    </a:lnTo>
                    <a:lnTo>
                      <a:pt x="66355" y="18903"/>
                    </a:lnTo>
                    <a:lnTo>
                      <a:pt x="55328" y="0"/>
                    </a:lnTo>
                    <a:close/>
                  </a:path>
                  <a:path w="111125" h="438150">
                    <a:moveTo>
                      <a:pt x="64853" y="18903"/>
                    </a:moveTo>
                    <a:lnTo>
                      <a:pt x="45803" y="18903"/>
                    </a:lnTo>
                    <a:lnTo>
                      <a:pt x="45803" y="54135"/>
                    </a:lnTo>
                    <a:lnTo>
                      <a:pt x="55328" y="37806"/>
                    </a:lnTo>
                    <a:lnTo>
                      <a:pt x="47101" y="23703"/>
                    </a:lnTo>
                    <a:lnTo>
                      <a:pt x="64853" y="23703"/>
                    </a:lnTo>
                    <a:lnTo>
                      <a:pt x="64853" y="18903"/>
                    </a:lnTo>
                    <a:close/>
                  </a:path>
                  <a:path w="111125" h="438150">
                    <a:moveTo>
                      <a:pt x="64853" y="23703"/>
                    </a:moveTo>
                    <a:lnTo>
                      <a:pt x="63555" y="23703"/>
                    </a:lnTo>
                    <a:lnTo>
                      <a:pt x="55328" y="37806"/>
                    </a:lnTo>
                    <a:lnTo>
                      <a:pt x="64853" y="54135"/>
                    </a:lnTo>
                    <a:lnTo>
                      <a:pt x="64853" y="23703"/>
                    </a:lnTo>
                    <a:close/>
                  </a:path>
                  <a:path w="111125" h="438150">
                    <a:moveTo>
                      <a:pt x="63555" y="23703"/>
                    </a:moveTo>
                    <a:lnTo>
                      <a:pt x="47101" y="23703"/>
                    </a:lnTo>
                    <a:lnTo>
                      <a:pt x="55328" y="37806"/>
                    </a:lnTo>
                    <a:lnTo>
                      <a:pt x="63555" y="23703"/>
                    </a:lnTo>
                    <a:close/>
                  </a:path>
                </a:pathLst>
              </a:custGeom>
              <a:solidFill>
                <a:srgbClr val="7F7F7F"/>
              </a:solidFill>
            </p:spPr>
            <p:txBody>
              <a:bodyPr wrap="square" lIns="0" tIns="0" rIns="0" bIns="0" rtlCol="0"/>
              <a:lstStyle/>
              <a:p>
                <a:endParaRPr>
                  <a:solidFill>
                    <a:schemeClr val="accent1"/>
                  </a:solidFill>
                </a:endParaRPr>
              </a:p>
            </p:txBody>
          </p:sp>
          <p:pic>
            <p:nvPicPr>
              <p:cNvPr id="60" name="object 60"/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6177931" y="5731943"/>
                <a:ext cx="236000" cy="278166"/>
              </a:xfrm>
              <a:prstGeom prst="rect">
                <a:avLst/>
              </a:prstGeom>
            </p:spPr>
          </p:pic>
          <p:pic>
            <p:nvPicPr>
              <p:cNvPr id="61" name="object 61"/>
              <p:cNvPicPr/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6211442" y="4381804"/>
                <a:ext cx="327652" cy="198835"/>
              </a:xfrm>
              <a:prstGeom prst="rect">
                <a:avLst/>
              </a:prstGeom>
            </p:spPr>
          </p:pic>
          <p:sp>
            <p:nvSpPr>
              <p:cNvPr id="62" name="object 62"/>
              <p:cNvSpPr/>
              <p:nvPr/>
            </p:nvSpPr>
            <p:spPr>
              <a:xfrm>
                <a:off x="6105686" y="4243696"/>
                <a:ext cx="111125" cy="42735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427354">
                    <a:moveTo>
                      <a:pt x="55328" y="37807"/>
                    </a:moveTo>
                    <a:lnTo>
                      <a:pt x="45803" y="54135"/>
                    </a:lnTo>
                    <a:lnTo>
                      <a:pt x="45802" y="426989"/>
                    </a:lnTo>
                    <a:lnTo>
                      <a:pt x="64852" y="426989"/>
                    </a:lnTo>
                    <a:lnTo>
                      <a:pt x="64852" y="54135"/>
                    </a:lnTo>
                    <a:lnTo>
                      <a:pt x="55328" y="37807"/>
                    </a:lnTo>
                    <a:close/>
                  </a:path>
                  <a:path w="111125" h="427354">
                    <a:moveTo>
                      <a:pt x="55328" y="0"/>
                    </a:moveTo>
                    <a:lnTo>
                      <a:pt x="0" y="94848"/>
                    </a:lnTo>
                    <a:lnTo>
                      <a:pt x="1537" y="100681"/>
                    </a:lnTo>
                    <a:lnTo>
                      <a:pt x="10623" y="105982"/>
                    </a:lnTo>
                    <a:lnTo>
                      <a:pt x="16455" y="104447"/>
                    </a:lnTo>
                    <a:lnTo>
                      <a:pt x="45802" y="54137"/>
                    </a:lnTo>
                    <a:lnTo>
                      <a:pt x="45803" y="18903"/>
                    </a:lnTo>
                    <a:lnTo>
                      <a:pt x="66355" y="18903"/>
                    </a:lnTo>
                    <a:lnTo>
                      <a:pt x="55328" y="0"/>
                    </a:lnTo>
                    <a:close/>
                  </a:path>
                  <a:path w="111125" h="427354">
                    <a:moveTo>
                      <a:pt x="66355" y="18903"/>
                    </a:moveTo>
                    <a:lnTo>
                      <a:pt x="64853" y="18903"/>
                    </a:lnTo>
                    <a:lnTo>
                      <a:pt x="64853" y="54137"/>
                    </a:lnTo>
                    <a:lnTo>
                      <a:pt x="94200" y="104447"/>
                    </a:lnTo>
                    <a:lnTo>
                      <a:pt x="100034" y="105982"/>
                    </a:lnTo>
                    <a:lnTo>
                      <a:pt x="109122" y="100680"/>
                    </a:lnTo>
                    <a:lnTo>
                      <a:pt x="110656" y="94848"/>
                    </a:lnTo>
                    <a:lnTo>
                      <a:pt x="66355" y="18903"/>
                    </a:lnTo>
                    <a:close/>
                  </a:path>
                  <a:path w="111125" h="427354">
                    <a:moveTo>
                      <a:pt x="64853" y="23703"/>
                    </a:moveTo>
                    <a:lnTo>
                      <a:pt x="63555" y="23703"/>
                    </a:lnTo>
                    <a:lnTo>
                      <a:pt x="55328" y="37807"/>
                    </a:lnTo>
                    <a:lnTo>
                      <a:pt x="64853" y="54137"/>
                    </a:lnTo>
                    <a:lnTo>
                      <a:pt x="64853" y="23703"/>
                    </a:lnTo>
                    <a:close/>
                  </a:path>
                  <a:path w="111125" h="427354">
                    <a:moveTo>
                      <a:pt x="64853" y="18903"/>
                    </a:moveTo>
                    <a:lnTo>
                      <a:pt x="45803" y="18903"/>
                    </a:lnTo>
                    <a:lnTo>
                      <a:pt x="45803" y="54135"/>
                    </a:lnTo>
                    <a:lnTo>
                      <a:pt x="55328" y="37807"/>
                    </a:lnTo>
                    <a:lnTo>
                      <a:pt x="47100" y="23703"/>
                    </a:lnTo>
                    <a:lnTo>
                      <a:pt x="64853" y="23703"/>
                    </a:lnTo>
                    <a:lnTo>
                      <a:pt x="64853" y="18903"/>
                    </a:lnTo>
                    <a:close/>
                  </a:path>
                  <a:path w="111125" h="427354">
                    <a:moveTo>
                      <a:pt x="63555" y="23703"/>
                    </a:moveTo>
                    <a:lnTo>
                      <a:pt x="47100" y="23703"/>
                    </a:lnTo>
                    <a:lnTo>
                      <a:pt x="55328" y="37807"/>
                    </a:lnTo>
                    <a:lnTo>
                      <a:pt x="63555" y="23703"/>
                    </a:lnTo>
                    <a:close/>
                  </a:path>
                </a:pathLst>
              </a:custGeom>
              <a:solidFill>
                <a:srgbClr val="7F7F7F"/>
              </a:solidFill>
            </p:spPr>
            <p:txBody>
              <a:bodyPr wrap="square" lIns="0" tIns="0" rIns="0" bIns="0" rtlCol="0"/>
              <a:lstStyle/>
              <a:p>
                <a:endParaRPr>
                  <a:solidFill>
                    <a:schemeClr val="accent1"/>
                  </a:solidFill>
                </a:endParaRPr>
              </a:p>
            </p:txBody>
          </p:sp>
          <p:pic>
            <p:nvPicPr>
              <p:cNvPr id="63" name="object 63"/>
              <p:cNvPicPr/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6083824" y="3264300"/>
                <a:ext cx="165353" cy="173996"/>
              </a:xfrm>
              <a:prstGeom prst="rect">
                <a:avLst/>
              </a:prstGeom>
            </p:spPr>
          </p:pic>
          <p:pic>
            <p:nvPicPr>
              <p:cNvPr id="64" name="object 64"/>
              <p:cNvPicPr/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6083824" y="3496718"/>
                <a:ext cx="165353" cy="173996"/>
              </a:xfrm>
              <a:prstGeom prst="rect">
                <a:avLst/>
              </a:prstGeom>
            </p:spPr>
          </p:pic>
          <p:pic>
            <p:nvPicPr>
              <p:cNvPr id="65" name="object 65"/>
              <p:cNvPicPr/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6083824" y="3729139"/>
                <a:ext cx="165353" cy="173996"/>
              </a:xfrm>
              <a:prstGeom prst="rect">
                <a:avLst/>
              </a:prstGeom>
            </p:spPr>
          </p:pic>
          <p:pic>
            <p:nvPicPr>
              <p:cNvPr id="66" name="object 66"/>
              <p:cNvPicPr/>
              <p:nvPr/>
            </p:nvPicPr>
            <p:blipFill>
              <a:blip r:embed="rId15" cstate="print"/>
              <a:stretch>
                <a:fillRect/>
              </a:stretch>
            </p:blipFill>
            <p:spPr>
              <a:xfrm>
                <a:off x="6083824" y="3961557"/>
                <a:ext cx="165353" cy="173996"/>
              </a:xfrm>
              <a:prstGeom prst="rect">
                <a:avLst/>
              </a:prstGeom>
            </p:spPr>
          </p:pic>
          <p:sp>
            <p:nvSpPr>
              <p:cNvPr id="67" name="object 67"/>
              <p:cNvSpPr/>
              <p:nvPr/>
            </p:nvSpPr>
            <p:spPr>
              <a:xfrm>
                <a:off x="6355353" y="3642688"/>
                <a:ext cx="69977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699770" h="111125">
                    <a:moveTo>
                      <a:pt x="604459" y="0"/>
                    </a:moveTo>
                    <a:lnTo>
                      <a:pt x="598627" y="1535"/>
                    </a:lnTo>
                    <a:lnTo>
                      <a:pt x="593324" y="10623"/>
                    </a:lnTo>
                    <a:lnTo>
                      <a:pt x="594860" y="16455"/>
                    </a:lnTo>
                    <a:lnTo>
                      <a:pt x="645172" y="45803"/>
                    </a:lnTo>
                    <a:lnTo>
                      <a:pt x="680403" y="45803"/>
                    </a:lnTo>
                    <a:lnTo>
                      <a:pt x="680403" y="64853"/>
                    </a:lnTo>
                    <a:lnTo>
                      <a:pt x="645172" y="64853"/>
                    </a:lnTo>
                    <a:lnTo>
                      <a:pt x="594860" y="94202"/>
                    </a:lnTo>
                    <a:lnTo>
                      <a:pt x="593324" y="100034"/>
                    </a:lnTo>
                    <a:lnTo>
                      <a:pt x="598625" y="109122"/>
                    </a:lnTo>
                    <a:lnTo>
                      <a:pt x="604459" y="110656"/>
                    </a:lnTo>
                    <a:lnTo>
                      <a:pt x="682977" y="64853"/>
                    </a:lnTo>
                    <a:lnTo>
                      <a:pt x="680403" y="64853"/>
                    </a:lnTo>
                    <a:lnTo>
                      <a:pt x="682980" y="64852"/>
                    </a:lnTo>
                    <a:lnTo>
                      <a:pt x="699306" y="55328"/>
                    </a:lnTo>
                    <a:lnTo>
                      <a:pt x="604459" y="0"/>
                    </a:lnTo>
                    <a:close/>
                  </a:path>
                  <a:path w="699770" h="111125">
                    <a:moveTo>
                      <a:pt x="661500" y="55328"/>
                    </a:moveTo>
                    <a:lnTo>
                      <a:pt x="645172" y="64853"/>
                    </a:lnTo>
                    <a:lnTo>
                      <a:pt x="680403" y="64853"/>
                    </a:lnTo>
                    <a:lnTo>
                      <a:pt x="680403" y="63555"/>
                    </a:lnTo>
                    <a:lnTo>
                      <a:pt x="675604" y="63555"/>
                    </a:lnTo>
                    <a:lnTo>
                      <a:pt x="661500" y="55328"/>
                    </a:lnTo>
                    <a:close/>
                  </a:path>
                  <a:path w="699770" h="111125">
                    <a:moveTo>
                      <a:pt x="0" y="45802"/>
                    </a:moveTo>
                    <a:lnTo>
                      <a:pt x="0" y="64852"/>
                    </a:lnTo>
                    <a:lnTo>
                      <a:pt x="645174" y="64852"/>
                    </a:lnTo>
                    <a:lnTo>
                      <a:pt x="661500" y="55328"/>
                    </a:lnTo>
                    <a:lnTo>
                      <a:pt x="645172" y="45803"/>
                    </a:lnTo>
                    <a:lnTo>
                      <a:pt x="0" y="45802"/>
                    </a:lnTo>
                    <a:close/>
                  </a:path>
                  <a:path w="699770" h="111125">
                    <a:moveTo>
                      <a:pt x="675604" y="47101"/>
                    </a:moveTo>
                    <a:lnTo>
                      <a:pt x="661500" y="55328"/>
                    </a:lnTo>
                    <a:lnTo>
                      <a:pt x="675604" y="63555"/>
                    </a:lnTo>
                    <a:lnTo>
                      <a:pt x="675604" y="47101"/>
                    </a:lnTo>
                    <a:close/>
                  </a:path>
                  <a:path w="699770" h="111125">
                    <a:moveTo>
                      <a:pt x="680403" y="47101"/>
                    </a:moveTo>
                    <a:lnTo>
                      <a:pt x="675604" y="47101"/>
                    </a:lnTo>
                    <a:lnTo>
                      <a:pt x="675604" y="63555"/>
                    </a:lnTo>
                    <a:lnTo>
                      <a:pt x="680403" y="63555"/>
                    </a:lnTo>
                    <a:lnTo>
                      <a:pt x="680403" y="47101"/>
                    </a:lnTo>
                    <a:close/>
                  </a:path>
                  <a:path w="699770" h="111125">
                    <a:moveTo>
                      <a:pt x="645172" y="45803"/>
                    </a:moveTo>
                    <a:lnTo>
                      <a:pt x="661500" y="55328"/>
                    </a:lnTo>
                    <a:lnTo>
                      <a:pt x="675604" y="47101"/>
                    </a:lnTo>
                    <a:lnTo>
                      <a:pt x="680403" y="47101"/>
                    </a:lnTo>
                    <a:lnTo>
                      <a:pt x="680403" y="45803"/>
                    </a:lnTo>
                    <a:lnTo>
                      <a:pt x="645172" y="45803"/>
                    </a:lnTo>
                    <a:close/>
                  </a:path>
                </a:pathLst>
              </a:custGeom>
              <a:solidFill>
                <a:srgbClr val="7F7F7F"/>
              </a:solidFill>
            </p:spPr>
            <p:txBody>
              <a:bodyPr wrap="square" lIns="0" tIns="0" rIns="0" bIns="0" rtlCol="0"/>
              <a:lstStyle/>
              <a:p>
                <a:endParaRPr>
                  <a:solidFill>
                    <a:schemeClr val="accent1"/>
                  </a:solidFill>
                </a:endParaRPr>
              </a:p>
            </p:txBody>
          </p:sp>
          <p:pic>
            <p:nvPicPr>
              <p:cNvPr id="68" name="object 68"/>
              <p:cNvPicPr/>
              <p:nvPr/>
            </p:nvPicPr>
            <p:blipFill>
              <a:blip r:embed="rId16" cstate="print"/>
              <a:stretch>
                <a:fillRect/>
              </a:stretch>
            </p:blipFill>
            <p:spPr>
              <a:xfrm>
                <a:off x="6468701" y="3374240"/>
                <a:ext cx="427376" cy="292169"/>
              </a:xfrm>
              <a:prstGeom prst="rect">
                <a:avLst/>
              </a:prstGeom>
            </p:spPr>
          </p:pic>
          <p:pic>
            <p:nvPicPr>
              <p:cNvPr id="69" name="object 69"/>
              <p:cNvPicPr/>
              <p:nvPr/>
            </p:nvPicPr>
            <p:blipFill>
              <a:blip r:embed="rId21" cstate="print"/>
              <a:stretch>
                <a:fillRect/>
              </a:stretch>
            </p:blipFill>
            <p:spPr>
              <a:xfrm>
                <a:off x="6827069" y="2940439"/>
                <a:ext cx="335210" cy="204825"/>
              </a:xfrm>
              <a:prstGeom prst="rect">
                <a:avLst/>
              </a:prstGeom>
            </p:spPr>
          </p:pic>
          <p:pic>
            <p:nvPicPr>
              <p:cNvPr id="70" name="object 70"/>
              <p:cNvPicPr/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7160307" y="3255054"/>
                <a:ext cx="165353" cy="173996"/>
              </a:xfrm>
              <a:prstGeom prst="rect">
                <a:avLst/>
              </a:prstGeom>
            </p:spPr>
          </p:pic>
          <p:pic>
            <p:nvPicPr>
              <p:cNvPr id="71" name="object 71"/>
              <p:cNvPicPr/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7160307" y="3487473"/>
                <a:ext cx="165353" cy="173996"/>
              </a:xfrm>
              <a:prstGeom prst="rect">
                <a:avLst/>
              </a:prstGeom>
            </p:spPr>
          </p:pic>
          <p:pic>
            <p:nvPicPr>
              <p:cNvPr id="72" name="object 72"/>
              <p:cNvPicPr/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7160307" y="3719893"/>
                <a:ext cx="165353" cy="173996"/>
              </a:xfrm>
              <a:prstGeom prst="rect">
                <a:avLst/>
              </a:prstGeom>
            </p:spPr>
          </p:pic>
          <p:pic>
            <p:nvPicPr>
              <p:cNvPr id="73" name="object 73"/>
              <p:cNvPicPr/>
              <p:nvPr/>
            </p:nvPicPr>
            <p:blipFill>
              <a:blip r:embed="rId15" cstate="print"/>
              <a:stretch>
                <a:fillRect/>
              </a:stretch>
            </p:blipFill>
            <p:spPr>
              <a:xfrm>
                <a:off x="7160307" y="3952312"/>
                <a:ext cx="165353" cy="173996"/>
              </a:xfrm>
              <a:prstGeom prst="rect">
                <a:avLst/>
              </a:prstGeom>
            </p:spPr>
          </p:pic>
          <p:pic>
            <p:nvPicPr>
              <p:cNvPr id="74" name="object 74"/>
              <p:cNvPicPr/>
              <p:nvPr/>
            </p:nvPicPr>
            <p:blipFill>
              <a:blip r:embed="rId22" cstate="print"/>
              <a:stretch>
                <a:fillRect/>
              </a:stretch>
            </p:blipFill>
            <p:spPr>
              <a:xfrm>
                <a:off x="6696664" y="4963651"/>
                <a:ext cx="334030" cy="224261"/>
              </a:xfrm>
              <a:prstGeom prst="rect">
                <a:avLst/>
              </a:prstGeom>
            </p:spPr>
          </p:pic>
          <p:pic>
            <p:nvPicPr>
              <p:cNvPr id="75" name="object 75"/>
              <p:cNvPicPr/>
              <p:nvPr/>
            </p:nvPicPr>
            <p:blipFill>
              <a:blip r:embed="rId23" cstate="print"/>
              <a:stretch>
                <a:fillRect/>
              </a:stretch>
            </p:blipFill>
            <p:spPr>
              <a:xfrm>
                <a:off x="7152845" y="4743781"/>
                <a:ext cx="165353" cy="157194"/>
              </a:xfrm>
              <a:prstGeom prst="rect">
                <a:avLst/>
              </a:prstGeom>
            </p:spPr>
          </p:pic>
          <p:pic>
            <p:nvPicPr>
              <p:cNvPr id="76" name="object 76"/>
              <p:cNvPicPr/>
              <p:nvPr/>
            </p:nvPicPr>
            <p:blipFill>
              <a:blip r:embed="rId23" cstate="print"/>
              <a:stretch>
                <a:fillRect/>
              </a:stretch>
            </p:blipFill>
            <p:spPr>
              <a:xfrm>
                <a:off x="7152845" y="4950995"/>
                <a:ext cx="165353" cy="157194"/>
              </a:xfrm>
              <a:prstGeom prst="rect">
                <a:avLst/>
              </a:prstGeom>
            </p:spPr>
          </p:pic>
          <p:pic>
            <p:nvPicPr>
              <p:cNvPr id="77" name="object 77"/>
              <p:cNvPicPr/>
              <p:nvPr/>
            </p:nvPicPr>
            <p:blipFill>
              <a:blip r:embed="rId24" cstate="print"/>
              <a:stretch>
                <a:fillRect/>
              </a:stretch>
            </p:blipFill>
            <p:spPr>
              <a:xfrm>
                <a:off x="7152845" y="5158211"/>
                <a:ext cx="165353" cy="157194"/>
              </a:xfrm>
              <a:prstGeom prst="rect">
                <a:avLst/>
              </a:prstGeom>
            </p:spPr>
          </p:pic>
          <p:pic>
            <p:nvPicPr>
              <p:cNvPr id="78" name="object 78"/>
              <p:cNvPicPr/>
              <p:nvPr/>
            </p:nvPicPr>
            <p:blipFill>
              <a:blip r:embed="rId24" cstate="print"/>
              <a:stretch>
                <a:fillRect/>
              </a:stretch>
            </p:blipFill>
            <p:spPr>
              <a:xfrm>
                <a:off x="7152845" y="5365427"/>
                <a:ext cx="165353" cy="157194"/>
              </a:xfrm>
              <a:prstGeom prst="rect">
                <a:avLst/>
              </a:prstGeom>
            </p:spPr>
          </p:pic>
          <p:sp>
            <p:nvSpPr>
              <p:cNvPr id="79" name="object 79"/>
              <p:cNvSpPr/>
              <p:nvPr/>
            </p:nvSpPr>
            <p:spPr>
              <a:xfrm>
                <a:off x="7047155" y="4661439"/>
                <a:ext cx="365760" cy="956944"/>
              </a:xfrm>
              <a:custGeom>
                <a:avLst/>
                <a:gdLst/>
                <a:ahLst/>
                <a:cxnLst/>
                <a:rect l="l" t="t" r="r" b="b"/>
                <a:pathLst>
                  <a:path w="365759" h="956945">
                    <a:moveTo>
                      <a:pt x="304798" y="0"/>
                    </a:moveTo>
                    <a:lnTo>
                      <a:pt x="328527" y="4790"/>
                    </a:lnTo>
                    <a:lnTo>
                      <a:pt x="347904" y="17855"/>
                    </a:lnTo>
                    <a:lnTo>
                      <a:pt x="360969" y="37232"/>
                    </a:lnTo>
                    <a:lnTo>
                      <a:pt x="365760" y="60961"/>
                    </a:lnTo>
                    <a:lnTo>
                      <a:pt x="365760" y="895642"/>
                    </a:lnTo>
                    <a:lnTo>
                      <a:pt x="360969" y="919371"/>
                    </a:lnTo>
                    <a:lnTo>
                      <a:pt x="347904" y="938748"/>
                    </a:lnTo>
                    <a:lnTo>
                      <a:pt x="328527" y="951813"/>
                    </a:lnTo>
                    <a:lnTo>
                      <a:pt x="304798" y="956604"/>
                    </a:lnTo>
                    <a:lnTo>
                      <a:pt x="60961" y="956604"/>
                    </a:lnTo>
                    <a:lnTo>
                      <a:pt x="37232" y="951813"/>
                    </a:lnTo>
                    <a:lnTo>
                      <a:pt x="17855" y="938748"/>
                    </a:lnTo>
                    <a:lnTo>
                      <a:pt x="4790" y="919371"/>
                    </a:lnTo>
                    <a:lnTo>
                      <a:pt x="0" y="895642"/>
                    </a:lnTo>
                    <a:lnTo>
                      <a:pt x="0" y="60961"/>
                    </a:lnTo>
                    <a:lnTo>
                      <a:pt x="4790" y="37232"/>
                    </a:lnTo>
                    <a:lnTo>
                      <a:pt x="17855" y="17855"/>
                    </a:lnTo>
                    <a:lnTo>
                      <a:pt x="37232" y="4790"/>
                    </a:lnTo>
                    <a:lnTo>
                      <a:pt x="60961" y="0"/>
                    </a:lnTo>
                    <a:lnTo>
                      <a:pt x="304798" y="0"/>
                    </a:lnTo>
                    <a:close/>
                  </a:path>
                </a:pathLst>
              </a:custGeom>
              <a:ln w="19050">
                <a:solidFill>
                  <a:srgbClr val="610059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solidFill>
                    <a:schemeClr val="accent1"/>
                  </a:solidFill>
                </a:endParaRPr>
              </a:p>
            </p:txBody>
          </p:sp>
          <p:sp>
            <p:nvSpPr>
              <p:cNvPr id="80" name="object 80"/>
              <p:cNvSpPr/>
              <p:nvPr/>
            </p:nvSpPr>
            <p:spPr>
              <a:xfrm>
                <a:off x="7174707" y="5617999"/>
                <a:ext cx="111125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438150">
                    <a:moveTo>
                      <a:pt x="55328" y="37807"/>
                    </a:moveTo>
                    <a:lnTo>
                      <a:pt x="45803" y="54135"/>
                    </a:lnTo>
                    <a:lnTo>
                      <a:pt x="45802" y="438107"/>
                    </a:lnTo>
                    <a:lnTo>
                      <a:pt x="64852" y="438107"/>
                    </a:lnTo>
                    <a:lnTo>
                      <a:pt x="64852" y="54135"/>
                    </a:lnTo>
                    <a:lnTo>
                      <a:pt x="55328" y="37807"/>
                    </a:lnTo>
                    <a:close/>
                  </a:path>
                  <a:path w="111125" h="438150">
                    <a:moveTo>
                      <a:pt x="66355" y="18903"/>
                    </a:moveTo>
                    <a:lnTo>
                      <a:pt x="45803" y="18903"/>
                    </a:lnTo>
                    <a:lnTo>
                      <a:pt x="64853" y="18903"/>
                    </a:lnTo>
                    <a:lnTo>
                      <a:pt x="64853" y="54137"/>
                    </a:lnTo>
                    <a:lnTo>
                      <a:pt x="94200" y="104447"/>
                    </a:lnTo>
                    <a:lnTo>
                      <a:pt x="100034" y="105981"/>
                    </a:lnTo>
                    <a:lnTo>
                      <a:pt x="109122" y="100680"/>
                    </a:lnTo>
                    <a:lnTo>
                      <a:pt x="110656" y="94848"/>
                    </a:lnTo>
                    <a:lnTo>
                      <a:pt x="66355" y="18903"/>
                    </a:lnTo>
                    <a:close/>
                  </a:path>
                  <a:path w="111125" h="438150">
                    <a:moveTo>
                      <a:pt x="55328" y="0"/>
                    </a:moveTo>
                    <a:lnTo>
                      <a:pt x="0" y="94848"/>
                    </a:lnTo>
                    <a:lnTo>
                      <a:pt x="1535" y="100680"/>
                    </a:lnTo>
                    <a:lnTo>
                      <a:pt x="10623" y="105981"/>
                    </a:lnTo>
                    <a:lnTo>
                      <a:pt x="16455" y="104446"/>
                    </a:lnTo>
                    <a:lnTo>
                      <a:pt x="45802" y="54137"/>
                    </a:lnTo>
                    <a:lnTo>
                      <a:pt x="45803" y="18903"/>
                    </a:lnTo>
                    <a:lnTo>
                      <a:pt x="66355" y="18903"/>
                    </a:lnTo>
                    <a:lnTo>
                      <a:pt x="55328" y="0"/>
                    </a:lnTo>
                    <a:close/>
                  </a:path>
                  <a:path w="111125" h="438150">
                    <a:moveTo>
                      <a:pt x="64853" y="23703"/>
                    </a:moveTo>
                    <a:lnTo>
                      <a:pt x="63555" y="23703"/>
                    </a:lnTo>
                    <a:lnTo>
                      <a:pt x="55328" y="37807"/>
                    </a:lnTo>
                    <a:lnTo>
                      <a:pt x="64853" y="54137"/>
                    </a:lnTo>
                    <a:lnTo>
                      <a:pt x="64853" y="23703"/>
                    </a:lnTo>
                    <a:close/>
                  </a:path>
                  <a:path w="111125" h="438150">
                    <a:moveTo>
                      <a:pt x="45803" y="18903"/>
                    </a:moveTo>
                    <a:lnTo>
                      <a:pt x="45803" y="54135"/>
                    </a:lnTo>
                    <a:lnTo>
                      <a:pt x="55328" y="37807"/>
                    </a:lnTo>
                    <a:lnTo>
                      <a:pt x="47100" y="23703"/>
                    </a:lnTo>
                    <a:lnTo>
                      <a:pt x="64853" y="23703"/>
                    </a:lnTo>
                    <a:lnTo>
                      <a:pt x="64853" y="18903"/>
                    </a:lnTo>
                    <a:lnTo>
                      <a:pt x="45803" y="18903"/>
                    </a:lnTo>
                    <a:close/>
                  </a:path>
                  <a:path w="111125" h="438150">
                    <a:moveTo>
                      <a:pt x="63555" y="23703"/>
                    </a:moveTo>
                    <a:lnTo>
                      <a:pt x="47100" y="23703"/>
                    </a:lnTo>
                    <a:lnTo>
                      <a:pt x="55328" y="37807"/>
                    </a:lnTo>
                    <a:lnTo>
                      <a:pt x="63555" y="23703"/>
                    </a:lnTo>
                    <a:close/>
                  </a:path>
                </a:pathLst>
              </a:custGeom>
              <a:solidFill>
                <a:srgbClr val="7F7F7F"/>
              </a:solidFill>
            </p:spPr>
            <p:txBody>
              <a:bodyPr wrap="square" lIns="0" tIns="0" rIns="0" bIns="0" rtlCol="0"/>
              <a:lstStyle/>
              <a:p>
                <a:endParaRPr>
                  <a:solidFill>
                    <a:schemeClr val="accent1"/>
                  </a:solidFill>
                </a:endParaRPr>
              </a:p>
            </p:txBody>
          </p:sp>
          <p:pic>
            <p:nvPicPr>
              <p:cNvPr id="81" name="object 81"/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7254414" y="5731943"/>
                <a:ext cx="236000" cy="278166"/>
              </a:xfrm>
              <a:prstGeom prst="rect">
                <a:avLst/>
              </a:prstGeom>
            </p:spPr>
          </p:pic>
          <p:pic>
            <p:nvPicPr>
              <p:cNvPr id="82" name="object 82"/>
              <p:cNvPicPr/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7287924" y="4381804"/>
                <a:ext cx="327651" cy="198835"/>
              </a:xfrm>
              <a:prstGeom prst="rect">
                <a:avLst/>
              </a:prstGeom>
            </p:spPr>
          </p:pic>
          <p:sp>
            <p:nvSpPr>
              <p:cNvPr id="83" name="object 83"/>
              <p:cNvSpPr/>
              <p:nvPr/>
            </p:nvSpPr>
            <p:spPr>
              <a:xfrm>
                <a:off x="7182168" y="4234450"/>
                <a:ext cx="111125" cy="42735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427354">
                    <a:moveTo>
                      <a:pt x="55328" y="37807"/>
                    </a:moveTo>
                    <a:lnTo>
                      <a:pt x="45803" y="54135"/>
                    </a:lnTo>
                    <a:lnTo>
                      <a:pt x="45802" y="426987"/>
                    </a:lnTo>
                    <a:lnTo>
                      <a:pt x="64852" y="426987"/>
                    </a:lnTo>
                    <a:lnTo>
                      <a:pt x="64852" y="54135"/>
                    </a:lnTo>
                    <a:lnTo>
                      <a:pt x="55328" y="37807"/>
                    </a:lnTo>
                    <a:close/>
                  </a:path>
                  <a:path w="111125" h="427354">
                    <a:moveTo>
                      <a:pt x="55327" y="0"/>
                    </a:moveTo>
                    <a:lnTo>
                      <a:pt x="0" y="94848"/>
                    </a:lnTo>
                    <a:lnTo>
                      <a:pt x="1534" y="100680"/>
                    </a:lnTo>
                    <a:lnTo>
                      <a:pt x="10622" y="105981"/>
                    </a:lnTo>
                    <a:lnTo>
                      <a:pt x="16455" y="104447"/>
                    </a:lnTo>
                    <a:lnTo>
                      <a:pt x="45802" y="54137"/>
                    </a:lnTo>
                    <a:lnTo>
                      <a:pt x="45802" y="18903"/>
                    </a:lnTo>
                    <a:lnTo>
                      <a:pt x="66354" y="18903"/>
                    </a:lnTo>
                    <a:lnTo>
                      <a:pt x="55327" y="0"/>
                    </a:lnTo>
                    <a:close/>
                  </a:path>
                  <a:path w="111125" h="427354">
                    <a:moveTo>
                      <a:pt x="66354" y="18903"/>
                    </a:moveTo>
                    <a:lnTo>
                      <a:pt x="64852" y="18903"/>
                    </a:lnTo>
                    <a:lnTo>
                      <a:pt x="64853" y="54137"/>
                    </a:lnTo>
                    <a:lnTo>
                      <a:pt x="94200" y="104447"/>
                    </a:lnTo>
                    <a:lnTo>
                      <a:pt x="100032" y="105981"/>
                    </a:lnTo>
                    <a:lnTo>
                      <a:pt x="109120" y="100680"/>
                    </a:lnTo>
                    <a:lnTo>
                      <a:pt x="110656" y="94848"/>
                    </a:lnTo>
                    <a:lnTo>
                      <a:pt x="66354" y="18903"/>
                    </a:lnTo>
                    <a:close/>
                  </a:path>
                  <a:path w="111125" h="427354">
                    <a:moveTo>
                      <a:pt x="64852" y="18903"/>
                    </a:moveTo>
                    <a:lnTo>
                      <a:pt x="45802" y="18903"/>
                    </a:lnTo>
                    <a:lnTo>
                      <a:pt x="45802" y="54137"/>
                    </a:lnTo>
                    <a:lnTo>
                      <a:pt x="55328" y="37807"/>
                    </a:lnTo>
                    <a:lnTo>
                      <a:pt x="47100" y="23703"/>
                    </a:lnTo>
                    <a:lnTo>
                      <a:pt x="64852" y="23703"/>
                    </a:lnTo>
                    <a:lnTo>
                      <a:pt x="64852" y="18903"/>
                    </a:lnTo>
                    <a:close/>
                  </a:path>
                  <a:path w="111125" h="427354">
                    <a:moveTo>
                      <a:pt x="64852" y="23703"/>
                    </a:moveTo>
                    <a:lnTo>
                      <a:pt x="63555" y="23703"/>
                    </a:lnTo>
                    <a:lnTo>
                      <a:pt x="55328" y="37807"/>
                    </a:lnTo>
                    <a:lnTo>
                      <a:pt x="64852" y="54135"/>
                    </a:lnTo>
                    <a:lnTo>
                      <a:pt x="64852" y="23703"/>
                    </a:lnTo>
                    <a:close/>
                  </a:path>
                  <a:path w="111125" h="427354">
                    <a:moveTo>
                      <a:pt x="63555" y="23703"/>
                    </a:moveTo>
                    <a:lnTo>
                      <a:pt x="47100" y="23703"/>
                    </a:lnTo>
                    <a:lnTo>
                      <a:pt x="55328" y="37807"/>
                    </a:lnTo>
                    <a:lnTo>
                      <a:pt x="63555" y="23703"/>
                    </a:lnTo>
                    <a:close/>
                  </a:path>
                </a:pathLst>
              </a:custGeom>
              <a:solidFill>
                <a:srgbClr val="7F7F7F"/>
              </a:solidFill>
            </p:spPr>
            <p:txBody>
              <a:bodyPr wrap="square" lIns="0" tIns="0" rIns="0" bIns="0" rtlCol="0"/>
              <a:lstStyle/>
              <a:p>
                <a:endParaRPr>
                  <a:solidFill>
                    <a:schemeClr val="accent1"/>
                  </a:solidFill>
                </a:endParaRPr>
              </a:p>
            </p:txBody>
          </p:sp>
          <p:sp>
            <p:nvSpPr>
              <p:cNvPr id="84" name="object 84"/>
              <p:cNvSpPr/>
              <p:nvPr/>
            </p:nvSpPr>
            <p:spPr>
              <a:xfrm>
                <a:off x="7054616" y="3161539"/>
                <a:ext cx="365760" cy="1073150"/>
              </a:xfrm>
              <a:custGeom>
                <a:avLst/>
                <a:gdLst/>
                <a:ahLst/>
                <a:cxnLst/>
                <a:rect l="l" t="t" r="r" b="b"/>
                <a:pathLst>
                  <a:path w="365759" h="1073150">
                    <a:moveTo>
                      <a:pt x="304798" y="0"/>
                    </a:moveTo>
                    <a:lnTo>
                      <a:pt x="328527" y="4790"/>
                    </a:lnTo>
                    <a:lnTo>
                      <a:pt x="347904" y="17855"/>
                    </a:lnTo>
                    <a:lnTo>
                      <a:pt x="360969" y="37232"/>
                    </a:lnTo>
                    <a:lnTo>
                      <a:pt x="365760" y="60961"/>
                    </a:lnTo>
                    <a:lnTo>
                      <a:pt x="365760" y="1011994"/>
                    </a:lnTo>
                    <a:lnTo>
                      <a:pt x="360969" y="1035723"/>
                    </a:lnTo>
                    <a:lnTo>
                      <a:pt x="347904" y="1055100"/>
                    </a:lnTo>
                    <a:lnTo>
                      <a:pt x="328527" y="1068165"/>
                    </a:lnTo>
                    <a:lnTo>
                      <a:pt x="304798" y="1072956"/>
                    </a:lnTo>
                    <a:lnTo>
                      <a:pt x="60961" y="1072956"/>
                    </a:lnTo>
                    <a:lnTo>
                      <a:pt x="37232" y="1068165"/>
                    </a:lnTo>
                    <a:lnTo>
                      <a:pt x="17855" y="1055100"/>
                    </a:lnTo>
                    <a:lnTo>
                      <a:pt x="4790" y="1035723"/>
                    </a:lnTo>
                    <a:lnTo>
                      <a:pt x="0" y="1011994"/>
                    </a:lnTo>
                    <a:lnTo>
                      <a:pt x="0" y="60961"/>
                    </a:lnTo>
                    <a:lnTo>
                      <a:pt x="4790" y="37232"/>
                    </a:lnTo>
                    <a:lnTo>
                      <a:pt x="17855" y="17855"/>
                    </a:lnTo>
                    <a:lnTo>
                      <a:pt x="37232" y="4790"/>
                    </a:lnTo>
                    <a:lnTo>
                      <a:pt x="60961" y="0"/>
                    </a:lnTo>
                    <a:lnTo>
                      <a:pt x="304798" y="0"/>
                    </a:lnTo>
                    <a:close/>
                  </a:path>
                </a:pathLst>
              </a:custGeom>
              <a:ln w="19050">
                <a:solidFill>
                  <a:srgbClr val="8C1515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solidFill>
                    <a:schemeClr val="accent1"/>
                  </a:solidFill>
                </a:endParaRPr>
              </a:p>
            </p:txBody>
          </p:sp>
          <p:sp>
            <p:nvSpPr>
              <p:cNvPr id="85" name="object 85"/>
              <p:cNvSpPr/>
              <p:nvPr/>
            </p:nvSpPr>
            <p:spPr>
              <a:xfrm>
                <a:off x="7182168" y="2582194"/>
                <a:ext cx="111125" cy="57975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579755">
                    <a:moveTo>
                      <a:pt x="55328" y="37807"/>
                    </a:moveTo>
                    <a:lnTo>
                      <a:pt x="45803" y="54135"/>
                    </a:lnTo>
                    <a:lnTo>
                      <a:pt x="45802" y="579344"/>
                    </a:lnTo>
                    <a:lnTo>
                      <a:pt x="64852" y="579344"/>
                    </a:lnTo>
                    <a:lnTo>
                      <a:pt x="64852" y="54135"/>
                    </a:lnTo>
                    <a:lnTo>
                      <a:pt x="55328" y="37807"/>
                    </a:lnTo>
                    <a:close/>
                  </a:path>
                  <a:path w="111125" h="579755">
                    <a:moveTo>
                      <a:pt x="66354" y="18903"/>
                    </a:moveTo>
                    <a:lnTo>
                      <a:pt x="64852" y="18903"/>
                    </a:lnTo>
                    <a:lnTo>
                      <a:pt x="64853" y="54137"/>
                    </a:lnTo>
                    <a:lnTo>
                      <a:pt x="94200" y="104447"/>
                    </a:lnTo>
                    <a:lnTo>
                      <a:pt x="100034" y="105981"/>
                    </a:lnTo>
                    <a:lnTo>
                      <a:pt x="109120" y="100680"/>
                    </a:lnTo>
                    <a:lnTo>
                      <a:pt x="110656" y="94848"/>
                    </a:lnTo>
                    <a:lnTo>
                      <a:pt x="66354" y="18903"/>
                    </a:lnTo>
                    <a:close/>
                  </a:path>
                  <a:path w="111125" h="579755">
                    <a:moveTo>
                      <a:pt x="55327" y="0"/>
                    </a:moveTo>
                    <a:lnTo>
                      <a:pt x="0" y="94848"/>
                    </a:lnTo>
                    <a:lnTo>
                      <a:pt x="1534" y="100680"/>
                    </a:lnTo>
                    <a:lnTo>
                      <a:pt x="10622" y="105981"/>
                    </a:lnTo>
                    <a:lnTo>
                      <a:pt x="16455" y="104447"/>
                    </a:lnTo>
                    <a:lnTo>
                      <a:pt x="45802" y="54137"/>
                    </a:lnTo>
                    <a:lnTo>
                      <a:pt x="45802" y="18903"/>
                    </a:lnTo>
                    <a:lnTo>
                      <a:pt x="66354" y="18903"/>
                    </a:lnTo>
                    <a:lnTo>
                      <a:pt x="55327" y="0"/>
                    </a:lnTo>
                    <a:close/>
                  </a:path>
                  <a:path w="111125" h="579755">
                    <a:moveTo>
                      <a:pt x="64852" y="18903"/>
                    </a:moveTo>
                    <a:lnTo>
                      <a:pt x="45802" y="18903"/>
                    </a:lnTo>
                    <a:lnTo>
                      <a:pt x="45802" y="54137"/>
                    </a:lnTo>
                    <a:lnTo>
                      <a:pt x="55328" y="37807"/>
                    </a:lnTo>
                    <a:lnTo>
                      <a:pt x="47100" y="23703"/>
                    </a:lnTo>
                    <a:lnTo>
                      <a:pt x="64852" y="23703"/>
                    </a:lnTo>
                    <a:lnTo>
                      <a:pt x="64852" y="18903"/>
                    </a:lnTo>
                    <a:close/>
                  </a:path>
                  <a:path w="111125" h="579755">
                    <a:moveTo>
                      <a:pt x="64852" y="23703"/>
                    </a:moveTo>
                    <a:lnTo>
                      <a:pt x="63555" y="23703"/>
                    </a:lnTo>
                    <a:lnTo>
                      <a:pt x="55328" y="37807"/>
                    </a:lnTo>
                    <a:lnTo>
                      <a:pt x="64852" y="54135"/>
                    </a:lnTo>
                    <a:lnTo>
                      <a:pt x="64852" y="23703"/>
                    </a:lnTo>
                    <a:close/>
                  </a:path>
                  <a:path w="111125" h="579755">
                    <a:moveTo>
                      <a:pt x="63555" y="23703"/>
                    </a:moveTo>
                    <a:lnTo>
                      <a:pt x="47100" y="23703"/>
                    </a:lnTo>
                    <a:lnTo>
                      <a:pt x="55328" y="37807"/>
                    </a:lnTo>
                    <a:lnTo>
                      <a:pt x="63555" y="23703"/>
                    </a:lnTo>
                    <a:close/>
                  </a:path>
                </a:pathLst>
              </a:custGeom>
              <a:solidFill>
                <a:srgbClr val="7F7F7F"/>
              </a:solidFill>
            </p:spPr>
            <p:txBody>
              <a:bodyPr wrap="square" lIns="0" tIns="0" rIns="0" bIns="0" rtlCol="0"/>
              <a:lstStyle/>
              <a:p>
                <a:endParaRPr>
                  <a:solidFill>
                    <a:schemeClr val="accent1"/>
                  </a:solidFill>
                </a:endParaRPr>
              </a:p>
            </p:txBody>
          </p:sp>
          <p:pic>
            <p:nvPicPr>
              <p:cNvPr id="86" name="object 86"/>
              <p:cNvPicPr/>
              <p:nvPr/>
            </p:nvPicPr>
            <p:blipFill>
              <a:blip r:embed="rId25" cstate="print"/>
              <a:stretch>
                <a:fillRect/>
              </a:stretch>
            </p:blipFill>
            <p:spPr>
              <a:xfrm>
                <a:off x="7342698" y="2705471"/>
                <a:ext cx="197915" cy="172897"/>
              </a:xfrm>
              <a:prstGeom prst="rect">
                <a:avLst/>
              </a:prstGeom>
            </p:spPr>
          </p:pic>
          <p:sp>
            <p:nvSpPr>
              <p:cNvPr id="87" name="object 87"/>
              <p:cNvSpPr/>
              <p:nvPr/>
            </p:nvSpPr>
            <p:spPr>
              <a:xfrm>
                <a:off x="6105686" y="2582194"/>
                <a:ext cx="111125" cy="58864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588644">
                    <a:moveTo>
                      <a:pt x="55328" y="37807"/>
                    </a:moveTo>
                    <a:lnTo>
                      <a:pt x="45803" y="54135"/>
                    </a:lnTo>
                    <a:lnTo>
                      <a:pt x="45802" y="588590"/>
                    </a:lnTo>
                    <a:lnTo>
                      <a:pt x="64852" y="588590"/>
                    </a:lnTo>
                    <a:lnTo>
                      <a:pt x="64852" y="54135"/>
                    </a:lnTo>
                    <a:lnTo>
                      <a:pt x="55328" y="37807"/>
                    </a:lnTo>
                    <a:close/>
                  </a:path>
                  <a:path w="111125" h="588644">
                    <a:moveTo>
                      <a:pt x="66355" y="18903"/>
                    </a:moveTo>
                    <a:lnTo>
                      <a:pt x="64853" y="18903"/>
                    </a:lnTo>
                    <a:lnTo>
                      <a:pt x="64853" y="54137"/>
                    </a:lnTo>
                    <a:lnTo>
                      <a:pt x="94200" y="104447"/>
                    </a:lnTo>
                    <a:lnTo>
                      <a:pt x="100036" y="105981"/>
                    </a:lnTo>
                    <a:lnTo>
                      <a:pt x="109122" y="100680"/>
                    </a:lnTo>
                    <a:lnTo>
                      <a:pt x="110656" y="94848"/>
                    </a:lnTo>
                    <a:lnTo>
                      <a:pt x="66355" y="18903"/>
                    </a:lnTo>
                    <a:close/>
                  </a:path>
                  <a:path w="111125" h="588644">
                    <a:moveTo>
                      <a:pt x="55328" y="0"/>
                    </a:moveTo>
                    <a:lnTo>
                      <a:pt x="0" y="94848"/>
                    </a:lnTo>
                    <a:lnTo>
                      <a:pt x="1535" y="100680"/>
                    </a:lnTo>
                    <a:lnTo>
                      <a:pt x="10623" y="105981"/>
                    </a:lnTo>
                    <a:lnTo>
                      <a:pt x="16455" y="104447"/>
                    </a:lnTo>
                    <a:lnTo>
                      <a:pt x="45802" y="54137"/>
                    </a:lnTo>
                    <a:lnTo>
                      <a:pt x="45803" y="18903"/>
                    </a:lnTo>
                    <a:lnTo>
                      <a:pt x="66355" y="18903"/>
                    </a:lnTo>
                    <a:lnTo>
                      <a:pt x="55328" y="0"/>
                    </a:lnTo>
                    <a:close/>
                  </a:path>
                  <a:path w="111125" h="588644">
                    <a:moveTo>
                      <a:pt x="64853" y="23703"/>
                    </a:moveTo>
                    <a:lnTo>
                      <a:pt x="63555" y="23703"/>
                    </a:lnTo>
                    <a:lnTo>
                      <a:pt x="55328" y="37807"/>
                    </a:lnTo>
                    <a:lnTo>
                      <a:pt x="64853" y="54137"/>
                    </a:lnTo>
                    <a:lnTo>
                      <a:pt x="64853" y="23703"/>
                    </a:lnTo>
                    <a:close/>
                  </a:path>
                  <a:path w="111125" h="588644">
                    <a:moveTo>
                      <a:pt x="64853" y="18903"/>
                    </a:moveTo>
                    <a:lnTo>
                      <a:pt x="45803" y="18903"/>
                    </a:lnTo>
                    <a:lnTo>
                      <a:pt x="45803" y="54135"/>
                    </a:lnTo>
                    <a:lnTo>
                      <a:pt x="55328" y="37807"/>
                    </a:lnTo>
                    <a:lnTo>
                      <a:pt x="47100" y="23703"/>
                    </a:lnTo>
                    <a:lnTo>
                      <a:pt x="64853" y="23703"/>
                    </a:lnTo>
                    <a:lnTo>
                      <a:pt x="64853" y="18903"/>
                    </a:lnTo>
                    <a:close/>
                  </a:path>
                  <a:path w="111125" h="588644">
                    <a:moveTo>
                      <a:pt x="63555" y="23703"/>
                    </a:moveTo>
                    <a:lnTo>
                      <a:pt x="47100" y="23703"/>
                    </a:lnTo>
                    <a:lnTo>
                      <a:pt x="55328" y="37807"/>
                    </a:lnTo>
                    <a:lnTo>
                      <a:pt x="63555" y="23703"/>
                    </a:lnTo>
                    <a:close/>
                  </a:path>
                </a:pathLst>
              </a:custGeom>
              <a:solidFill>
                <a:srgbClr val="7F7F7F"/>
              </a:solidFill>
            </p:spPr>
            <p:txBody>
              <a:bodyPr wrap="square" lIns="0" tIns="0" rIns="0" bIns="0" rtlCol="0"/>
              <a:lstStyle/>
              <a:p>
                <a:endParaRPr>
                  <a:solidFill>
                    <a:schemeClr val="accent1"/>
                  </a:solidFill>
                </a:endParaRPr>
              </a:p>
            </p:txBody>
          </p:sp>
          <p:pic>
            <p:nvPicPr>
              <p:cNvPr id="88" name="object 88"/>
              <p:cNvPicPr/>
              <p:nvPr/>
            </p:nvPicPr>
            <p:blipFill>
              <a:blip r:embed="rId25" cstate="print"/>
              <a:stretch>
                <a:fillRect/>
              </a:stretch>
            </p:blipFill>
            <p:spPr>
              <a:xfrm>
                <a:off x="6275770" y="2713785"/>
                <a:ext cx="197915" cy="172897"/>
              </a:xfrm>
              <a:prstGeom prst="rect">
                <a:avLst/>
              </a:prstGeom>
            </p:spPr>
          </p:pic>
          <p:sp>
            <p:nvSpPr>
              <p:cNvPr id="89" name="object 89"/>
              <p:cNvSpPr/>
              <p:nvPr/>
            </p:nvSpPr>
            <p:spPr>
              <a:xfrm>
                <a:off x="5053491" y="2582194"/>
                <a:ext cx="111125" cy="57975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579755">
                    <a:moveTo>
                      <a:pt x="55920" y="37805"/>
                    </a:moveTo>
                    <a:lnTo>
                      <a:pt x="46225" y="54034"/>
                    </a:lnTo>
                    <a:lnTo>
                      <a:pt x="40739" y="579244"/>
                    </a:lnTo>
                    <a:lnTo>
                      <a:pt x="59787" y="579443"/>
                    </a:lnTo>
                    <a:lnTo>
                      <a:pt x="65275" y="54234"/>
                    </a:lnTo>
                    <a:lnTo>
                      <a:pt x="55920" y="37805"/>
                    </a:lnTo>
                    <a:close/>
                  </a:path>
                  <a:path w="111125" h="579755">
                    <a:moveTo>
                      <a:pt x="67022" y="18803"/>
                    </a:moveTo>
                    <a:lnTo>
                      <a:pt x="46593" y="18803"/>
                    </a:lnTo>
                    <a:lnTo>
                      <a:pt x="65643" y="19003"/>
                    </a:lnTo>
                    <a:lnTo>
                      <a:pt x="65275" y="54234"/>
                    </a:lnTo>
                    <a:lnTo>
                      <a:pt x="94095" y="104847"/>
                    </a:lnTo>
                    <a:lnTo>
                      <a:pt x="99912" y="106443"/>
                    </a:lnTo>
                    <a:lnTo>
                      <a:pt x="109054" y="101238"/>
                    </a:lnTo>
                    <a:lnTo>
                      <a:pt x="110650" y="95421"/>
                    </a:lnTo>
                    <a:lnTo>
                      <a:pt x="67022" y="18803"/>
                    </a:lnTo>
                    <a:close/>
                  </a:path>
                  <a:path w="111125" h="579755">
                    <a:moveTo>
                      <a:pt x="56315" y="0"/>
                    </a:moveTo>
                    <a:lnTo>
                      <a:pt x="0" y="94265"/>
                    </a:lnTo>
                    <a:lnTo>
                      <a:pt x="1474" y="100114"/>
                    </a:lnTo>
                    <a:lnTo>
                      <a:pt x="10505" y="105509"/>
                    </a:lnTo>
                    <a:lnTo>
                      <a:pt x="16353" y="104035"/>
                    </a:lnTo>
                    <a:lnTo>
                      <a:pt x="46225" y="54034"/>
                    </a:lnTo>
                    <a:lnTo>
                      <a:pt x="46593" y="18803"/>
                    </a:lnTo>
                    <a:lnTo>
                      <a:pt x="67022" y="18803"/>
                    </a:lnTo>
                    <a:lnTo>
                      <a:pt x="56315" y="0"/>
                    </a:lnTo>
                    <a:close/>
                  </a:path>
                  <a:path w="111125" h="579755">
                    <a:moveTo>
                      <a:pt x="65595" y="23615"/>
                    </a:moveTo>
                    <a:lnTo>
                      <a:pt x="47840" y="23615"/>
                    </a:lnTo>
                    <a:lnTo>
                      <a:pt x="64295" y="23788"/>
                    </a:lnTo>
                    <a:lnTo>
                      <a:pt x="55920" y="37805"/>
                    </a:lnTo>
                    <a:lnTo>
                      <a:pt x="65275" y="54234"/>
                    </a:lnTo>
                    <a:lnTo>
                      <a:pt x="65595" y="23615"/>
                    </a:lnTo>
                    <a:close/>
                  </a:path>
                  <a:path w="111125" h="579755">
                    <a:moveTo>
                      <a:pt x="46593" y="18803"/>
                    </a:moveTo>
                    <a:lnTo>
                      <a:pt x="46225" y="54034"/>
                    </a:lnTo>
                    <a:lnTo>
                      <a:pt x="55920" y="37805"/>
                    </a:lnTo>
                    <a:lnTo>
                      <a:pt x="47840" y="23615"/>
                    </a:lnTo>
                    <a:lnTo>
                      <a:pt x="65595" y="23615"/>
                    </a:lnTo>
                    <a:lnTo>
                      <a:pt x="65643" y="19003"/>
                    </a:lnTo>
                    <a:lnTo>
                      <a:pt x="46593" y="18803"/>
                    </a:lnTo>
                    <a:close/>
                  </a:path>
                  <a:path w="111125" h="579755">
                    <a:moveTo>
                      <a:pt x="47840" y="23615"/>
                    </a:moveTo>
                    <a:lnTo>
                      <a:pt x="55920" y="37805"/>
                    </a:lnTo>
                    <a:lnTo>
                      <a:pt x="64295" y="23788"/>
                    </a:lnTo>
                    <a:lnTo>
                      <a:pt x="47840" y="23615"/>
                    </a:lnTo>
                    <a:close/>
                  </a:path>
                </a:pathLst>
              </a:custGeom>
              <a:solidFill>
                <a:srgbClr val="7F7F7F"/>
              </a:solidFill>
            </p:spPr>
            <p:txBody>
              <a:bodyPr wrap="square" lIns="0" tIns="0" rIns="0" bIns="0" rtlCol="0"/>
              <a:lstStyle/>
              <a:p>
                <a:endParaRPr>
                  <a:solidFill>
                    <a:schemeClr val="accent1"/>
                  </a:solidFill>
                </a:endParaRPr>
              </a:p>
            </p:txBody>
          </p:sp>
          <p:pic>
            <p:nvPicPr>
              <p:cNvPr id="90" name="object 90"/>
              <p:cNvPicPr/>
              <p:nvPr/>
            </p:nvPicPr>
            <p:blipFill>
              <a:blip r:embed="rId25" cstate="print"/>
              <a:stretch>
                <a:fillRect/>
              </a:stretch>
            </p:blipFill>
            <p:spPr>
              <a:xfrm>
                <a:off x="5215010" y="2713785"/>
                <a:ext cx="197914" cy="172897"/>
              </a:xfrm>
              <a:prstGeom prst="rect">
                <a:avLst/>
              </a:prstGeom>
            </p:spPr>
          </p:pic>
          <p:sp>
            <p:nvSpPr>
              <p:cNvPr id="91" name="object 91"/>
              <p:cNvSpPr/>
              <p:nvPr/>
            </p:nvSpPr>
            <p:spPr>
              <a:xfrm>
                <a:off x="3986353" y="2582193"/>
                <a:ext cx="111125" cy="548640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548639">
                    <a:moveTo>
                      <a:pt x="56046" y="37804"/>
                    </a:moveTo>
                    <a:lnTo>
                      <a:pt x="46316" y="54009"/>
                    </a:lnTo>
                    <a:lnTo>
                      <a:pt x="40050" y="548297"/>
                    </a:lnTo>
                    <a:lnTo>
                      <a:pt x="59099" y="548538"/>
                    </a:lnTo>
                    <a:lnTo>
                      <a:pt x="65363" y="54251"/>
                    </a:lnTo>
                    <a:lnTo>
                      <a:pt x="56046" y="37804"/>
                    </a:lnTo>
                    <a:close/>
                  </a:path>
                  <a:path w="111125" h="548639">
                    <a:moveTo>
                      <a:pt x="67165" y="18782"/>
                    </a:moveTo>
                    <a:lnTo>
                      <a:pt x="46762" y="18782"/>
                    </a:lnTo>
                    <a:lnTo>
                      <a:pt x="65810" y="19023"/>
                    </a:lnTo>
                    <a:lnTo>
                      <a:pt x="65363" y="54251"/>
                    </a:lnTo>
                    <a:lnTo>
                      <a:pt x="94072" y="104931"/>
                    </a:lnTo>
                    <a:lnTo>
                      <a:pt x="99884" y="106539"/>
                    </a:lnTo>
                    <a:lnTo>
                      <a:pt x="109038" y="101353"/>
                    </a:lnTo>
                    <a:lnTo>
                      <a:pt x="110647" y="95542"/>
                    </a:lnTo>
                    <a:lnTo>
                      <a:pt x="67165" y="18782"/>
                    </a:lnTo>
                    <a:close/>
                  </a:path>
                  <a:path w="111125" h="548639">
                    <a:moveTo>
                      <a:pt x="56526" y="0"/>
                    </a:moveTo>
                    <a:lnTo>
                      <a:pt x="0" y="94138"/>
                    </a:lnTo>
                    <a:lnTo>
                      <a:pt x="1460" y="99990"/>
                    </a:lnTo>
                    <a:lnTo>
                      <a:pt x="10481" y="105406"/>
                    </a:lnTo>
                    <a:lnTo>
                      <a:pt x="16332" y="103945"/>
                    </a:lnTo>
                    <a:lnTo>
                      <a:pt x="46316" y="54009"/>
                    </a:lnTo>
                    <a:lnTo>
                      <a:pt x="46762" y="18782"/>
                    </a:lnTo>
                    <a:lnTo>
                      <a:pt x="67165" y="18782"/>
                    </a:lnTo>
                    <a:lnTo>
                      <a:pt x="56526" y="0"/>
                    </a:lnTo>
                    <a:close/>
                  </a:path>
                  <a:path w="111125" h="548639">
                    <a:moveTo>
                      <a:pt x="65752" y="23596"/>
                    </a:moveTo>
                    <a:lnTo>
                      <a:pt x="47998" y="23596"/>
                    </a:lnTo>
                    <a:lnTo>
                      <a:pt x="64452" y="23804"/>
                    </a:lnTo>
                    <a:lnTo>
                      <a:pt x="56046" y="37804"/>
                    </a:lnTo>
                    <a:lnTo>
                      <a:pt x="65363" y="54251"/>
                    </a:lnTo>
                    <a:lnTo>
                      <a:pt x="65752" y="23596"/>
                    </a:lnTo>
                    <a:close/>
                  </a:path>
                  <a:path w="111125" h="548639">
                    <a:moveTo>
                      <a:pt x="46762" y="18782"/>
                    </a:moveTo>
                    <a:lnTo>
                      <a:pt x="46316" y="54009"/>
                    </a:lnTo>
                    <a:lnTo>
                      <a:pt x="56046" y="37804"/>
                    </a:lnTo>
                    <a:lnTo>
                      <a:pt x="47998" y="23596"/>
                    </a:lnTo>
                    <a:lnTo>
                      <a:pt x="65752" y="23596"/>
                    </a:lnTo>
                    <a:lnTo>
                      <a:pt x="65810" y="19023"/>
                    </a:lnTo>
                    <a:lnTo>
                      <a:pt x="46762" y="18782"/>
                    </a:lnTo>
                    <a:close/>
                  </a:path>
                  <a:path w="111125" h="548639">
                    <a:moveTo>
                      <a:pt x="47998" y="23596"/>
                    </a:moveTo>
                    <a:lnTo>
                      <a:pt x="56046" y="37804"/>
                    </a:lnTo>
                    <a:lnTo>
                      <a:pt x="64452" y="23804"/>
                    </a:lnTo>
                    <a:lnTo>
                      <a:pt x="47998" y="23596"/>
                    </a:lnTo>
                    <a:close/>
                  </a:path>
                </a:pathLst>
              </a:custGeom>
              <a:solidFill>
                <a:srgbClr val="7F7F7F"/>
              </a:solidFill>
            </p:spPr>
            <p:txBody>
              <a:bodyPr wrap="square" lIns="0" tIns="0" rIns="0" bIns="0" rtlCol="0"/>
              <a:lstStyle/>
              <a:p>
                <a:endParaRPr>
                  <a:solidFill>
                    <a:schemeClr val="accent1"/>
                  </a:solidFill>
                </a:endParaRPr>
              </a:p>
            </p:txBody>
          </p:sp>
          <p:pic>
            <p:nvPicPr>
              <p:cNvPr id="92" name="object 92"/>
              <p:cNvPicPr/>
              <p:nvPr/>
            </p:nvPicPr>
            <p:blipFill>
              <a:blip r:embed="rId25" cstate="print"/>
              <a:stretch>
                <a:fillRect/>
              </a:stretch>
            </p:blipFill>
            <p:spPr>
              <a:xfrm>
                <a:off x="4148082" y="2703416"/>
                <a:ext cx="197915" cy="172896"/>
              </a:xfrm>
              <a:prstGeom prst="rect">
                <a:avLst/>
              </a:prstGeom>
            </p:spPr>
          </p:pic>
          <p:sp>
            <p:nvSpPr>
              <p:cNvPr id="93" name="object 93"/>
              <p:cNvSpPr/>
              <p:nvPr/>
            </p:nvSpPr>
            <p:spPr>
              <a:xfrm>
                <a:off x="7425014" y="3657389"/>
                <a:ext cx="69977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699770" h="111125">
                    <a:moveTo>
                      <a:pt x="604459" y="0"/>
                    </a:moveTo>
                    <a:lnTo>
                      <a:pt x="598625" y="1535"/>
                    </a:lnTo>
                    <a:lnTo>
                      <a:pt x="593324" y="10623"/>
                    </a:lnTo>
                    <a:lnTo>
                      <a:pt x="594860" y="16455"/>
                    </a:lnTo>
                    <a:lnTo>
                      <a:pt x="645172" y="45803"/>
                    </a:lnTo>
                    <a:lnTo>
                      <a:pt x="680402" y="45803"/>
                    </a:lnTo>
                    <a:lnTo>
                      <a:pt x="680402" y="64853"/>
                    </a:lnTo>
                    <a:lnTo>
                      <a:pt x="645172" y="64853"/>
                    </a:lnTo>
                    <a:lnTo>
                      <a:pt x="594860" y="94202"/>
                    </a:lnTo>
                    <a:lnTo>
                      <a:pt x="593324" y="100034"/>
                    </a:lnTo>
                    <a:lnTo>
                      <a:pt x="598625" y="109122"/>
                    </a:lnTo>
                    <a:lnTo>
                      <a:pt x="604459" y="110656"/>
                    </a:lnTo>
                    <a:lnTo>
                      <a:pt x="682977" y="64853"/>
                    </a:lnTo>
                    <a:lnTo>
                      <a:pt x="680402" y="64853"/>
                    </a:lnTo>
                    <a:lnTo>
                      <a:pt x="682980" y="64852"/>
                    </a:lnTo>
                    <a:lnTo>
                      <a:pt x="699306" y="55328"/>
                    </a:lnTo>
                    <a:lnTo>
                      <a:pt x="604459" y="0"/>
                    </a:lnTo>
                    <a:close/>
                  </a:path>
                  <a:path w="699770" h="111125">
                    <a:moveTo>
                      <a:pt x="661500" y="55328"/>
                    </a:moveTo>
                    <a:lnTo>
                      <a:pt x="645172" y="64853"/>
                    </a:lnTo>
                    <a:lnTo>
                      <a:pt x="680402" y="64853"/>
                    </a:lnTo>
                    <a:lnTo>
                      <a:pt x="680402" y="63555"/>
                    </a:lnTo>
                    <a:lnTo>
                      <a:pt x="675604" y="63555"/>
                    </a:lnTo>
                    <a:lnTo>
                      <a:pt x="661500" y="55328"/>
                    </a:lnTo>
                    <a:close/>
                  </a:path>
                  <a:path w="699770" h="111125">
                    <a:moveTo>
                      <a:pt x="0" y="45802"/>
                    </a:moveTo>
                    <a:lnTo>
                      <a:pt x="0" y="64852"/>
                    </a:lnTo>
                    <a:lnTo>
                      <a:pt x="645174" y="64852"/>
                    </a:lnTo>
                    <a:lnTo>
                      <a:pt x="661500" y="55328"/>
                    </a:lnTo>
                    <a:lnTo>
                      <a:pt x="645172" y="45803"/>
                    </a:lnTo>
                    <a:lnTo>
                      <a:pt x="0" y="45802"/>
                    </a:lnTo>
                    <a:close/>
                  </a:path>
                  <a:path w="699770" h="111125">
                    <a:moveTo>
                      <a:pt x="675604" y="47101"/>
                    </a:moveTo>
                    <a:lnTo>
                      <a:pt x="661500" y="55328"/>
                    </a:lnTo>
                    <a:lnTo>
                      <a:pt x="675604" y="63555"/>
                    </a:lnTo>
                    <a:lnTo>
                      <a:pt x="675604" y="47101"/>
                    </a:lnTo>
                    <a:close/>
                  </a:path>
                  <a:path w="699770" h="111125">
                    <a:moveTo>
                      <a:pt x="680402" y="47101"/>
                    </a:moveTo>
                    <a:lnTo>
                      <a:pt x="675604" y="47101"/>
                    </a:lnTo>
                    <a:lnTo>
                      <a:pt x="675604" y="63555"/>
                    </a:lnTo>
                    <a:lnTo>
                      <a:pt x="680402" y="63555"/>
                    </a:lnTo>
                    <a:lnTo>
                      <a:pt x="680402" y="47101"/>
                    </a:lnTo>
                    <a:close/>
                  </a:path>
                  <a:path w="699770" h="111125">
                    <a:moveTo>
                      <a:pt x="645172" y="45803"/>
                    </a:moveTo>
                    <a:lnTo>
                      <a:pt x="661500" y="55328"/>
                    </a:lnTo>
                    <a:lnTo>
                      <a:pt x="675604" y="47101"/>
                    </a:lnTo>
                    <a:lnTo>
                      <a:pt x="680402" y="47101"/>
                    </a:lnTo>
                    <a:lnTo>
                      <a:pt x="680402" y="45803"/>
                    </a:lnTo>
                    <a:lnTo>
                      <a:pt x="645172" y="45803"/>
                    </a:lnTo>
                    <a:close/>
                  </a:path>
                </a:pathLst>
              </a:custGeom>
              <a:solidFill>
                <a:srgbClr val="7F7F7F"/>
              </a:solidFill>
            </p:spPr>
            <p:txBody>
              <a:bodyPr wrap="square" lIns="0" tIns="0" rIns="0" bIns="0" rtlCol="0"/>
              <a:lstStyle/>
              <a:p>
                <a:endParaRPr>
                  <a:solidFill>
                    <a:schemeClr val="accent1"/>
                  </a:solidFill>
                </a:endParaRPr>
              </a:p>
            </p:txBody>
          </p:sp>
          <p:pic>
            <p:nvPicPr>
              <p:cNvPr id="94" name="object 94"/>
              <p:cNvPicPr/>
              <p:nvPr/>
            </p:nvPicPr>
            <p:blipFill>
              <a:blip r:embed="rId16" cstate="print"/>
              <a:stretch>
                <a:fillRect/>
              </a:stretch>
            </p:blipFill>
            <p:spPr>
              <a:xfrm>
                <a:off x="7538361" y="3388940"/>
                <a:ext cx="427375" cy="292169"/>
              </a:xfrm>
              <a:prstGeom prst="rect">
                <a:avLst/>
              </a:prstGeom>
            </p:spPr>
          </p:pic>
        </p:grpSp>
        <p:pic>
          <p:nvPicPr>
            <p:cNvPr id="95" name="object 95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766923" y="2114216"/>
              <a:ext cx="355548" cy="245687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8029027" y="2114216"/>
              <a:ext cx="355256" cy="245687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944983" y="2114216"/>
              <a:ext cx="355374" cy="245687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5853395" y="2114216"/>
              <a:ext cx="356247" cy="245687"/>
            </a:xfrm>
            <a:prstGeom prst="rect">
              <a:avLst/>
            </a:prstGeom>
          </p:spPr>
        </p:pic>
        <p:grpSp>
          <p:nvGrpSpPr>
            <p:cNvPr id="99" name="object 99"/>
            <p:cNvGrpSpPr/>
            <p:nvPr/>
          </p:nvGrpSpPr>
          <p:grpSpPr>
            <a:xfrm>
              <a:off x="7886307" y="1262001"/>
              <a:ext cx="585700" cy="793115"/>
              <a:chOff x="6957179" y="1426150"/>
              <a:chExt cx="572770" cy="793115"/>
            </a:xfrm>
          </p:grpSpPr>
          <p:pic>
            <p:nvPicPr>
              <p:cNvPr id="100" name="object 100"/>
              <p:cNvPicPr/>
              <p:nvPr/>
            </p:nvPicPr>
            <p:blipFill>
              <a:blip r:embed="rId30" cstate="print"/>
              <a:stretch>
                <a:fillRect/>
              </a:stretch>
            </p:blipFill>
            <p:spPr>
              <a:xfrm>
                <a:off x="6957179" y="1426150"/>
                <a:ext cx="572340" cy="236337"/>
              </a:xfrm>
              <a:prstGeom prst="rect">
                <a:avLst/>
              </a:prstGeom>
            </p:spPr>
          </p:pic>
          <p:sp>
            <p:nvSpPr>
              <p:cNvPr id="101" name="object 101"/>
              <p:cNvSpPr/>
              <p:nvPr/>
            </p:nvSpPr>
            <p:spPr>
              <a:xfrm>
                <a:off x="7161752" y="1683546"/>
                <a:ext cx="111125" cy="535940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535939">
                    <a:moveTo>
                      <a:pt x="55327" y="37805"/>
                    </a:moveTo>
                    <a:lnTo>
                      <a:pt x="45802" y="54134"/>
                    </a:lnTo>
                    <a:lnTo>
                      <a:pt x="45801" y="535537"/>
                    </a:lnTo>
                    <a:lnTo>
                      <a:pt x="64851" y="535537"/>
                    </a:lnTo>
                    <a:lnTo>
                      <a:pt x="64852" y="54134"/>
                    </a:lnTo>
                    <a:lnTo>
                      <a:pt x="55327" y="37805"/>
                    </a:lnTo>
                    <a:close/>
                  </a:path>
                  <a:path w="111125" h="535939">
                    <a:moveTo>
                      <a:pt x="55327" y="0"/>
                    </a:moveTo>
                    <a:lnTo>
                      <a:pt x="0" y="94847"/>
                    </a:lnTo>
                    <a:lnTo>
                      <a:pt x="1534" y="100680"/>
                    </a:lnTo>
                    <a:lnTo>
                      <a:pt x="10622" y="105981"/>
                    </a:lnTo>
                    <a:lnTo>
                      <a:pt x="16454" y="104446"/>
                    </a:lnTo>
                    <a:lnTo>
                      <a:pt x="45802" y="54134"/>
                    </a:lnTo>
                    <a:lnTo>
                      <a:pt x="45802" y="18903"/>
                    </a:lnTo>
                    <a:lnTo>
                      <a:pt x="66354" y="18903"/>
                    </a:lnTo>
                    <a:lnTo>
                      <a:pt x="55327" y="0"/>
                    </a:lnTo>
                    <a:close/>
                  </a:path>
                  <a:path w="111125" h="535939">
                    <a:moveTo>
                      <a:pt x="66354" y="18903"/>
                    </a:moveTo>
                    <a:lnTo>
                      <a:pt x="64852" y="18903"/>
                    </a:lnTo>
                    <a:lnTo>
                      <a:pt x="64852" y="54134"/>
                    </a:lnTo>
                    <a:lnTo>
                      <a:pt x="94200" y="104446"/>
                    </a:lnTo>
                    <a:lnTo>
                      <a:pt x="100032" y="105981"/>
                    </a:lnTo>
                    <a:lnTo>
                      <a:pt x="109120" y="100680"/>
                    </a:lnTo>
                    <a:lnTo>
                      <a:pt x="110655" y="94847"/>
                    </a:lnTo>
                    <a:lnTo>
                      <a:pt x="66354" y="18903"/>
                    </a:lnTo>
                    <a:close/>
                  </a:path>
                  <a:path w="111125" h="535939">
                    <a:moveTo>
                      <a:pt x="64852" y="18903"/>
                    </a:moveTo>
                    <a:lnTo>
                      <a:pt x="45802" y="18903"/>
                    </a:lnTo>
                    <a:lnTo>
                      <a:pt x="45802" y="54134"/>
                    </a:lnTo>
                    <a:lnTo>
                      <a:pt x="55327" y="37805"/>
                    </a:lnTo>
                    <a:lnTo>
                      <a:pt x="47100" y="23702"/>
                    </a:lnTo>
                    <a:lnTo>
                      <a:pt x="64852" y="23702"/>
                    </a:lnTo>
                    <a:lnTo>
                      <a:pt x="64852" y="18903"/>
                    </a:lnTo>
                    <a:close/>
                  </a:path>
                  <a:path w="111125" h="535939">
                    <a:moveTo>
                      <a:pt x="64852" y="23702"/>
                    </a:moveTo>
                    <a:lnTo>
                      <a:pt x="63554" y="23702"/>
                    </a:lnTo>
                    <a:lnTo>
                      <a:pt x="55327" y="37805"/>
                    </a:lnTo>
                    <a:lnTo>
                      <a:pt x="64852" y="54134"/>
                    </a:lnTo>
                    <a:lnTo>
                      <a:pt x="64852" y="23702"/>
                    </a:lnTo>
                    <a:close/>
                  </a:path>
                  <a:path w="111125" h="535939">
                    <a:moveTo>
                      <a:pt x="63554" y="23702"/>
                    </a:moveTo>
                    <a:lnTo>
                      <a:pt x="47100" y="23702"/>
                    </a:lnTo>
                    <a:lnTo>
                      <a:pt x="55327" y="37805"/>
                    </a:lnTo>
                    <a:lnTo>
                      <a:pt x="63554" y="23702"/>
                    </a:lnTo>
                    <a:close/>
                  </a:path>
                </a:pathLst>
              </a:custGeom>
              <a:solidFill>
                <a:srgbClr val="7F7F7F"/>
              </a:solidFill>
            </p:spPr>
            <p:txBody>
              <a:bodyPr wrap="square" lIns="0" tIns="0" rIns="0" bIns="0" rtlCol="0"/>
              <a:lstStyle/>
              <a:p>
                <a:endParaRPr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102" name="object 102"/>
            <p:cNvGrpSpPr/>
            <p:nvPr/>
          </p:nvGrpSpPr>
          <p:grpSpPr>
            <a:xfrm>
              <a:off x="6800392" y="1262001"/>
              <a:ext cx="600635" cy="793115"/>
              <a:chOff x="5895237" y="1426150"/>
              <a:chExt cx="587375" cy="793115"/>
            </a:xfrm>
          </p:grpSpPr>
          <p:pic>
            <p:nvPicPr>
              <p:cNvPr id="103" name="object 103"/>
              <p:cNvPicPr/>
              <p:nvPr/>
            </p:nvPicPr>
            <p:blipFill>
              <a:blip r:embed="rId31" cstate="print"/>
              <a:stretch>
                <a:fillRect/>
              </a:stretch>
            </p:blipFill>
            <p:spPr>
              <a:xfrm>
                <a:off x="5895237" y="1426150"/>
                <a:ext cx="587322" cy="236337"/>
              </a:xfrm>
              <a:prstGeom prst="rect">
                <a:avLst/>
              </a:prstGeom>
            </p:spPr>
          </p:pic>
          <p:sp>
            <p:nvSpPr>
              <p:cNvPr id="104" name="object 104"/>
              <p:cNvSpPr/>
              <p:nvPr/>
            </p:nvSpPr>
            <p:spPr>
              <a:xfrm>
                <a:off x="6093666" y="1683546"/>
                <a:ext cx="111125" cy="535940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535939">
                    <a:moveTo>
                      <a:pt x="55328" y="37806"/>
                    </a:moveTo>
                    <a:lnTo>
                      <a:pt x="45803" y="54134"/>
                    </a:lnTo>
                    <a:lnTo>
                      <a:pt x="45801" y="535537"/>
                    </a:lnTo>
                    <a:lnTo>
                      <a:pt x="64851" y="535537"/>
                    </a:lnTo>
                    <a:lnTo>
                      <a:pt x="64852" y="54134"/>
                    </a:lnTo>
                    <a:lnTo>
                      <a:pt x="55328" y="37806"/>
                    </a:lnTo>
                    <a:close/>
                  </a:path>
                  <a:path w="111125" h="535939">
                    <a:moveTo>
                      <a:pt x="55327" y="0"/>
                    </a:moveTo>
                    <a:lnTo>
                      <a:pt x="0" y="94847"/>
                    </a:lnTo>
                    <a:lnTo>
                      <a:pt x="1534" y="100680"/>
                    </a:lnTo>
                    <a:lnTo>
                      <a:pt x="10622" y="105981"/>
                    </a:lnTo>
                    <a:lnTo>
                      <a:pt x="16454" y="104446"/>
                    </a:lnTo>
                    <a:lnTo>
                      <a:pt x="45802" y="54135"/>
                    </a:lnTo>
                    <a:lnTo>
                      <a:pt x="45802" y="18903"/>
                    </a:lnTo>
                    <a:lnTo>
                      <a:pt x="66354" y="18903"/>
                    </a:lnTo>
                    <a:lnTo>
                      <a:pt x="55327" y="0"/>
                    </a:lnTo>
                    <a:close/>
                  </a:path>
                  <a:path w="111125" h="535939">
                    <a:moveTo>
                      <a:pt x="66354" y="18903"/>
                    </a:moveTo>
                    <a:lnTo>
                      <a:pt x="64852" y="18903"/>
                    </a:lnTo>
                    <a:lnTo>
                      <a:pt x="64853" y="54135"/>
                    </a:lnTo>
                    <a:lnTo>
                      <a:pt x="94200" y="104446"/>
                    </a:lnTo>
                    <a:lnTo>
                      <a:pt x="100032" y="105981"/>
                    </a:lnTo>
                    <a:lnTo>
                      <a:pt x="109120" y="100680"/>
                    </a:lnTo>
                    <a:lnTo>
                      <a:pt x="110656" y="94847"/>
                    </a:lnTo>
                    <a:lnTo>
                      <a:pt x="66354" y="18903"/>
                    </a:lnTo>
                    <a:close/>
                  </a:path>
                  <a:path w="111125" h="535939">
                    <a:moveTo>
                      <a:pt x="64852" y="18903"/>
                    </a:moveTo>
                    <a:lnTo>
                      <a:pt x="45802" y="18903"/>
                    </a:lnTo>
                    <a:lnTo>
                      <a:pt x="45802" y="54135"/>
                    </a:lnTo>
                    <a:lnTo>
                      <a:pt x="55328" y="37806"/>
                    </a:lnTo>
                    <a:lnTo>
                      <a:pt x="47100" y="23702"/>
                    </a:lnTo>
                    <a:lnTo>
                      <a:pt x="64852" y="23702"/>
                    </a:lnTo>
                    <a:lnTo>
                      <a:pt x="64852" y="18903"/>
                    </a:lnTo>
                    <a:close/>
                  </a:path>
                  <a:path w="111125" h="535939">
                    <a:moveTo>
                      <a:pt x="64852" y="23702"/>
                    </a:moveTo>
                    <a:lnTo>
                      <a:pt x="63555" y="23702"/>
                    </a:lnTo>
                    <a:lnTo>
                      <a:pt x="55328" y="37806"/>
                    </a:lnTo>
                    <a:lnTo>
                      <a:pt x="64852" y="54134"/>
                    </a:lnTo>
                    <a:lnTo>
                      <a:pt x="64852" y="23702"/>
                    </a:lnTo>
                    <a:close/>
                  </a:path>
                  <a:path w="111125" h="535939">
                    <a:moveTo>
                      <a:pt x="63555" y="23702"/>
                    </a:moveTo>
                    <a:lnTo>
                      <a:pt x="47100" y="23702"/>
                    </a:lnTo>
                    <a:lnTo>
                      <a:pt x="55328" y="37806"/>
                    </a:lnTo>
                    <a:lnTo>
                      <a:pt x="63555" y="23702"/>
                    </a:lnTo>
                    <a:close/>
                  </a:path>
                </a:pathLst>
              </a:custGeom>
              <a:solidFill>
                <a:srgbClr val="7F7F7F"/>
              </a:solidFill>
            </p:spPr>
            <p:txBody>
              <a:bodyPr wrap="square" lIns="0" tIns="0" rIns="0" bIns="0" rtlCol="0"/>
              <a:lstStyle/>
              <a:p>
                <a:endParaRPr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105" name="object 105"/>
            <p:cNvGrpSpPr/>
            <p:nvPr/>
          </p:nvGrpSpPr>
          <p:grpSpPr>
            <a:xfrm>
              <a:off x="5706033" y="1262001"/>
              <a:ext cx="602583" cy="793115"/>
              <a:chOff x="4825038" y="1426150"/>
              <a:chExt cx="589280" cy="793115"/>
            </a:xfrm>
          </p:grpSpPr>
          <p:pic>
            <p:nvPicPr>
              <p:cNvPr id="106" name="object 106"/>
              <p:cNvPicPr/>
              <p:nvPr/>
            </p:nvPicPr>
            <p:blipFill>
              <a:blip r:embed="rId32" cstate="print"/>
              <a:stretch>
                <a:fillRect/>
              </a:stretch>
            </p:blipFill>
            <p:spPr>
              <a:xfrm>
                <a:off x="4825038" y="1426150"/>
                <a:ext cx="589253" cy="236337"/>
              </a:xfrm>
              <a:prstGeom prst="rect">
                <a:avLst/>
              </a:prstGeom>
            </p:spPr>
          </p:pic>
          <p:sp>
            <p:nvSpPr>
              <p:cNvPr id="107" name="object 107"/>
              <p:cNvSpPr/>
              <p:nvPr/>
            </p:nvSpPr>
            <p:spPr>
              <a:xfrm>
                <a:off x="5040965" y="1683546"/>
                <a:ext cx="111125" cy="535940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535939">
                    <a:moveTo>
                      <a:pt x="55328" y="37806"/>
                    </a:moveTo>
                    <a:lnTo>
                      <a:pt x="45803" y="54134"/>
                    </a:lnTo>
                    <a:lnTo>
                      <a:pt x="45802" y="535537"/>
                    </a:lnTo>
                    <a:lnTo>
                      <a:pt x="64852" y="535537"/>
                    </a:lnTo>
                    <a:lnTo>
                      <a:pt x="64852" y="54134"/>
                    </a:lnTo>
                    <a:lnTo>
                      <a:pt x="55328" y="37806"/>
                    </a:lnTo>
                    <a:close/>
                  </a:path>
                  <a:path w="111125" h="535939">
                    <a:moveTo>
                      <a:pt x="55328" y="0"/>
                    </a:moveTo>
                    <a:lnTo>
                      <a:pt x="0" y="94847"/>
                    </a:lnTo>
                    <a:lnTo>
                      <a:pt x="1535" y="100680"/>
                    </a:lnTo>
                    <a:lnTo>
                      <a:pt x="10622" y="105981"/>
                    </a:lnTo>
                    <a:lnTo>
                      <a:pt x="16455" y="104446"/>
                    </a:lnTo>
                    <a:lnTo>
                      <a:pt x="45802" y="54136"/>
                    </a:lnTo>
                    <a:lnTo>
                      <a:pt x="45803" y="18903"/>
                    </a:lnTo>
                    <a:lnTo>
                      <a:pt x="66356" y="18903"/>
                    </a:lnTo>
                    <a:lnTo>
                      <a:pt x="55328" y="0"/>
                    </a:lnTo>
                    <a:close/>
                  </a:path>
                  <a:path w="111125" h="535939">
                    <a:moveTo>
                      <a:pt x="66356" y="18903"/>
                    </a:moveTo>
                    <a:lnTo>
                      <a:pt x="64853" y="18903"/>
                    </a:lnTo>
                    <a:lnTo>
                      <a:pt x="64853" y="54136"/>
                    </a:lnTo>
                    <a:lnTo>
                      <a:pt x="94200" y="104446"/>
                    </a:lnTo>
                    <a:lnTo>
                      <a:pt x="100034" y="105981"/>
                    </a:lnTo>
                    <a:lnTo>
                      <a:pt x="109120" y="100680"/>
                    </a:lnTo>
                    <a:lnTo>
                      <a:pt x="110656" y="94847"/>
                    </a:lnTo>
                    <a:lnTo>
                      <a:pt x="66356" y="18903"/>
                    </a:lnTo>
                    <a:close/>
                  </a:path>
                  <a:path w="111125" h="535939">
                    <a:moveTo>
                      <a:pt x="64853" y="23702"/>
                    </a:moveTo>
                    <a:lnTo>
                      <a:pt x="63555" y="23702"/>
                    </a:lnTo>
                    <a:lnTo>
                      <a:pt x="55328" y="37806"/>
                    </a:lnTo>
                    <a:lnTo>
                      <a:pt x="64853" y="54136"/>
                    </a:lnTo>
                    <a:lnTo>
                      <a:pt x="64853" y="23702"/>
                    </a:lnTo>
                    <a:close/>
                  </a:path>
                  <a:path w="111125" h="535939">
                    <a:moveTo>
                      <a:pt x="64853" y="18903"/>
                    </a:moveTo>
                    <a:lnTo>
                      <a:pt x="45803" y="18903"/>
                    </a:lnTo>
                    <a:lnTo>
                      <a:pt x="45803" y="54134"/>
                    </a:lnTo>
                    <a:lnTo>
                      <a:pt x="55328" y="37806"/>
                    </a:lnTo>
                    <a:lnTo>
                      <a:pt x="47100" y="23702"/>
                    </a:lnTo>
                    <a:lnTo>
                      <a:pt x="64853" y="23702"/>
                    </a:lnTo>
                    <a:lnTo>
                      <a:pt x="64853" y="18903"/>
                    </a:lnTo>
                    <a:close/>
                  </a:path>
                  <a:path w="111125" h="535939">
                    <a:moveTo>
                      <a:pt x="63555" y="23702"/>
                    </a:moveTo>
                    <a:lnTo>
                      <a:pt x="47100" y="23702"/>
                    </a:lnTo>
                    <a:lnTo>
                      <a:pt x="55328" y="37806"/>
                    </a:lnTo>
                    <a:lnTo>
                      <a:pt x="63555" y="23702"/>
                    </a:lnTo>
                    <a:close/>
                  </a:path>
                </a:pathLst>
              </a:custGeom>
              <a:solidFill>
                <a:srgbClr val="7F7F7F"/>
              </a:solidFill>
            </p:spPr>
            <p:txBody>
              <a:bodyPr wrap="square" lIns="0" tIns="0" rIns="0" bIns="0" rtlCol="0"/>
              <a:lstStyle/>
              <a:p>
                <a:endParaRPr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108" name="object 108"/>
            <p:cNvGrpSpPr/>
            <p:nvPr/>
          </p:nvGrpSpPr>
          <p:grpSpPr>
            <a:xfrm>
              <a:off x="4584761" y="1262001"/>
              <a:ext cx="605092" cy="793336"/>
              <a:chOff x="3728518" y="1426150"/>
              <a:chExt cx="591733" cy="793336"/>
            </a:xfrm>
          </p:grpSpPr>
          <p:pic>
            <p:nvPicPr>
              <p:cNvPr id="109" name="object 109"/>
              <p:cNvPicPr/>
              <p:nvPr/>
            </p:nvPicPr>
            <p:blipFill>
              <a:blip r:embed="rId33" cstate="print"/>
              <a:stretch>
                <a:fillRect/>
              </a:stretch>
            </p:blipFill>
            <p:spPr>
              <a:xfrm>
                <a:off x="3728518" y="1426150"/>
                <a:ext cx="591733" cy="236337"/>
              </a:xfrm>
              <a:prstGeom prst="rect">
                <a:avLst/>
              </a:prstGeom>
            </p:spPr>
          </p:pic>
          <p:sp>
            <p:nvSpPr>
              <p:cNvPr id="110" name="object 110"/>
              <p:cNvSpPr/>
              <p:nvPr/>
            </p:nvSpPr>
            <p:spPr>
              <a:xfrm>
                <a:off x="3969664" y="1683546"/>
                <a:ext cx="111125" cy="535940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535939">
                    <a:moveTo>
                      <a:pt x="55328" y="37806"/>
                    </a:moveTo>
                    <a:lnTo>
                      <a:pt x="45803" y="54134"/>
                    </a:lnTo>
                    <a:lnTo>
                      <a:pt x="45802" y="535537"/>
                    </a:lnTo>
                    <a:lnTo>
                      <a:pt x="64852" y="535537"/>
                    </a:lnTo>
                    <a:lnTo>
                      <a:pt x="64852" y="54134"/>
                    </a:lnTo>
                    <a:lnTo>
                      <a:pt x="55328" y="37806"/>
                    </a:lnTo>
                    <a:close/>
                  </a:path>
                  <a:path w="111125" h="535939">
                    <a:moveTo>
                      <a:pt x="55328" y="0"/>
                    </a:moveTo>
                    <a:lnTo>
                      <a:pt x="0" y="94847"/>
                    </a:lnTo>
                    <a:lnTo>
                      <a:pt x="1535" y="100680"/>
                    </a:lnTo>
                    <a:lnTo>
                      <a:pt x="10622" y="105981"/>
                    </a:lnTo>
                    <a:lnTo>
                      <a:pt x="16455" y="104446"/>
                    </a:lnTo>
                    <a:lnTo>
                      <a:pt x="45802" y="54136"/>
                    </a:lnTo>
                    <a:lnTo>
                      <a:pt x="45803" y="18903"/>
                    </a:lnTo>
                    <a:lnTo>
                      <a:pt x="66356" y="18903"/>
                    </a:lnTo>
                    <a:lnTo>
                      <a:pt x="55328" y="0"/>
                    </a:lnTo>
                    <a:close/>
                  </a:path>
                  <a:path w="111125" h="535939">
                    <a:moveTo>
                      <a:pt x="66356" y="18903"/>
                    </a:moveTo>
                    <a:lnTo>
                      <a:pt x="64853" y="18903"/>
                    </a:lnTo>
                    <a:lnTo>
                      <a:pt x="64853" y="54136"/>
                    </a:lnTo>
                    <a:lnTo>
                      <a:pt x="94200" y="104446"/>
                    </a:lnTo>
                    <a:lnTo>
                      <a:pt x="100034" y="105981"/>
                    </a:lnTo>
                    <a:lnTo>
                      <a:pt x="109120" y="100680"/>
                    </a:lnTo>
                    <a:lnTo>
                      <a:pt x="110656" y="94847"/>
                    </a:lnTo>
                    <a:lnTo>
                      <a:pt x="66356" y="18903"/>
                    </a:lnTo>
                    <a:close/>
                  </a:path>
                  <a:path w="111125" h="535939">
                    <a:moveTo>
                      <a:pt x="64853" y="23702"/>
                    </a:moveTo>
                    <a:lnTo>
                      <a:pt x="63555" y="23702"/>
                    </a:lnTo>
                    <a:lnTo>
                      <a:pt x="55328" y="37806"/>
                    </a:lnTo>
                    <a:lnTo>
                      <a:pt x="64853" y="54136"/>
                    </a:lnTo>
                    <a:lnTo>
                      <a:pt x="64853" y="23702"/>
                    </a:lnTo>
                    <a:close/>
                  </a:path>
                  <a:path w="111125" h="535939">
                    <a:moveTo>
                      <a:pt x="64853" y="18903"/>
                    </a:moveTo>
                    <a:lnTo>
                      <a:pt x="45803" y="18903"/>
                    </a:lnTo>
                    <a:lnTo>
                      <a:pt x="45803" y="54134"/>
                    </a:lnTo>
                    <a:lnTo>
                      <a:pt x="55328" y="37806"/>
                    </a:lnTo>
                    <a:lnTo>
                      <a:pt x="47100" y="23702"/>
                    </a:lnTo>
                    <a:lnTo>
                      <a:pt x="64853" y="23702"/>
                    </a:lnTo>
                    <a:lnTo>
                      <a:pt x="64853" y="18903"/>
                    </a:lnTo>
                    <a:close/>
                  </a:path>
                  <a:path w="111125" h="535939">
                    <a:moveTo>
                      <a:pt x="63555" y="23702"/>
                    </a:moveTo>
                    <a:lnTo>
                      <a:pt x="47100" y="23702"/>
                    </a:lnTo>
                    <a:lnTo>
                      <a:pt x="55328" y="37806"/>
                    </a:lnTo>
                    <a:lnTo>
                      <a:pt x="63555" y="23702"/>
                    </a:lnTo>
                    <a:close/>
                  </a:path>
                </a:pathLst>
              </a:custGeom>
              <a:solidFill>
                <a:srgbClr val="7F7F7F"/>
              </a:solidFill>
            </p:spPr>
            <p:txBody>
              <a:bodyPr wrap="square" lIns="0" tIns="0" rIns="0" bIns="0" rtlCol="0"/>
              <a:lstStyle/>
              <a:p>
                <a:endParaRPr>
                  <a:solidFill>
                    <a:schemeClr val="accent1"/>
                  </a:solidFill>
                </a:endParaRPr>
              </a:p>
            </p:txBody>
          </p:sp>
        </p:grpSp>
        <p:sp>
          <p:nvSpPr>
            <p:cNvPr id="112" name="object 112"/>
            <p:cNvSpPr/>
            <p:nvPr/>
          </p:nvSpPr>
          <p:spPr>
            <a:xfrm>
              <a:off x="3678360" y="6004378"/>
              <a:ext cx="832447" cy="85725"/>
            </a:xfrm>
            <a:custGeom>
              <a:avLst/>
              <a:gdLst/>
              <a:ahLst/>
              <a:cxnLst/>
              <a:rect l="l" t="t" r="r" b="b"/>
              <a:pathLst>
                <a:path w="814070" h="85725">
                  <a:moveTo>
                    <a:pt x="728031" y="57149"/>
                  </a:moveTo>
                  <a:lnTo>
                    <a:pt x="728031" y="85725"/>
                  </a:lnTo>
                  <a:lnTo>
                    <a:pt x="785181" y="57150"/>
                  </a:lnTo>
                  <a:lnTo>
                    <a:pt x="728031" y="57149"/>
                  </a:lnTo>
                  <a:close/>
                </a:path>
                <a:path w="814070" h="85725">
                  <a:moveTo>
                    <a:pt x="728031" y="28574"/>
                  </a:moveTo>
                  <a:lnTo>
                    <a:pt x="728031" y="57149"/>
                  </a:lnTo>
                  <a:lnTo>
                    <a:pt x="742318" y="57150"/>
                  </a:lnTo>
                  <a:lnTo>
                    <a:pt x="742318" y="28575"/>
                  </a:lnTo>
                  <a:lnTo>
                    <a:pt x="728031" y="28574"/>
                  </a:lnTo>
                  <a:close/>
                </a:path>
                <a:path w="814070" h="85725">
                  <a:moveTo>
                    <a:pt x="728031" y="0"/>
                  </a:moveTo>
                  <a:lnTo>
                    <a:pt x="728031" y="28574"/>
                  </a:lnTo>
                  <a:lnTo>
                    <a:pt x="742318" y="28575"/>
                  </a:lnTo>
                  <a:lnTo>
                    <a:pt x="742318" y="57150"/>
                  </a:lnTo>
                  <a:lnTo>
                    <a:pt x="785183" y="57149"/>
                  </a:lnTo>
                  <a:lnTo>
                    <a:pt x="813756" y="42862"/>
                  </a:lnTo>
                  <a:lnTo>
                    <a:pt x="728031" y="0"/>
                  </a:lnTo>
                  <a:close/>
                </a:path>
                <a:path w="814070" h="85725">
                  <a:moveTo>
                    <a:pt x="0" y="28574"/>
                  </a:moveTo>
                  <a:lnTo>
                    <a:pt x="0" y="57149"/>
                  </a:lnTo>
                  <a:lnTo>
                    <a:pt x="728031" y="57149"/>
                  </a:lnTo>
                  <a:lnTo>
                    <a:pt x="728031" y="28574"/>
                  </a:lnTo>
                  <a:lnTo>
                    <a:pt x="0" y="28574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accent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113" name="object 113"/>
            <p:cNvSpPr/>
            <p:nvPr/>
          </p:nvSpPr>
          <p:spPr>
            <a:xfrm>
              <a:off x="3678360" y="1314416"/>
              <a:ext cx="710373" cy="85725"/>
            </a:xfrm>
            <a:custGeom>
              <a:avLst/>
              <a:gdLst/>
              <a:ahLst/>
              <a:cxnLst/>
              <a:rect l="l" t="t" r="r" b="b"/>
              <a:pathLst>
                <a:path w="694689" h="85725">
                  <a:moveTo>
                    <a:pt x="608552" y="0"/>
                  </a:moveTo>
                  <a:lnTo>
                    <a:pt x="608552" y="85725"/>
                  </a:lnTo>
                  <a:lnTo>
                    <a:pt x="665703" y="57150"/>
                  </a:lnTo>
                  <a:lnTo>
                    <a:pt x="622839" y="57150"/>
                  </a:lnTo>
                  <a:lnTo>
                    <a:pt x="622839" y="28575"/>
                  </a:lnTo>
                  <a:lnTo>
                    <a:pt x="665700" y="28575"/>
                  </a:lnTo>
                  <a:lnTo>
                    <a:pt x="608552" y="0"/>
                  </a:lnTo>
                  <a:close/>
                </a:path>
                <a:path w="694689" h="85725">
                  <a:moveTo>
                    <a:pt x="608552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608552" y="57150"/>
                  </a:lnTo>
                  <a:lnTo>
                    <a:pt x="608552" y="28575"/>
                  </a:lnTo>
                  <a:close/>
                </a:path>
                <a:path w="694689" h="85725">
                  <a:moveTo>
                    <a:pt x="665700" y="28575"/>
                  </a:moveTo>
                  <a:lnTo>
                    <a:pt x="622839" y="28575"/>
                  </a:lnTo>
                  <a:lnTo>
                    <a:pt x="622839" y="57150"/>
                  </a:lnTo>
                  <a:lnTo>
                    <a:pt x="665703" y="57150"/>
                  </a:lnTo>
                  <a:lnTo>
                    <a:pt x="694277" y="42863"/>
                  </a:lnTo>
                  <a:lnTo>
                    <a:pt x="665700" y="28575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accent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116" name="object 116"/>
            <p:cNvSpPr/>
            <p:nvPr/>
          </p:nvSpPr>
          <p:spPr>
            <a:xfrm>
              <a:off x="3678360" y="2199196"/>
              <a:ext cx="832447" cy="85725"/>
            </a:xfrm>
            <a:custGeom>
              <a:avLst/>
              <a:gdLst/>
              <a:ahLst/>
              <a:cxnLst/>
              <a:rect l="l" t="t" r="r" b="b"/>
              <a:pathLst>
                <a:path w="814070" h="85725">
                  <a:moveTo>
                    <a:pt x="728031" y="57149"/>
                  </a:moveTo>
                  <a:lnTo>
                    <a:pt x="728031" y="85725"/>
                  </a:lnTo>
                  <a:lnTo>
                    <a:pt x="785181" y="57150"/>
                  </a:lnTo>
                  <a:lnTo>
                    <a:pt x="728031" y="57149"/>
                  </a:lnTo>
                  <a:close/>
                </a:path>
                <a:path w="814070" h="85725">
                  <a:moveTo>
                    <a:pt x="728031" y="28574"/>
                  </a:moveTo>
                  <a:lnTo>
                    <a:pt x="728031" y="57149"/>
                  </a:lnTo>
                  <a:lnTo>
                    <a:pt x="742318" y="57150"/>
                  </a:lnTo>
                  <a:lnTo>
                    <a:pt x="742318" y="28575"/>
                  </a:lnTo>
                  <a:lnTo>
                    <a:pt x="728031" y="28574"/>
                  </a:lnTo>
                  <a:close/>
                </a:path>
                <a:path w="814070" h="85725">
                  <a:moveTo>
                    <a:pt x="728031" y="0"/>
                  </a:moveTo>
                  <a:lnTo>
                    <a:pt x="728031" y="28574"/>
                  </a:lnTo>
                  <a:lnTo>
                    <a:pt x="742318" y="28575"/>
                  </a:lnTo>
                  <a:lnTo>
                    <a:pt x="742318" y="57150"/>
                  </a:lnTo>
                  <a:lnTo>
                    <a:pt x="785183" y="57148"/>
                  </a:lnTo>
                  <a:lnTo>
                    <a:pt x="813756" y="42862"/>
                  </a:lnTo>
                  <a:lnTo>
                    <a:pt x="728031" y="0"/>
                  </a:lnTo>
                  <a:close/>
                </a:path>
                <a:path w="814070" h="85725">
                  <a:moveTo>
                    <a:pt x="0" y="28573"/>
                  </a:moveTo>
                  <a:lnTo>
                    <a:pt x="0" y="57148"/>
                  </a:lnTo>
                  <a:lnTo>
                    <a:pt x="728031" y="57149"/>
                  </a:lnTo>
                  <a:lnTo>
                    <a:pt x="728031" y="28574"/>
                  </a:lnTo>
                  <a:lnTo>
                    <a:pt x="0" y="28573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accent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117" name="object 117"/>
            <p:cNvSpPr txBox="1"/>
            <p:nvPr/>
          </p:nvSpPr>
          <p:spPr>
            <a:xfrm>
              <a:off x="2831064" y="5878473"/>
              <a:ext cx="765566" cy="616194"/>
            </a:xfrm>
            <a:prstGeom prst="rect">
              <a:avLst/>
            </a:prstGeom>
          </p:spPr>
          <p:txBody>
            <a:bodyPr vert="horz" wrap="square" lIns="0" tIns="6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5"/>
                </a:spcBef>
              </a:pPr>
              <a:r>
                <a:rPr sz="2000" spc="-5" dirty="0">
                  <a:solidFill>
                    <a:schemeClr val="accent1"/>
                  </a:solidFill>
                  <a:cs typeface="Calibri"/>
                </a:rPr>
                <a:t>Co</a:t>
              </a:r>
              <a:r>
                <a:rPr sz="2000" dirty="0">
                  <a:solidFill>
                    <a:schemeClr val="accent1"/>
                  </a:solidFill>
                  <a:cs typeface="Calibri"/>
                </a:rPr>
                <a:t>r</a:t>
              </a:r>
              <a:r>
                <a:rPr sz="2000" spc="-5" dirty="0">
                  <a:solidFill>
                    <a:schemeClr val="accent1"/>
                  </a:solidFill>
                  <a:cs typeface="Calibri"/>
                </a:rPr>
                <a:t>pus</a:t>
              </a:r>
              <a:endParaRPr sz="2000">
                <a:solidFill>
                  <a:schemeClr val="accent1"/>
                </a:solidFill>
                <a:cs typeface="Calibri"/>
              </a:endParaRPr>
            </a:p>
          </p:txBody>
        </p:sp>
        <p:sp>
          <p:nvSpPr>
            <p:cNvPr id="118" name="object 118"/>
            <p:cNvSpPr txBox="1"/>
            <p:nvPr/>
          </p:nvSpPr>
          <p:spPr>
            <a:xfrm>
              <a:off x="4714048" y="5893713"/>
              <a:ext cx="371420" cy="308418"/>
            </a:xfrm>
            <a:prstGeom prst="rect">
              <a:avLst/>
            </a:prstGeom>
          </p:spPr>
          <p:txBody>
            <a:bodyPr vert="horz" wrap="square" lIns="0" tIns="6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5"/>
                </a:spcBef>
              </a:pPr>
              <a:r>
                <a:rPr sz="2000" i="1" spc="5" dirty="0">
                  <a:solidFill>
                    <a:schemeClr val="accent1"/>
                  </a:solidFill>
                  <a:cs typeface="Calibri"/>
                </a:rPr>
                <a:t>t</a:t>
              </a:r>
              <a:r>
                <a:rPr sz="2000" i="1" spc="-5" dirty="0">
                  <a:solidFill>
                    <a:schemeClr val="accent1"/>
                  </a:solidFill>
                  <a:cs typeface="Calibri"/>
                </a:rPr>
                <a:t>h</a:t>
              </a:r>
              <a:r>
                <a:rPr sz="2000" i="1" dirty="0">
                  <a:solidFill>
                    <a:schemeClr val="accent1"/>
                  </a:solidFill>
                  <a:cs typeface="Calibri"/>
                </a:rPr>
                <a:t>e</a:t>
              </a:r>
              <a:endParaRPr sz="2000">
                <a:solidFill>
                  <a:schemeClr val="accent1"/>
                </a:solidFill>
                <a:cs typeface="Calibri"/>
              </a:endParaRPr>
            </a:p>
          </p:txBody>
        </p:sp>
        <p:sp>
          <p:nvSpPr>
            <p:cNvPr id="119" name="object 119"/>
            <p:cNvSpPr txBox="1"/>
            <p:nvPr/>
          </p:nvSpPr>
          <p:spPr>
            <a:xfrm>
              <a:off x="5498078" y="5893713"/>
              <a:ext cx="920107" cy="616194"/>
            </a:xfrm>
            <a:prstGeom prst="rect">
              <a:avLst/>
            </a:prstGeom>
          </p:spPr>
          <p:txBody>
            <a:bodyPr vert="horz" wrap="square" lIns="0" tIns="6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5"/>
                </a:spcBef>
              </a:pPr>
              <a:r>
                <a:rPr sz="2000" i="1" spc="-30" dirty="0">
                  <a:solidFill>
                    <a:schemeClr val="accent1"/>
                  </a:solidFill>
                  <a:cs typeface="Calibri"/>
                </a:rPr>
                <a:t>s</a:t>
              </a:r>
              <a:r>
                <a:rPr sz="2000" i="1" dirty="0">
                  <a:solidFill>
                    <a:schemeClr val="accent1"/>
                  </a:solidFill>
                  <a:cs typeface="Calibri"/>
                </a:rPr>
                <a:t>t</a:t>
              </a:r>
              <a:r>
                <a:rPr sz="2000" i="1" spc="-5" dirty="0">
                  <a:solidFill>
                    <a:schemeClr val="accent1"/>
                  </a:solidFill>
                  <a:cs typeface="Calibri"/>
                </a:rPr>
                <a:t>ude</a:t>
              </a:r>
              <a:r>
                <a:rPr sz="2000" i="1" spc="-25" dirty="0">
                  <a:solidFill>
                    <a:schemeClr val="accent1"/>
                  </a:solidFill>
                  <a:cs typeface="Calibri"/>
                </a:rPr>
                <a:t>n</a:t>
              </a:r>
              <a:r>
                <a:rPr sz="2000" i="1" dirty="0">
                  <a:solidFill>
                    <a:schemeClr val="accent1"/>
                  </a:solidFill>
                  <a:cs typeface="Calibri"/>
                </a:rPr>
                <a:t>ts</a:t>
              </a:r>
              <a:endParaRPr sz="2000" dirty="0">
                <a:solidFill>
                  <a:schemeClr val="accent1"/>
                </a:solidFill>
                <a:cs typeface="Calibri"/>
              </a:endParaRPr>
            </a:p>
          </p:txBody>
        </p:sp>
        <p:sp>
          <p:nvSpPr>
            <p:cNvPr id="120" name="object 120"/>
            <p:cNvSpPr txBox="1"/>
            <p:nvPr/>
          </p:nvSpPr>
          <p:spPr>
            <a:xfrm>
              <a:off x="6669579" y="5893713"/>
              <a:ext cx="805825" cy="308418"/>
            </a:xfrm>
            <a:prstGeom prst="rect">
              <a:avLst/>
            </a:prstGeom>
          </p:spPr>
          <p:txBody>
            <a:bodyPr vert="horz" wrap="square" lIns="0" tIns="6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5"/>
                </a:spcBef>
              </a:pPr>
              <a:r>
                <a:rPr sz="2000" i="1" spc="-10" dirty="0">
                  <a:solidFill>
                    <a:schemeClr val="accent1"/>
                  </a:solidFill>
                  <a:cs typeface="Calibri"/>
                </a:rPr>
                <a:t>opened</a:t>
              </a:r>
              <a:endParaRPr sz="2000">
                <a:solidFill>
                  <a:schemeClr val="accent1"/>
                </a:solidFill>
                <a:cs typeface="Calibri"/>
              </a:endParaRPr>
            </a:p>
          </p:txBody>
        </p:sp>
        <p:sp>
          <p:nvSpPr>
            <p:cNvPr id="121" name="object 121"/>
            <p:cNvSpPr txBox="1"/>
            <p:nvPr/>
          </p:nvSpPr>
          <p:spPr>
            <a:xfrm>
              <a:off x="7922650" y="5893713"/>
              <a:ext cx="520116" cy="308418"/>
            </a:xfrm>
            <a:prstGeom prst="rect">
              <a:avLst/>
            </a:prstGeom>
          </p:spPr>
          <p:txBody>
            <a:bodyPr vert="horz" wrap="square" lIns="0" tIns="6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5"/>
                </a:spcBef>
              </a:pPr>
              <a:r>
                <a:rPr sz="2000" i="1" spc="5" dirty="0">
                  <a:solidFill>
                    <a:schemeClr val="accent1"/>
                  </a:solidFill>
                  <a:cs typeface="Calibri"/>
                </a:rPr>
                <a:t>t</a:t>
              </a:r>
              <a:r>
                <a:rPr sz="2000" i="1" spc="-5" dirty="0">
                  <a:solidFill>
                    <a:schemeClr val="accent1"/>
                  </a:solidFill>
                  <a:cs typeface="Calibri"/>
                </a:rPr>
                <a:t>h</a:t>
              </a:r>
              <a:r>
                <a:rPr sz="2000" i="1" spc="-10" dirty="0">
                  <a:solidFill>
                    <a:schemeClr val="accent1"/>
                  </a:solidFill>
                  <a:cs typeface="Calibri"/>
                </a:rPr>
                <a:t>e</a:t>
              </a:r>
              <a:r>
                <a:rPr sz="2000" i="1" dirty="0">
                  <a:solidFill>
                    <a:schemeClr val="accent1"/>
                  </a:solidFill>
                  <a:cs typeface="Calibri"/>
                </a:rPr>
                <a:t>ir</a:t>
              </a:r>
              <a:endParaRPr sz="2000">
                <a:solidFill>
                  <a:schemeClr val="accent1"/>
                </a:solidFill>
                <a:cs typeface="Calibri"/>
              </a:endParaRPr>
            </a:p>
          </p:txBody>
        </p:sp>
        <p:sp>
          <p:nvSpPr>
            <p:cNvPr id="122" name="object 122"/>
            <p:cNvSpPr txBox="1"/>
            <p:nvPr/>
          </p:nvSpPr>
          <p:spPr>
            <a:xfrm>
              <a:off x="9043833" y="5893713"/>
              <a:ext cx="690893" cy="308418"/>
            </a:xfrm>
            <a:prstGeom prst="rect">
              <a:avLst/>
            </a:prstGeom>
          </p:spPr>
          <p:txBody>
            <a:bodyPr vert="horz" wrap="square" lIns="0" tIns="6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5"/>
                </a:spcBef>
              </a:pPr>
              <a:r>
                <a:rPr sz="2000" i="1" spc="-50" dirty="0">
                  <a:solidFill>
                    <a:schemeClr val="accent1"/>
                  </a:solidFill>
                  <a:cs typeface="Calibri"/>
                </a:rPr>
                <a:t>ex</a:t>
              </a:r>
              <a:r>
                <a:rPr sz="2000" i="1" spc="-5" dirty="0">
                  <a:solidFill>
                    <a:schemeClr val="accent1"/>
                  </a:solidFill>
                  <a:cs typeface="Calibri"/>
                </a:rPr>
                <a:t>a</a:t>
              </a:r>
              <a:r>
                <a:rPr sz="2000" i="1" spc="5" dirty="0">
                  <a:solidFill>
                    <a:schemeClr val="accent1"/>
                  </a:solidFill>
                  <a:cs typeface="Calibri"/>
                </a:rPr>
                <a:t>m</a:t>
              </a:r>
              <a:r>
                <a:rPr sz="2000" i="1" dirty="0">
                  <a:solidFill>
                    <a:schemeClr val="accent1"/>
                  </a:solidFill>
                  <a:cs typeface="Calibri"/>
                </a:rPr>
                <a:t>s</a:t>
              </a:r>
              <a:endParaRPr sz="2000">
                <a:solidFill>
                  <a:schemeClr val="accent1"/>
                </a:solidFill>
                <a:cs typeface="Calibri"/>
              </a:endParaRPr>
            </a:p>
          </p:txBody>
        </p:sp>
      </p:grpSp>
      <p:sp>
        <p:nvSpPr>
          <p:cNvPr id="130" name="TextBox 129">
            <a:extLst>
              <a:ext uri="{FF2B5EF4-FFF2-40B4-BE49-F238E27FC236}">
                <a16:creationId xmlns:a16="http://schemas.microsoft.com/office/drawing/2014/main" id="{A55A30EF-9A1D-FBBB-6166-AE38C27A0136}"/>
              </a:ext>
            </a:extLst>
          </p:cNvPr>
          <p:cNvSpPr txBox="1"/>
          <p:nvPr/>
        </p:nvSpPr>
        <p:spPr>
          <a:xfrm flipH="1">
            <a:off x="3064995" y="1203452"/>
            <a:ext cx="6993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spc="-5" dirty="0">
                <a:solidFill>
                  <a:schemeClr val="accent1"/>
                </a:solidFill>
                <a:cs typeface="Calibri"/>
              </a:rPr>
              <a:t>Loss</a:t>
            </a:r>
            <a:endParaRPr lang="en-IN" sz="1800" dirty="0">
              <a:solidFill>
                <a:schemeClr val="accent1"/>
              </a:solidFill>
              <a:cs typeface="Calibri"/>
            </a:endParaRPr>
          </a:p>
          <a:p>
            <a:endParaRPr lang="en-IN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89A325E7-A75A-6129-F52C-33986390BB2C}"/>
              </a:ext>
            </a:extLst>
          </p:cNvPr>
          <p:cNvSpPr txBox="1"/>
          <p:nvPr/>
        </p:nvSpPr>
        <p:spPr>
          <a:xfrm>
            <a:off x="1573352" y="1993395"/>
            <a:ext cx="21710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800" dirty="0">
                <a:solidFill>
                  <a:schemeClr val="accent1"/>
                </a:solidFill>
                <a:cs typeface="Calibri"/>
              </a:rPr>
              <a:t>P</a:t>
            </a:r>
            <a:r>
              <a:rPr lang="en-IN" sz="1800" spc="-25" dirty="0">
                <a:solidFill>
                  <a:schemeClr val="accent1"/>
                </a:solidFill>
                <a:cs typeface="Calibri"/>
              </a:rPr>
              <a:t>r</a:t>
            </a:r>
            <a:r>
              <a:rPr lang="en-IN" sz="1800" dirty="0">
                <a:solidFill>
                  <a:schemeClr val="accent1"/>
                </a:solidFill>
                <a:cs typeface="Calibri"/>
              </a:rPr>
              <a:t>e</a:t>
            </a:r>
            <a:r>
              <a:rPr lang="en-IN" sz="1800" spc="-5" dirty="0">
                <a:solidFill>
                  <a:schemeClr val="accent1"/>
                </a:solidFill>
                <a:cs typeface="Calibri"/>
              </a:rPr>
              <a:t>d</a:t>
            </a:r>
            <a:r>
              <a:rPr lang="en-IN" sz="1800" dirty="0">
                <a:solidFill>
                  <a:schemeClr val="accent1"/>
                </a:solidFill>
                <a:cs typeface="Calibri"/>
              </a:rPr>
              <a:t>ic</a:t>
            </a:r>
            <a:r>
              <a:rPr lang="en-IN" sz="1800" spc="-20" dirty="0">
                <a:solidFill>
                  <a:schemeClr val="accent1"/>
                </a:solidFill>
                <a:cs typeface="Calibri"/>
              </a:rPr>
              <a:t>t</a:t>
            </a:r>
            <a:r>
              <a:rPr lang="en-IN" sz="1800" dirty="0">
                <a:solidFill>
                  <a:schemeClr val="accent1"/>
                </a:solidFill>
                <a:cs typeface="Calibri"/>
              </a:rPr>
              <a:t>ed  </a:t>
            </a:r>
            <a:r>
              <a:rPr lang="en-IN" sz="1800" spc="-15" dirty="0">
                <a:solidFill>
                  <a:schemeClr val="accent1"/>
                </a:solidFill>
                <a:cs typeface="Calibri"/>
              </a:rPr>
              <a:t>probability</a:t>
            </a:r>
            <a:r>
              <a:rPr lang="en-IN" sz="1800" spc="-85" dirty="0">
                <a:solidFill>
                  <a:schemeClr val="accent1"/>
                </a:solidFill>
                <a:cs typeface="Calibri"/>
              </a:rPr>
              <a:t> </a:t>
            </a:r>
            <a:r>
              <a:rPr lang="en-IN" sz="1800" spc="-5" dirty="0">
                <a:solidFill>
                  <a:schemeClr val="accent1"/>
                </a:solidFill>
                <a:cs typeface="Calibri"/>
              </a:rPr>
              <a:t>distributions</a:t>
            </a:r>
            <a:endParaRPr lang="en-IN" sz="1800" dirty="0">
              <a:solidFill>
                <a:schemeClr val="accent1"/>
              </a:solidFill>
              <a:cs typeface="Calibri"/>
            </a:endParaRPr>
          </a:p>
          <a:p>
            <a:pPr algn="r"/>
            <a:endParaRPr lang="en-IN" dirty="0"/>
          </a:p>
        </p:txBody>
      </p:sp>
      <p:sp>
        <p:nvSpPr>
          <p:cNvPr id="2" name="object 123">
            <a:extLst>
              <a:ext uri="{FF2B5EF4-FFF2-40B4-BE49-F238E27FC236}">
                <a16:creationId xmlns:a16="http://schemas.microsoft.com/office/drawing/2014/main" id="{711B51D6-80B8-F69C-16B0-A95CD980D4C1}"/>
              </a:ext>
            </a:extLst>
          </p:cNvPr>
          <p:cNvSpPr txBox="1"/>
          <p:nvPr/>
        </p:nvSpPr>
        <p:spPr>
          <a:xfrm>
            <a:off x="10002884" y="5906753"/>
            <a:ext cx="130810" cy="282129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>
                <a:solidFill>
                  <a:schemeClr val="accent1"/>
                </a:solidFill>
                <a:cs typeface="Calibri"/>
              </a:rPr>
              <a:t>…</a:t>
            </a:r>
          </a:p>
        </p:txBody>
      </p:sp>
      <p:sp>
        <p:nvSpPr>
          <p:cNvPr id="114" name="object 115">
            <a:extLst>
              <a:ext uri="{FF2B5EF4-FFF2-40B4-BE49-F238E27FC236}">
                <a16:creationId xmlns:a16="http://schemas.microsoft.com/office/drawing/2014/main" id="{5DD886D0-81F2-FBFE-616A-208FF765263A}"/>
              </a:ext>
            </a:extLst>
          </p:cNvPr>
          <p:cNvSpPr txBox="1"/>
          <p:nvPr/>
        </p:nvSpPr>
        <p:spPr>
          <a:xfrm>
            <a:off x="9371669" y="3387905"/>
            <a:ext cx="187658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chemeClr val="accent1"/>
                </a:solidFill>
                <a:cs typeface="Calibri"/>
              </a:rPr>
              <a:t>…</a:t>
            </a:r>
          </a:p>
        </p:txBody>
      </p:sp>
      <p:sp>
        <p:nvSpPr>
          <p:cNvPr id="115" name="object 122">
            <a:extLst>
              <a:ext uri="{FF2B5EF4-FFF2-40B4-BE49-F238E27FC236}">
                <a16:creationId xmlns:a16="http://schemas.microsoft.com/office/drawing/2014/main" id="{0B9C8142-71CB-1FC1-2482-7AC43BF1037F}"/>
              </a:ext>
            </a:extLst>
          </p:cNvPr>
          <p:cNvSpPr txBox="1"/>
          <p:nvPr/>
        </p:nvSpPr>
        <p:spPr>
          <a:xfrm>
            <a:off x="9156490" y="278626"/>
            <a:ext cx="2746375" cy="390492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 vert="horz" wrap="square" lIns="0" tIns="20955" rIns="0" bIns="0" rtlCol="0">
            <a:spAutoFit/>
          </a:bodyPr>
          <a:lstStyle/>
          <a:p>
            <a:pPr marL="108585" algn="ctr">
              <a:lnSpc>
                <a:spcPct val="100000"/>
              </a:lnSpc>
              <a:spcBef>
                <a:spcPts val="165"/>
              </a:spcBef>
            </a:pPr>
            <a:r>
              <a:rPr sz="2400" spc="-20" dirty="0">
                <a:solidFill>
                  <a:schemeClr val="accent1"/>
                </a:solidFill>
                <a:cs typeface="Calibri"/>
              </a:rPr>
              <a:t>“Teacher</a:t>
            </a:r>
            <a:r>
              <a:rPr sz="2400" spc="-30" dirty="0">
                <a:solidFill>
                  <a:schemeClr val="accent1"/>
                </a:solidFill>
                <a:cs typeface="Calibri"/>
              </a:rPr>
              <a:t> </a:t>
            </a:r>
            <a:r>
              <a:rPr sz="2400" spc="-5" dirty="0">
                <a:solidFill>
                  <a:schemeClr val="accent1"/>
                </a:solidFill>
                <a:cs typeface="Calibri"/>
              </a:rPr>
              <a:t>forcing”</a:t>
            </a:r>
            <a:endParaRPr sz="2400">
              <a:solidFill>
                <a:schemeClr val="accent1"/>
              </a:solidFill>
              <a:cs typeface="Calibri"/>
            </a:endParaRPr>
          </a:p>
        </p:txBody>
      </p:sp>
      <p:sp>
        <p:nvSpPr>
          <p:cNvPr id="123" name="object 112">
            <a:extLst>
              <a:ext uri="{FF2B5EF4-FFF2-40B4-BE49-F238E27FC236}">
                <a16:creationId xmlns:a16="http://schemas.microsoft.com/office/drawing/2014/main" id="{E6DD3DBB-3626-F370-8FD8-56CAE3FC3A84}"/>
              </a:ext>
            </a:extLst>
          </p:cNvPr>
          <p:cNvSpPr txBox="1"/>
          <p:nvPr/>
        </p:nvSpPr>
        <p:spPr>
          <a:xfrm>
            <a:off x="5465749" y="1247957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+</a:t>
            </a:r>
          </a:p>
        </p:txBody>
      </p:sp>
      <p:sp>
        <p:nvSpPr>
          <p:cNvPr id="124" name="object 112">
            <a:extLst>
              <a:ext uri="{FF2B5EF4-FFF2-40B4-BE49-F238E27FC236}">
                <a16:creationId xmlns:a16="http://schemas.microsoft.com/office/drawing/2014/main" id="{5582DE34-C82A-1801-5998-0D1A1B14BE09}"/>
              </a:ext>
            </a:extLst>
          </p:cNvPr>
          <p:cNvSpPr txBox="1"/>
          <p:nvPr/>
        </p:nvSpPr>
        <p:spPr>
          <a:xfrm>
            <a:off x="6555792" y="1221264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+</a:t>
            </a:r>
          </a:p>
        </p:txBody>
      </p:sp>
      <p:sp>
        <p:nvSpPr>
          <p:cNvPr id="125" name="object 112">
            <a:extLst>
              <a:ext uri="{FF2B5EF4-FFF2-40B4-BE49-F238E27FC236}">
                <a16:creationId xmlns:a16="http://schemas.microsoft.com/office/drawing/2014/main" id="{96694B4B-D4CC-CE62-183F-04E9468D8654}"/>
              </a:ext>
            </a:extLst>
          </p:cNvPr>
          <p:cNvSpPr txBox="1"/>
          <p:nvPr/>
        </p:nvSpPr>
        <p:spPr>
          <a:xfrm>
            <a:off x="7669206" y="1247957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+</a:t>
            </a:r>
          </a:p>
        </p:txBody>
      </p:sp>
      <p:sp>
        <p:nvSpPr>
          <p:cNvPr id="126" name="object 115">
            <a:extLst>
              <a:ext uri="{FF2B5EF4-FFF2-40B4-BE49-F238E27FC236}">
                <a16:creationId xmlns:a16="http://schemas.microsoft.com/office/drawing/2014/main" id="{BFB15A60-4F18-B2CD-B08D-5C0B5F19CD1E}"/>
              </a:ext>
            </a:extLst>
          </p:cNvPr>
          <p:cNvSpPr txBox="1"/>
          <p:nvPr/>
        </p:nvSpPr>
        <p:spPr>
          <a:xfrm>
            <a:off x="8704685" y="1247957"/>
            <a:ext cx="777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0240" algn="l"/>
              </a:tabLst>
            </a:pPr>
            <a:r>
              <a:rPr sz="1800" dirty="0">
                <a:latin typeface="Calibri"/>
                <a:cs typeface="Calibri"/>
              </a:rPr>
              <a:t>+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…	=</a:t>
            </a:r>
          </a:p>
        </p:txBody>
      </p:sp>
      <p:pic>
        <p:nvPicPr>
          <p:cNvPr id="127" name="object 111">
            <a:extLst>
              <a:ext uri="{FF2B5EF4-FFF2-40B4-BE49-F238E27FC236}">
                <a16:creationId xmlns:a16="http://schemas.microsoft.com/office/drawing/2014/main" id="{CA4DF76C-6B76-DABA-092B-D9DF8675122B}"/>
              </a:ext>
            </a:extLst>
          </p:cNvPr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9638824" y="1105255"/>
            <a:ext cx="1799968" cy="646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7464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15E6479-FFA9-AB4F-F5B9-4CF565362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a RNN Language Model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3EC1266-5158-9099-49F4-AFE6B5B7DF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en-US" dirty="0"/>
                  <a:t>However: Computing loss and gradients across </a:t>
                </a:r>
                <a:r>
                  <a:rPr lang="en-US" dirty="0">
                    <a:solidFill>
                      <a:schemeClr val="accent1"/>
                    </a:solidFill>
                  </a:rPr>
                  <a:t>entire corpus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2400" i="1" spc="-5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pPr>
                      <m:e>
                        <m:r>
                          <a:rPr lang="ar-AE" sz="2400" b="0" i="1" spc="-5" smtClean="0">
                            <a:latin typeface="Cambria Math" panose="02040503050406030204" pitchFamily="18" charset="0"/>
                            <a:cs typeface="Calibri"/>
                          </a:rPr>
                          <m:t>𝑥</m:t>
                        </m:r>
                      </m:e>
                      <m:sup>
                        <m:r>
                          <a:rPr lang="ar-AE" sz="2400" b="0" i="1" spc="-5" smtClean="0">
                            <a:latin typeface="Cambria Math" panose="02040503050406030204" pitchFamily="18" charset="0"/>
                            <a:cs typeface="Calibri"/>
                          </a:rPr>
                          <m:t>(1)</m:t>
                        </m:r>
                      </m:sup>
                    </m:sSup>
                    <m:r>
                      <a:rPr lang="ar-AE" sz="2400" b="0" i="1" spc="-5" smtClean="0">
                        <a:latin typeface="Cambria Math" panose="02040503050406030204" pitchFamily="18" charset="0"/>
                        <a:cs typeface="Calibri"/>
                      </a:rPr>
                      <m:t>,</m:t>
                    </m:r>
                    <m:sSup>
                      <m:sSupPr>
                        <m:ctrlPr>
                          <a:rPr lang="ar-AE" sz="2400" i="1" spc="-5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pPr>
                      <m:e>
                        <m:r>
                          <a:rPr lang="ar-AE" sz="2400" b="0" i="1" spc="-5">
                            <a:latin typeface="Cambria Math" panose="02040503050406030204" pitchFamily="18" charset="0"/>
                            <a:cs typeface="Calibri"/>
                          </a:rPr>
                          <m:t>𝑥</m:t>
                        </m:r>
                      </m:e>
                      <m:sup>
                        <m:r>
                          <a:rPr lang="ar-AE" sz="2400" b="0" i="1" spc="-5">
                            <a:latin typeface="Cambria Math" panose="02040503050406030204" pitchFamily="18" charset="0"/>
                            <a:cs typeface="Calibri"/>
                          </a:rPr>
                          <m:t>(</m:t>
                        </m:r>
                        <m:r>
                          <a:rPr lang="en-US" sz="2400" b="0" i="1" spc="-5" smtClean="0">
                            <a:latin typeface="Cambria Math" panose="02040503050406030204" pitchFamily="18" charset="0"/>
                            <a:cs typeface="Calibri"/>
                          </a:rPr>
                          <m:t>2</m:t>
                        </m:r>
                        <m:r>
                          <a:rPr lang="ar-AE" sz="2400" b="0" i="1" spc="-5">
                            <a:latin typeface="Cambria Math" panose="02040503050406030204" pitchFamily="18" charset="0"/>
                            <a:cs typeface="Calibri"/>
                          </a:rPr>
                          <m:t>)</m:t>
                        </m:r>
                      </m:sup>
                    </m:sSup>
                    <m:r>
                      <a:rPr lang="ar-AE" sz="2400" b="0" i="1" spc="-5">
                        <a:latin typeface="Cambria Math" panose="02040503050406030204" pitchFamily="18" charset="0"/>
                        <a:cs typeface="Calibri"/>
                      </a:rPr>
                      <m:t>,…,</m:t>
                    </m:r>
                    <m:sSup>
                      <m:sSupPr>
                        <m:ctrlPr>
                          <a:rPr lang="ar-AE" sz="2400" i="1" spc="-5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pPr>
                      <m:e>
                        <m:r>
                          <a:rPr lang="ar-AE" sz="2400" b="0" i="1" spc="-5">
                            <a:latin typeface="Cambria Math" panose="02040503050406030204" pitchFamily="18" charset="0"/>
                            <a:cs typeface="Calibri"/>
                          </a:rPr>
                          <m:t>𝑥</m:t>
                        </m:r>
                      </m:e>
                      <m:sup>
                        <m:r>
                          <a:rPr lang="ar-AE" sz="2400" b="0" i="1" spc="-5">
                            <a:latin typeface="Cambria Math" panose="02040503050406030204" pitchFamily="18" charset="0"/>
                            <a:cs typeface="Calibri"/>
                          </a:rPr>
                          <m:t>(</m:t>
                        </m:r>
                        <m:r>
                          <a:rPr lang="en-US" sz="2400" b="0" i="1" spc="-5" smtClean="0">
                            <a:latin typeface="Cambria Math" panose="02040503050406030204" pitchFamily="18" charset="0"/>
                            <a:cs typeface="Calibri"/>
                          </a:rPr>
                          <m:t>𝑇</m:t>
                        </m:r>
                        <m:r>
                          <a:rPr lang="ar-AE" sz="2400" b="0" i="1" spc="-5">
                            <a:latin typeface="Cambria Math" panose="02040503050406030204" pitchFamily="18" charset="0"/>
                            <a:cs typeface="Calibri"/>
                          </a:rPr>
                          <m:t>)</m:t>
                        </m:r>
                      </m:sup>
                    </m:sSup>
                    <m:r>
                      <a:rPr lang="ar-AE" sz="2400" b="0" i="1" spc="-5">
                        <a:latin typeface="Cambria Math" panose="02040503050406030204" pitchFamily="18" charset="0"/>
                        <a:cs typeface="Calibri"/>
                      </a:rPr>
                      <m:t> </m:t>
                    </m:r>
                  </m:oMath>
                </a14:m>
                <a:r>
                  <a:rPr lang="en-US" dirty="0"/>
                  <a:t>at once is </a:t>
                </a:r>
                <a:r>
                  <a:rPr lang="en-US" dirty="0">
                    <a:solidFill>
                      <a:schemeClr val="accent1"/>
                    </a:solidFill>
                  </a:rPr>
                  <a:t>too expensive </a:t>
                </a:r>
                <a:r>
                  <a:rPr lang="en-US" dirty="0"/>
                  <a:t>(memory-wise)!</a:t>
                </a:r>
              </a:p>
              <a:p>
                <a:pPr>
                  <a:lnSpc>
                    <a:spcPct val="100000"/>
                  </a:lnSpc>
                </a:pPr>
                <a:endParaRPr lang="en-US" dirty="0"/>
              </a:p>
              <a:p>
                <a:pPr>
                  <a:lnSpc>
                    <a:spcPct val="100000"/>
                  </a:lnSpc>
                </a:pPr>
                <a:endParaRPr lang="en-US" dirty="0"/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In practice, consider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2400" i="1" spc="-5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pPr>
                      <m:e>
                        <m:r>
                          <a:rPr lang="ar-AE" sz="2400" b="0" i="1" spc="-5" smtClean="0">
                            <a:latin typeface="Cambria Math" panose="02040503050406030204" pitchFamily="18" charset="0"/>
                            <a:cs typeface="Calibri"/>
                          </a:rPr>
                          <m:t>𝑥</m:t>
                        </m:r>
                      </m:e>
                      <m:sup>
                        <m:r>
                          <a:rPr lang="ar-AE" sz="2400" b="0" i="1" spc="-5" smtClean="0">
                            <a:latin typeface="Cambria Math" panose="02040503050406030204" pitchFamily="18" charset="0"/>
                            <a:cs typeface="Calibri"/>
                          </a:rPr>
                          <m:t>(1)</m:t>
                        </m:r>
                      </m:sup>
                    </m:sSup>
                    <m:r>
                      <a:rPr lang="ar-AE" sz="2400" b="0" i="1" spc="-5" smtClean="0">
                        <a:latin typeface="Cambria Math" panose="02040503050406030204" pitchFamily="18" charset="0"/>
                        <a:cs typeface="Calibri"/>
                      </a:rPr>
                      <m:t>,</m:t>
                    </m:r>
                    <m:sSup>
                      <m:sSupPr>
                        <m:ctrlPr>
                          <a:rPr lang="ar-AE" sz="2400" i="1" spc="-5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pPr>
                      <m:e>
                        <m:r>
                          <a:rPr lang="ar-AE" sz="2400" b="0" i="1" spc="-5">
                            <a:latin typeface="Cambria Math" panose="02040503050406030204" pitchFamily="18" charset="0"/>
                            <a:cs typeface="Calibri"/>
                          </a:rPr>
                          <m:t>𝑥</m:t>
                        </m:r>
                      </m:e>
                      <m:sup>
                        <m:r>
                          <a:rPr lang="ar-AE" sz="2400" b="0" i="1" spc="-5">
                            <a:latin typeface="Cambria Math" panose="02040503050406030204" pitchFamily="18" charset="0"/>
                            <a:cs typeface="Calibri"/>
                          </a:rPr>
                          <m:t>(</m:t>
                        </m:r>
                        <m:r>
                          <a:rPr lang="en-US" sz="2400" b="0" i="1" spc="-5" smtClean="0">
                            <a:latin typeface="Cambria Math" panose="02040503050406030204" pitchFamily="18" charset="0"/>
                            <a:cs typeface="Calibri"/>
                          </a:rPr>
                          <m:t>2</m:t>
                        </m:r>
                        <m:r>
                          <a:rPr lang="ar-AE" sz="2400" b="0" i="1" spc="-5">
                            <a:latin typeface="Cambria Math" panose="02040503050406030204" pitchFamily="18" charset="0"/>
                            <a:cs typeface="Calibri"/>
                          </a:rPr>
                          <m:t>)</m:t>
                        </m:r>
                      </m:sup>
                    </m:sSup>
                    <m:r>
                      <a:rPr lang="ar-AE" sz="2400" b="0" i="1" spc="-5">
                        <a:latin typeface="Cambria Math" panose="02040503050406030204" pitchFamily="18" charset="0"/>
                        <a:cs typeface="Calibri"/>
                      </a:rPr>
                      <m:t>,…,</m:t>
                    </m:r>
                    <m:sSup>
                      <m:sSupPr>
                        <m:ctrlPr>
                          <a:rPr lang="ar-AE" sz="2400" i="1" spc="-5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pPr>
                      <m:e>
                        <m:r>
                          <a:rPr lang="ar-AE" sz="2400" b="0" i="1" spc="-5">
                            <a:latin typeface="Cambria Math" panose="02040503050406030204" pitchFamily="18" charset="0"/>
                            <a:cs typeface="Calibri"/>
                          </a:rPr>
                          <m:t>𝑥</m:t>
                        </m:r>
                      </m:e>
                      <m:sup>
                        <m:r>
                          <a:rPr lang="ar-AE" sz="2400" b="0" i="1" spc="-5">
                            <a:latin typeface="Cambria Math" panose="02040503050406030204" pitchFamily="18" charset="0"/>
                            <a:cs typeface="Calibri"/>
                          </a:rPr>
                          <m:t>(</m:t>
                        </m:r>
                        <m:r>
                          <a:rPr lang="en-US" sz="2400" b="0" i="1" spc="-5" smtClean="0">
                            <a:latin typeface="Cambria Math" panose="02040503050406030204" pitchFamily="18" charset="0"/>
                            <a:cs typeface="Calibri"/>
                          </a:rPr>
                          <m:t>𝑇</m:t>
                        </m:r>
                        <m:r>
                          <a:rPr lang="ar-AE" sz="2400" b="0" i="1" spc="-5">
                            <a:latin typeface="Cambria Math" panose="02040503050406030204" pitchFamily="18" charset="0"/>
                            <a:cs typeface="Calibri"/>
                          </a:rPr>
                          <m:t>)</m:t>
                        </m:r>
                      </m:sup>
                    </m:sSup>
                    <m:r>
                      <a:rPr lang="ar-AE" sz="2400" b="0" i="1" spc="-5">
                        <a:latin typeface="Cambria Math" panose="02040503050406030204" pitchFamily="18" charset="0"/>
                        <a:cs typeface="Calibri"/>
                      </a:rPr>
                      <m:t> </m:t>
                    </m:r>
                  </m:oMath>
                </a14:m>
                <a:r>
                  <a:rPr lang="en-US" dirty="0"/>
                  <a:t>as a </a:t>
                </a:r>
                <a:r>
                  <a:rPr lang="en-US" dirty="0">
                    <a:solidFill>
                      <a:schemeClr val="accent1"/>
                    </a:solidFill>
                  </a:rPr>
                  <a:t>sentence</a:t>
                </a:r>
                <a:r>
                  <a:rPr lang="en-US" dirty="0"/>
                  <a:t> (or a </a:t>
                </a:r>
                <a:r>
                  <a:rPr lang="en-US" dirty="0">
                    <a:solidFill>
                      <a:schemeClr val="accent1"/>
                    </a:solidFill>
                  </a:rPr>
                  <a:t>document</a:t>
                </a:r>
                <a:r>
                  <a:rPr lang="en-US" dirty="0"/>
                  <a:t>)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u="sng" dirty="0"/>
                  <a:t>Recall: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chemeClr val="accent1"/>
                    </a:solidFill>
                  </a:rPr>
                  <a:t>Stochastic Gradient Descent </a:t>
                </a:r>
                <a:r>
                  <a:rPr lang="en-US" dirty="0"/>
                  <a:t>allows us to compute loss and gradients for small chunk of data, and update.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Compute loss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for a sentence (actually, a batch of sentences), compute         gradients and update weights. Repeat on a new batch of sentences.</a:t>
                </a:r>
                <a:endParaRPr lang="en-IN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3EC1266-5158-9099-49F4-AFE6B5B7DF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01" t="-701" r="-10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object 6">
            <a:extLst>
              <a:ext uri="{FF2B5EF4-FFF2-40B4-BE49-F238E27FC236}">
                <a16:creationId xmlns:a16="http://schemas.microsoft.com/office/drawing/2014/main" id="{B718CC94-986F-1335-980C-E7D8F11A645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013" y="2586108"/>
            <a:ext cx="2678854" cy="1004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8361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474787" y="3006769"/>
            <a:ext cx="9242425" cy="844462"/>
          </a:xfrm>
          <a:prstGeom prst="rect">
            <a:avLst/>
          </a:prstGeom>
        </p:spPr>
        <p:txBody>
          <a:bodyPr vert="horz" wrap="square" lIns="0" tIns="1333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5400" dirty="0"/>
              <a:t>Problems with RNNs</a:t>
            </a:r>
            <a:endParaRPr sz="5400" dirty="0"/>
          </a:p>
        </p:txBody>
      </p:sp>
    </p:spTree>
    <p:extLst>
      <p:ext uri="{BB962C8B-B14F-4D97-AF65-F5344CB8AC3E}">
        <p14:creationId xmlns:p14="http://schemas.microsoft.com/office/powerpoint/2010/main" val="23489936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D6A8A205-58DE-B430-AF29-A42493E88FF1}"/>
              </a:ext>
            </a:extLst>
          </p:cNvPr>
          <p:cNvGrpSpPr/>
          <p:nvPr/>
        </p:nvGrpSpPr>
        <p:grpSpPr>
          <a:xfrm>
            <a:off x="2717333" y="2104073"/>
            <a:ext cx="6755745" cy="2792730"/>
            <a:chOff x="2490317" y="912208"/>
            <a:chExt cx="6755745" cy="2792730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04C23056-253B-E03C-C2ED-08AEDF8EE427}"/>
                </a:ext>
              </a:extLst>
            </p:cNvPr>
            <p:cNvGrpSpPr/>
            <p:nvPr/>
          </p:nvGrpSpPr>
          <p:grpSpPr>
            <a:xfrm>
              <a:off x="2490317" y="2350848"/>
              <a:ext cx="4420970" cy="256655"/>
              <a:chOff x="2490317" y="2350848"/>
              <a:chExt cx="4420970" cy="256655"/>
            </a:xfrm>
          </p:grpSpPr>
          <p:pic>
            <p:nvPicPr>
              <p:cNvPr id="2" name="object 2"/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2490317" y="2364797"/>
                <a:ext cx="377192" cy="223178"/>
              </a:xfrm>
              <a:prstGeom prst="rect">
                <a:avLst/>
              </a:prstGeom>
            </p:spPr>
          </p:pic>
          <p:pic>
            <p:nvPicPr>
              <p:cNvPr id="3" name="object 3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516169" y="2350848"/>
                <a:ext cx="392120" cy="256655"/>
              </a:xfrm>
              <a:prstGeom prst="rect">
                <a:avLst/>
              </a:prstGeom>
            </p:spPr>
          </p:pic>
          <p:pic>
            <p:nvPicPr>
              <p:cNvPr id="4" name="object 4"/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6480299" y="2350848"/>
                <a:ext cx="430988" cy="256655"/>
              </a:xfrm>
              <a:prstGeom prst="rect">
                <a:avLst/>
              </a:prstGeom>
            </p:spPr>
          </p:pic>
        </p:grpSp>
        <p:grpSp>
          <p:nvGrpSpPr>
            <p:cNvPr id="5" name="object 5"/>
            <p:cNvGrpSpPr/>
            <p:nvPr/>
          </p:nvGrpSpPr>
          <p:grpSpPr>
            <a:xfrm>
              <a:off x="2708737" y="912208"/>
              <a:ext cx="6537325" cy="2792730"/>
              <a:chOff x="2708737" y="912208"/>
              <a:chExt cx="6537325" cy="2792730"/>
            </a:xfrm>
          </p:grpSpPr>
          <p:pic>
            <p:nvPicPr>
              <p:cNvPr id="6" name="object 6"/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8476973" y="2367959"/>
                <a:ext cx="392031" cy="239545"/>
              </a:xfrm>
              <a:prstGeom prst="rect">
                <a:avLst/>
              </a:prstGeom>
            </p:spPr>
          </p:pic>
          <p:sp>
            <p:nvSpPr>
              <p:cNvPr id="7" name="object 7"/>
              <p:cNvSpPr/>
              <p:nvPr/>
            </p:nvSpPr>
            <p:spPr>
              <a:xfrm>
                <a:off x="7097865" y="1213243"/>
                <a:ext cx="1879600" cy="2000885"/>
              </a:xfrm>
              <a:custGeom>
                <a:avLst/>
                <a:gdLst/>
                <a:ahLst/>
                <a:cxnLst/>
                <a:rect l="l" t="t" r="r" b="b"/>
                <a:pathLst>
                  <a:path w="1879600" h="2000885">
                    <a:moveTo>
                      <a:pt x="1641221" y="1945474"/>
                    </a:moveTo>
                    <a:lnTo>
                      <a:pt x="1546364" y="1890153"/>
                    </a:lnTo>
                    <a:lnTo>
                      <a:pt x="1540535" y="1891690"/>
                    </a:lnTo>
                    <a:lnTo>
                      <a:pt x="1535239" y="1900770"/>
                    </a:lnTo>
                    <a:lnTo>
                      <a:pt x="1536763" y="1906600"/>
                    </a:lnTo>
                    <a:lnTo>
                      <a:pt x="1587080" y="1935949"/>
                    </a:lnTo>
                    <a:lnTo>
                      <a:pt x="0" y="1935949"/>
                    </a:lnTo>
                    <a:lnTo>
                      <a:pt x="0" y="1954999"/>
                    </a:lnTo>
                    <a:lnTo>
                      <a:pt x="1587080" y="1954999"/>
                    </a:lnTo>
                    <a:lnTo>
                      <a:pt x="1536763" y="1984349"/>
                    </a:lnTo>
                    <a:lnTo>
                      <a:pt x="1535239" y="1990178"/>
                    </a:lnTo>
                    <a:lnTo>
                      <a:pt x="1540535" y="1999272"/>
                    </a:lnTo>
                    <a:lnTo>
                      <a:pt x="1546364" y="2000808"/>
                    </a:lnTo>
                    <a:lnTo>
                      <a:pt x="1624888" y="1954999"/>
                    </a:lnTo>
                    <a:lnTo>
                      <a:pt x="1641221" y="1945474"/>
                    </a:lnTo>
                    <a:close/>
                  </a:path>
                  <a:path w="1879600" h="2000885">
                    <a:moveTo>
                      <a:pt x="1879384" y="94856"/>
                    </a:moveTo>
                    <a:lnTo>
                      <a:pt x="1835073" y="18910"/>
                    </a:lnTo>
                    <a:lnTo>
                      <a:pt x="1824050" y="0"/>
                    </a:lnTo>
                    <a:lnTo>
                      <a:pt x="1768729" y="94856"/>
                    </a:lnTo>
                    <a:lnTo>
                      <a:pt x="1770253" y="100685"/>
                    </a:lnTo>
                    <a:lnTo>
                      <a:pt x="1779346" y="105981"/>
                    </a:lnTo>
                    <a:lnTo>
                      <a:pt x="1785175" y="104444"/>
                    </a:lnTo>
                    <a:lnTo>
                      <a:pt x="1814525" y="54140"/>
                    </a:lnTo>
                    <a:lnTo>
                      <a:pt x="1814525" y="1409001"/>
                    </a:lnTo>
                    <a:lnTo>
                      <a:pt x="1833575" y="1409001"/>
                    </a:lnTo>
                    <a:lnTo>
                      <a:pt x="1833575" y="54140"/>
                    </a:lnTo>
                    <a:lnTo>
                      <a:pt x="1862924" y="104444"/>
                    </a:lnTo>
                    <a:lnTo>
                      <a:pt x="1868754" y="105981"/>
                    </a:lnTo>
                    <a:lnTo>
                      <a:pt x="1877847" y="100685"/>
                    </a:lnTo>
                    <a:lnTo>
                      <a:pt x="1879384" y="94856"/>
                    </a:lnTo>
                    <a:close/>
                  </a:path>
                </a:pathLst>
              </a:custGeom>
              <a:solidFill>
                <a:srgbClr val="7F7F7F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+mn-cs"/>
                </a:endParaRPr>
              </a:p>
            </p:txBody>
          </p:sp>
          <p:pic>
            <p:nvPicPr>
              <p:cNvPr id="8" name="object 8"/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8844732" y="2715752"/>
                <a:ext cx="165353" cy="173996"/>
              </a:xfrm>
              <a:prstGeom prst="rect">
                <a:avLst/>
              </a:prstGeom>
            </p:spPr>
          </p:pic>
          <p:pic>
            <p:nvPicPr>
              <p:cNvPr id="9" name="object 9"/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8844732" y="2948171"/>
                <a:ext cx="165353" cy="173996"/>
              </a:xfrm>
              <a:prstGeom prst="rect">
                <a:avLst/>
              </a:prstGeom>
            </p:spPr>
          </p:pic>
          <p:pic>
            <p:nvPicPr>
              <p:cNvPr id="10" name="object 10"/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8844732" y="3180591"/>
                <a:ext cx="165353" cy="173996"/>
              </a:xfrm>
              <a:prstGeom prst="rect">
                <a:avLst/>
              </a:prstGeom>
            </p:spPr>
          </p:pic>
          <p:pic>
            <p:nvPicPr>
              <p:cNvPr id="11" name="object 11"/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8844732" y="3413010"/>
                <a:ext cx="165353" cy="173996"/>
              </a:xfrm>
              <a:prstGeom prst="rect">
                <a:avLst/>
              </a:prstGeom>
            </p:spPr>
          </p:pic>
          <p:sp>
            <p:nvSpPr>
              <p:cNvPr id="12" name="object 12"/>
              <p:cNvSpPr/>
              <p:nvPr/>
            </p:nvSpPr>
            <p:spPr>
              <a:xfrm>
                <a:off x="8739041" y="2622237"/>
                <a:ext cx="365760" cy="1073150"/>
              </a:xfrm>
              <a:custGeom>
                <a:avLst/>
                <a:gdLst/>
                <a:ahLst/>
                <a:cxnLst/>
                <a:rect l="l" t="t" r="r" b="b"/>
                <a:pathLst>
                  <a:path w="365759" h="1073150">
                    <a:moveTo>
                      <a:pt x="304798" y="0"/>
                    </a:moveTo>
                    <a:lnTo>
                      <a:pt x="328527" y="4790"/>
                    </a:lnTo>
                    <a:lnTo>
                      <a:pt x="347904" y="17855"/>
                    </a:lnTo>
                    <a:lnTo>
                      <a:pt x="360969" y="37232"/>
                    </a:lnTo>
                    <a:lnTo>
                      <a:pt x="365760" y="60961"/>
                    </a:lnTo>
                    <a:lnTo>
                      <a:pt x="365760" y="1011994"/>
                    </a:lnTo>
                    <a:lnTo>
                      <a:pt x="360969" y="1035723"/>
                    </a:lnTo>
                    <a:lnTo>
                      <a:pt x="347904" y="1055100"/>
                    </a:lnTo>
                    <a:lnTo>
                      <a:pt x="328527" y="1068165"/>
                    </a:lnTo>
                    <a:lnTo>
                      <a:pt x="304798" y="1072956"/>
                    </a:lnTo>
                    <a:lnTo>
                      <a:pt x="60961" y="1072956"/>
                    </a:lnTo>
                    <a:lnTo>
                      <a:pt x="37232" y="1068165"/>
                    </a:lnTo>
                    <a:lnTo>
                      <a:pt x="17855" y="1055100"/>
                    </a:lnTo>
                    <a:lnTo>
                      <a:pt x="4790" y="1035723"/>
                    </a:lnTo>
                    <a:lnTo>
                      <a:pt x="0" y="1011994"/>
                    </a:lnTo>
                    <a:lnTo>
                      <a:pt x="0" y="60961"/>
                    </a:lnTo>
                    <a:lnTo>
                      <a:pt x="4790" y="37232"/>
                    </a:lnTo>
                    <a:lnTo>
                      <a:pt x="17855" y="17855"/>
                    </a:lnTo>
                    <a:lnTo>
                      <a:pt x="37232" y="4790"/>
                    </a:lnTo>
                    <a:lnTo>
                      <a:pt x="60961" y="0"/>
                    </a:lnTo>
                    <a:lnTo>
                      <a:pt x="304798" y="0"/>
                    </a:lnTo>
                    <a:close/>
                  </a:path>
                </a:pathLst>
              </a:custGeom>
              <a:ln w="19050">
                <a:solidFill>
                  <a:srgbClr val="8C1515"/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+mn-cs"/>
                </a:endParaRPr>
              </a:p>
            </p:txBody>
          </p:sp>
          <p:sp>
            <p:nvSpPr>
              <p:cNvPr id="13" name="object 13"/>
              <p:cNvSpPr/>
              <p:nvPr/>
            </p:nvSpPr>
            <p:spPr>
              <a:xfrm>
                <a:off x="5090949" y="3103388"/>
                <a:ext cx="164147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641475" h="111125">
                    <a:moveTo>
                      <a:pt x="1546363" y="0"/>
                    </a:moveTo>
                    <a:lnTo>
                      <a:pt x="1540530" y="1535"/>
                    </a:lnTo>
                    <a:lnTo>
                      <a:pt x="1535229" y="10622"/>
                    </a:lnTo>
                    <a:lnTo>
                      <a:pt x="1536763" y="16455"/>
                    </a:lnTo>
                    <a:lnTo>
                      <a:pt x="1587075" y="45803"/>
                    </a:lnTo>
                    <a:lnTo>
                      <a:pt x="1622308" y="45803"/>
                    </a:lnTo>
                    <a:lnTo>
                      <a:pt x="1622308" y="64853"/>
                    </a:lnTo>
                    <a:lnTo>
                      <a:pt x="1587073" y="64853"/>
                    </a:lnTo>
                    <a:lnTo>
                      <a:pt x="1536763" y="94200"/>
                    </a:lnTo>
                    <a:lnTo>
                      <a:pt x="1535229" y="100034"/>
                    </a:lnTo>
                    <a:lnTo>
                      <a:pt x="1540530" y="109120"/>
                    </a:lnTo>
                    <a:lnTo>
                      <a:pt x="1546363" y="110656"/>
                    </a:lnTo>
                    <a:lnTo>
                      <a:pt x="1624882" y="64853"/>
                    </a:lnTo>
                    <a:lnTo>
                      <a:pt x="1622308" y="64853"/>
                    </a:lnTo>
                    <a:lnTo>
                      <a:pt x="1624884" y="64852"/>
                    </a:lnTo>
                    <a:lnTo>
                      <a:pt x="1641210" y="55328"/>
                    </a:lnTo>
                    <a:lnTo>
                      <a:pt x="1546363" y="0"/>
                    </a:lnTo>
                    <a:close/>
                  </a:path>
                  <a:path w="1641475" h="111125">
                    <a:moveTo>
                      <a:pt x="1603402" y="55328"/>
                    </a:moveTo>
                    <a:lnTo>
                      <a:pt x="1587073" y="64853"/>
                    </a:lnTo>
                    <a:lnTo>
                      <a:pt x="1622308" y="64853"/>
                    </a:lnTo>
                    <a:lnTo>
                      <a:pt x="1622308" y="63555"/>
                    </a:lnTo>
                    <a:lnTo>
                      <a:pt x="1617507" y="63555"/>
                    </a:lnTo>
                    <a:lnTo>
                      <a:pt x="1603402" y="55328"/>
                    </a:lnTo>
                    <a:close/>
                  </a:path>
                  <a:path w="1641475" h="111125">
                    <a:moveTo>
                      <a:pt x="0" y="45802"/>
                    </a:moveTo>
                    <a:lnTo>
                      <a:pt x="0" y="64852"/>
                    </a:lnTo>
                    <a:lnTo>
                      <a:pt x="1587075" y="64852"/>
                    </a:lnTo>
                    <a:lnTo>
                      <a:pt x="1603402" y="55328"/>
                    </a:lnTo>
                    <a:lnTo>
                      <a:pt x="1587075" y="45803"/>
                    </a:lnTo>
                    <a:lnTo>
                      <a:pt x="0" y="45802"/>
                    </a:lnTo>
                    <a:close/>
                  </a:path>
                  <a:path w="1641475" h="111125">
                    <a:moveTo>
                      <a:pt x="1617507" y="47100"/>
                    </a:moveTo>
                    <a:lnTo>
                      <a:pt x="1603402" y="55328"/>
                    </a:lnTo>
                    <a:lnTo>
                      <a:pt x="1617507" y="63555"/>
                    </a:lnTo>
                    <a:lnTo>
                      <a:pt x="1617507" y="47100"/>
                    </a:lnTo>
                    <a:close/>
                  </a:path>
                  <a:path w="1641475" h="111125">
                    <a:moveTo>
                      <a:pt x="1622308" y="47100"/>
                    </a:moveTo>
                    <a:lnTo>
                      <a:pt x="1617507" y="47100"/>
                    </a:lnTo>
                    <a:lnTo>
                      <a:pt x="1617507" y="63555"/>
                    </a:lnTo>
                    <a:lnTo>
                      <a:pt x="1622308" y="63555"/>
                    </a:lnTo>
                    <a:lnTo>
                      <a:pt x="1622308" y="47100"/>
                    </a:lnTo>
                    <a:close/>
                  </a:path>
                  <a:path w="1641475" h="111125">
                    <a:moveTo>
                      <a:pt x="1587075" y="45803"/>
                    </a:moveTo>
                    <a:lnTo>
                      <a:pt x="1603402" y="55328"/>
                    </a:lnTo>
                    <a:lnTo>
                      <a:pt x="1617507" y="47100"/>
                    </a:lnTo>
                    <a:lnTo>
                      <a:pt x="1622308" y="47100"/>
                    </a:lnTo>
                    <a:lnTo>
                      <a:pt x="1622308" y="45803"/>
                    </a:lnTo>
                    <a:lnTo>
                      <a:pt x="1587075" y="45803"/>
                    </a:lnTo>
                    <a:close/>
                  </a:path>
                </a:pathLst>
              </a:custGeom>
              <a:solidFill>
                <a:srgbClr val="7F7F7F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+mn-cs"/>
                </a:endParaRPr>
              </a:p>
            </p:txBody>
          </p:sp>
          <p:pic>
            <p:nvPicPr>
              <p:cNvPr id="14" name="object 14"/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6837806" y="2715752"/>
                <a:ext cx="165353" cy="173996"/>
              </a:xfrm>
              <a:prstGeom prst="rect">
                <a:avLst/>
              </a:prstGeom>
            </p:spPr>
          </p:pic>
          <p:pic>
            <p:nvPicPr>
              <p:cNvPr id="15" name="object 15"/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6837806" y="2948171"/>
                <a:ext cx="165353" cy="173996"/>
              </a:xfrm>
              <a:prstGeom prst="rect">
                <a:avLst/>
              </a:prstGeom>
            </p:spPr>
          </p:pic>
          <p:pic>
            <p:nvPicPr>
              <p:cNvPr id="16" name="object 16"/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6837806" y="3180591"/>
                <a:ext cx="165353" cy="173996"/>
              </a:xfrm>
              <a:prstGeom prst="rect">
                <a:avLst/>
              </a:prstGeom>
            </p:spPr>
          </p:pic>
          <p:pic>
            <p:nvPicPr>
              <p:cNvPr id="17" name="object 17"/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6837806" y="3413010"/>
                <a:ext cx="165353" cy="173996"/>
              </a:xfrm>
              <a:prstGeom prst="rect">
                <a:avLst/>
              </a:prstGeom>
            </p:spPr>
          </p:pic>
          <p:sp>
            <p:nvSpPr>
              <p:cNvPr id="18" name="object 18"/>
              <p:cNvSpPr/>
              <p:nvPr/>
            </p:nvSpPr>
            <p:spPr>
              <a:xfrm>
                <a:off x="6732116" y="2622237"/>
                <a:ext cx="365760" cy="1073150"/>
              </a:xfrm>
              <a:custGeom>
                <a:avLst/>
                <a:gdLst/>
                <a:ahLst/>
                <a:cxnLst/>
                <a:rect l="l" t="t" r="r" b="b"/>
                <a:pathLst>
                  <a:path w="365759" h="1073150">
                    <a:moveTo>
                      <a:pt x="304798" y="0"/>
                    </a:moveTo>
                    <a:lnTo>
                      <a:pt x="328527" y="4790"/>
                    </a:lnTo>
                    <a:lnTo>
                      <a:pt x="347904" y="17855"/>
                    </a:lnTo>
                    <a:lnTo>
                      <a:pt x="360969" y="37232"/>
                    </a:lnTo>
                    <a:lnTo>
                      <a:pt x="365760" y="60961"/>
                    </a:lnTo>
                    <a:lnTo>
                      <a:pt x="365760" y="1011994"/>
                    </a:lnTo>
                    <a:lnTo>
                      <a:pt x="360969" y="1035723"/>
                    </a:lnTo>
                    <a:lnTo>
                      <a:pt x="347904" y="1055100"/>
                    </a:lnTo>
                    <a:lnTo>
                      <a:pt x="328527" y="1068165"/>
                    </a:lnTo>
                    <a:lnTo>
                      <a:pt x="304798" y="1072956"/>
                    </a:lnTo>
                    <a:lnTo>
                      <a:pt x="60961" y="1072956"/>
                    </a:lnTo>
                    <a:lnTo>
                      <a:pt x="37232" y="1068165"/>
                    </a:lnTo>
                    <a:lnTo>
                      <a:pt x="17855" y="1055100"/>
                    </a:lnTo>
                    <a:lnTo>
                      <a:pt x="4790" y="1035723"/>
                    </a:lnTo>
                    <a:lnTo>
                      <a:pt x="0" y="1011994"/>
                    </a:lnTo>
                    <a:lnTo>
                      <a:pt x="0" y="60961"/>
                    </a:lnTo>
                    <a:lnTo>
                      <a:pt x="4790" y="37232"/>
                    </a:lnTo>
                    <a:lnTo>
                      <a:pt x="17855" y="17855"/>
                    </a:lnTo>
                    <a:lnTo>
                      <a:pt x="37232" y="4790"/>
                    </a:lnTo>
                    <a:lnTo>
                      <a:pt x="60961" y="0"/>
                    </a:lnTo>
                    <a:lnTo>
                      <a:pt x="304798" y="0"/>
                    </a:lnTo>
                    <a:close/>
                  </a:path>
                </a:pathLst>
              </a:custGeom>
              <a:ln w="19050">
                <a:solidFill>
                  <a:srgbClr val="8C1515"/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+mn-cs"/>
                </a:endParaRPr>
              </a:p>
            </p:txBody>
          </p:sp>
          <p:pic>
            <p:nvPicPr>
              <p:cNvPr id="19" name="object 19"/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2823952" y="2715752"/>
                <a:ext cx="165353" cy="173996"/>
              </a:xfrm>
              <a:prstGeom prst="rect">
                <a:avLst/>
              </a:prstGeom>
            </p:spPr>
          </p:pic>
          <p:pic>
            <p:nvPicPr>
              <p:cNvPr id="20" name="object 20"/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2823952" y="2948171"/>
                <a:ext cx="165353" cy="173996"/>
              </a:xfrm>
              <a:prstGeom prst="rect">
                <a:avLst/>
              </a:prstGeom>
            </p:spPr>
          </p:pic>
          <p:pic>
            <p:nvPicPr>
              <p:cNvPr id="21" name="object 21"/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2823952" y="3180591"/>
                <a:ext cx="165353" cy="173996"/>
              </a:xfrm>
              <a:prstGeom prst="rect">
                <a:avLst/>
              </a:prstGeom>
            </p:spPr>
          </p:pic>
          <p:pic>
            <p:nvPicPr>
              <p:cNvPr id="22" name="object 22"/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2823952" y="3413010"/>
                <a:ext cx="165353" cy="173996"/>
              </a:xfrm>
              <a:prstGeom prst="rect">
                <a:avLst/>
              </a:prstGeom>
            </p:spPr>
          </p:pic>
          <p:sp>
            <p:nvSpPr>
              <p:cNvPr id="23" name="object 23"/>
              <p:cNvSpPr/>
              <p:nvPr/>
            </p:nvSpPr>
            <p:spPr>
              <a:xfrm>
                <a:off x="2718262" y="2622237"/>
                <a:ext cx="365760" cy="1073150"/>
              </a:xfrm>
              <a:custGeom>
                <a:avLst/>
                <a:gdLst/>
                <a:ahLst/>
                <a:cxnLst/>
                <a:rect l="l" t="t" r="r" b="b"/>
                <a:pathLst>
                  <a:path w="365760" h="1073150">
                    <a:moveTo>
                      <a:pt x="304798" y="0"/>
                    </a:moveTo>
                    <a:lnTo>
                      <a:pt x="328527" y="4790"/>
                    </a:lnTo>
                    <a:lnTo>
                      <a:pt x="347904" y="17855"/>
                    </a:lnTo>
                    <a:lnTo>
                      <a:pt x="360969" y="37232"/>
                    </a:lnTo>
                    <a:lnTo>
                      <a:pt x="365760" y="60961"/>
                    </a:lnTo>
                    <a:lnTo>
                      <a:pt x="365760" y="1011994"/>
                    </a:lnTo>
                    <a:lnTo>
                      <a:pt x="360969" y="1035723"/>
                    </a:lnTo>
                    <a:lnTo>
                      <a:pt x="347904" y="1055100"/>
                    </a:lnTo>
                    <a:lnTo>
                      <a:pt x="328527" y="1068165"/>
                    </a:lnTo>
                    <a:lnTo>
                      <a:pt x="304798" y="1072956"/>
                    </a:lnTo>
                    <a:lnTo>
                      <a:pt x="60961" y="1072956"/>
                    </a:lnTo>
                    <a:lnTo>
                      <a:pt x="37232" y="1068165"/>
                    </a:lnTo>
                    <a:lnTo>
                      <a:pt x="17855" y="1055100"/>
                    </a:lnTo>
                    <a:lnTo>
                      <a:pt x="4790" y="1035723"/>
                    </a:lnTo>
                    <a:lnTo>
                      <a:pt x="0" y="1011994"/>
                    </a:lnTo>
                    <a:lnTo>
                      <a:pt x="0" y="60961"/>
                    </a:lnTo>
                    <a:lnTo>
                      <a:pt x="4790" y="37232"/>
                    </a:lnTo>
                    <a:lnTo>
                      <a:pt x="17855" y="17855"/>
                    </a:lnTo>
                    <a:lnTo>
                      <a:pt x="37232" y="4790"/>
                    </a:lnTo>
                    <a:lnTo>
                      <a:pt x="60961" y="0"/>
                    </a:lnTo>
                    <a:lnTo>
                      <a:pt x="304798" y="0"/>
                    </a:lnTo>
                    <a:close/>
                  </a:path>
                </a:pathLst>
              </a:custGeom>
              <a:ln w="19050">
                <a:solidFill>
                  <a:srgbClr val="8C1515"/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+mn-cs"/>
                </a:endParaRPr>
              </a:p>
            </p:txBody>
          </p:sp>
          <p:sp>
            <p:nvSpPr>
              <p:cNvPr id="24" name="object 24"/>
              <p:cNvSpPr/>
              <p:nvPr/>
            </p:nvSpPr>
            <p:spPr>
              <a:xfrm>
                <a:off x="3084022" y="3103388"/>
                <a:ext cx="164147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641475" h="111125">
                    <a:moveTo>
                      <a:pt x="1546363" y="0"/>
                    </a:moveTo>
                    <a:lnTo>
                      <a:pt x="1540531" y="1535"/>
                    </a:lnTo>
                    <a:lnTo>
                      <a:pt x="1535229" y="10622"/>
                    </a:lnTo>
                    <a:lnTo>
                      <a:pt x="1536764" y="16455"/>
                    </a:lnTo>
                    <a:lnTo>
                      <a:pt x="1587076" y="45803"/>
                    </a:lnTo>
                    <a:lnTo>
                      <a:pt x="1622308" y="45803"/>
                    </a:lnTo>
                    <a:lnTo>
                      <a:pt x="1622308" y="64853"/>
                    </a:lnTo>
                    <a:lnTo>
                      <a:pt x="1587074" y="64853"/>
                    </a:lnTo>
                    <a:lnTo>
                      <a:pt x="1536764" y="94200"/>
                    </a:lnTo>
                    <a:lnTo>
                      <a:pt x="1535229" y="100034"/>
                    </a:lnTo>
                    <a:lnTo>
                      <a:pt x="1540531" y="109120"/>
                    </a:lnTo>
                    <a:lnTo>
                      <a:pt x="1546363" y="110656"/>
                    </a:lnTo>
                    <a:lnTo>
                      <a:pt x="1624883" y="64853"/>
                    </a:lnTo>
                    <a:lnTo>
                      <a:pt x="1622308" y="64853"/>
                    </a:lnTo>
                    <a:lnTo>
                      <a:pt x="1624885" y="64852"/>
                    </a:lnTo>
                    <a:lnTo>
                      <a:pt x="1641212" y="55328"/>
                    </a:lnTo>
                    <a:lnTo>
                      <a:pt x="1546363" y="0"/>
                    </a:lnTo>
                    <a:close/>
                  </a:path>
                  <a:path w="1641475" h="111125">
                    <a:moveTo>
                      <a:pt x="1603404" y="55328"/>
                    </a:moveTo>
                    <a:lnTo>
                      <a:pt x="1587074" y="64853"/>
                    </a:lnTo>
                    <a:lnTo>
                      <a:pt x="1622308" y="64853"/>
                    </a:lnTo>
                    <a:lnTo>
                      <a:pt x="1622308" y="63555"/>
                    </a:lnTo>
                    <a:lnTo>
                      <a:pt x="1617508" y="63555"/>
                    </a:lnTo>
                    <a:lnTo>
                      <a:pt x="1603404" y="55328"/>
                    </a:lnTo>
                    <a:close/>
                  </a:path>
                  <a:path w="1641475" h="111125">
                    <a:moveTo>
                      <a:pt x="0" y="45802"/>
                    </a:moveTo>
                    <a:lnTo>
                      <a:pt x="0" y="64852"/>
                    </a:lnTo>
                    <a:lnTo>
                      <a:pt x="1587076" y="64852"/>
                    </a:lnTo>
                    <a:lnTo>
                      <a:pt x="1603404" y="55328"/>
                    </a:lnTo>
                    <a:lnTo>
                      <a:pt x="1587076" y="45803"/>
                    </a:lnTo>
                    <a:lnTo>
                      <a:pt x="0" y="45802"/>
                    </a:lnTo>
                    <a:close/>
                  </a:path>
                  <a:path w="1641475" h="111125">
                    <a:moveTo>
                      <a:pt x="1617508" y="47100"/>
                    </a:moveTo>
                    <a:lnTo>
                      <a:pt x="1603404" y="55328"/>
                    </a:lnTo>
                    <a:lnTo>
                      <a:pt x="1617508" y="63555"/>
                    </a:lnTo>
                    <a:lnTo>
                      <a:pt x="1617508" y="47100"/>
                    </a:lnTo>
                    <a:close/>
                  </a:path>
                  <a:path w="1641475" h="111125">
                    <a:moveTo>
                      <a:pt x="1622308" y="47100"/>
                    </a:moveTo>
                    <a:lnTo>
                      <a:pt x="1617508" y="47100"/>
                    </a:lnTo>
                    <a:lnTo>
                      <a:pt x="1617508" y="63555"/>
                    </a:lnTo>
                    <a:lnTo>
                      <a:pt x="1622308" y="63555"/>
                    </a:lnTo>
                    <a:lnTo>
                      <a:pt x="1622308" y="47100"/>
                    </a:lnTo>
                    <a:close/>
                  </a:path>
                  <a:path w="1641475" h="111125">
                    <a:moveTo>
                      <a:pt x="1587076" y="45803"/>
                    </a:moveTo>
                    <a:lnTo>
                      <a:pt x="1603404" y="55328"/>
                    </a:lnTo>
                    <a:lnTo>
                      <a:pt x="1617508" y="47100"/>
                    </a:lnTo>
                    <a:lnTo>
                      <a:pt x="1622308" y="47100"/>
                    </a:lnTo>
                    <a:lnTo>
                      <a:pt x="1622308" y="45803"/>
                    </a:lnTo>
                    <a:lnTo>
                      <a:pt x="1587076" y="45803"/>
                    </a:lnTo>
                    <a:close/>
                  </a:path>
                </a:pathLst>
              </a:custGeom>
              <a:solidFill>
                <a:srgbClr val="7F7F7F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+mn-cs"/>
                </a:endParaRPr>
              </a:p>
            </p:txBody>
          </p:sp>
          <p:pic>
            <p:nvPicPr>
              <p:cNvPr id="25" name="object 25"/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4830879" y="2715752"/>
                <a:ext cx="165353" cy="173996"/>
              </a:xfrm>
              <a:prstGeom prst="rect">
                <a:avLst/>
              </a:prstGeom>
            </p:spPr>
          </p:pic>
          <p:pic>
            <p:nvPicPr>
              <p:cNvPr id="26" name="object 26"/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4830879" y="2948171"/>
                <a:ext cx="165353" cy="173996"/>
              </a:xfrm>
              <a:prstGeom prst="rect">
                <a:avLst/>
              </a:prstGeom>
            </p:spPr>
          </p:pic>
          <p:pic>
            <p:nvPicPr>
              <p:cNvPr id="27" name="object 27"/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4830879" y="3180591"/>
                <a:ext cx="165353" cy="173996"/>
              </a:xfrm>
              <a:prstGeom prst="rect">
                <a:avLst/>
              </a:prstGeom>
            </p:spPr>
          </p:pic>
          <p:pic>
            <p:nvPicPr>
              <p:cNvPr id="28" name="object 28"/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4830879" y="3413010"/>
                <a:ext cx="165353" cy="173996"/>
              </a:xfrm>
              <a:prstGeom prst="rect">
                <a:avLst/>
              </a:prstGeom>
            </p:spPr>
          </p:pic>
          <p:sp>
            <p:nvSpPr>
              <p:cNvPr id="29" name="object 29"/>
              <p:cNvSpPr/>
              <p:nvPr/>
            </p:nvSpPr>
            <p:spPr>
              <a:xfrm>
                <a:off x="4725188" y="2622237"/>
                <a:ext cx="365760" cy="1073150"/>
              </a:xfrm>
              <a:custGeom>
                <a:avLst/>
                <a:gdLst/>
                <a:ahLst/>
                <a:cxnLst/>
                <a:rect l="l" t="t" r="r" b="b"/>
                <a:pathLst>
                  <a:path w="365760" h="1073150">
                    <a:moveTo>
                      <a:pt x="304798" y="0"/>
                    </a:moveTo>
                    <a:lnTo>
                      <a:pt x="328527" y="4790"/>
                    </a:lnTo>
                    <a:lnTo>
                      <a:pt x="347904" y="17855"/>
                    </a:lnTo>
                    <a:lnTo>
                      <a:pt x="360969" y="37232"/>
                    </a:lnTo>
                    <a:lnTo>
                      <a:pt x="365760" y="60961"/>
                    </a:lnTo>
                    <a:lnTo>
                      <a:pt x="365760" y="1011994"/>
                    </a:lnTo>
                    <a:lnTo>
                      <a:pt x="360969" y="1035723"/>
                    </a:lnTo>
                    <a:lnTo>
                      <a:pt x="347904" y="1055100"/>
                    </a:lnTo>
                    <a:lnTo>
                      <a:pt x="328527" y="1068165"/>
                    </a:lnTo>
                    <a:lnTo>
                      <a:pt x="304798" y="1072956"/>
                    </a:lnTo>
                    <a:lnTo>
                      <a:pt x="60961" y="1072956"/>
                    </a:lnTo>
                    <a:lnTo>
                      <a:pt x="37232" y="1068165"/>
                    </a:lnTo>
                    <a:lnTo>
                      <a:pt x="17855" y="1055100"/>
                    </a:lnTo>
                    <a:lnTo>
                      <a:pt x="4790" y="1035723"/>
                    </a:lnTo>
                    <a:lnTo>
                      <a:pt x="0" y="1011994"/>
                    </a:lnTo>
                    <a:lnTo>
                      <a:pt x="0" y="60961"/>
                    </a:lnTo>
                    <a:lnTo>
                      <a:pt x="4790" y="37232"/>
                    </a:lnTo>
                    <a:lnTo>
                      <a:pt x="17855" y="17855"/>
                    </a:lnTo>
                    <a:lnTo>
                      <a:pt x="37232" y="4790"/>
                    </a:lnTo>
                    <a:lnTo>
                      <a:pt x="60961" y="0"/>
                    </a:lnTo>
                    <a:lnTo>
                      <a:pt x="304798" y="0"/>
                    </a:lnTo>
                    <a:close/>
                  </a:path>
                </a:pathLst>
              </a:custGeom>
              <a:ln w="19050">
                <a:solidFill>
                  <a:srgbClr val="8C1515"/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+mn-cs"/>
                </a:endParaRPr>
              </a:p>
            </p:txBody>
          </p:sp>
          <p:pic>
            <p:nvPicPr>
              <p:cNvPr id="30" name="object 30"/>
              <p:cNvPicPr/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3744756" y="2873278"/>
                <a:ext cx="302182" cy="188746"/>
              </a:xfrm>
              <a:prstGeom prst="rect">
                <a:avLst/>
              </a:prstGeom>
            </p:spPr>
          </p:pic>
          <p:pic>
            <p:nvPicPr>
              <p:cNvPr id="31" name="object 31"/>
              <p:cNvPicPr/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5768704" y="2873278"/>
                <a:ext cx="302182" cy="188746"/>
              </a:xfrm>
              <a:prstGeom prst="rect">
                <a:avLst/>
              </a:prstGeom>
            </p:spPr>
          </p:pic>
          <p:pic>
            <p:nvPicPr>
              <p:cNvPr id="32" name="object 32"/>
              <p:cNvPicPr/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7775629" y="2873278"/>
                <a:ext cx="302182" cy="188746"/>
              </a:xfrm>
              <a:prstGeom prst="rect">
                <a:avLst/>
              </a:prstGeom>
            </p:spPr>
          </p:pic>
          <p:pic>
            <p:nvPicPr>
              <p:cNvPr id="33" name="object 33"/>
              <p:cNvPicPr/>
              <p:nvPr/>
            </p:nvPicPr>
            <p:blipFill>
              <a:blip r:embed="rId11" cstate="print"/>
              <a:stretch>
                <a:fillRect/>
              </a:stretch>
            </p:blipFill>
            <p:spPr>
              <a:xfrm>
                <a:off x="8576168" y="912208"/>
                <a:ext cx="669359" cy="276398"/>
              </a:xfrm>
              <a:prstGeom prst="rect">
                <a:avLst/>
              </a:prstGeom>
            </p:spPr>
          </p:pic>
        </p:grpSp>
      </p:grpSp>
      <p:sp>
        <p:nvSpPr>
          <p:cNvPr id="34" name="object 34"/>
          <p:cNvSpPr txBox="1">
            <a:spLocks noGrp="1"/>
          </p:cNvSpPr>
          <p:nvPr>
            <p:ph type="title"/>
          </p:nvPr>
        </p:nvSpPr>
        <p:spPr>
          <a:xfrm>
            <a:off x="442913" y="955948"/>
            <a:ext cx="1130617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Vanishing</a:t>
            </a:r>
            <a:r>
              <a:rPr dirty="0"/>
              <a:t> </a:t>
            </a:r>
            <a:r>
              <a:rPr spc="-10" dirty="0"/>
              <a:t>and</a:t>
            </a:r>
            <a:r>
              <a:rPr spc="-5" dirty="0"/>
              <a:t> Exploding</a:t>
            </a:r>
            <a:r>
              <a:rPr dirty="0"/>
              <a:t> </a:t>
            </a:r>
            <a:r>
              <a:rPr spc="-5" dirty="0"/>
              <a:t>Gradients</a:t>
            </a:r>
          </a:p>
        </p:txBody>
      </p:sp>
    </p:spTree>
    <p:extLst>
      <p:ext uri="{BB962C8B-B14F-4D97-AF65-F5344CB8AC3E}">
        <p14:creationId xmlns:p14="http://schemas.microsoft.com/office/powerpoint/2010/main" val="38053249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2913" y="955948"/>
            <a:ext cx="1130617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Effect</a:t>
            </a:r>
            <a:r>
              <a:rPr spc="-10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lang="en-US" spc="-5" dirty="0"/>
              <a:t>V</a:t>
            </a:r>
            <a:r>
              <a:rPr spc="-5" dirty="0"/>
              <a:t>anishing</a:t>
            </a:r>
            <a:r>
              <a:rPr spc="-10" dirty="0"/>
              <a:t> </a:t>
            </a:r>
            <a:r>
              <a:rPr lang="en-US" spc="-5" dirty="0"/>
              <a:t>G</a:t>
            </a:r>
            <a:r>
              <a:rPr spc="-5" dirty="0"/>
              <a:t>radient </a:t>
            </a:r>
            <a:r>
              <a:rPr dirty="0"/>
              <a:t>on</a:t>
            </a:r>
            <a:r>
              <a:rPr spc="-10" dirty="0"/>
              <a:t> </a:t>
            </a:r>
            <a:r>
              <a:rPr spc="-5" dirty="0"/>
              <a:t>RNN-LM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2913" y="1808163"/>
            <a:ext cx="11306175" cy="3273332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405765" marR="30480" lvl="0" indent="-342900" algn="l" defTabSz="914400" rtl="0" eaLnBrk="1" fontAlgn="auto" latinLnBrk="0" hangingPunct="1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Clr>
                <a:srgbClr val="8C1515"/>
              </a:buClr>
              <a:buSzTx/>
              <a:buFont typeface="Times New Roman"/>
              <a:buChar char="•"/>
              <a:tabLst>
                <a:tab pos="405765" algn="l"/>
                <a:tab pos="406400" algn="l"/>
                <a:tab pos="8794115" algn="l"/>
              </a:tabLst>
              <a:defRPr/>
            </a:pP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LM 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task: </a:t>
            </a:r>
            <a:r>
              <a:rPr kumimoji="0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When she </a:t>
            </a:r>
            <a:r>
              <a:rPr kumimoji="0" sz="24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tried to print </a:t>
            </a:r>
            <a:r>
              <a:rPr kumimoji="0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her </a:t>
            </a:r>
            <a:r>
              <a:rPr kumimoji="0" sz="24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tickets, </a:t>
            </a:r>
            <a:r>
              <a:rPr kumimoji="0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she found </a:t>
            </a:r>
            <a:r>
              <a:rPr kumimoji="0" sz="24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that the printer was </a:t>
            </a:r>
            <a:r>
              <a:rPr kumimoji="0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out of toner. </a:t>
            </a:r>
            <a:r>
              <a:rPr kumimoji="0" sz="2400" b="0" i="1" u="none" strike="noStrike" kern="1200" cap="none" spc="-5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She went </a:t>
            </a:r>
            <a:r>
              <a:rPr kumimoji="0" sz="24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to the stationery </a:t>
            </a:r>
            <a:r>
              <a:rPr kumimoji="0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store </a:t>
            </a:r>
            <a:r>
              <a:rPr kumimoji="0" sz="24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to </a:t>
            </a:r>
            <a:r>
              <a:rPr kumimoji="0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buy more toner. </a:t>
            </a:r>
            <a:r>
              <a:rPr kumimoji="0" sz="24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It was </a:t>
            </a:r>
            <a:r>
              <a:rPr kumimoji="0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very overpriced. </a:t>
            </a:r>
            <a:r>
              <a:rPr kumimoji="0" sz="24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After </a:t>
            </a:r>
            <a:r>
              <a:rPr kumimoji="0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24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installing the</a:t>
            </a:r>
            <a:r>
              <a:rPr kumimoji="0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toner </a:t>
            </a:r>
            <a:r>
              <a:rPr kumimoji="0" sz="24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into</a:t>
            </a:r>
            <a:r>
              <a:rPr kumimoji="0" sz="2400" b="0" i="1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24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the</a:t>
            </a:r>
            <a:r>
              <a:rPr kumimoji="0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24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printer, </a:t>
            </a:r>
            <a:r>
              <a:rPr kumimoji="0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she </a:t>
            </a:r>
            <a:r>
              <a:rPr kumimoji="0" sz="24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finally</a:t>
            </a:r>
            <a:r>
              <a:rPr kumimoji="0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24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printed</a:t>
            </a:r>
            <a:r>
              <a:rPr kumimoji="0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her</a:t>
            </a:r>
            <a:r>
              <a:rPr kumimoji="0" sz="24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2400" b="0" i="0" u="heavy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Aptos Display"/>
                <a:ea typeface="+mn-ea"/>
                <a:cs typeface="Times New Roman"/>
              </a:rPr>
              <a:t> 	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Clr>
                <a:srgbClr val="8C1515"/>
              </a:buClr>
              <a:buSzTx/>
              <a:buFont typeface="Times New Roman"/>
              <a:buChar char="•"/>
              <a:tabLst/>
              <a:defRPr/>
            </a:pP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Times New Roman"/>
            </a:endParaRPr>
          </a:p>
          <a:p>
            <a:pPr marL="405765" marR="784225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1515"/>
              </a:buClr>
              <a:buSzTx/>
              <a:buFont typeface="Times New Roman"/>
              <a:buChar char="•"/>
              <a:tabLst>
                <a:tab pos="405765" algn="l"/>
                <a:tab pos="406400" algn="l"/>
              </a:tabLst>
              <a:defRPr/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To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learn from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this training example,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the</a:t>
            </a:r>
            <a:r>
              <a:rPr kumimoji="0" sz="24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RNN-LM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needs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to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model the</a:t>
            </a:r>
            <a:r>
              <a:rPr kumimoji="0" sz="2400" b="0" i="0" u="none" strike="noStrike" kern="1200" cap="none" spc="5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dependency </a:t>
            </a:r>
            <a:r>
              <a:rPr kumimoji="0" sz="2400" b="0" i="0" u="none" strike="noStrike" kern="1200" cap="none" spc="-525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between </a:t>
            </a:r>
            <a:r>
              <a:rPr kumimoji="0" sz="24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“tickets”</a:t>
            </a:r>
            <a:r>
              <a:rPr kumimoji="0" sz="2400" b="0" i="1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on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the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7</a:t>
            </a:r>
            <a:r>
              <a:rPr kumimoji="0" sz="2400" b="0" i="0" u="none" strike="noStrike" kern="1200" cap="none" spc="-7" normalizeH="0" baseline="24305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th</a:t>
            </a:r>
            <a:r>
              <a:rPr kumimoji="0" sz="2400" b="0" i="0" u="none" strike="noStrike" kern="1200" cap="none" spc="262" normalizeH="0" baseline="24305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step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and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the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target word </a:t>
            </a:r>
            <a:r>
              <a:rPr kumimoji="0" sz="24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“tickets”</a:t>
            </a:r>
            <a:r>
              <a:rPr kumimoji="0" sz="2400" b="0" i="1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at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the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end.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>
                <a:srgbClr val="8C1515"/>
              </a:buClr>
              <a:buSzTx/>
              <a:buFont typeface="Times New Roman"/>
              <a:buChar char="•"/>
              <a:tabLst/>
              <a:defRPr/>
            </a:pP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  <a:p>
            <a:pPr marL="4064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1515"/>
              </a:buClr>
              <a:buSzTx/>
              <a:buFont typeface="Times New Roman"/>
              <a:buChar char="•"/>
              <a:tabLst>
                <a:tab pos="405765" algn="l"/>
                <a:tab pos="406400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But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if</a:t>
            </a:r>
            <a:r>
              <a:rPr kumimoji="0" sz="24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the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gradient is small, the</a:t>
            </a:r>
            <a:r>
              <a:rPr kumimoji="0" sz="24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model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can’t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learn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this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dependency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  <a:p>
            <a:pPr marL="8636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1515"/>
              </a:buClr>
              <a:buSzTx/>
              <a:buFont typeface="Times New Roman"/>
              <a:buChar char="•"/>
              <a:tabLst>
                <a:tab pos="405765" algn="l"/>
                <a:tab pos="406400" algn="l"/>
              </a:tabLst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So,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the</a:t>
            </a:r>
            <a:r>
              <a:rPr kumimoji="0" sz="2000" b="0" i="0" u="none" strike="noStrike" kern="120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model is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unable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to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predict similar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long-distance</a:t>
            </a:r>
            <a:r>
              <a:rPr kumimoji="0" sz="2000" b="0" i="0" u="none" strike="noStrike" kern="1200" cap="none" spc="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dependencies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at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test time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466633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2913" y="955948"/>
            <a:ext cx="1130617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-5" dirty="0"/>
              <a:t> </a:t>
            </a:r>
            <a:r>
              <a:rPr dirty="0"/>
              <a:t>to </a:t>
            </a:r>
            <a:r>
              <a:rPr lang="en-US" dirty="0"/>
              <a:t>F</a:t>
            </a:r>
            <a:r>
              <a:rPr dirty="0"/>
              <a:t>ix </a:t>
            </a:r>
            <a:r>
              <a:rPr lang="en-US" spc="-5" dirty="0"/>
              <a:t>t</a:t>
            </a:r>
            <a:r>
              <a:rPr spc="-5" dirty="0"/>
              <a:t>he </a:t>
            </a:r>
            <a:r>
              <a:rPr lang="en-US" spc="-10" dirty="0"/>
              <a:t>V</a:t>
            </a:r>
            <a:r>
              <a:rPr spc="-10" dirty="0"/>
              <a:t>anishing </a:t>
            </a:r>
            <a:r>
              <a:rPr lang="en-US" spc="-5" dirty="0"/>
              <a:t>G</a:t>
            </a:r>
            <a:r>
              <a:rPr spc="-5" dirty="0"/>
              <a:t>radient</a:t>
            </a:r>
            <a:r>
              <a:rPr dirty="0"/>
              <a:t> </a:t>
            </a:r>
            <a:r>
              <a:rPr lang="en-US" spc="-5" dirty="0"/>
              <a:t>P</a:t>
            </a:r>
            <a:r>
              <a:rPr spc="-5" dirty="0"/>
              <a:t>roblem?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EB49027-C6F3-FE9E-2FD1-C6CBE1CEA7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>
                <a:cs typeface="Calibri"/>
              </a:rPr>
              <a:t>The</a:t>
            </a:r>
            <a:r>
              <a:rPr lang="en-US" spc="5" dirty="0">
                <a:cs typeface="Calibri"/>
              </a:rPr>
              <a:t> </a:t>
            </a:r>
            <a:r>
              <a:rPr lang="en-US" spc="-5" dirty="0">
                <a:cs typeface="Calibri"/>
              </a:rPr>
              <a:t>main</a:t>
            </a:r>
            <a:r>
              <a:rPr lang="en-US" dirty="0">
                <a:cs typeface="Calibri"/>
              </a:rPr>
              <a:t> </a:t>
            </a:r>
            <a:r>
              <a:rPr lang="en-US" spc="-5" dirty="0">
                <a:cs typeface="Calibri"/>
              </a:rPr>
              <a:t>problem is that</a:t>
            </a:r>
            <a:r>
              <a:rPr lang="en-US" spc="-10" dirty="0">
                <a:cs typeface="Calibri"/>
              </a:rPr>
              <a:t> </a:t>
            </a:r>
            <a:r>
              <a:rPr lang="en-US" i="1" spc="-5" dirty="0">
                <a:solidFill>
                  <a:schemeClr val="accent5"/>
                </a:solidFill>
                <a:cs typeface="Calibri"/>
              </a:rPr>
              <a:t>it’s</a:t>
            </a:r>
            <a:r>
              <a:rPr lang="en-US" i="1" spc="5" dirty="0">
                <a:solidFill>
                  <a:schemeClr val="accent5"/>
                </a:solidFill>
                <a:cs typeface="Calibri"/>
              </a:rPr>
              <a:t> </a:t>
            </a:r>
            <a:r>
              <a:rPr lang="en-US" i="1" dirty="0">
                <a:solidFill>
                  <a:schemeClr val="accent5"/>
                </a:solidFill>
                <a:cs typeface="Calibri"/>
              </a:rPr>
              <a:t>too</a:t>
            </a:r>
            <a:r>
              <a:rPr lang="en-US" i="1" spc="5" dirty="0">
                <a:solidFill>
                  <a:schemeClr val="accent5"/>
                </a:solidFill>
                <a:cs typeface="Calibri"/>
              </a:rPr>
              <a:t> </a:t>
            </a:r>
            <a:r>
              <a:rPr lang="en-US" i="1" spc="-5" dirty="0">
                <a:solidFill>
                  <a:schemeClr val="accent5"/>
                </a:solidFill>
                <a:cs typeface="Calibri"/>
              </a:rPr>
              <a:t>difficult </a:t>
            </a:r>
            <a:r>
              <a:rPr lang="en-US" i="1" dirty="0">
                <a:solidFill>
                  <a:schemeClr val="accent5"/>
                </a:solidFill>
                <a:cs typeface="Calibri"/>
              </a:rPr>
              <a:t>for </a:t>
            </a:r>
            <a:r>
              <a:rPr lang="en-US" i="1" spc="-5" dirty="0">
                <a:solidFill>
                  <a:schemeClr val="accent5"/>
                </a:solidFill>
                <a:cs typeface="Calibri"/>
              </a:rPr>
              <a:t>the</a:t>
            </a:r>
            <a:r>
              <a:rPr lang="en-US" i="1" dirty="0">
                <a:solidFill>
                  <a:schemeClr val="accent5"/>
                </a:solidFill>
                <a:cs typeface="Calibri"/>
              </a:rPr>
              <a:t> </a:t>
            </a:r>
            <a:r>
              <a:rPr lang="en-US" i="1" spc="-5" dirty="0">
                <a:solidFill>
                  <a:schemeClr val="accent5"/>
                </a:solidFill>
                <a:cs typeface="Calibri"/>
              </a:rPr>
              <a:t>RNN</a:t>
            </a:r>
            <a:r>
              <a:rPr lang="en-US" i="1" dirty="0">
                <a:solidFill>
                  <a:schemeClr val="accent5"/>
                </a:solidFill>
                <a:cs typeface="Calibri"/>
              </a:rPr>
              <a:t> </a:t>
            </a:r>
            <a:r>
              <a:rPr lang="en-US" i="1" spc="-5" dirty="0">
                <a:solidFill>
                  <a:schemeClr val="accent5"/>
                </a:solidFill>
                <a:cs typeface="Calibri"/>
              </a:rPr>
              <a:t>to</a:t>
            </a:r>
            <a:r>
              <a:rPr lang="en-US" i="1" spc="5" dirty="0">
                <a:solidFill>
                  <a:schemeClr val="accent5"/>
                </a:solidFill>
                <a:cs typeface="Calibri"/>
              </a:rPr>
              <a:t> </a:t>
            </a:r>
            <a:r>
              <a:rPr lang="en-US" i="1" spc="-5" dirty="0">
                <a:solidFill>
                  <a:schemeClr val="accent5"/>
                </a:solidFill>
                <a:cs typeface="Calibri"/>
              </a:rPr>
              <a:t>learn</a:t>
            </a:r>
            <a:r>
              <a:rPr lang="en-US" i="1" dirty="0">
                <a:solidFill>
                  <a:schemeClr val="accent5"/>
                </a:solidFill>
                <a:cs typeface="Calibri"/>
              </a:rPr>
              <a:t> </a:t>
            </a:r>
            <a:r>
              <a:rPr lang="en-US" i="1" spc="-5" dirty="0">
                <a:solidFill>
                  <a:schemeClr val="accent5"/>
                </a:solidFill>
                <a:cs typeface="Calibri"/>
              </a:rPr>
              <a:t>to</a:t>
            </a:r>
            <a:r>
              <a:rPr lang="en-US" i="1" spc="5" dirty="0">
                <a:solidFill>
                  <a:schemeClr val="accent5"/>
                </a:solidFill>
                <a:cs typeface="Calibri"/>
              </a:rPr>
              <a:t> </a:t>
            </a:r>
            <a:r>
              <a:rPr lang="en-US" i="1" dirty="0">
                <a:solidFill>
                  <a:schemeClr val="accent5"/>
                </a:solidFill>
                <a:cs typeface="Calibri"/>
              </a:rPr>
              <a:t>preserve information </a:t>
            </a:r>
            <a:r>
              <a:rPr lang="en-US" i="1" spc="-525" dirty="0">
                <a:solidFill>
                  <a:schemeClr val="accent5"/>
                </a:solidFill>
                <a:cs typeface="Calibri"/>
              </a:rPr>
              <a:t> </a:t>
            </a:r>
            <a:r>
              <a:rPr lang="en-US" i="1" dirty="0">
                <a:solidFill>
                  <a:schemeClr val="accent5"/>
                </a:solidFill>
                <a:cs typeface="Calibri"/>
              </a:rPr>
              <a:t>over</a:t>
            </a:r>
            <a:r>
              <a:rPr lang="en-US" i="1" spc="-10" dirty="0">
                <a:solidFill>
                  <a:schemeClr val="accent5"/>
                </a:solidFill>
                <a:cs typeface="Calibri"/>
              </a:rPr>
              <a:t> </a:t>
            </a:r>
            <a:r>
              <a:rPr lang="en-US" i="1" dirty="0">
                <a:solidFill>
                  <a:schemeClr val="accent5"/>
                </a:solidFill>
                <a:cs typeface="Calibri"/>
              </a:rPr>
              <a:t>many</a:t>
            </a:r>
            <a:r>
              <a:rPr lang="en-US" i="1" spc="-10" dirty="0">
                <a:solidFill>
                  <a:schemeClr val="accent5"/>
                </a:solidFill>
                <a:cs typeface="Calibri"/>
              </a:rPr>
              <a:t> </a:t>
            </a:r>
            <a:r>
              <a:rPr lang="en-US" i="1" spc="-5" dirty="0">
                <a:solidFill>
                  <a:schemeClr val="accent5"/>
                </a:solidFill>
                <a:cs typeface="Calibri"/>
              </a:rPr>
              <a:t>timesteps</a:t>
            </a:r>
            <a:r>
              <a:rPr lang="en-US" i="1" spc="-5" dirty="0">
                <a:cs typeface="Calibri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spc="-5" dirty="0">
                <a:cs typeface="Calibri"/>
              </a:rPr>
              <a:t>In </a:t>
            </a:r>
            <a:r>
              <a:rPr lang="en-US" dirty="0">
                <a:cs typeface="Calibri"/>
              </a:rPr>
              <a:t>a</a:t>
            </a:r>
            <a:r>
              <a:rPr lang="en-US" spc="-5" dirty="0">
                <a:cs typeface="Calibri"/>
              </a:rPr>
              <a:t> vanilla</a:t>
            </a:r>
            <a:r>
              <a:rPr lang="en-US" dirty="0">
                <a:cs typeface="Calibri"/>
              </a:rPr>
              <a:t> </a:t>
            </a:r>
            <a:r>
              <a:rPr lang="en-US" spc="-5" dirty="0">
                <a:cs typeface="Calibri"/>
              </a:rPr>
              <a:t>RNN, the</a:t>
            </a:r>
            <a:r>
              <a:rPr lang="en-US" spc="5" dirty="0">
                <a:cs typeface="Calibri"/>
              </a:rPr>
              <a:t> </a:t>
            </a:r>
            <a:r>
              <a:rPr lang="en-US" dirty="0">
                <a:cs typeface="Calibri"/>
              </a:rPr>
              <a:t>hidden</a:t>
            </a:r>
            <a:r>
              <a:rPr lang="en-US" spc="-5" dirty="0">
                <a:cs typeface="Calibri"/>
              </a:rPr>
              <a:t> state</a:t>
            </a:r>
            <a:r>
              <a:rPr lang="en-US" spc="5" dirty="0">
                <a:cs typeface="Calibri"/>
              </a:rPr>
              <a:t> </a:t>
            </a:r>
            <a:r>
              <a:rPr lang="en-US" spc="-5" dirty="0">
                <a:cs typeface="Calibri"/>
              </a:rPr>
              <a:t>is</a:t>
            </a:r>
            <a:r>
              <a:rPr lang="en-US" spc="-10" dirty="0">
                <a:cs typeface="Calibri"/>
              </a:rPr>
              <a:t> </a:t>
            </a:r>
            <a:r>
              <a:rPr lang="en-US" spc="-5" dirty="0">
                <a:cs typeface="Calibri"/>
              </a:rPr>
              <a:t>constantly</a:t>
            </a:r>
            <a:r>
              <a:rPr lang="en-US" dirty="0">
                <a:cs typeface="Calibri"/>
              </a:rPr>
              <a:t> being</a:t>
            </a:r>
            <a:r>
              <a:rPr lang="en-US" spc="-15" dirty="0">
                <a:cs typeface="Calibri"/>
              </a:rPr>
              <a:t> </a:t>
            </a:r>
            <a:r>
              <a:rPr lang="en-US" spc="-5" dirty="0">
                <a:solidFill>
                  <a:schemeClr val="accent5"/>
                </a:solidFill>
                <a:cs typeface="Calibri"/>
              </a:rPr>
              <a:t>rewritten</a:t>
            </a:r>
          </a:p>
          <a:p>
            <a:pPr marL="0" indent="0">
              <a:lnSpc>
                <a:spcPct val="100000"/>
              </a:lnSpc>
              <a:buNone/>
            </a:pPr>
            <a:endParaRPr lang="en-US" spc="-5" dirty="0">
              <a:solidFill>
                <a:srgbClr val="FF30EE"/>
              </a:solidFill>
              <a:cs typeface="Calibri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pc="-5" dirty="0">
              <a:solidFill>
                <a:srgbClr val="FF30EE"/>
              </a:solidFill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25"/>
              </a:spcBef>
              <a:buClr>
                <a:srgbClr val="8C1515"/>
              </a:buClr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lang="en-US" spc="-5" dirty="0">
                <a:cs typeface="Calibri"/>
              </a:rPr>
              <a:t>How about </a:t>
            </a:r>
            <a:r>
              <a:rPr lang="en-US" dirty="0">
                <a:cs typeface="Calibri"/>
              </a:rPr>
              <a:t>an</a:t>
            </a:r>
            <a:r>
              <a:rPr lang="en-US" spc="-5" dirty="0">
                <a:cs typeface="Calibri"/>
              </a:rPr>
              <a:t> RNN</a:t>
            </a:r>
            <a:r>
              <a:rPr lang="en-US" dirty="0">
                <a:cs typeface="Calibri"/>
              </a:rPr>
              <a:t> </a:t>
            </a:r>
            <a:r>
              <a:rPr lang="en-US" spc="-5" dirty="0">
                <a:cs typeface="Calibri"/>
              </a:rPr>
              <a:t>with</a:t>
            </a:r>
            <a:r>
              <a:rPr lang="en-US" dirty="0">
                <a:cs typeface="Calibri"/>
              </a:rPr>
              <a:t> </a:t>
            </a:r>
            <a:r>
              <a:rPr lang="en-US" spc="-5" dirty="0">
                <a:cs typeface="Calibri"/>
              </a:rPr>
              <a:t>separate </a:t>
            </a:r>
            <a:r>
              <a:rPr lang="en-US" spc="-5" dirty="0">
                <a:solidFill>
                  <a:schemeClr val="accent1"/>
                </a:solidFill>
                <a:cs typeface="Calibri"/>
              </a:rPr>
              <a:t>memory</a:t>
            </a:r>
            <a:r>
              <a:rPr lang="en-US" dirty="0">
                <a:solidFill>
                  <a:srgbClr val="FF30EE"/>
                </a:solidFill>
                <a:cs typeface="Calibri"/>
              </a:rPr>
              <a:t> </a:t>
            </a:r>
            <a:r>
              <a:rPr lang="en-US" spc="-5" dirty="0">
                <a:cs typeface="Calibri"/>
              </a:rPr>
              <a:t>which</a:t>
            </a:r>
            <a:r>
              <a:rPr lang="en-US" dirty="0">
                <a:cs typeface="Calibri"/>
              </a:rPr>
              <a:t> is</a:t>
            </a:r>
            <a:r>
              <a:rPr lang="en-US" spc="-5" dirty="0">
                <a:cs typeface="Calibri"/>
              </a:rPr>
              <a:t> </a:t>
            </a:r>
            <a:r>
              <a:rPr lang="en-US" dirty="0">
                <a:cs typeface="Calibri"/>
              </a:rPr>
              <a:t>added</a:t>
            </a:r>
            <a:r>
              <a:rPr lang="en-US" spc="-5" dirty="0">
                <a:cs typeface="Calibri"/>
              </a:rPr>
              <a:t> to?</a:t>
            </a:r>
            <a:endParaRPr lang="en-US" sz="2000" dirty="0">
              <a:cs typeface="Calibri"/>
            </a:endParaRPr>
          </a:p>
          <a:p>
            <a:pPr marL="812800" lvl="1" indent="-342900">
              <a:lnSpc>
                <a:spcPct val="100000"/>
              </a:lnSpc>
              <a:spcBef>
                <a:spcPts val="725"/>
              </a:spcBef>
              <a:buClr>
                <a:srgbClr val="8C1515"/>
              </a:buClr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lang="en-US" spc="-5" dirty="0">
                <a:cs typeface="Calibri"/>
              </a:rPr>
              <a:t>LSTMs</a:t>
            </a:r>
            <a:endParaRPr lang="en-US" sz="2400" dirty="0">
              <a:cs typeface="Calibri"/>
            </a:endParaRPr>
          </a:p>
          <a:p>
            <a:pPr marL="355600" indent="-342900">
              <a:lnSpc>
                <a:spcPct val="100000"/>
              </a:lnSpc>
              <a:buClr>
                <a:srgbClr val="8C1515"/>
              </a:buClr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lang="en-US" spc="-5" dirty="0">
                <a:cs typeface="Calibri"/>
              </a:rPr>
              <a:t>And</a:t>
            </a:r>
            <a:r>
              <a:rPr lang="en-US" dirty="0">
                <a:cs typeface="Calibri"/>
              </a:rPr>
              <a:t> then: </a:t>
            </a:r>
            <a:r>
              <a:rPr lang="en-US" spc="-5" dirty="0">
                <a:cs typeface="Calibri"/>
              </a:rPr>
              <a:t>Creating more</a:t>
            </a:r>
            <a:r>
              <a:rPr lang="en-US" spc="10" dirty="0">
                <a:cs typeface="Calibri"/>
              </a:rPr>
              <a:t> </a:t>
            </a:r>
            <a:r>
              <a:rPr lang="en-US" spc="-5" dirty="0">
                <a:cs typeface="Calibri"/>
              </a:rPr>
              <a:t>direct </a:t>
            </a:r>
            <a:r>
              <a:rPr lang="en-US" dirty="0">
                <a:cs typeface="Calibri"/>
              </a:rPr>
              <a:t>and</a:t>
            </a:r>
            <a:r>
              <a:rPr lang="en-US" spc="5" dirty="0">
                <a:cs typeface="Calibri"/>
              </a:rPr>
              <a:t> </a:t>
            </a:r>
            <a:r>
              <a:rPr lang="en-US" spc="-5" dirty="0">
                <a:cs typeface="Calibri"/>
              </a:rPr>
              <a:t>linear</a:t>
            </a:r>
            <a:r>
              <a:rPr lang="en-US" dirty="0">
                <a:cs typeface="Calibri"/>
              </a:rPr>
              <a:t> </a:t>
            </a:r>
            <a:r>
              <a:rPr lang="en-US" spc="-5" dirty="0">
                <a:cs typeface="Calibri"/>
              </a:rPr>
              <a:t>pass-through</a:t>
            </a:r>
            <a:r>
              <a:rPr lang="en-US" spc="5" dirty="0">
                <a:cs typeface="Calibri"/>
              </a:rPr>
              <a:t> </a:t>
            </a:r>
            <a:r>
              <a:rPr lang="en-US" spc="-5" dirty="0">
                <a:cs typeface="Calibri"/>
              </a:rPr>
              <a:t>connections</a:t>
            </a:r>
            <a:r>
              <a:rPr lang="en-US" dirty="0">
                <a:cs typeface="Calibri"/>
              </a:rPr>
              <a:t> </a:t>
            </a:r>
            <a:r>
              <a:rPr lang="en-US" spc="-5" dirty="0">
                <a:cs typeface="Calibri"/>
              </a:rPr>
              <a:t>in</a:t>
            </a:r>
            <a:r>
              <a:rPr lang="en-US" dirty="0">
                <a:cs typeface="Calibri"/>
              </a:rPr>
              <a:t> </a:t>
            </a:r>
            <a:r>
              <a:rPr lang="en-US" spc="-5" dirty="0">
                <a:cs typeface="Calibri"/>
              </a:rPr>
              <a:t>model</a:t>
            </a:r>
            <a:endParaRPr lang="en-US" sz="2000" dirty="0">
              <a:cs typeface="Calibri"/>
            </a:endParaRPr>
          </a:p>
          <a:p>
            <a:pPr marL="812800" lvl="1" indent="-342900">
              <a:lnSpc>
                <a:spcPct val="100000"/>
              </a:lnSpc>
              <a:buClr>
                <a:srgbClr val="8C1515"/>
              </a:buClr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lang="en-US" spc="-5" dirty="0">
                <a:cs typeface="Calibri"/>
              </a:rPr>
              <a:t>Attention, residual</a:t>
            </a:r>
            <a:r>
              <a:rPr lang="en-US" spc="-10" dirty="0">
                <a:cs typeface="Calibri"/>
              </a:rPr>
              <a:t> </a:t>
            </a:r>
            <a:r>
              <a:rPr lang="en-US" spc="-5" dirty="0">
                <a:cs typeface="Calibri"/>
              </a:rPr>
              <a:t>connections, etc.</a:t>
            </a:r>
            <a:endParaRPr lang="en-US" dirty="0">
              <a:cs typeface="Calibri"/>
            </a:endParaRPr>
          </a:p>
          <a:p>
            <a:pPr marL="0" indent="0">
              <a:buNone/>
            </a:pPr>
            <a:endParaRPr lang="en-US" sz="2400" dirty="0">
              <a:latin typeface="Calibri"/>
              <a:cs typeface="Calibri"/>
            </a:endParaRPr>
          </a:p>
          <a:p>
            <a:endParaRPr lang="en-US" sz="2400" dirty="0">
              <a:latin typeface="Calibri"/>
              <a:cs typeface="Calibri"/>
            </a:endParaRPr>
          </a:p>
          <a:p>
            <a:endParaRPr lang="en-IN" dirty="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33067" y="3323589"/>
            <a:ext cx="4125866" cy="543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4552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74838" y="3006768"/>
            <a:ext cx="9242323" cy="844462"/>
          </a:xfrm>
          <a:prstGeom prst="rect">
            <a:avLst/>
          </a:prstGeom>
        </p:spPr>
        <p:txBody>
          <a:bodyPr vert="horz" wrap="square" lIns="0" tIns="1333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5400" dirty="0"/>
              <a:t>LSTMs &amp; GRUs</a:t>
            </a:r>
            <a:endParaRPr sz="5400" dirty="0"/>
          </a:p>
        </p:txBody>
      </p:sp>
    </p:spTree>
    <p:extLst>
      <p:ext uri="{BB962C8B-B14F-4D97-AF65-F5344CB8AC3E}">
        <p14:creationId xmlns:p14="http://schemas.microsoft.com/office/powerpoint/2010/main" val="40808127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6E4BE-F3EC-E4D2-8632-42B7C2FF9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Long Short-Term Memory (LSTM)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21A422-4E10-D5D9-5A82-4DFF9C36CD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1325" y="1808163"/>
                <a:ext cx="11307763" cy="4351337"/>
              </a:xfrm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en-US" sz="2000" dirty="0"/>
                  <a:t>A type of RNN proposed by </a:t>
                </a:r>
                <a:r>
                  <a:rPr lang="en-US" sz="2000" dirty="0" err="1"/>
                  <a:t>Hochreiter</a:t>
                </a:r>
                <a:r>
                  <a:rPr lang="en-US" sz="2000" dirty="0"/>
                  <a:t> and </a:t>
                </a:r>
                <a:r>
                  <a:rPr lang="en-US" sz="2000" dirty="0" err="1"/>
                  <a:t>Schmidhuber</a:t>
                </a:r>
                <a:r>
                  <a:rPr lang="en-US" sz="2000" dirty="0"/>
                  <a:t> in 1997 as a solution to the vanishing gradients problem.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2000" dirty="0"/>
                  <a:t>On step </a:t>
                </a:r>
                <a:r>
                  <a:rPr lang="en-US" sz="2000" i="1" dirty="0"/>
                  <a:t>t</a:t>
                </a:r>
                <a:r>
                  <a:rPr lang="en-US" sz="2000" dirty="0"/>
                  <a:t>, there is a </a:t>
                </a:r>
                <a:r>
                  <a:rPr lang="en-US" sz="2000" dirty="0">
                    <a:solidFill>
                      <a:schemeClr val="accent5"/>
                    </a:solidFill>
                  </a:rPr>
                  <a:t>hidden state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sz="2000" dirty="0"/>
                  <a:t> and a </a:t>
                </a:r>
                <a:r>
                  <a:rPr lang="en-US" sz="2000" dirty="0">
                    <a:solidFill>
                      <a:schemeClr val="accent6">
                        <a:lumMod val="75000"/>
                      </a:schemeClr>
                    </a:solidFill>
                  </a:rPr>
                  <a:t>cell state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lang="en-US" sz="2000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lvl="1">
                  <a:lnSpc>
                    <a:spcPct val="100000"/>
                  </a:lnSpc>
                </a:pPr>
                <a:r>
                  <a:rPr lang="en-US" dirty="0"/>
                  <a:t>Both are vectors length </a:t>
                </a:r>
                <a:r>
                  <a:rPr lang="en-US" i="1" dirty="0"/>
                  <a:t>n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dirty="0"/>
                  <a:t>The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cell</a:t>
                </a:r>
                <a:r>
                  <a:rPr lang="en-US" dirty="0"/>
                  <a:t> stores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long-term information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dirty="0"/>
                  <a:t>The LSTM can erase, write and read information from the cell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2000" dirty="0"/>
                  <a:t>The selection of which information is erased/written/read is controlled by  three corresponding </a:t>
                </a:r>
                <a:r>
                  <a:rPr lang="en-US" sz="2000" dirty="0">
                    <a:solidFill>
                      <a:srgbClr val="00B050"/>
                    </a:solidFill>
                  </a:rPr>
                  <a:t>gates (gates are calculated things whose values are probabilities)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dirty="0"/>
                  <a:t>The gates are also vectors length </a:t>
                </a:r>
                <a:r>
                  <a:rPr lang="en-US" i="1" dirty="0"/>
                  <a:t>n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dirty="0"/>
                  <a:t>On each timestep, each element of the gates can be </a:t>
                </a:r>
                <a:r>
                  <a:rPr lang="en-US" dirty="0">
                    <a:solidFill>
                      <a:srgbClr val="00B050"/>
                    </a:solidFill>
                  </a:rPr>
                  <a:t>open</a:t>
                </a:r>
                <a:r>
                  <a:rPr lang="en-US" dirty="0"/>
                  <a:t> (1), </a:t>
                </a:r>
                <a:r>
                  <a:rPr lang="en-US" dirty="0">
                    <a:solidFill>
                      <a:srgbClr val="00B050"/>
                    </a:solidFill>
                  </a:rPr>
                  <a:t>closed</a:t>
                </a:r>
                <a:r>
                  <a:rPr lang="en-US" dirty="0"/>
                  <a:t> (0),  or                                 somewhere in-between.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dirty="0"/>
                  <a:t>The gates are </a:t>
                </a:r>
                <a:r>
                  <a:rPr lang="en-US" dirty="0">
                    <a:solidFill>
                      <a:srgbClr val="00B050"/>
                    </a:solidFill>
                  </a:rPr>
                  <a:t>dynamic</a:t>
                </a:r>
                <a:r>
                  <a:rPr lang="en-US" dirty="0"/>
                  <a:t>: their value is computed based on the current  context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21A422-4E10-D5D9-5A82-4DFF9C36CD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1325" y="1808163"/>
                <a:ext cx="11307763" cy="4351337"/>
              </a:xfrm>
              <a:blipFill>
                <a:blip r:embed="rId2"/>
                <a:stretch>
                  <a:fillRect l="-485" t="-842" r="-755" b="-3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04088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459633" y="1020894"/>
            <a:ext cx="10765155" cy="9489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We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have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sequence</a:t>
            </a:r>
            <a:r>
              <a:rPr kumimoji="0" sz="2000" b="0" i="0" u="none" strike="noStrike" kern="120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of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inputs</a:t>
            </a:r>
            <a:r>
              <a:rPr kumimoji="0" sz="2000" b="0" i="0" u="none" strike="noStrike" kern="120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mbria Math"/>
              </a:rPr>
              <a:t>𝑥</a:t>
            </a:r>
            <a:r>
              <a:rPr kumimoji="0" sz="2250" b="0" i="0" u="none" strike="noStrike" kern="1200" cap="none" spc="60" normalizeH="0" baseline="25925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mbria Math"/>
              </a:rPr>
              <a:t>(𝑡)</a:t>
            </a:r>
            <a:r>
              <a:rPr kumimoji="0" sz="2000" b="0" i="0" u="none" strike="noStrike" kern="120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,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and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we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will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compute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</a:t>
            </a:r>
            <a:r>
              <a:rPr kumimoji="0" sz="2000" b="0" i="0" u="none" strike="noStrike" kern="120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sequence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of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hidden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states</a:t>
            </a:r>
            <a:r>
              <a:rPr kumimoji="0" sz="2000" b="0" i="0" u="none" strike="noStrike" kern="120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mbria Math"/>
              </a:rPr>
              <a:t>ℎ</a:t>
            </a:r>
            <a:r>
              <a:rPr kumimoji="0" sz="2250" b="0" i="0" u="none" strike="noStrike" kern="1200" cap="none" spc="30" normalizeH="0" baseline="25925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mbria Math"/>
              </a:rPr>
              <a:t>(𝑡)</a:t>
            </a:r>
            <a:r>
              <a:rPr kumimoji="0" sz="2250" b="0" i="0" u="none" strike="noStrike" kern="1200" cap="none" spc="270" normalizeH="0" baseline="25925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mbria Math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and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cell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states</a:t>
            </a:r>
            <a:r>
              <a:rPr kumimoji="0" lang="en-US" sz="20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lang="en-IN" sz="2000" b="0" i="0" u="none" strike="noStrike" kern="120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mbria Math"/>
              </a:rPr>
              <a:t>𝑐</a:t>
            </a:r>
            <a:r>
              <a:rPr kumimoji="0" lang="en-IN" sz="2250" b="0" i="0" u="none" strike="noStrike" kern="1200" cap="none" spc="60" normalizeH="0" baseline="25925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mbria Math"/>
              </a:rPr>
              <a:t>(𝑡)</a:t>
            </a:r>
            <a:r>
              <a:rPr kumimoji="0" lang="en-IN" sz="2000" b="0" i="0" u="none" strike="noStrike" kern="120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.</a:t>
            </a:r>
            <a:r>
              <a:rPr kumimoji="0" lang="en-IN" sz="2000" b="0" i="0" u="none" strike="noStrike" kern="1200" cap="none" spc="409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On</a:t>
            </a:r>
            <a:r>
              <a:rPr kumimoji="0" lang="en-IN" sz="20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lang="en-IN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timestep</a:t>
            </a:r>
            <a:r>
              <a:rPr kumimoji="0" lang="en-IN" sz="20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lang="en-IN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:</a:t>
            </a:r>
          </a:p>
          <a:p>
            <a:pPr marL="254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 idx="4294967295"/>
          </p:nvPr>
        </p:nvSpPr>
        <p:spPr>
          <a:xfrm>
            <a:off x="459633" y="269875"/>
            <a:ext cx="10848130" cy="628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+mn-lt"/>
              </a:rPr>
              <a:t>LSTM</a:t>
            </a:r>
          </a:p>
        </p:txBody>
      </p:sp>
      <p:sp>
        <p:nvSpPr>
          <p:cNvPr id="32" name="object 32"/>
          <p:cNvSpPr/>
          <p:nvPr/>
        </p:nvSpPr>
        <p:spPr>
          <a:xfrm>
            <a:off x="8343336" y="5486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599"/>
                </a:lnTo>
                <a:lnTo>
                  <a:pt x="228600" y="228599"/>
                </a:lnTo>
                <a:lnTo>
                  <a:pt x="228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25155" y="3245670"/>
            <a:ext cx="3343275" cy="524503"/>
          </a:xfrm>
          <a:prstGeom prst="rect">
            <a:avLst/>
          </a:prstGeom>
          <a:ln w="19050">
            <a:solidFill>
              <a:srgbClr val="4285F4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91440" marR="316865" lvl="0" indent="0" algn="l" defTabSz="914400" rtl="0" eaLnBrk="1" fontAlgn="auto" latinLnBrk="0" hangingPunct="1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sng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>
                  <a:solidFill>
                    <a:srgbClr val="4285F4"/>
                  </a:solidFill>
                </a:uFill>
                <a:latin typeface="Aptos Display"/>
                <a:ea typeface="+mn-ea"/>
                <a:cs typeface="Calibri"/>
              </a:rPr>
              <a:t>Output </a:t>
            </a:r>
            <a:r>
              <a:rPr kumimoji="0" sz="1600" b="1" i="0" u="sng" strike="noStrike" kern="1200" cap="none" spc="-2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>
                  <a:solidFill>
                    <a:srgbClr val="4285F4"/>
                  </a:solidFill>
                </a:uFill>
                <a:latin typeface="Aptos Display"/>
                <a:ea typeface="+mn-ea"/>
                <a:cs typeface="Calibri"/>
              </a:rPr>
              <a:t>gate:</a:t>
            </a:r>
            <a:r>
              <a:rPr kumimoji="0" sz="1600" b="1" i="0" u="none" strike="noStrike" kern="1200" cap="none" spc="-2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controls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what parts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of </a:t>
            </a:r>
            <a:r>
              <a:rPr kumimoji="0" sz="1600" b="0" i="0" u="none" strike="noStrike" kern="1200" cap="none" spc="-3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cell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are</a:t>
            </a:r>
            <a:r>
              <a:rPr kumimoji="0" sz="1600" b="0" i="0" u="none" strike="noStrike" kern="1200" cap="none" spc="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output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to</a:t>
            </a:r>
            <a:r>
              <a:rPr kumimoji="0" sz="1600" b="0" i="0" u="none" strike="noStrike" kern="1200" cap="none" spc="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hidden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2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state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464774" y="3529253"/>
            <a:ext cx="337820" cy="153035"/>
          </a:xfrm>
          <a:custGeom>
            <a:avLst/>
            <a:gdLst/>
            <a:ahLst/>
            <a:cxnLst/>
            <a:rect l="l" t="t" r="r" b="b"/>
            <a:pathLst>
              <a:path w="337820" h="153035">
                <a:moveTo>
                  <a:pt x="263401" y="126375"/>
                </a:moveTo>
                <a:lnTo>
                  <a:pt x="252495" y="152787"/>
                </a:lnTo>
                <a:lnTo>
                  <a:pt x="337468" y="146654"/>
                </a:lnTo>
                <a:lnTo>
                  <a:pt x="324054" y="131222"/>
                </a:lnTo>
                <a:lnTo>
                  <a:pt x="275140" y="131222"/>
                </a:lnTo>
                <a:lnTo>
                  <a:pt x="263401" y="126375"/>
                </a:lnTo>
                <a:close/>
              </a:path>
              <a:path w="337820" h="153035">
                <a:moveTo>
                  <a:pt x="270672" y="108767"/>
                </a:moveTo>
                <a:lnTo>
                  <a:pt x="263401" y="126375"/>
                </a:lnTo>
                <a:lnTo>
                  <a:pt x="275140" y="131222"/>
                </a:lnTo>
                <a:lnTo>
                  <a:pt x="282411" y="113614"/>
                </a:lnTo>
                <a:lnTo>
                  <a:pt x="270672" y="108767"/>
                </a:lnTo>
                <a:close/>
              </a:path>
              <a:path w="337820" h="153035">
                <a:moveTo>
                  <a:pt x="281579" y="82355"/>
                </a:moveTo>
                <a:lnTo>
                  <a:pt x="270672" y="108767"/>
                </a:lnTo>
                <a:lnTo>
                  <a:pt x="282411" y="113614"/>
                </a:lnTo>
                <a:lnTo>
                  <a:pt x="275140" y="131222"/>
                </a:lnTo>
                <a:lnTo>
                  <a:pt x="324054" y="131222"/>
                </a:lnTo>
                <a:lnTo>
                  <a:pt x="281579" y="82355"/>
                </a:lnTo>
                <a:close/>
              </a:path>
              <a:path w="337820" h="153035">
                <a:moveTo>
                  <a:pt x="7270" y="0"/>
                </a:moveTo>
                <a:lnTo>
                  <a:pt x="0" y="17608"/>
                </a:lnTo>
                <a:lnTo>
                  <a:pt x="263401" y="126375"/>
                </a:lnTo>
                <a:lnTo>
                  <a:pt x="270672" y="108767"/>
                </a:lnTo>
                <a:lnTo>
                  <a:pt x="7270" y="0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467055" y="6011362"/>
            <a:ext cx="335280" cy="84455"/>
          </a:xfrm>
          <a:custGeom>
            <a:avLst/>
            <a:gdLst/>
            <a:ahLst/>
            <a:cxnLst/>
            <a:rect l="l" t="t" r="r" b="b"/>
            <a:pathLst>
              <a:path w="335279" h="84454">
                <a:moveTo>
                  <a:pt x="258407" y="28284"/>
                </a:moveTo>
                <a:lnTo>
                  <a:pt x="0" y="65417"/>
                </a:lnTo>
                <a:lnTo>
                  <a:pt x="2708" y="84274"/>
                </a:lnTo>
                <a:lnTo>
                  <a:pt x="261116" y="47140"/>
                </a:lnTo>
                <a:lnTo>
                  <a:pt x="258407" y="28284"/>
                </a:lnTo>
                <a:close/>
              </a:path>
              <a:path w="335279" h="84454">
                <a:moveTo>
                  <a:pt x="333996" y="26477"/>
                </a:moveTo>
                <a:lnTo>
                  <a:pt x="270978" y="26477"/>
                </a:lnTo>
                <a:lnTo>
                  <a:pt x="273687" y="45334"/>
                </a:lnTo>
                <a:lnTo>
                  <a:pt x="261116" y="47140"/>
                </a:lnTo>
                <a:lnTo>
                  <a:pt x="265181" y="75425"/>
                </a:lnTo>
                <a:lnTo>
                  <a:pt x="335187" y="26873"/>
                </a:lnTo>
                <a:lnTo>
                  <a:pt x="333996" y="26477"/>
                </a:lnTo>
                <a:close/>
              </a:path>
              <a:path w="335279" h="84454">
                <a:moveTo>
                  <a:pt x="270978" y="26477"/>
                </a:moveTo>
                <a:lnTo>
                  <a:pt x="258407" y="28284"/>
                </a:lnTo>
                <a:lnTo>
                  <a:pt x="261116" y="47140"/>
                </a:lnTo>
                <a:lnTo>
                  <a:pt x="273687" y="45334"/>
                </a:lnTo>
                <a:lnTo>
                  <a:pt x="270978" y="26477"/>
                </a:lnTo>
                <a:close/>
              </a:path>
              <a:path w="335279" h="84454">
                <a:moveTo>
                  <a:pt x="254342" y="0"/>
                </a:moveTo>
                <a:lnTo>
                  <a:pt x="258407" y="28284"/>
                </a:lnTo>
                <a:lnTo>
                  <a:pt x="270978" y="26477"/>
                </a:lnTo>
                <a:lnTo>
                  <a:pt x="333996" y="26477"/>
                </a:lnTo>
                <a:lnTo>
                  <a:pt x="254342" y="0"/>
                </a:lnTo>
                <a:close/>
              </a:path>
            </a:pathLst>
          </a:custGeom>
          <a:solidFill>
            <a:srgbClr val="5D4B3C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807" y="2349630"/>
            <a:ext cx="3824456" cy="154243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76807" y="4890267"/>
            <a:ext cx="4085427" cy="119976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336179" y="2592096"/>
            <a:ext cx="246221" cy="3117215"/>
          </a:xfrm>
          <a:prstGeom prst="rect">
            <a:avLst/>
          </a:prstGeom>
        </p:spPr>
        <p:txBody>
          <a:bodyPr vert="vert270" wrap="square" lIns="0" tIns="254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E983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All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E983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E983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these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E983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E983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are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E983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E983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vectors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E983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of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E983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same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E983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E983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length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E983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1" u="none" strike="noStrike" kern="1200" cap="none" spc="0" normalizeH="0" baseline="0" noProof="0" dirty="0">
                <a:ln>
                  <a:noFill/>
                </a:ln>
                <a:solidFill>
                  <a:srgbClr val="E983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n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972299" y="2197209"/>
            <a:ext cx="384175" cy="3906520"/>
          </a:xfrm>
          <a:custGeom>
            <a:avLst/>
            <a:gdLst/>
            <a:ahLst/>
            <a:cxnLst/>
            <a:rect l="l" t="t" r="r" b="b"/>
            <a:pathLst>
              <a:path w="384175" h="3906520">
                <a:moveTo>
                  <a:pt x="4" y="0"/>
                </a:moveTo>
                <a:lnTo>
                  <a:pt x="60717" y="5042"/>
                </a:lnTo>
                <a:lnTo>
                  <a:pt x="113446" y="19085"/>
                </a:lnTo>
                <a:lnTo>
                  <a:pt x="155027" y="40498"/>
                </a:lnTo>
                <a:lnTo>
                  <a:pt x="182295" y="67652"/>
                </a:lnTo>
                <a:lnTo>
                  <a:pt x="192088" y="98919"/>
                </a:lnTo>
                <a:lnTo>
                  <a:pt x="192084" y="1854084"/>
                </a:lnTo>
                <a:lnTo>
                  <a:pt x="201876" y="1885349"/>
                </a:lnTo>
                <a:lnTo>
                  <a:pt x="229145" y="1912504"/>
                </a:lnTo>
                <a:lnTo>
                  <a:pt x="270725" y="1933917"/>
                </a:lnTo>
                <a:lnTo>
                  <a:pt x="323454" y="1947960"/>
                </a:lnTo>
                <a:lnTo>
                  <a:pt x="384168" y="1953003"/>
                </a:lnTo>
                <a:lnTo>
                  <a:pt x="323454" y="1958045"/>
                </a:lnTo>
                <a:lnTo>
                  <a:pt x="270725" y="1972088"/>
                </a:lnTo>
                <a:lnTo>
                  <a:pt x="229145" y="1993501"/>
                </a:lnTo>
                <a:lnTo>
                  <a:pt x="201876" y="2020655"/>
                </a:lnTo>
                <a:lnTo>
                  <a:pt x="192084" y="2051922"/>
                </a:lnTo>
                <a:lnTo>
                  <a:pt x="192084" y="3807087"/>
                </a:lnTo>
                <a:lnTo>
                  <a:pt x="182291" y="3838353"/>
                </a:lnTo>
                <a:lnTo>
                  <a:pt x="155023" y="3865507"/>
                </a:lnTo>
                <a:lnTo>
                  <a:pt x="113442" y="3886920"/>
                </a:lnTo>
                <a:lnTo>
                  <a:pt x="60713" y="3900963"/>
                </a:lnTo>
                <a:lnTo>
                  <a:pt x="0" y="3906006"/>
                </a:lnTo>
              </a:path>
            </a:pathLst>
          </a:custGeom>
          <a:ln w="19050">
            <a:solidFill>
              <a:srgbClr val="E983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25155" y="1698459"/>
            <a:ext cx="3343275" cy="530915"/>
          </a:xfrm>
          <a:prstGeom prst="rect">
            <a:avLst/>
          </a:prstGeom>
          <a:ln w="19050">
            <a:solidFill>
              <a:srgbClr val="4285F4"/>
            </a:solidFill>
          </a:ln>
        </p:spPr>
        <p:txBody>
          <a:bodyPr vert="horz" wrap="square" lIns="0" tIns="43180" rIns="0" bIns="0" rtlCol="0">
            <a:spAutoFit/>
          </a:bodyPr>
          <a:lstStyle/>
          <a:p>
            <a:pPr marL="90805" marR="276860" lvl="0" indent="0" algn="l" defTabSz="914400" rtl="0" eaLnBrk="1" fontAlgn="auto" latinLnBrk="0" hangingPunct="1">
              <a:lnSpc>
                <a:spcPts val="1900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sng" strike="noStrike" kern="1200" cap="none" spc="-1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>
                  <a:solidFill>
                    <a:srgbClr val="4285F4"/>
                  </a:solidFill>
                </a:uFill>
                <a:latin typeface="Aptos Display"/>
                <a:ea typeface="+mn-ea"/>
                <a:cs typeface="Calibri"/>
              </a:rPr>
              <a:t>Forget</a:t>
            </a:r>
            <a:r>
              <a:rPr kumimoji="0" sz="1600" b="1" i="0" u="sng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>
                  <a:solidFill>
                    <a:srgbClr val="4285F4"/>
                  </a:solidFill>
                </a:uFill>
                <a:latin typeface="Aptos Display"/>
                <a:ea typeface="+mn-ea"/>
                <a:cs typeface="Calibri"/>
              </a:rPr>
              <a:t> </a:t>
            </a:r>
            <a:r>
              <a:rPr kumimoji="0" sz="1600" b="1" i="0" u="sng" strike="noStrike" kern="1200" cap="none" spc="-2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>
                  <a:solidFill>
                    <a:srgbClr val="4285F4"/>
                  </a:solidFill>
                </a:uFill>
                <a:latin typeface="Aptos Display"/>
                <a:ea typeface="+mn-ea"/>
                <a:cs typeface="Calibri"/>
              </a:rPr>
              <a:t>gate:</a:t>
            </a:r>
            <a:r>
              <a:rPr kumimoji="0" sz="1600" b="1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controls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what is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2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kept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vs </a:t>
            </a:r>
            <a:r>
              <a:rPr kumimoji="0" sz="1600" b="0" i="0" u="none" strike="noStrike" kern="1200" cap="none" spc="-3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forgotten,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from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previous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cell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2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state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460888" y="1985005"/>
            <a:ext cx="374650" cy="478155"/>
          </a:xfrm>
          <a:custGeom>
            <a:avLst/>
            <a:gdLst/>
            <a:ahLst/>
            <a:cxnLst/>
            <a:rect l="l" t="t" r="r" b="b"/>
            <a:pathLst>
              <a:path w="374650" h="478155">
                <a:moveTo>
                  <a:pt x="319813" y="423504"/>
                </a:moveTo>
                <a:lnTo>
                  <a:pt x="297244" y="441030"/>
                </a:lnTo>
                <a:lnTo>
                  <a:pt x="374073" y="477845"/>
                </a:lnTo>
                <a:lnTo>
                  <a:pt x="365245" y="433534"/>
                </a:lnTo>
                <a:lnTo>
                  <a:pt x="327602" y="433534"/>
                </a:lnTo>
                <a:lnTo>
                  <a:pt x="319813" y="423504"/>
                </a:lnTo>
                <a:close/>
              </a:path>
              <a:path w="374650" h="478155">
                <a:moveTo>
                  <a:pt x="334858" y="411819"/>
                </a:moveTo>
                <a:lnTo>
                  <a:pt x="319813" y="423504"/>
                </a:lnTo>
                <a:lnTo>
                  <a:pt x="327602" y="433534"/>
                </a:lnTo>
                <a:lnTo>
                  <a:pt x="342648" y="421850"/>
                </a:lnTo>
                <a:lnTo>
                  <a:pt x="334858" y="411819"/>
                </a:lnTo>
                <a:close/>
              </a:path>
              <a:path w="374650" h="478155">
                <a:moveTo>
                  <a:pt x="357427" y="394293"/>
                </a:moveTo>
                <a:lnTo>
                  <a:pt x="334858" y="411819"/>
                </a:lnTo>
                <a:lnTo>
                  <a:pt x="342648" y="421850"/>
                </a:lnTo>
                <a:lnTo>
                  <a:pt x="327602" y="433534"/>
                </a:lnTo>
                <a:lnTo>
                  <a:pt x="365245" y="433534"/>
                </a:lnTo>
                <a:lnTo>
                  <a:pt x="357427" y="394293"/>
                </a:lnTo>
                <a:close/>
              </a:path>
              <a:path w="374650" h="478155">
                <a:moveTo>
                  <a:pt x="15045" y="0"/>
                </a:moveTo>
                <a:lnTo>
                  <a:pt x="0" y="11684"/>
                </a:lnTo>
                <a:lnTo>
                  <a:pt x="319813" y="423504"/>
                </a:lnTo>
                <a:lnTo>
                  <a:pt x="334858" y="411819"/>
                </a:lnTo>
                <a:lnTo>
                  <a:pt x="15045" y="0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25155" y="2465769"/>
            <a:ext cx="3343275" cy="532197"/>
          </a:xfrm>
          <a:prstGeom prst="rect">
            <a:avLst/>
          </a:prstGeom>
          <a:ln w="19050">
            <a:solidFill>
              <a:srgbClr val="4285F4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90805" marR="149225" lvl="0" indent="0" algn="l" defTabSz="914400" rtl="0" eaLnBrk="1" fontAlgn="auto" latinLnBrk="0" hangingPunct="1">
              <a:lnSpc>
                <a:spcPts val="1900"/>
              </a:lnSpc>
              <a:spcBef>
                <a:spcPts val="3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sng" strike="noStrike" kern="1200" cap="none" spc="-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>
                  <a:solidFill>
                    <a:srgbClr val="4285F4"/>
                  </a:solidFill>
                </a:uFill>
                <a:latin typeface="Aptos Display"/>
                <a:ea typeface="+mn-ea"/>
                <a:cs typeface="Calibri"/>
              </a:rPr>
              <a:t>Input</a:t>
            </a:r>
            <a:r>
              <a:rPr kumimoji="0" sz="1600" b="1" i="0" u="sng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>
                  <a:solidFill>
                    <a:srgbClr val="4285F4"/>
                  </a:solidFill>
                </a:uFill>
                <a:latin typeface="Aptos Display"/>
                <a:ea typeface="+mn-ea"/>
                <a:cs typeface="Calibri"/>
              </a:rPr>
              <a:t> </a:t>
            </a:r>
            <a:r>
              <a:rPr kumimoji="0" sz="1600" b="1" i="0" u="sng" strike="noStrike" kern="1200" cap="none" spc="-2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>
                  <a:solidFill>
                    <a:srgbClr val="4285F4"/>
                  </a:solidFill>
                </a:uFill>
                <a:latin typeface="Aptos Display"/>
                <a:ea typeface="+mn-ea"/>
                <a:cs typeface="Calibri"/>
              </a:rPr>
              <a:t>gate:</a:t>
            </a:r>
            <a:r>
              <a:rPr kumimoji="0" sz="1600" b="1" i="0" u="none" strike="noStrike" kern="1200" cap="none" spc="-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controls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what parts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of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the </a:t>
            </a:r>
            <a:r>
              <a:rPr kumimoji="0" sz="1600" b="0" i="0" u="none" strike="noStrike" kern="1200" cap="none" spc="-3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new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cell 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content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are</a:t>
            </a:r>
            <a:r>
              <a:rPr kumimoji="0" sz="1600" b="0" i="0" u="none" strike="noStrike" kern="1200" cap="none" spc="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written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to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cell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461501" y="2751600"/>
            <a:ext cx="340995" cy="358775"/>
          </a:xfrm>
          <a:custGeom>
            <a:avLst/>
            <a:gdLst/>
            <a:ahLst/>
            <a:cxnLst/>
            <a:rect l="l" t="t" r="r" b="b"/>
            <a:pathLst>
              <a:path w="340995" h="358775">
                <a:moveTo>
                  <a:pt x="281383" y="309646"/>
                </a:moveTo>
                <a:lnTo>
                  <a:pt x="260654" y="329316"/>
                </a:lnTo>
                <a:lnTo>
                  <a:pt x="340743" y="358364"/>
                </a:lnTo>
                <a:lnTo>
                  <a:pt x="328715" y="318858"/>
                </a:lnTo>
                <a:lnTo>
                  <a:pt x="290125" y="318858"/>
                </a:lnTo>
                <a:lnTo>
                  <a:pt x="281383" y="309646"/>
                </a:lnTo>
                <a:close/>
              </a:path>
              <a:path w="340995" h="358775">
                <a:moveTo>
                  <a:pt x="295202" y="296533"/>
                </a:moveTo>
                <a:lnTo>
                  <a:pt x="281383" y="309646"/>
                </a:lnTo>
                <a:lnTo>
                  <a:pt x="290125" y="318858"/>
                </a:lnTo>
                <a:lnTo>
                  <a:pt x="303944" y="305746"/>
                </a:lnTo>
                <a:lnTo>
                  <a:pt x="295202" y="296533"/>
                </a:lnTo>
                <a:close/>
              </a:path>
              <a:path w="340995" h="358775">
                <a:moveTo>
                  <a:pt x="315930" y="276865"/>
                </a:moveTo>
                <a:lnTo>
                  <a:pt x="295202" y="296533"/>
                </a:lnTo>
                <a:lnTo>
                  <a:pt x="303944" y="305746"/>
                </a:lnTo>
                <a:lnTo>
                  <a:pt x="290125" y="318858"/>
                </a:lnTo>
                <a:lnTo>
                  <a:pt x="328715" y="318858"/>
                </a:lnTo>
                <a:lnTo>
                  <a:pt x="315930" y="276865"/>
                </a:lnTo>
                <a:close/>
              </a:path>
              <a:path w="340995" h="358775">
                <a:moveTo>
                  <a:pt x="13818" y="0"/>
                </a:moveTo>
                <a:lnTo>
                  <a:pt x="0" y="13112"/>
                </a:lnTo>
                <a:lnTo>
                  <a:pt x="281383" y="309646"/>
                </a:lnTo>
                <a:lnTo>
                  <a:pt x="295202" y="296533"/>
                </a:lnTo>
                <a:lnTo>
                  <a:pt x="13818" y="0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25155" y="4000390"/>
            <a:ext cx="3343275" cy="530273"/>
          </a:xfrm>
          <a:prstGeom prst="rect">
            <a:avLst/>
          </a:prstGeom>
          <a:ln w="19050">
            <a:solidFill>
              <a:srgbClr val="5D4B3C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90805" marR="539115" lvl="0" indent="0" algn="l" defTabSz="914400" rtl="0" eaLnBrk="1" fontAlgn="auto" latinLnBrk="0" hangingPunct="1">
              <a:lnSpc>
                <a:spcPts val="1900"/>
              </a:lnSpc>
              <a:spcBef>
                <a:spcPts val="3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sng" strike="noStrike" kern="1200" cap="none" spc="-10" normalizeH="0" baseline="0" noProof="0" dirty="0">
                <a:ln>
                  <a:noFill/>
                </a:ln>
                <a:solidFill>
                  <a:srgbClr val="5D4B3C"/>
                </a:solidFill>
                <a:effectLst/>
                <a:uLnTx/>
                <a:uFill>
                  <a:solidFill>
                    <a:srgbClr val="5D4B3C"/>
                  </a:solidFill>
                </a:uFill>
                <a:latin typeface="Aptos Display"/>
                <a:ea typeface="+mn-ea"/>
                <a:cs typeface="Calibri"/>
              </a:rPr>
              <a:t>New </a:t>
            </a:r>
            <a:r>
              <a:rPr kumimoji="0" sz="1600" b="1" i="0" u="sng" strike="noStrike" kern="1200" cap="none" spc="-5" normalizeH="0" baseline="0" noProof="0" dirty="0">
                <a:ln>
                  <a:noFill/>
                </a:ln>
                <a:solidFill>
                  <a:srgbClr val="5D4B3C"/>
                </a:solidFill>
                <a:effectLst/>
                <a:uLnTx/>
                <a:uFill>
                  <a:solidFill>
                    <a:srgbClr val="5D4B3C"/>
                  </a:solidFill>
                </a:uFill>
                <a:latin typeface="Aptos Display"/>
                <a:ea typeface="+mn-ea"/>
                <a:cs typeface="Calibri"/>
              </a:rPr>
              <a:t>cell </a:t>
            </a:r>
            <a:r>
              <a:rPr kumimoji="0" sz="1600" b="1" i="0" u="sng" strike="noStrike" kern="1200" cap="none" spc="-10" normalizeH="0" baseline="0" noProof="0" dirty="0">
                <a:ln>
                  <a:noFill/>
                </a:ln>
                <a:solidFill>
                  <a:srgbClr val="5D4B3C"/>
                </a:solidFill>
                <a:effectLst/>
                <a:uLnTx/>
                <a:uFill>
                  <a:solidFill>
                    <a:srgbClr val="5D4B3C"/>
                  </a:solidFill>
                </a:uFill>
                <a:latin typeface="Aptos Display"/>
                <a:ea typeface="+mn-ea"/>
                <a:cs typeface="Calibri"/>
              </a:rPr>
              <a:t>content:</a:t>
            </a:r>
            <a:r>
              <a:rPr kumimoji="0" sz="1600" b="1" i="0" u="none" strike="noStrike" kern="1200" cap="none" spc="-10" normalizeH="0" baseline="0" noProof="0" dirty="0">
                <a:ln>
                  <a:noFill/>
                </a:ln>
                <a:solidFill>
                  <a:srgbClr val="5D4B3C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5D4B3C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this is the new </a:t>
            </a:r>
            <a:r>
              <a:rPr kumimoji="0" sz="1600" b="0" i="0" u="none" strike="noStrike" kern="1200" cap="none" spc="-350" normalizeH="0" baseline="0" noProof="0" dirty="0">
                <a:ln>
                  <a:noFill/>
                </a:ln>
                <a:solidFill>
                  <a:srgbClr val="5D4B3C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5D4B3C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content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5D4B3C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5D4B3C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to</a:t>
            </a:r>
            <a:r>
              <a:rPr kumimoji="0" sz="1600" b="0" i="0" u="none" strike="noStrike" kern="1200" cap="none" spc="5" normalizeH="0" baseline="0" noProof="0" dirty="0">
                <a:ln>
                  <a:noFill/>
                </a:ln>
                <a:solidFill>
                  <a:srgbClr val="5D4B3C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5D4B3C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be</a:t>
            </a:r>
            <a:r>
              <a:rPr kumimoji="0" sz="1600" b="0" i="0" u="none" strike="noStrike" kern="1200" cap="none" spc="5" normalizeH="0" baseline="0" noProof="0" dirty="0">
                <a:ln>
                  <a:noFill/>
                </a:ln>
                <a:solidFill>
                  <a:srgbClr val="5D4B3C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5D4B3C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written to</a:t>
            </a:r>
            <a:r>
              <a:rPr kumimoji="0" sz="1600" b="0" i="0" u="none" strike="noStrike" kern="1200" cap="none" spc="5" normalizeH="0" baseline="0" noProof="0" dirty="0">
                <a:ln>
                  <a:noFill/>
                </a:ln>
                <a:solidFill>
                  <a:srgbClr val="5D4B3C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5D4B3C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the</a:t>
            </a:r>
            <a:r>
              <a:rPr kumimoji="0" sz="1600" b="0" i="0" u="none" strike="noStrike" kern="1200" cap="none" spc="5" normalizeH="0" baseline="0" noProof="0" dirty="0">
                <a:ln>
                  <a:noFill/>
                </a:ln>
                <a:solidFill>
                  <a:srgbClr val="5D4B3C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5D4B3C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cell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460016" y="4288274"/>
            <a:ext cx="375285" cy="688340"/>
          </a:xfrm>
          <a:custGeom>
            <a:avLst/>
            <a:gdLst/>
            <a:ahLst/>
            <a:cxnLst/>
            <a:rect l="l" t="t" r="r" b="b"/>
            <a:pathLst>
              <a:path w="375285" h="688339">
                <a:moveTo>
                  <a:pt x="330530" y="625150"/>
                </a:moveTo>
                <a:lnTo>
                  <a:pt x="305349" y="638658"/>
                </a:lnTo>
                <a:lnTo>
                  <a:pt x="374944" y="687796"/>
                </a:lnTo>
                <a:lnTo>
                  <a:pt x="373465" y="636341"/>
                </a:lnTo>
                <a:lnTo>
                  <a:pt x="336533" y="636341"/>
                </a:lnTo>
                <a:lnTo>
                  <a:pt x="330530" y="625150"/>
                </a:lnTo>
                <a:close/>
              </a:path>
              <a:path w="375285" h="688339">
                <a:moveTo>
                  <a:pt x="347316" y="616145"/>
                </a:moveTo>
                <a:lnTo>
                  <a:pt x="330530" y="625150"/>
                </a:lnTo>
                <a:lnTo>
                  <a:pt x="336533" y="636341"/>
                </a:lnTo>
                <a:lnTo>
                  <a:pt x="353320" y="627336"/>
                </a:lnTo>
                <a:lnTo>
                  <a:pt x="347316" y="616145"/>
                </a:lnTo>
                <a:close/>
              </a:path>
              <a:path w="375285" h="688339">
                <a:moveTo>
                  <a:pt x="372497" y="602636"/>
                </a:moveTo>
                <a:lnTo>
                  <a:pt x="347316" y="616145"/>
                </a:lnTo>
                <a:lnTo>
                  <a:pt x="353320" y="627336"/>
                </a:lnTo>
                <a:lnTo>
                  <a:pt x="336533" y="636341"/>
                </a:lnTo>
                <a:lnTo>
                  <a:pt x="373465" y="636341"/>
                </a:lnTo>
                <a:lnTo>
                  <a:pt x="372497" y="602636"/>
                </a:lnTo>
                <a:close/>
              </a:path>
              <a:path w="375285" h="688339">
                <a:moveTo>
                  <a:pt x="16786" y="0"/>
                </a:moveTo>
                <a:lnTo>
                  <a:pt x="0" y="9005"/>
                </a:lnTo>
                <a:lnTo>
                  <a:pt x="330530" y="625150"/>
                </a:lnTo>
                <a:lnTo>
                  <a:pt x="347316" y="616145"/>
                </a:lnTo>
                <a:lnTo>
                  <a:pt x="16786" y="0"/>
                </a:lnTo>
                <a:close/>
              </a:path>
            </a:pathLst>
          </a:custGeom>
          <a:solidFill>
            <a:srgbClr val="5D4B3C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25155" y="4767699"/>
            <a:ext cx="3343275" cy="774571"/>
          </a:xfrm>
          <a:prstGeom prst="rect">
            <a:avLst/>
          </a:prstGeom>
          <a:ln w="19050">
            <a:solidFill>
              <a:srgbClr val="5D4B3C"/>
            </a:solidFill>
          </a:ln>
        </p:spPr>
        <p:txBody>
          <a:bodyPr vert="horz" wrap="square" lIns="0" tIns="43180" rIns="0" bIns="0" rtlCol="0">
            <a:spAutoFit/>
          </a:bodyPr>
          <a:lstStyle/>
          <a:p>
            <a:pPr marL="90805" marR="166370" lvl="0" indent="0" algn="l" defTabSz="914400" rtl="0" eaLnBrk="1" fontAlgn="auto" latinLnBrk="0" hangingPunct="1">
              <a:lnSpc>
                <a:spcPts val="1900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sng" strike="noStrike" kern="1200" cap="none" spc="-5" normalizeH="0" baseline="0" noProof="0" dirty="0">
                <a:ln>
                  <a:noFill/>
                </a:ln>
                <a:solidFill>
                  <a:srgbClr val="5D4B3C"/>
                </a:solidFill>
                <a:effectLst/>
                <a:uLnTx/>
                <a:uFill>
                  <a:solidFill>
                    <a:srgbClr val="5D4B3C"/>
                  </a:solidFill>
                </a:uFill>
                <a:latin typeface="Aptos Display"/>
                <a:ea typeface="+mn-ea"/>
                <a:cs typeface="Calibri"/>
              </a:rPr>
              <a:t>Cell</a:t>
            </a:r>
            <a:r>
              <a:rPr kumimoji="0" sz="1600" b="1" i="0" u="sng" strike="noStrike" kern="1200" cap="none" spc="-15" normalizeH="0" baseline="0" noProof="0" dirty="0">
                <a:ln>
                  <a:noFill/>
                </a:ln>
                <a:solidFill>
                  <a:srgbClr val="5D4B3C"/>
                </a:solidFill>
                <a:effectLst/>
                <a:uLnTx/>
                <a:uFill>
                  <a:solidFill>
                    <a:srgbClr val="5D4B3C"/>
                  </a:solidFill>
                </a:uFill>
                <a:latin typeface="Aptos Display"/>
                <a:ea typeface="+mn-ea"/>
                <a:cs typeface="Calibri"/>
              </a:rPr>
              <a:t> </a:t>
            </a:r>
            <a:r>
              <a:rPr kumimoji="0" sz="1600" b="1" i="0" u="sng" strike="noStrike" kern="1200" cap="none" spc="-20" normalizeH="0" baseline="0" noProof="0" dirty="0">
                <a:ln>
                  <a:noFill/>
                </a:ln>
                <a:solidFill>
                  <a:srgbClr val="5D4B3C"/>
                </a:solidFill>
                <a:effectLst/>
                <a:uLnTx/>
                <a:uFill>
                  <a:solidFill>
                    <a:srgbClr val="5D4B3C"/>
                  </a:solidFill>
                </a:uFill>
                <a:latin typeface="Aptos Display"/>
                <a:ea typeface="+mn-ea"/>
                <a:cs typeface="Calibri"/>
              </a:rPr>
              <a:t>state</a:t>
            </a:r>
            <a:r>
              <a:rPr kumimoji="0" sz="1600" b="0" i="0" u="none" strike="noStrike" kern="1200" cap="none" spc="-20" normalizeH="0" baseline="0" noProof="0" dirty="0">
                <a:ln>
                  <a:noFill/>
                </a:ln>
                <a:solidFill>
                  <a:srgbClr val="5D4B3C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: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5D4B3C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5D4B3C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erase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5D4B3C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5D4B3C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(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“forget”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5D4B3C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)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5D4B3C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5D4B3C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some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5D4B3C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5D4B3C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content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5D4B3C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5D4B3C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from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5D4B3C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5D4B3C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last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5D4B3C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cell 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5D4B3C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state,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5D4B3C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and write </a:t>
            </a:r>
            <a:r>
              <a:rPr kumimoji="0" sz="1600" b="0" i="0" u="none" strike="noStrike" kern="1200" cap="none" spc="-350" normalizeH="0" baseline="0" noProof="0" dirty="0">
                <a:ln>
                  <a:noFill/>
                </a:ln>
                <a:solidFill>
                  <a:srgbClr val="5D4B3C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5" normalizeH="0" baseline="0" noProof="0" dirty="0">
                <a:ln>
                  <a:noFill/>
                </a:ln>
                <a:solidFill>
                  <a:srgbClr val="5D4B3C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(</a:t>
            </a:r>
            <a:r>
              <a:rPr kumimoji="0" sz="1600" b="0" i="0" u="none" strike="noStrike" kern="1200" cap="none" spc="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“input”</a:t>
            </a:r>
            <a:r>
              <a:rPr kumimoji="0" sz="1600" b="0" i="0" u="none" strike="noStrike" kern="1200" cap="none" spc="5" normalizeH="0" baseline="0" noProof="0" dirty="0">
                <a:ln>
                  <a:noFill/>
                </a:ln>
                <a:solidFill>
                  <a:srgbClr val="5D4B3C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)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5D4B3C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some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5D4B3C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5D4B3C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new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5D4B3C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5D4B3C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cell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5D4B3C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content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461618" y="5176520"/>
            <a:ext cx="340995" cy="346710"/>
          </a:xfrm>
          <a:custGeom>
            <a:avLst/>
            <a:gdLst/>
            <a:ahLst/>
            <a:cxnLst/>
            <a:rect l="l" t="t" r="r" b="b"/>
            <a:pathLst>
              <a:path w="340995" h="346710">
                <a:moveTo>
                  <a:pt x="280407" y="298528"/>
                </a:moveTo>
                <a:lnTo>
                  <a:pt x="260032" y="318562"/>
                </a:lnTo>
                <a:lnTo>
                  <a:pt x="340625" y="346182"/>
                </a:lnTo>
                <a:lnTo>
                  <a:pt x="328119" y="307583"/>
                </a:lnTo>
                <a:lnTo>
                  <a:pt x="289312" y="307583"/>
                </a:lnTo>
                <a:lnTo>
                  <a:pt x="280407" y="298528"/>
                </a:lnTo>
                <a:close/>
              </a:path>
              <a:path w="340995" h="346710">
                <a:moveTo>
                  <a:pt x="293991" y="285171"/>
                </a:moveTo>
                <a:lnTo>
                  <a:pt x="280407" y="298528"/>
                </a:lnTo>
                <a:lnTo>
                  <a:pt x="289312" y="307583"/>
                </a:lnTo>
                <a:lnTo>
                  <a:pt x="302896" y="294227"/>
                </a:lnTo>
                <a:lnTo>
                  <a:pt x="293991" y="285171"/>
                </a:lnTo>
                <a:close/>
              </a:path>
              <a:path w="340995" h="346710">
                <a:moveTo>
                  <a:pt x="314366" y="265136"/>
                </a:moveTo>
                <a:lnTo>
                  <a:pt x="293991" y="285171"/>
                </a:lnTo>
                <a:lnTo>
                  <a:pt x="302896" y="294227"/>
                </a:lnTo>
                <a:lnTo>
                  <a:pt x="289312" y="307583"/>
                </a:lnTo>
                <a:lnTo>
                  <a:pt x="328119" y="307583"/>
                </a:lnTo>
                <a:lnTo>
                  <a:pt x="314366" y="265136"/>
                </a:lnTo>
                <a:close/>
              </a:path>
              <a:path w="340995" h="346710">
                <a:moveTo>
                  <a:pt x="13582" y="0"/>
                </a:moveTo>
                <a:lnTo>
                  <a:pt x="0" y="13356"/>
                </a:lnTo>
                <a:lnTo>
                  <a:pt x="280407" y="298528"/>
                </a:lnTo>
                <a:lnTo>
                  <a:pt x="293991" y="285171"/>
                </a:lnTo>
                <a:lnTo>
                  <a:pt x="13582" y="0"/>
                </a:lnTo>
                <a:close/>
              </a:path>
            </a:pathLst>
          </a:custGeom>
          <a:solidFill>
            <a:srgbClr val="5D4B3C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25156" y="5781230"/>
            <a:ext cx="3343275" cy="524503"/>
          </a:xfrm>
          <a:prstGeom prst="rect">
            <a:avLst/>
          </a:prstGeom>
          <a:ln w="19050">
            <a:solidFill>
              <a:srgbClr val="5D4B3C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91440" marR="300990" lvl="0" indent="0" algn="l" defTabSz="914400" rtl="0" eaLnBrk="1" fontAlgn="auto" latinLnBrk="0" hangingPunct="1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sng" strike="noStrike" kern="1200" cap="none" spc="-5" normalizeH="0" baseline="0" noProof="0" dirty="0">
                <a:ln>
                  <a:noFill/>
                </a:ln>
                <a:solidFill>
                  <a:srgbClr val="5D4B3C"/>
                </a:solidFill>
                <a:effectLst/>
                <a:uLnTx/>
                <a:uFill>
                  <a:solidFill>
                    <a:srgbClr val="5D4B3C"/>
                  </a:solidFill>
                </a:uFill>
                <a:latin typeface="Aptos Display"/>
                <a:ea typeface="+mn-ea"/>
                <a:cs typeface="Calibri"/>
              </a:rPr>
              <a:t>Hidden</a:t>
            </a:r>
            <a:r>
              <a:rPr kumimoji="0" sz="1600" b="1" i="0" u="sng" strike="noStrike" kern="1200" cap="none" spc="5" normalizeH="0" baseline="0" noProof="0" dirty="0">
                <a:ln>
                  <a:noFill/>
                </a:ln>
                <a:solidFill>
                  <a:srgbClr val="5D4B3C"/>
                </a:solidFill>
                <a:effectLst/>
                <a:uLnTx/>
                <a:uFill>
                  <a:solidFill>
                    <a:srgbClr val="5D4B3C"/>
                  </a:solidFill>
                </a:uFill>
                <a:latin typeface="Aptos Display"/>
                <a:ea typeface="+mn-ea"/>
                <a:cs typeface="Calibri"/>
              </a:rPr>
              <a:t> </a:t>
            </a:r>
            <a:r>
              <a:rPr kumimoji="0" sz="1600" b="1" i="0" u="sng" strike="noStrike" kern="1200" cap="none" spc="-20" normalizeH="0" baseline="0" noProof="0" dirty="0">
                <a:ln>
                  <a:noFill/>
                </a:ln>
                <a:solidFill>
                  <a:srgbClr val="5D4B3C"/>
                </a:solidFill>
                <a:effectLst/>
                <a:uLnTx/>
                <a:uFill>
                  <a:solidFill>
                    <a:srgbClr val="5D4B3C"/>
                  </a:solidFill>
                </a:uFill>
                <a:latin typeface="Aptos Display"/>
                <a:ea typeface="+mn-ea"/>
                <a:cs typeface="Calibri"/>
              </a:rPr>
              <a:t>state</a:t>
            </a:r>
            <a:r>
              <a:rPr kumimoji="0" sz="1600" b="0" i="0" u="none" strike="noStrike" kern="1200" cap="none" spc="-20" normalizeH="0" baseline="0" noProof="0" dirty="0">
                <a:ln>
                  <a:noFill/>
                </a:ln>
                <a:solidFill>
                  <a:srgbClr val="5D4B3C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: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5D4B3C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5D4B3C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read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5D4B3C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5D4B3C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(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“output”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5D4B3C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)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5D4B3C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5D4B3C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some </a:t>
            </a:r>
            <a:r>
              <a:rPr kumimoji="0" sz="1600" b="0" i="0" u="none" strike="noStrike" kern="1200" cap="none" spc="-345" normalizeH="0" baseline="0" noProof="0" dirty="0">
                <a:ln>
                  <a:noFill/>
                </a:ln>
                <a:solidFill>
                  <a:srgbClr val="5D4B3C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5D4B3C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content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5D4B3C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5D4B3C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from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5D4B3C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the</a:t>
            </a:r>
            <a:r>
              <a:rPr kumimoji="0" sz="1600" b="0" i="0" u="none" strike="noStrike" kern="1200" cap="none" spc="5" normalizeH="0" baseline="0" noProof="0" dirty="0">
                <a:ln>
                  <a:noFill/>
                </a:ln>
                <a:solidFill>
                  <a:srgbClr val="5D4B3C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5D4B3C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cell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179967" y="1495383"/>
            <a:ext cx="2553970" cy="530272"/>
          </a:xfrm>
          <a:prstGeom prst="rect">
            <a:avLst/>
          </a:prstGeom>
          <a:ln w="19050">
            <a:solidFill>
              <a:srgbClr val="4285F4"/>
            </a:solidFill>
          </a:ln>
        </p:spPr>
        <p:txBody>
          <a:bodyPr vert="horz" wrap="square" lIns="0" tIns="42544" rIns="0" bIns="0" rtlCol="0">
            <a:spAutoFit/>
          </a:bodyPr>
          <a:lstStyle/>
          <a:p>
            <a:pPr marL="91440" marR="192405" lvl="0" indent="0" algn="l" defTabSz="914400" rtl="0" eaLnBrk="1" fontAlgn="auto" latinLnBrk="0" hangingPunct="1">
              <a:lnSpc>
                <a:spcPts val="1900"/>
              </a:lnSpc>
              <a:spcBef>
                <a:spcPts val="3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sng" strike="noStrike" kern="1200" cap="none" spc="-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>
                  <a:solidFill>
                    <a:srgbClr val="4285F4"/>
                  </a:solidFill>
                </a:uFill>
                <a:latin typeface="Aptos Display"/>
                <a:ea typeface="+mn-ea"/>
                <a:cs typeface="Calibri"/>
              </a:rPr>
              <a:t>Sigmoid </a:t>
            </a:r>
            <a:r>
              <a:rPr kumimoji="0" sz="1600" b="1" i="0" u="sng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>
                  <a:solidFill>
                    <a:srgbClr val="4285F4"/>
                  </a:solidFill>
                </a:uFill>
                <a:latin typeface="Aptos Display"/>
                <a:ea typeface="+mn-ea"/>
                <a:cs typeface="Calibri"/>
              </a:rPr>
              <a:t>function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: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all </a:t>
            </a:r>
            <a:r>
              <a:rPr kumimoji="0" sz="1600" b="0" i="0" u="none" strike="noStrike" kern="1200" cap="none" spc="-2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gate 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values</a:t>
            </a:r>
            <a:r>
              <a:rPr kumimoji="0" sz="1600" b="0" i="0" u="none" strike="noStrike" kern="1200" cap="none" spc="-2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are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between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0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and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1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553418" y="1781827"/>
            <a:ext cx="634365" cy="2060575"/>
            <a:chOff x="6389286" y="1794417"/>
            <a:chExt cx="634365" cy="2060575"/>
          </a:xfrm>
        </p:grpSpPr>
        <p:sp>
          <p:nvSpPr>
            <p:cNvPr id="23" name="object 23"/>
            <p:cNvSpPr/>
            <p:nvPr/>
          </p:nvSpPr>
          <p:spPr>
            <a:xfrm>
              <a:off x="6517995" y="1794417"/>
              <a:ext cx="505459" cy="629285"/>
            </a:xfrm>
            <a:custGeom>
              <a:avLst/>
              <a:gdLst/>
              <a:ahLst/>
              <a:cxnLst/>
              <a:rect l="l" t="t" r="r" b="b"/>
              <a:pathLst>
                <a:path w="505459" h="629285">
                  <a:moveTo>
                    <a:pt x="17785" y="545923"/>
                  </a:moveTo>
                  <a:lnTo>
                    <a:pt x="0" y="629240"/>
                  </a:lnTo>
                  <a:lnTo>
                    <a:pt x="77323" y="593478"/>
                  </a:lnTo>
                  <a:lnTo>
                    <a:pt x="67421" y="585569"/>
                  </a:lnTo>
                  <a:lnTo>
                    <a:pt x="47071" y="585569"/>
                  </a:lnTo>
                  <a:lnTo>
                    <a:pt x="32186" y="573679"/>
                  </a:lnTo>
                  <a:lnTo>
                    <a:pt x="40112" y="563756"/>
                  </a:lnTo>
                  <a:lnTo>
                    <a:pt x="17785" y="545923"/>
                  </a:lnTo>
                  <a:close/>
                </a:path>
                <a:path w="505459" h="629285">
                  <a:moveTo>
                    <a:pt x="40112" y="563756"/>
                  </a:moveTo>
                  <a:lnTo>
                    <a:pt x="32186" y="573679"/>
                  </a:lnTo>
                  <a:lnTo>
                    <a:pt x="47071" y="585569"/>
                  </a:lnTo>
                  <a:lnTo>
                    <a:pt x="54997" y="575645"/>
                  </a:lnTo>
                  <a:lnTo>
                    <a:pt x="40112" y="563756"/>
                  </a:lnTo>
                  <a:close/>
                </a:path>
                <a:path w="505459" h="629285">
                  <a:moveTo>
                    <a:pt x="54997" y="575645"/>
                  </a:moveTo>
                  <a:lnTo>
                    <a:pt x="47071" y="585569"/>
                  </a:lnTo>
                  <a:lnTo>
                    <a:pt x="67421" y="585569"/>
                  </a:lnTo>
                  <a:lnTo>
                    <a:pt x="54997" y="575645"/>
                  </a:lnTo>
                  <a:close/>
                </a:path>
                <a:path w="505459" h="629285">
                  <a:moveTo>
                    <a:pt x="490396" y="0"/>
                  </a:moveTo>
                  <a:lnTo>
                    <a:pt x="40112" y="563756"/>
                  </a:lnTo>
                  <a:lnTo>
                    <a:pt x="54997" y="575645"/>
                  </a:lnTo>
                  <a:lnTo>
                    <a:pt x="505282" y="11888"/>
                  </a:lnTo>
                  <a:lnTo>
                    <a:pt x="490396" y="0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6398811" y="2423657"/>
              <a:ext cx="238760" cy="1421765"/>
            </a:xfrm>
            <a:custGeom>
              <a:avLst/>
              <a:gdLst/>
              <a:ahLst/>
              <a:cxnLst/>
              <a:rect l="l" t="t" r="r" b="b"/>
              <a:pathLst>
                <a:path w="238759" h="1421764">
                  <a:moveTo>
                    <a:pt x="0" y="0"/>
                  </a:moveTo>
                  <a:lnTo>
                    <a:pt x="238368" y="0"/>
                  </a:lnTo>
                  <a:lnTo>
                    <a:pt x="238368" y="1421491"/>
                  </a:lnTo>
                  <a:lnTo>
                    <a:pt x="0" y="1421491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285F4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449654" y="6199716"/>
            <a:ext cx="3343275" cy="531556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567690" marR="124460" lvl="0" indent="-436245" algn="l" defTabSz="914400" rtl="0" eaLnBrk="1" fontAlgn="auto" latinLnBrk="0" hangingPunct="1">
              <a:lnSpc>
                <a:spcPts val="1900"/>
              </a:lnSpc>
              <a:spcBef>
                <a:spcPts val="3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C21717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Gates are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C21717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applied using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C21717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element-wise </a:t>
            </a:r>
            <a:r>
              <a:rPr kumimoji="0" sz="1600" b="0" i="0" u="none" strike="noStrike" kern="1200" cap="none" spc="-350" normalizeH="0" baseline="0" noProof="0" dirty="0">
                <a:ln>
                  <a:noFill/>
                </a:ln>
                <a:solidFill>
                  <a:srgbClr val="C21717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C21717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(or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C21717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Hadamard)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C21717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product: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C21717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C21717"/>
                </a:solidFill>
                <a:effectLst/>
                <a:uLnTx/>
                <a:uFillTx/>
                <a:latin typeface="Aptos Display"/>
                <a:ea typeface="+mn-ea"/>
                <a:cs typeface="Cambria Math"/>
              </a:rPr>
              <a:t>⊙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C21717"/>
              </a:solidFill>
              <a:effectLst/>
              <a:uLnTx/>
              <a:uFillTx/>
              <a:latin typeface="Aptos Display"/>
              <a:ea typeface="+mn-ea"/>
              <a:cs typeface="Cambria Math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125902" y="6189242"/>
            <a:ext cx="330835" cy="309880"/>
          </a:xfrm>
          <a:custGeom>
            <a:avLst/>
            <a:gdLst/>
            <a:ahLst/>
            <a:cxnLst/>
            <a:rect l="l" t="t" r="r" b="b"/>
            <a:pathLst>
              <a:path w="330834" h="309879">
                <a:moveTo>
                  <a:pt x="62153" y="45100"/>
                </a:moveTo>
                <a:lnTo>
                  <a:pt x="49139" y="59012"/>
                </a:lnTo>
                <a:lnTo>
                  <a:pt x="317244" y="309817"/>
                </a:lnTo>
                <a:lnTo>
                  <a:pt x="330258" y="295906"/>
                </a:lnTo>
                <a:lnTo>
                  <a:pt x="62153" y="45100"/>
                </a:lnTo>
                <a:close/>
              </a:path>
              <a:path w="330834" h="309879">
                <a:moveTo>
                  <a:pt x="0" y="0"/>
                </a:moveTo>
                <a:lnTo>
                  <a:pt x="29618" y="79879"/>
                </a:lnTo>
                <a:lnTo>
                  <a:pt x="49139" y="59012"/>
                </a:lnTo>
                <a:lnTo>
                  <a:pt x="39865" y="50336"/>
                </a:lnTo>
                <a:lnTo>
                  <a:pt x="52878" y="36424"/>
                </a:lnTo>
                <a:lnTo>
                  <a:pt x="70270" y="36424"/>
                </a:lnTo>
                <a:lnTo>
                  <a:pt x="81674" y="24232"/>
                </a:lnTo>
                <a:lnTo>
                  <a:pt x="0" y="0"/>
                </a:lnTo>
                <a:close/>
              </a:path>
              <a:path w="330834" h="309879">
                <a:moveTo>
                  <a:pt x="52878" y="36424"/>
                </a:moveTo>
                <a:lnTo>
                  <a:pt x="39865" y="50336"/>
                </a:lnTo>
                <a:lnTo>
                  <a:pt x="49139" y="59012"/>
                </a:lnTo>
                <a:lnTo>
                  <a:pt x="62153" y="45100"/>
                </a:lnTo>
                <a:lnTo>
                  <a:pt x="52878" y="36424"/>
                </a:lnTo>
                <a:close/>
              </a:path>
              <a:path w="330834" h="309879">
                <a:moveTo>
                  <a:pt x="70270" y="36424"/>
                </a:moveTo>
                <a:lnTo>
                  <a:pt x="52878" y="36424"/>
                </a:lnTo>
                <a:lnTo>
                  <a:pt x="62153" y="45100"/>
                </a:lnTo>
                <a:lnTo>
                  <a:pt x="70270" y="36424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BE9F740-6D5B-11C6-609B-840F07C91E0B}"/>
              </a:ext>
            </a:extLst>
          </p:cNvPr>
          <p:cNvCxnSpPr/>
          <p:nvPr/>
        </p:nvCxnSpPr>
        <p:spPr>
          <a:xfrm flipV="1">
            <a:off x="7629833" y="5698837"/>
            <a:ext cx="0" cy="49040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A0D2B25E-9753-7825-52DF-44DBFE90110D}"/>
              </a:ext>
            </a:extLst>
          </p:cNvPr>
          <p:cNvSpPr txBox="1"/>
          <p:nvPr/>
        </p:nvSpPr>
        <p:spPr>
          <a:xfrm flipH="1">
            <a:off x="5980183" y="5432312"/>
            <a:ext cx="261767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⊙</a:t>
            </a:r>
            <a:endParaRPr kumimoji="0" lang="en-IN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DF03A75-5BE2-2186-FC53-98212E028DBF}"/>
              </a:ext>
            </a:extLst>
          </p:cNvPr>
          <p:cNvSpPr txBox="1"/>
          <p:nvPr/>
        </p:nvSpPr>
        <p:spPr>
          <a:xfrm flipH="1">
            <a:off x="7465642" y="5423369"/>
            <a:ext cx="228601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⊙</a:t>
            </a:r>
            <a:endParaRPr kumimoji="0" lang="en-IN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EC03524-2EED-823F-9573-AE84CB86F2ED}"/>
              </a:ext>
            </a:extLst>
          </p:cNvPr>
          <p:cNvSpPr txBox="1"/>
          <p:nvPr/>
        </p:nvSpPr>
        <p:spPr>
          <a:xfrm flipH="1">
            <a:off x="5958985" y="5872862"/>
            <a:ext cx="228601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thJax_Main"/>
                <a:ea typeface="+mn-ea"/>
                <a:cs typeface="+mn-cs"/>
              </a:rPr>
              <a:t>⊙</a:t>
            </a:r>
            <a:endParaRPr kumimoji="0" lang="en-IN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20" grpId="0" animBg="1"/>
      <p:bldP spid="7" grpId="0"/>
      <p:bldP spid="8" grpId="0" animBg="1"/>
      <p:bldP spid="9" grpId="0" animBg="1"/>
      <p:bldP spid="10" grpId="0" animBg="1"/>
      <p:bldP spid="11" grpId="0" animBg="1"/>
      <p:bldP spid="12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6" grpId="0" animBg="1"/>
      <p:bldP spid="2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41325" y="955307"/>
            <a:ext cx="11307763" cy="629018"/>
          </a:xfrm>
          <a:prstGeom prst="rect">
            <a:avLst/>
          </a:prstGeom>
        </p:spPr>
        <p:txBody>
          <a:bodyPr vert="horz" wrap="square" lIns="0" tIns="13335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latin typeface="+mn-lt"/>
                <a:cs typeface="Calibri"/>
              </a:rPr>
              <a:t>Gated</a:t>
            </a:r>
            <a:r>
              <a:rPr spc="-40" dirty="0">
                <a:latin typeface="+mn-lt"/>
                <a:cs typeface="Calibri"/>
              </a:rPr>
              <a:t> </a:t>
            </a:r>
            <a:r>
              <a:rPr spc="-5" dirty="0">
                <a:latin typeface="+mn-lt"/>
                <a:cs typeface="Calibri"/>
              </a:rPr>
              <a:t>Recurrent</a:t>
            </a:r>
            <a:r>
              <a:rPr spc="-20" dirty="0">
                <a:latin typeface="+mn-lt"/>
                <a:cs typeface="Calibri"/>
              </a:rPr>
              <a:t> </a:t>
            </a:r>
            <a:r>
              <a:rPr spc="-5" dirty="0">
                <a:latin typeface="+mn-lt"/>
                <a:cs typeface="Calibri"/>
              </a:rPr>
              <a:t>Units</a:t>
            </a:r>
            <a:r>
              <a:rPr spc="-30" dirty="0">
                <a:latin typeface="+mn-lt"/>
                <a:cs typeface="Calibri"/>
              </a:rPr>
              <a:t> </a:t>
            </a:r>
            <a:r>
              <a:rPr dirty="0">
                <a:latin typeface="+mn-lt"/>
                <a:cs typeface="Calibri"/>
              </a:rPr>
              <a:t>(GRU</a:t>
            </a:r>
            <a:r>
              <a:rPr lang="en-US" dirty="0">
                <a:latin typeface="+mn-lt"/>
                <a:cs typeface="Calibri"/>
              </a:rPr>
              <a:t>s</a:t>
            </a:r>
            <a:r>
              <a:rPr dirty="0">
                <a:latin typeface="+mn-lt"/>
                <a:cs typeface="Calibri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97DFB62-8F2B-B5CA-E371-ECAA4DE800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1326" y="1808163"/>
                <a:ext cx="2886342" cy="4351337"/>
              </a:xfrm>
            </p:spPr>
            <p:txBody>
              <a:bodyPr/>
              <a:lstStyle/>
              <a:p>
                <a:r>
                  <a:rPr lang="en-US" sz="1800" dirty="0"/>
                  <a:t>Proposed by Cho et al. in 2014 as a </a:t>
                </a:r>
                <a:r>
                  <a:rPr lang="en-US" sz="1800" dirty="0">
                    <a:solidFill>
                      <a:schemeClr val="accent1"/>
                    </a:solidFill>
                  </a:rPr>
                  <a:t>simpler alternative to the LSTM</a:t>
                </a:r>
                <a:r>
                  <a:rPr lang="en-US" sz="1800" dirty="0"/>
                  <a:t>.</a:t>
                </a:r>
              </a:p>
              <a:p>
                <a:r>
                  <a:rPr lang="en-US" sz="1800" dirty="0"/>
                  <a:t>On each timestep </a:t>
                </a:r>
                <a:r>
                  <a:rPr lang="en-US" sz="1800" i="1" dirty="0"/>
                  <a:t>t</a:t>
                </a:r>
                <a:r>
                  <a:rPr lang="en-US" sz="1800" dirty="0"/>
                  <a:t>, we have input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/>
                  <a:t>and hidden state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sz="1800" dirty="0"/>
                  <a:t> (</a:t>
                </a:r>
                <a:r>
                  <a:rPr lang="en-US" sz="1800" dirty="0">
                    <a:solidFill>
                      <a:schemeClr val="accent1"/>
                    </a:solidFill>
                  </a:rPr>
                  <a:t>no cell state</a:t>
                </a:r>
                <a:r>
                  <a:rPr lang="en-US" sz="1800" dirty="0"/>
                  <a:t>).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97DFB62-8F2B-B5CA-E371-ECAA4DE800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1326" y="1808163"/>
                <a:ext cx="2886342" cy="4351337"/>
              </a:xfrm>
              <a:blipFill>
                <a:blip r:embed="rId2"/>
                <a:stretch>
                  <a:fillRect l="-1266" t="-1403" r="-189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bject 6"/>
          <p:cNvSpPr txBox="1"/>
          <p:nvPr/>
        </p:nvSpPr>
        <p:spPr>
          <a:xfrm>
            <a:off x="442913" y="5692002"/>
            <a:ext cx="2887790" cy="47384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"Learning</a:t>
            </a:r>
            <a:r>
              <a:rPr kumimoji="0" sz="10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Phrase</a:t>
            </a:r>
            <a:r>
              <a:rPr kumimoji="0" sz="1000" b="0" i="0" u="none" strike="noStrike" kern="120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Representations</a:t>
            </a:r>
            <a:r>
              <a:rPr kumimoji="0" sz="1000" b="0" i="0" u="none" strike="noStrike" kern="1200" cap="none" spc="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using RNN</a:t>
            </a:r>
            <a:r>
              <a:rPr kumimoji="0" sz="1000" b="0" i="0" u="none" strike="noStrike" kern="1200" cap="none" spc="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Encoder–Decoder</a:t>
            </a:r>
            <a:r>
              <a:rPr kumimoji="0" sz="1000" b="0" i="0" u="none" strike="noStrike" kern="120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for</a:t>
            </a:r>
            <a:r>
              <a:rPr kumimoji="0" sz="1000" b="0" i="0" u="none" strike="noStrike" kern="120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Statistical</a:t>
            </a:r>
            <a:r>
              <a:rPr kumimoji="0" sz="1000" b="0" i="0" u="none" strike="noStrike" kern="1200" cap="none" spc="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Machine Translation",</a:t>
            </a:r>
            <a:r>
              <a:rPr kumimoji="0" sz="10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0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Cho</a:t>
            </a:r>
            <a:r>
              <a:rPr kumimoji="0" sz="1000" b="0" i="0" u="none" strike="noStrike" kern="120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et</a:t>
            </a:r>
            <a:r>
              <a:rPr kumimoji="0" sz="1000" b="0" i="0" u="none" strike="noStrike" kern="1200" cap="none" spc="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al.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2014,</a:t>
            </a:r>
            <a:r>
              <a:rPr kumimoji="0" sz="1000" b="0" i="0" u="none" strike="noStrike" kern="1200" cap="none" spc="5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000" b="0" i="0" u="sng" strike="noStrike" kern="1200" cap="none" spc="-5" normalizeH="0" baseline="0" noProof="0" dirty="0">
                <a:ln>
                  <a:noFill/>
                </a:ln>
                <a:solidFill>
                  <a:srgbClr val="EE8E1C"/>
                </a:solidFill>
                <a:effectLst/>
                <a:uLnTx/>
                <a:uFill>
                  <a:solidFill>
                    <a:srgbClr val="EE8E1C"/>
                  </a:solidFill>
                </a:uFill>
                <a:latin typeface="Aptos Display"/>
                <a:ea typeface="+mn-ea"/>
                <a:cs typeface="Calibri"/>
                <a:hlinkClick r:id="rId3"/>
              </a:rPr>
              <a:t>https://arxiv.org/pdf/1406.1078v3.pdf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pic>
        <p:nvPicPr>
          <p:cNvPr id="2" name="object 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09928" y="3745064"/>
            <a:ext cx="4503501" cy="76574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05710" y="2333360"/>
            <a:ext cx="3470394" cy="90024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335275" y="1791628"/>
            <a:ext cx="3427729" cy="524503"/>
          </a:xfrm>
          <a:prstGeom prst="rect">
            <a:avLst/>
          </a:prstGeom>
          <a:ln w="19811">
            <a:solidFill>
              <a:srgbClr val="4285F4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90805" marR="171450" lvl="0" indent="0" algn="l" defTabSz="914400" rtl="0" eaLnBrk="1" fontAlgn="auto" latinLnBrk="0" hangingPunct="1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heavy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>
                  <a:solidFill>
                    <a:srgbClr val="4285F4"/>
                  </a:solidFill>
                </a:uFill>
                <a:latin typeface="Aptos Display"/>
                <a:ea typeface="+mn-ea"/>
                <a:cs typeface="Calibri"/>
              </a:rPr>
              <a:t>Update</a:t>
            </a:r>
            <a:r>
              <a:rPr kumimoji="0" sz="1600" b="1" i="0" u="heavy" strike="noStrike" kern="1200" cap="none" spc="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>
                  <a:solidFill>
                    <a:srgbClr val="4285F4"/>
                  </a:solidFill>
                </a:uFill>
                <a:latin typeface="Aptos Display"/>
                <a:ea typeface="+mn-ea"/>
                <a:cs typeface="Calibri"/>
              </a:rPr>
              <a:t> </a:t>
            </a:r>
            <a:r>
              <a:rPr kumimoji="0" sz="1600" b="1" i="0" u="heavy" strike="noStrike" kern="1200" cap="none" spc="-1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>
                  <a:solidFill>
                    <a:srgbClr val="4285F4"/>
                  </a:solidFill>
                </a:uFill>
                <a:latin typeface="Aptos Display"/>
                <a:ea typeface="+mn-ea"/>
                <a:cs typeface="Calibri"/>
              </a:rPr>
              <a:t>gate:</a:t>
            </a:r>
            <a:r>
              <a:rPr kumimoji="0" sz="1600" b="1" i="0" u="none" strike="noStrike" kern="1200" cap="none" spc="-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controls</a:t>
            </a:r>
            <a:r>
              <a:rPr kumimoji="0" sz="1600" b="0" i="0" u="none" strike="noStrike" kern="1200" cap="none" spc="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what parts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of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hidden</a:t>
            </a:r>
            <a:r>
              <a:rPr kumimoji="0" sz="1600" b="0" i="0" u="none" strike="noStrike" kern="1200" cap="none" spc="-2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state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are</a:t>
            </a:r>
            <a:r>
              <a:rPr kumimoji="0" sz="1600" b="0" i="0" u="none" strike="noStrike" kern="1200" cap="none" spc="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updated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vs</a:t>
            </a:r>
            <a:r>
              <a:rPr kumimoji="0" sz="1600" b="0" i="0" u="none" strike="noStrike" kern="1200" cap="none" spc="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preserved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757290" y="2074457"/>
            <a:ext cx="711835" cy="476250"/>
          </a:xfrm>
          <a:custGeom>
            <a:avLst/>
            <a:gdLst/>
            <a:ahLst/>
            <a:cxnLst/>
            <a:rect l="l" t="t" r="r" b="b"/>
            <a:pathLst>
              <a:path w="711835" h="476250">
                <a:moveTo>
                  <a:pt x="642801" y="441920"/>
                </a:moveTo>
                <a:lnTo>
                  <a:pt x="627252" y="465454"/>
                </a:lnTo>
                <a:lnTo>
                  <a:pt x="711835" y="475741"/>
                </a:lnTo>
                <a:lnTo>
                  <a:pt x="696410" y="448945"/>
                </a:lnTo>
                <a:lnTo>
                  <a:pt x="653414" y="448945"/>
                </a:lnTo>
                <a:lnTo>
                  <a:pt x="642801" y="441920"/>
                </a:lnTo>
                <a:close/>
              </a:path>
              <a:path w="711835" h="476250">
                <a:moveTo>
                  <a:pt x="653713" y="425404"/>
                </a:moveTo>
                <a:lnTo>
                  <a:pt x="642801" y="441920"/>
                </a:lnTo>
                <a:lnTo>
                  <a:pt x="653414" y="448945"/>
                </a:lnTo>
                <a:lnTo>
                  <a:pt x="664337" y="432435"/>
                </a:lnTo>
                <a:lnTo>
                  <a:pt x="653713" y="425404"/>
                </a:lnTo>
                <a:close/>
              </a:path>
              <a:path w="711835" h="476250">
                <a:moveTo>
                  <a:pt x="669289" y="401827"/>
                </a:moveTo>
                <a:lnTo>
                  <a:pt x="653713" y="425404"/>
                </a:lnTo>
                <a:lnTo>
                  <a:pt x="664337" y="432435"/>
                </a:lnTo>
                <a:lnTo>
                  <a:pt x="653414" y="448945"/>
                </a:lnTo>
                <a:lnTo>
                  <a:pt x="696410" y="448945"/>
                </a:lnTo>
                <a:lnTo>
                  <a:pt x="669289" y="401827"/>
                </a:lnTo>
                <a:close/>
              </a:path>
              <a:path w="711835" h="476250">
                <a:moveTo>
                  <a:pt x="10922" y="0"/>
                </a:moveTo>
                <a:lnTo>
                  <a:pt x="0" y="16510"/>
                </a:lnTo>
                <a:lnTo>
                  <a:pt x="642801" y="441920"/>
                </a:lnTo>
                <a:lnTo>
                  <a:pt x="653713" y="425404"/>
                </a:lnTo>
                <a:lnTo>
                  <a:pt x="10922" y="0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30703" y="2561248"/>
            <a:ext cx="3427729" cy="771364"/>
          </a:xfrm>
          <a:prstGeom prst="rect">
            <a:avLst/>
          </a:prstGeom>
          <a:ln w="19811">
            <a:solidFill>
              <a:srgbClr val="4285F4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90170" marR="548005" lvl="0" indent="0" algn="just" defTabSz="914400" rtl="0" eaLnBrk="1" fontAlgn="auto" latinLnBrk="0" hangingPunct="1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heavy" strike="noStrike" kern="1200" cap="none" spc="-1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>
                  <a:solidFill>
                    <a:srgbClr val="4285F4"/>
                  </a:solidFill>
                </a:uFill>
                <a:latin typeface="Aptos Display"/>
                <a:ea typeface="+mn-ea"/>
                <a:cs typeface="Calibri"/>
              </a:rPr>
              <a:t>Reset </a:t>
            </a:r>
            <a:r>
              <a:rPr kumimoji="0" sz="1600" b="1" i="0" u="heavy" strike="noStrike" kern="1200" cap="none" spc="-2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>
                  <a:solidFill>
                    <a:srgbClr val="4285F4"/>
                  </a:solidFill>
                </a:uFill>
                <a:latin typeface="Aptos Display"/>
                <a:ea typeface="+mn-ea"/>
                <a:cs typeface="Calibri"/>
              </a:rPr>
              <a:t>gate:</a:t>
            </a:r>
            <a:r>
              <a:rPr kumimoji="0" sz="1600" b="1" i="0" u="none" strike="noStrike" kern="1200" cap="none" spc="-2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controls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what parts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of </a:t>
            </a:r>
            <a:r>
              <a:rPr kumimoji="0" sz="1600" b="0" i="0" u="none" strike="noStrike" kern="1200" cap="none" spc="-35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previous hidden 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state are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used to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compute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new</a:t>
            </a:r>
            <a:r>
              <a:rPr kumimoji="0" sz="1600" b="0" i="0" u="none" strike="noStrike" kern="1200" cap="none" spc="2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content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757542" y="2967394"/>
            <a:ext cx="712470" cy="86360"/>
          </a:xfrm>
          <a:custGeom>
            <a:avLst/>
            <a:gdLst/>
            <a:ahLst/>
            <a:cxnLst/>
            <a:rect l="l" t="t" r="r" b="b"/>
            <a:pathLst>
              <a:path w="712470" h="86360">
                <a:moveTo>
                  <a:pt x="638429" y="10033"/>
                </a:moveTo>
                <a:lnTo>
                  <a:pt x="636742" y="38098"/>
                </a:lnTo>
                <a:lnTo>
                  <a:pt x="649478" y="38862"/>
                </a:lnTo>
                <a:lnTo>
                  <a:pt x="648208" y="58674"/>
                </a:lnTo>
                <a:lnTo>
                  <a:pt x="635505" y="58674"/>
                </a:lnTo>
                <a:lnTo>
                  <a:pt x="633857" y="86105"/>
                </a:lnTo>
                <a:lnTo>
                  <a:pt x="697968" y="58674"/>
                </a:lnTo>
                <a:lnTo>
                  <a:pt x="648208" y="58674"/>
                </a:lnTo>
                <a:lnTo>
                  <a:pt x="635551" y="57915"/>
                </a:lnTo>
                <a:lnTo>
                  <a:pt x="699742" y="57915"/>
                </a:lnTo>
                <a:lnTo>
                  <a:pt x="712216" y="52577"/>
                </a:lnTo>
                <a:lnTo>
                  <a:pt x="638429" y="10033"/>
                </a:lnTo>
                <a:close/>
              </a:path>
              <a:path w="712470" h="86360">
                <a:moveTo>
                  <a:pt x="636742" y="38098"/>
                </a:moveTo>
                <a:lnTo>
                  <a:pt x="635551" y="57915"/>
                </a:lnTo>
                <a:lnTo>
                  <a:pt x="648208" y="58674"/>
                </a:lnTo>
                <a:lnTo>
                  <a:pt x="649478" y="38862"/>
                </a:lnTo>
                <a:lnTo>
                  <a:pt x="636742" y="38098"/>
                </a:lnTo>
                <a:close/>
              </a:path>
              <a:path w="712470" h="86360">
                <a:moveTo>
                  <a:pt x="1270" y="0"/>
                </a:moveTo>
                <a:lnTo>
                  <a:pt x="0" y="19812"/>
                </a:lnTo>
                <a:lnTo>
                  <a:pt x="635551" y="57915"/>
                </a:lnTo>
                <a:lnTo>
                  <a:pt x="636742" y="38098"/>
                </a:lnTo>
                <a:lnTo>
                  <a:pt x="1270" y="0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30703" y="4883824"/>
            <a:ext cx="3427729" cy="1018869"/>
          </a:xfrm>
          <a:prstGeom prst="rect">
            <a:avLst/>
          </a:prstGeom>
          <a:ln w="19811">
            <a:solidFill>
              <a:srgbClr val="BA56BD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90170" marR="98425" lvl="0" indent="0" algn="l" defTabSz="914400" rtl="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heavy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>
                  <a:solidFill>
                    <a:srgbClr val="BA56BD"/>
                  </a:solidFill>
                </a:uFill>
                <a:latin typeface="Aptos Display"/>
                <a:ea typeface="+mn-ea"/>
                <a:cs typeface="Calibri"/>
              </a:rPr>
              <a:t>Hidden</a:t>
            </a:r>
            <a:r>
              <a:rPr kumimoji="0" sz="1600" b="1" i="0" u="heavy" strike="noStrike" kern="1200" cap="none" spc="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>
                  <a:solidFill>
                    <a:srgbClr val="BA56BD"/>
                  </a:solidFill>
                </a:uFill>
                <a:latin typeface="Aptos Display"/>
                <a:ea typeface="+mn-ea"/>
                <a:cs typeface="Calibri"/>
              </a:rPr>
              <a:t> </a:t>
            </a:r>
            <a:r>
              <a:rPr kumimoji="0" sz="1600" b="1" i="0" u="heavy" strike="noStrike" kern="1200" cap="none" spc="-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>
                  <a:solidFill>
                    <a:srgbClr val="BA56BD"/>
                  </a:solidFill>
                </a:uFill>
                <a:latin typeface="Aptos Display"/>
                <a:ea typeface="+mn-ea"/>
                <a:cs typeface="Calibri"/>
              </a:rPr>
              <a:t>state:</a:t>
            </a:r>
            <a:r>
              <a:rPr kumimoji="0" sz="1600" b="1" i="0" u="none" strike="noStrike" kern="1200" cap="none" spc="-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update</a:t>
            </a:r>
            <a:r>
              <a:rPr kumimoji="0" sz="1600" b="0" i="0" u="none" strike="noStrike" kern="1200" cap="none" spc="-2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gate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simultaneously</a:t>
            </a:r>
            <a:r>
              <a:rPr kumimoji="0" sz="1600" b="0" i="0" u="none" strike="noStrike" kern="1200" cap="none" spc="-2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controls</a:t>
            </a:r>
            <a:r>
              <a:rPr kumimoji="0" sz="1600" b="0" i="0" u="none" strike="noStrike" kern="1200" cap="none" spc="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what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is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2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kept 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from</a:t>
            </a:r>
            <a:r>
              <a:rPr kumimoji="0" sz="1600" b="0" i="0" u="none" strike="noStrike" kern="1200" cap="none" spc="7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previous</a:t>
            </a:r>
            <a:r>
              <a:rPr kumimoji="0" sz="1600" b="0" i="0" u="none" strike="noStrike" kern="1200" cap="none" spc="8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hidden</a:t>
            </a:r>
            <a:r>
              <a:rPr kumimoji="0" sz="1600" b="0" i="0" u="none" strike="noStrike" kern="1200" cap="none" spc="4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state,</a:t>
            </a:r>
            <a:r>
              <a:rPr kumimoji="0" sz="1600" b="0" i="0" u="none" strike="noStrike" kern="1200" cap="none" spc="5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and</a:t>
            </a:r>
            <a:r>
              <a:rPr kumimoji="0" sz="1600" b="0" i="0" u="none" strike="noStrike" kern="1200" cap="none" spc="4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what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is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updated to</a:t>
            </a:r>
            <a:r>
              <a:rPr kumimoji="0" sz="1600" b="0" i="0" u="none" strike="noStrike" kern="1200" cap="none" spc="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new</a:t>
            </a:r>
            <a:r>
              <a:rPr kumimoji="0" sz="1600" b="0" i="0" u="none" strike="noStrike" kern="1200" cap="none" spc="2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hidden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state content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750050" y="4419004"/>
            <a:ext cx="720090" cy="1010285"/>
          </a:xfrm>
          <a:custGeom>
            <a:avLst/>
            <a:gdLst/>
            <a:ahLst/>
            <a:cxnLst/>
            <a:rect l="l" t="t" r="r" b="b"/>
            <a:pathLst>
              <a:path w="720089" h="1010285">
                <a:moveTo>
                  <a:pt x="667663" y="56461"/>
                </a:moveTo>
                <a:lnTo>
                  <a:pt x="0" y="998727"/>
                </a:lnTo>
                <a:lnTo>
                  <a:pt x="16255" y="1010157"/>
                </a:lnTo>
                <a:lnTo>
                  <a:pt x="683786" y="67902"/>
                </a:lnTo>
                <a:lnTo>
                  <a:pt x="667663" y="56461"/>
                </a:lnTo>
                <a:close/>
              </a:path>
              <a:path w="720089" h="1010285">
                <a:moveTo>
                  <a:pt x="712616" y="46100"/>
                </a:moveTo>
                <a:lnTo>
                  <a:pt x="675004" y="46100"/>
                </a:lnTo>
                <a:lnTo>
                  <a:pt x="691134" y="57531"/>
                </a:lnTo>
                <a:lnTo>
                  <a:pt x="683786" y="67902"/>
                </a:lnTo>
                <a:lnTo>
                  <a:pt x="706754" y="84200"/>
                </a:lnTo>
                <a:lnTo>
                  <a:pt x="712616" y="46100"/>
                </a:lnTo>
                <a:close/>
              </a:path>
              <a:path w="720089" h="1010285">
                <a:moveTo>
                  <a:pt x="675004" y="46100"/>
                </a:moveTo>
                <a:lnTo>
                  <a:pt x="667663" y="56461"/>
                </a:lnTo>
                <a:lnTo>
                  <a:pt x="683786" y="67902"/>
                </a:lnTo>
                <a:lnTo>
                  <a:pt x="691134" y="57531"/>
                </a:lnTo>
                <a:lnTo>
                  <a:pt x="675004" y="46100"/>
                </a:lnTo>
                <a:close/>
              </a:path>
              <a:path w="720089" h="1010285">
                <a:moveTo>
                  <a:pt x="719709" y="0"/>
                </a:moveTo>
                <a:lnTo>
                  <a:pt x="644651" y="40131"/>
                </a:lnTo>
                <a:lnTo>
                  <a:pt x="667663" y="56461"/>
                </a:lnTo>
                <a:lnTo>
                  <a:pt x="675004" y="46100"/>
                </a:lnTo>
                <a:lnTo>
                  <a:pt x="712616" y="46100"/>
                </a:lnTo>
                <a:lnTo>
                  <a:pt x="719709" y="0"/>
                </a:lnTo>
                <a:close/>
              </a:path>
            </a:pathLst>
          </a:custGeom>
          <a:solidFill>
            <a:srgbClr val="BA56B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30703" y="3617380"/>
            <a:ext cx="3427729" cy="1017585"/>
          </a:xfrm>
          <a:prstGeom prst="rect">
            <a:avLst/>
          </a:prstGeom>
          <a:ln w="19811">
            <a:solidFill>
              <a:srgbClr val="BA56BD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90170" marR="231775" lvl="0" indent="0" algn="l" defTabSz="914400" rtl="0" eaLnBrk="1" fontAlgn="auto" latinLnBrk="0" hangingPunct="1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heavy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>
                  <a:solidFill>
                    <a:srgbClr val="BA56BD"/>
                  </a:solidFill>
                </a:uFill>
                <a:latin typeface="Aptos Display"/>
                <a:ea typeface="+mn-ea"/>
                <a:cs typeface="Calibri"/>
              </a:rPr>
              <a:t>New hidden</a:t>
            </a:r>
            <a:r>
              <a:rPr kumimoji="0" sz="1600" b="1" i="0" u="heavy" strike="noStrike" kern="1200" cap="none" spc="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>
                  <a:solidFill>
                    <a:srgbClr val="BA56BD"/>
                  </a:solidFill>
                </a:uFill>
                <a:latin typeface="Aptos Display"/>
                <a:ea typeface="+mn-ea"/>
                <a:cs typeface="Calibri"/>
              </a:rPr>
              <a:t> </a:t>
            </a:r>
            <a:r>
              <a:rPr kumimoji="0" sz="1600" b="1" i="0" u="heavy" strike="noStrike" kern="1200" cap="none" spc="-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>
                  <a:solidFill>
                    <a:srgbClr val="BA56BD"/>
                  </a:solidFill>
                </a:uFill>
                <a:latin typeface="Aptos Display"/>
                <a:ea typeface="+mn-ea"/>
                <a:cs typeface="Calibri"/>
              </a:rPr>
              <a:t>state content:</a:t>
            </a:r>
            <a:r>
              <a:rPr kumimoji="0" sz="1600" b="1" i="0" u="none" strike="noStrike" kern="1200" cap="none" spc="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reset</a:t>
            </a:r>
            <a:r>
              <a:rPr kumimoji="0" sz="1600" b="0" i="0" u="none" strike="noStrike" kern="1200" cap="none" spc="3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gate </a:t>
            </a:r>
            <a:r>
              <a:rPr kumimoji="0" sz="1600" b="0" i="0" u="none" strike="noStrike" kern="1200" cap="none" spc="-34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selects</a:t>
            </a:r>
            <a:r>
              <a:rPr kumimoji="0" sz="1600" b="0" i="0" u="none" strike="noStrike" kern="1200" cap="none" spc="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useful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parts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of</a:t>
            </a:r>
            <a:r>
              <a:rPr kumimoji="0" sz="1600" b="0" i="0" u="none" strike="noStrike" kern="1200" cap="none" spc="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prev</a:t>
            </a:r>
            <a:r>
              <a:rPr kumimoji="0" sz="1600" b="0" i="0" u="none" strike="noStrike" kern="1200" cap="none" spc="2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hidden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state.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Use this and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current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input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to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compute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new</a:t>
            </a:r>
            <a:r>
              <a:rPr kumimoji="0" sz="1600" b="0" i="0" u="none" strike="noStrike" kern="1200" cap="none" spc="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hidden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content.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755385" y="3934117"/>
            <a:ext cx="714375" cy="231140"/>
          </a:xfrm>
          <a:custGeom>
            <a:avLst/>
            <a:gdLst/>
            <a:ahLst/>
            <a:cxnLst/>
            <a:rect l="l" t="t" r="r" b="b"/>
            <a:pathLst>
              <a:path w="714375" h="231139">
                <a:moveTo>
                  <a:pt x="638412" y="27148"/>
                </a:moveTo>
                <a:lnTo>
                  <a:pt x="0" y="211581"/>
                </a:lnTo>
                <a:lnTo>
                  <a:pt x="5587" y="230631"/>
                </a:lnTo>
                <a:lnTo>
                  <a:pt x="643932" y="46218"/>
                </a:lnTo>
                <a:lnTo>
                  <a:pt x="638412" y="27148"/>
                </a:lnTo>
                <a:close/>
              </a:path>
              <a:path w="714375" h="231139">
                <a:moveTo>
                  <a:pt x="705568" y="23621"/>
                </a:moveTo>
                <a:lnTo>
                  <a:pt x="650620" y="23621"/>
                </a:lnTo>
                <a:lnTo>
                  <a:pt x="656208" y="42671"/>
                </a:lnTo>
                <a:lnTo>
                  <a:pt x="643932" y="46218"/>
                </a:lnTo>
                <a:lnTo>
                  <a:pt x="651763" y="73278"/>
                </a:lnTo>
                <a:lnTo>
                  <a:pt x="705568" y="23621"/>
                </a:lnTo>
                <a:close/>
              </a:path>
              <a:path w="714375" h="231139">
                <a:moveTo>
                  <a:pt x="650620" y="23621"/>
                </a:moveTo>
                <a:lnTo>
                  <a:pt x="638412" y="27148"/>
                </a:lnTo>
                <a:lnTo>
                  <a:pt x="643932" y="46218"/>
                </a:lnTo>
                <a:lnTo>
                  <a:pt x="656208" y="42671"/>
                </a:lnTo>
                <a:lnTo>
                  <a:pt x="650620" y="23621"/>
                </a:lnTo>
                <a:close/>
              </a:path>
              <a:path w="714375" h="231139">
                <a:moveTo>
                  <a:pt x="630554" y="0"/>
                </a:moveTo>
                <a:lnTo>
                  <a:pt x="638412" y="27148"/>
                </a:lnTo>
                <a:lnTo>
                  <a:pt x="650620" y="23621"/>
                </a:lnTo>
                <a:lnTo>
                  <a:pt x="705568" y="23621"/>
                </a:lnTo>
                <a:lnTo>
                  <a:pt x="714375" y="15493"/>
                </a:lnTo>
                <a:lnTo>
                  <a:pt x="630554" y="0"/>
                </a:lnTo>
                <a:close/>
              </a:path>
            </a:pathLst>
          </a:custGeom>
          <a:solidFill>
            <a:srgbClr val="BA56B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0" name="object 18"/>
          <p:cNvSpPr txBox="1"/>
          <p:nvPr/>
        </p:nvSpPr>
        <p:spPr>
          <a:xfrm>
            <a:off x="7777303" y="1057385"/>
            <a:ext cx="3968750" cy="772006"/>
          </a:xfrm>
          <a:prstGeom prst="rect">
            <a:avLst/>
          </a:prstGeom>
          <a:ln w="19811">
            <a:solidFill>
              <a:srgbClr val="00AF50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90805" marR="202565" lvl="0" indent="0" algn="l" defTabSz="914400" rtl="0" eaLnBrk="1" fontAlgn="auto" latinLnBrk="0" hangingPunct="1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heavy" strike="noStrike" kern="1200" cap="none" spc="-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>
                  <a:solidFill>
                    <a:srgbClr val="00AF50"/>
                  </a:solidFill>
                </a:uFill>
                <a:latin typeface="Aptos Display"/>
                <a:ea typeface="+mn-ea"/>
                <a:cs typeface="Calibri"/>
              </a:rPr>
              <a:t>How</a:t>
            </a:r>
            <a:r>
              <a:rPr kumimoji="0" sz="1600" b="1" i="0" u="heavy" strike="noStrike" kern="1200" cap="none" spc="1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>
                  <a:solidFill>
                    <a:srgbClr val="00AF50"/>
                  </a:solidFill>
                </a:uFill>
                <a:latin typeface="Aptos Display"/>
                <a:ea typeface="+mn-ea"/>
                <a:cs typeface="Calibri"/>
              </a:rPr>
              <a:t> </a:t>
            </a:r>
            <a:r>
              <a:rPr kumimoji="0" sz="1600" b="1" i="0" u="heavy" strike="noStrike" kern="1200" cap="none" spc="-1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>
                  <a:solidFill>
                    <a:srgbClr val="00AF50"/>
                  </a:solidFill>
                </a:uFill>
                <a:latin typeface="Aptos Display"/>
                <a:ea typeface="+mn-ea"/>
                <a:cs typeface="Calibri"/>
              </a:rPr>
              <a:t>does</a:t>
            </a:r>
            <a:r>
              <a:rPr kumimoji="0" sz="1600" b="1" i="0" u="heavy" strike="noStrike" kern="1200" cap="none" spc="2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>
                  <a:solidFill>
                    <a:srgbClr val="00AF50"/>
                  </a:solidFill>
                </a:uFill>
                <a:latin typeface="Aptos Display"/>
                <a:ea typeface="+mn-ea"/>
                <a:cs typeface="Calibri"/>
              </a:rPr>
              <a:t> </a:t>
            </a:r>
            <a:r>
              <a:rPr kumimoji="0" sz="1600" b="1" i="0" u="heavy" strike="noStrike" kern="1200" cap="none" spc="-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>
                  <a:solidFill>
                    <a:srgbClr val="00AF50"/>
                  </a:solidFill>
                </a:uFill>
                <a:latin typeface="Aptos Display"/>
                <a:ea typeface="+mn-ea"/>
                <a:cs typeface="Calibri"/>
              </a:rPr>
              <a:t>this</a:t>
            </a:r>
            <a:r>
              <a:rPr kumimoji="0" sz="1600" b="1" i="0" u="heavy" strike="noStrike" kern="1200" cap="none" spc="2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>
                  <a:solidFill>
                    <a:srgbClr val="00AF50"/>
                  </a:solidFill>
                </a:uFill>
                <a:latin typeface="Aptos Display"/>
                <a:ea typeface="+mn-ea"/>
                <a:cs typeface="Calibri"/>
              </a:rPr>
              <a:t> </a:t>
            </a:r>
            <a:r>
              <a:rPr kumimoji="0" sz="1600" b="1" i="0" u="heavy" strike="noStrike" kern="1200" cap="none" spc="-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>
                  <a:solidFill>
                    <a:srgbClr val="00AF50"/>
                  </a:solidFill>
                </a:uFill>
                <a:latin typeface="Aptos Display"/>
                <a:ea typeface="+mn-ea"/>
                <a:cs typeface="Calibri"/>
              </a:rPr>
              <a:t>solve</a:t>
            </a:r>
            <a:r>
              <a:rPr kumimoji="0" sz="1600" b="1" i="0" u="heavy" strike="noStrike" kern="1200" cap="none" spc="1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>
                  <a:solidFill>
                    <a:srgbClr val="00AF50"/>
                  </a:solidFill>
                </a:uFill>
                <a:latin typeface="Aptos Display"/>
                <a:ea typeface="+mn-ea"/>
                <a:cs typeface="Calibri"/>
              </a:rPr>
              <a:t> </a:t>
            </a:r>
            <a:r>
              <a:rPr kumimoji="0" sz="1600" b="1" i="0" u="heavy" strike="noStrike" kern="1200" cap="none" spc="-1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>
                  <a:solidFill>
                    <a:srgbClr val="00AF50"/>
                  </a:solidFill>
                </a:uFill>
                <a:latin typeface="Aptos Display"/>
                <a:ea typeface="+mn-ea"/>
                <a:cs typeface="Calibri"/>
              </a:rPr>
              <a:t>vanishing</a:t>
            </a:r>
            <a:r>
              <a:rPr kumimoji="0" sz="1600" b="1" i="0" u="heavy" strike="noStrike" kern="1200" cap="none" spc="3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>
                  <a:solidFill>
                    <a:srgbClr val="00AF50"/>
                  </a:solidFill>
                </a:uFill>
                <a:latin typeface="Aptos Display"/>
                <a:ea typeface="+mn-ea"/>
                <a:cs typeface="Calibri"/>
              </a:rPr>
              <a:t> </a:t>
            </a:r>
            <a:r>
              <a:rPr kumimoji="0" sz="1600" b="1" i="0" u="heavy" strike="noStrike" kern="1200" cap="none" spc="-1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>
                  <a:solidFill>
                    <a:srgbClr val="00AF50"/>
                  </a:solidFill>
                </a:uFill>
                <a:latin typeface="Aptos Display"/>
                <a:ea typeface="+mn-ea"/>
                <a:cs typeface="Calibri"/>
              </a:rPr>
              <a:t>gradient? </a:t>
            </a:r>
            <a:r>
              <a:rPr kumimoji="0" sz="1600" b="1" i="0" u="none" strike="noStrike" kern="1200" cap="none" spc="-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2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Like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LSTM,</a:t>
            </a:r>
            <a:r>
              <a:rPr kumimoji="0" sz="1600" b="0" i="0" u="none" strike="noStrike" kern="1200" cap="none" spc="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GRU</a:t>
            </a:r>
            <a:r>
              <a:rPr kumimoji="0" sz="1600" b="0" i="0" u="none" strike="noStrike" kern="1200" cap="none" spc="1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makes</a:t>
            </a:r>
            <a:r>
              <a:rPr kumimoji="0" sz="1600" b="0" i="0" u="none" strike="noStrike" kern="1200" cap="none" spc="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it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easier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to</a:t>
            </a:r>
            <a:r>
              <a:rPr kumimoji="0" sz="1600" b="0" i="0" u="none" strike="noStrike" kern="1200" cap="none" spc="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retain</a:t>
            </a:r>
            <a:r>
              <a:rPr kumimoji="0" sz="1600" b="0" i="0" u="none" strike="noStrike" kern="1200" cap="none" spc="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info </a:t>
            </a:r>
            <a:r>
              <a:rPr kumimoji="0" sz="1600" b="0" i="0" u="none" strike="noStrike" kern="1200" cap="none" spc="-34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long-term (e.g.</a:t>
            </a:r>
            <a:r>
              <a:rPr kumimoji="0" sz="1600" b="0" i="0" u="none" strike="noStrike" kern="1200" cap="none" spc="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by</a:t>
            </a:r>
            <a:r>
              <a:rPr kumimoji="0" sz="1600" b="0" i="0" u="none" strike="noStrike" kern="1200" cap="none" spc="1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setting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update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gate</a:t>
            </a:r>
            <a:r>
              <a:rPr kumimoji="0" sz="1600" b="0" i="0" u="none" strike="noStrike" kern="1200" cap="none" spc="-3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to</a:t>
            </a:r>
            <a:r>
              <a:rPr kumimoji="0" sz="1600" b="0" i="0" u="none" strike="noStrike" kern="1200" cap="none" spc="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0)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2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4350" y="955307"/>
            <a:ext cx="11234738" cy="629018"/>
          </a:xfrm>
          <a:prstGeom prst="rect">
            <a:avLst/>
          </a:prstGeom>
        </p:spPr>
        <p:txBody>
          <a:bodyPr vert="horz" wrap="square" lIns="0" tIns="13335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+mn-lt"/>
                <a:cs typeface="Calibri"/>
              </a:rPr>
              <a:t>LSTM</a:t>
            </a:r>
            <a:r>
              <a:rPr spc="-50" dirty="0">
                <a:latin typeface="+mn-lt"/>
                <a:cs typeface="Calibri"/>
              </a:rPr>
              <a:t> </a:t>
            </a:r>
            <a:r>
              <a:rPr dirty="0">
                <a:latin typeface="+mn-lt"/>
                <a:cs typeface="Calibri"/>
              </a:rPr>
              <a:t>vs</a:t>
            </a:r>
            <a:r>
              <a:rPr spc="-35" dirty="0">
                <a:latin typeface="+mn-lt"/>
                <a:cs typeface="Calibri"/>
              </a:rPr>
              <a:t> </a:t>
            </a:r>
            <a:r>
              <a:rPr spc="-5" dirty="0">
                <a:latin typeface="+mn-lt"/>
                <a:cs typeface="Calibri"/>
              </a:rPr>
              <a:t>GRU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173759E-C248-681D-89E2-2B9A82B3D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Researchers have proposed many gated RNN variants, but LSTM  and GRU are the most widely-used.</a:t>
            </a:r>
          </a:p>
          <a:p>
            <a:pPr>
              <a:lnSpc>
                <a:spcPct val="100000"/>
              </a:lnSpc>
            </a:pPr>
            <a:r>
              <a:rPr lang="en-US" dirty="0"/>
              <a:t>The biggest difference is that </a:t>
            </a:r>
            <a:r>
              <a:rPr lang="en-US" dirty="0">
                <a:solidFill>
                  <a:schemeClr val="accent5"/>
                </a:solidFill>
              </a:rPr>
              <a:t>GRU</a:t>
            </a:r>
            <a:r>
              <a:rPr lang="en-US" dirty="0"/>
              <a:t> is </a:t>
            </a:r>
            <a:r>
              <a:rPr lang="en-US" dirty="0">
                <a:solidFill>
                  <a:schemeClr val="accent5"/>
                </a:solidFill>
              </a:rPr>
              <a:t>quicker to compute </a:t>
            </a:r>
            <a:r>
              <a:rPr lang="en-US" dirty="0"/>
              <a:t>and has  fewer parameters.</a:t>
            </a:r>
          </a:p>
          <a:p>
            <a:pPr>
              <a:lnSpc>
                <a:spcPct val="100000"/>
              </a:lnSpc>
            </a:pPr>
            <a:r>
              <a:rPr lang="en-US" dirty="0"/>
              <a:t>There is no conclusive evidence that one consistently performs  better than the other.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chemeClr val="accent5"/>
                </a:solidFill>
              </a:rPr>
              <a:t>LSTM</a:t>
            </a:r>
            <a:r>
              <a:rPr lang="en-US" dirty="0"/>
              <a:t> is a </a:t>
            </a:r>
            <a:r>
              <a:rPr lang="en-US" dirty="0">
                <a:solidFill>
                  <a:schemeClr val="accent5"/>
                </a:solidFill>
              </a:rPr>
              <a:t>good default choice </a:t>
            </a:r>
            <a:r>
              <a:rPr lang="en-US" dirty="0"/>
              <a:t>(especially if your data has  particularly long dependencies, or you have lots of training data).</a:t>
            </a:r>
          </a:p>
          <a:p>
            <a:pPr>
              <a:lnSpc>
                <a:spcPct val="100000"/>
              </a:lnSpc>
            </a:pPr>
            <a:r>
              <a:rPr lang="en-US" b="1" dirty="0">
                <a:solidFill>
                  <a:schemeClr val="accent1"/>
                </a:solidFill>
              </a:rPr>
              <a:t>Rule of thumb: </a:t>
            </a:r>
            <a:r>
              <a:rPr lang="en-US" dirty="0"/>
              <a:t>start with LSTM, but switch to GRU if you want  something more efficient.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F324B02-195C-57A5-E7A8-058592807440}"/>
              </a:ext>
            </a:extLst>
          </p:cNvPr>
          <p:cNvSpPr txBox="1">
            <a:spLocks/>
          </p:cNvSpPr>
          <p:nvPr/>
        </p:nvSpPr>
        <p:spPr>
          <a:xfrm>
            <a:off x="0" y="1548592"/>
            <a:ext cx="12192000" cy="2463583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j-ea"/>
                <a:cs typeface="+mj-cs"/>
              </a:rPr>
              <a:t>Sequence-to-Sequence </a:t>
            </a: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j-ea"/>
                <a:cs typeface="+mj-cs"/>
              </a:rPr>
              <a:t>Modeling &amp; Attention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Neural</a:t>
            </a:r>
            <a:r>
              <a:rPr spc="-15" dirty="0"/>
              <a:t> </a:t>
            </a:r>
            <a:r>
              <a:rPr spc="-5" dirty="0"/>
              <a:t>Machine</a:t>
            </a:r>
            <a:r>
              <a:rPr spc="-30" dirty="0"/>
              <a:t> </a:t>
            </a:r>
            <a:r>
              <a:rPr spc="-5" dirty="0"/>
              <a:t>Translation?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639BB4-8EDF-7D30-D51E-13314BF07A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chemeClr val="accent1"/>
                </a:solidFill>
              </a:rPr>
              <a:t>Neural Machine Translation (NMT) </a:t>
            </a:r>
            <a:r>
              <a:rPr lang="en-US" dirty="0"/>
              <a:t>is a way to do Machine  Translation with a </a:t>
            </a:r>
            <a:r>
              <a:rPr lang="en-US" i="1" dirty="0"/>
              <a:t>single neural network.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The neural network architecture is called </a:t>
            </a:r>
            <a:r>
              <a:rPr lang="en-US" dirty="0">
                <a:solidFill>
                  <a:schemeClr val="accent1"/>
                </a:solidFill>
              </a:rPr>
              <a:t>sequence-to-sequence</a:t>
            </a:r>
            <a:r>
              <a:rPr lang="en-US" dirty="0"/>
              <a:t>  (aka </a:t>
            </a:r>
            <a:r>
              <a:rPr lang="en-US" dirty="0">
                <a:solidFill>
                  <a:schemeClr val="accent1"/>
                </a:solidFill>
              </a:rPr>
              <a:t>seq2seq</a:t>
            </a:r>
            <a:r>
              <a:rPr lang="en-US" dirty="0"/>
              <a:t>) and it involves</a:t>
            </a:r>
            <a:r>
              <a:rPr lang="en-US" i="1" dirty="0"/>
              <a:t> </a:t>
            </a:r>
            <a:r>
              <a:rPr lang="en-US" i="1" dirty="0">
                <a:solidFill>
                  <a:schemeClr val="accent1"/>
                </a:solidFill>
              </a:rPr>
              <a:t>two </a:t>
            </a:r>
            <a:r>
              <a:rPr lang="en-US" dirty="0">
                <a:solidFill>
                  <a:schemeClr val="accent1"/>
                </a:solidFill>
              </a:rPr>
              <a:t>RNNs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object 28"/>
          <p:cNvSpPr txBox="1">
            <a:spLocks noGrp="1"/>
          </p:cNvSpPr>
          <p:nvPr>
            <p:ph type="title"/>
          </p:nvPr>
        </p:nvSpPr>
        <p:spPr>
          <a:xfrm>
            <a:off x="441325" y="955307"/>
            <a:ext cx="11307763" cy="629018"/>
          </a:xfrm>
          <a:prstGeom prst="rect">
            <a:avLst/>
          </a:prstGeom>
        </p:spPr>
        <p:txBody>
          <a:bodyPr vert="horz" wrap="square" lIns="0" tIns="13335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latin typeface="+mn-lt"/>
              </a:rPr>
              <a:t>Neural</a:t>
            </a:r>
            <a:r>
              <a:rPr spc="-20" dirty="0">
                <a:latin typeface="+mn-lt"/>
              </a:rPr>
              <a:t> </a:t>
            </a:r>
            <a:r>
              <a:rPr spc="-5" dirty="0">
                <a:latin typeface="+mn-lt"/>
              </a:rPr>
              <a:t>Machine</a:t>
            </a:r>
            <a:r>
              <a:rPr spc="-25" dirty="0">
                <a:latin typeface="+mn-lt"/>
              </a:rPr>
              <a:t> </a:t>
            </a:r>
            <a:r>
              <a:rPr spc="-5" dirty="0">
                <a:latin typeface="+mn-lt"/>
              </a:rPr>
              <a:t>Translation</a:t>
            </a:r>
            <a:r>
              <a:rPr spc="-50" dirty="0">
                <a:latin typeface="+mn-lt"/>
              </a:rPr>
              <a:t> </a:t>
            </a:r>
            <a:r>
              <a:rPr spc="-5" dirty="0">
                <a:latin typeface="+mn-lt"/>
              </a:rPr>
              <a:t>(NMT)</a:t>
            </a: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C777EA68-09F4-C6D9-5F21-973372C7EE1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428" t="15533" r="46072" b="36632"/>
          <a:stretch/>
        </p:blipFill>
        <p:spPr>
          <a:xfrm>
            <a:off x="441326" y="1620166"/>
            <a:ext cx="4262649" cy="3760543"/>
          </a:xfrm>
          <a:prstGeom prst="rect">
            <a:avLst/>
          </a:prstGeom>
        </p:spPr>
      </p:pic>
      <p:sp>
        <p:nvSpPr>
          <p:cNvPr id="73" name="object 31">
            <a:extLst>
              <a:ext uri="{FF2B5EF4-FFF2-40B4-BE49-F238E27FC236}">
                <a16:creationId xmlns:a16="http://schemas.microsoft.com/office/drawing/2014/main" id="{2B025896-4387-0DFF-D723-3B364AF3717F}"/>
              </a:ext>
            </a:extLst>
          </p:cNvPr>
          <p:cNvSpPr/>
          <p:nvPr/>
        </p:nvSpPr>
        <p:spPr>
          <a:xfrm>
            <a:off x="1507801" y="5122184"/>
            <a:ext cx="2435860" cy="271780"/>
          </a:xfrm>
          <a:custGeom>
            <a:avLst/>
            <a:gdLst/>
            <a:ahLst/>
            <a:cxnLst/>
            <a:rect l="l" t="t" r="r" b="b"/>
            <a:pathLst>
              <a:path w="2435860" h="271779">
                <a:moveTo>
                  <a:pt x="2435352" y="0"/>
                </a:moveTo>
                <a:lnTo>
                  <a:pt x="2427013" y="52804"/>
                </a:lnTo>
                <a:lnTo>
                  <a:pt x="2404268" y="95916"/>
                </a:lnTo>
                <a:lnTo>
                  <a:pt x="2370522" y="124979"/>
                </a:lnTo>
                <a:lnTo>
                  <a:pt x="2329180" y="135636"/>
                </a:lnTo>
                <a:lnTo>
                  <a:pt x="1323848" y="135636"/>
                </a:lnTo>
                <a:lnTo>
                  <a:pt x="1282505" y="146292"/>
                </a:lnTo>
                <a:lnTo>
                  <a:pt x="1248759" y="175355"/>
                </a:lnTo>
                <a:lnTo>
                  <a:pt x="1226014" y="218467"/>
                </a:lnTo>
                <a:lnTo>
                  <a:pt x="1217676" y="271272"/>
                </a:lnTo>
                <a:lnTo>
                  <a:pt x="1209337" y="218467"/>
                </a:lnTo>
                <a:lnTo>
                  <a:pt x="1186592" y="175355"/>
                </a:lnTo>
                <a:lnTo>
                  <a:pt x="1152846" y="146292"/>
                </a:lnTo>
                <a:lnTo>
                  <a:pt x="1111504" y="135636"/>
                </a:lnTo>
                <a:lnTo>
                  <a:pt x="106146" y="135636"/>
                </a:lnTo>
                <a:lnTo>
                  <a:pt x="64829" y="124979"/>
                </a:lnTo>
                <a:lnTo>
                  <a:pt x="31089" y="95916"/>
                </a:lnTo>
                <a:lnTo>
                  <a:pt x="8341" y="52804"/>
                </a:lnTo>
                <a:lnTo>
                  <a:pt x="0" y="0"/>
                </a:lnTo>
              </a:path>
            </a:pathLst>
          </a:custGeom>
          <a:ln w="198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74" name="object 30">
            <a:extLst>
              <a:ext uri="{FF2B5EF4-FFF2-40B4-BE49-F238E27FC236}">
                <a16:creationId xmlns:a16="http://schemas.microsoft.com/office/drawing/2014/main" id="{FC379154-2DC3-4BCF-CE5A-9DAB97692F2F}"/>
              </a:ext>
            </a:extLst>
          </p:cNvPr>
          <p:cNvSpPr txBox="1"/>
          <p:nvPr/>
        </p:nvSpPr>
        <p:spPr>
          <a:xfrm>
            <a:off x="1722564" y="5341884"/>
            <a:ext cx="2230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Source sentence</a:t>
            </a:r>
            <a:r>
              <a:rPr kumimoji="0" sz="1800" b="0" i="0" u="none" strike="noStrike" kern="120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(input)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C397D14-C78C-EE5B-D2BF-EACF87530E7E}"/>
              </a:ext>
            </a:extLst>
          </p:cNvPr>
          <p:cNvSpPr txBox="1"/>
          <p:nvPr/>
        </p:nvSpPr>
        <p:spPr>
          <a:xfrm>
            <a:off x="441325" y="1584325"/>
            <a:ext cx="39515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-1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The</a:t>
            </a:r>
            <a:r>
              <a:rPr kumimoji="0" lang="en-IN" sz="2000" b="1" i="0" u="none" strike="noStrike" kern="1200" cap="none" spc="-25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lang="en-IN" sz="2000" b="1" i="0" u="none" strike="noStrike" kern="1200" cap="none" spc="-5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Sequence-to-Sequence</a:t>
            </a:r>
            <a:r>
              <a:rPr kumimoji="0" lang="en-IN" sz="2000" b="1" i="0" u="none" strike="noStrike" kern="1200" cap="none" spc="1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lang="en-IN" sz="2000" b="1" i="0" u="none" strike="noStrike" kern="1200" cap="none" spc="-1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Model</a:t>
            </a:r>
            <a:endParaRPr kumimoji="0" lang="en-IN" sz="2000" b="1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76" name="object 40">
            <a:extLst>
              <a:ext uri="{FF2B5EF4-FFF2-40B4-BE49-F238E27FC236}">
                <a16:creationId xmlns:a16="http://schemas.microsoft.com/office/drawing/2014/main" id="{659824FF-88F0-B738-6631-7A56320552EB}"/>
              </a:ext>
            </a:extLst>
          </p:cNvPr>
          <p:cNvSpPr txBox="1"/>
          <p:nvPr/>
        </p:nvSpPr>
        <p:spPr>
          <a:xfrm>
            <a:off x="442913" y="5661820"/>
            <a:ext cx="6071009" cy="308418"/>
          </a:xfrm>
          <a:prstGeom prst="rect">
            <a:avLst/>
          </a:prstGeom>
          <a:ln w="19811">
            <a:solidFill>
              <a:srgbClr val="C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144780" marR="139065" lvl="0" indent="0" algn="ctr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Encoder </a:t>
            </a: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RNN </a:t>
            </a:r>
            <a:r>
              <a:rPr kumimoji="0" sz="1800" b="1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produces </a:t>
            </a:r>
            <a:r>
              <a:rPr kumimoji="0" sz="1800" b="1" i="0" u="none" strike="noStrike" kern="1200" cap="none" spc="-39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an</a:t>
            </a:r>
            <a:r>
              <a:rPr kumimoji="0" sz="18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1" i="0" u="none" strike="noStrike" kern="1200" cap="none" spc="-5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encoding</a:t>
            </a:r>
            <a:r>
              <a:rPr kumimoji="0" sz="1800" b="1" i="0" u="none" strike="noStrike" kern="1200" cap="none" spc="20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of</a:t>
            </a:r>
            <a:r>
              <a:rPr kumimoji="0" sz="1800" b="1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the </a:t>
            </a:r>
            <a:r>
              <a:rPr kumimoji="0" sz="1800" b="1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1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source </a:t>
            </a:r>
            <a:r>
              <a:rPr kumimoji="0" sz="18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sentence.</a:t>
            </a:r>
            <a:endParaRPr kumimoji="0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2C8CC5C5-EE4E-4938-1AA2-0188E5A018DB}"/>
              </a:ext>
            </a:extLst>
          </p:cNvPr>
          <p:cNvCxnSpPr/>
          <p:nvPr/>
        </p:nvCxnSpPr>
        <p:spPr>
          <a:xfrm>
            <a:off x="4044099" y="3883844"/>
            <a:ext cx="972000" cy="0"/>
          </a:xfrm>
          <a:prstGeom prst="straightConnector1">
            <a:avLst/>
          </a:prstGeom>
          <a:ln w="28575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2834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object 28"/>
          <p:cNvSpPr txBox="1">
            <a:spLocks noGrp="1"/>
          </p:cNvSpPr>
          <p:nvPr>
            <p:ph type="title"/>
          </p:nvPr>
        </p:nvSpPr>
        <p:spPr>
          <a:xfrm>
            <a:off x="441325" y="955307"/>
            <a:ext cx="11307763" cy="629018"/>
          </a:xfrm>
          <a:prstGeom prst="rect">
            <a:avLst/>
          </a:prstGeom>
        </p:spPr>
        <p:txBody>
          <a:bodyPr vert="horz" wrap="square" lIns="0" tIns="13335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latin typeface="+mn-lt"/>
              </a:rPr>
              <a:t>Neural</a:t>
            </a:r>
            <a:r>
              <a:rPr spc="-20" dirty="0">
                <a:latin typeface="+mn-lt"/>
              </a:rPr>
              <a:t> </a:t>
            </a:r>
            <a:r>
              <a:rPr spc="-5" dirty="0">
                <a:latin typeface="+mn-lt"/>
              </a:rPr>
              <a:t>Machine</a:t>
            </a:r>
            <a:r>
              <a:rPr spc="-25" dirty="0">
                <a:latin typeface="+mn-lt"/>
              </a:rPr>
              <a:t> </a:t>
            </a:r>
            <a:r>
              <a:rPr spc="-5" dirty="0">
                <a:latin typeface="+mn-lt"/>
              </a:rPr>
              <a:t>Translation</a:t>
            </a:r>
            <a:r>
              <a:rPr spc="-50" dirty="0">
                <a:latin typeface="+mn-lt"/>
              </a:rPr>
              <a:t> </a:t>
            </a:r>
            <a:r>
              <a:rPr spc="-5" dirty="0">
                <a:latin typeface="+mn-lt"/>
              </a:rPr>
              <a:t>(NMT)</a:t>
            </a: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C777EA68-09F4-C6D9-5F21-973372C7EE1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428" t="15533" r="4820" b="36632"/>
          <a:stretch/>
        </p:blipFill>
        <p:spPr>
          <a:xfrm>
            <a:off x="441325" y="1620166"/>
            <a:ext cx="10028111" cy="3760543"/>
          </a:xfrm>
          <a:prstGeom prst="rect">
            <a:avLst/>
          </a:prstGeom>
        </p:spPr>
      </p:pic>
      <p:sp>
        <p:nvSpPr>
          <p:cNvPr id="73" name="object 31">
            <a:extLst>
              <a:ext uri="{FF2B5EF4-FFF2-40B4-BE49-F238E27FC236}">
                <a16:creationId xmlns:a16="http://schemas.microsoft.com/office/drawing/2014/main" id="{2B025896-4387-0DFF-D723-3B364AF3717F}"/>
              </a:ext>
            </a:extLst>
          </p:cNvPr>
          <p:cNvSpPr/>
          <p:nvPr/>
        </p:nvSpPr>
        <p:spPr>
          <a:xfrm>
            <a:off x="1507801" y="5122184"/>
            <a:ext cx="2435860" cy="271780"/>
          </a:xfrm>
          <a:custGeom>
            <a:avLst/>
            <a:gdLst/>
            <a:ahLst/>
            <a:cxnLst/>
            <a:rect l="l" t="t" r="r" b="b"/>
            <a:pathLst>
              <a:path w="2435860" h="271779">
                <a:moveTo>
                  <a:pt x="2435352" y="0"/>
                </a:moveTo>
                <a:lnTo>
                  <a:pt x="2427013" y="52804"/>
                </a:lnTo>
                <a:lnTo>
                  <a:pt x="2404268" y="95916"/>
                </a:lnTo>
                <a:lnTo>
                  <a:pt x="2370522" y="124979"/>
                </a:lnTo>
                <a:lnTo>
                  <a:pt x="2329180" y="135636"/>
                </a:lnTo>
                <a:lnTo>
                  <a:pt x="1323848" y="135636"/>
                </a:lnTo>
                <a:lnTo>
                  <a:pt x="1282505" y="146292"/>
                </a:lnTo>
                <a:lnTo>
                  <a:pt x="1248759" y="175355"/>
                </a:lnTo>
                <a:lnTo>
                  <a:pt x="1226014" y="218467"/>
                </a:lnTo>
                <a:lnTo>
                  <a:pt x="1217676" y="271272"/>
                </a:lnTo>
                <a:lnTo>
                  <a:pt x="1209337" y="218467"/>
                </a:lnTo>
                <a:lnTo>
                  <a:pt x="1186592" y="175355"/>
                </a:lnTo>
                <a:lnTo>
                  <a:pt x="1152846" y="146292"/>
                </a:lnTo>
                <a:lnTo>
                  <a:pt x="1111504" y="135636"/>
                </a:lnTo>
                <a:lnTo>
                  <a:pt x="106146" y="135636"/>
                </a:lnTo>
                <a:lnTo>
                  <a:pt x="64829" y="124979"/>
                </a:lnTo>
                <a:lnTo>
                  <a:pt x="31089" y="95916"/>
                </a:lnTo>
                <a:lnTo>
                  <a:pt x="8341" y="52804"/>
                </a:lnTo>
                <a:lnTo>
                  <a:pt x="0" y="0"/>
                </a:lnTo>
              </a:path>
            </a:pathLst>
          </a:custGeom>
          <a:ln w="198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74" name="object 30">
            <a:extLst>
              <a:ext uri="{FF2B5EF4-FFF2-40B4-BE49-F238E27FC236}">
                <a16:creationId xmlns:a16="http://schemas.microsoft.com/office/drawing/2014/main" id="{FC379154-2DC3-4BCF-CE5A-9DAB97692F2F}"/>
              </a:ext>
            </a:extLst>
          </p:cNvPr>
          <p:cNvSpPr txBox="1"/>
          <p:nvPr/>
        </p:nvSpPr>
        <p:spPr>
          <a:xfrm>
            <a:off x="1722564" y="5341884"/>
            <a:ext cx="2230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Source sentence</a:t>
            </a:r>
            <a:r>
              <a:rPr kumimoji="0" sz="1800" b="0" i="0" u="none" strike="noStrike" kern="120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(input)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C397D14-C78C-EE5B-D2BF-EACF87530E7E}"/>
              </a:ext>
            </a:extLst>
          </p:cNvPr>
          <p:cNvSpPr txBox="1"/>
          <p:nvPr/>
        </p:nvSpPr>
        <p:spPr>
          <a:xfrm>
            <a:off x="441325" y="1584325"/>
            <a:ext cx="39515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-1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The</a:t>
            </a:r>
            <a:r>
              <a:rPr kumimoji="0" lang="en-IN" sz="2000" b="1" i="0" u="none" strike="noStrike" kern="1200" cap="none" spc="-25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lang="en-IN" sz="2000" b="1" i="0" u="none" strike="noStrike" kern="1200" cap="none" spc="-5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Sequence-to-Sequence</a:t>
            </a:r>
            <a:r>
              <a:rPr kumimoji="0" lang="en-IN" sz="2000" b="1" i="0" u="none" strike="noStrike" kern="1200" cap="none" spc="1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lang="en-IN" sz="2000" b="1" i="0" u="none" strike="noStrike" kern="1200" cap="none" spc="-1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Model</a:t>
            </a:r>
            <a:endParaRPr kumimoji="0" lang="en-IN" sz="2000" b="1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76" name="object 40">
            <a:extLst>
              <a:ext uri="{FF2B5EF4-FFF2-40B4-BE49-F238E27FC236}">
                <a16:creationId xmlns:a16="http://schemas.microsoft.com/office/drawing/2014/main" id="{659824FF-88F0-B738-6631-7A56320552EB}"/>
              </a:ext>
            </a:extLst>
          </p:cNvPr>
          <p:cNvSpPr txBox="1"/>
          <p:nvPr/>
        </p:nvSpPr>
        <p:spPr>
          <a:xfrm>
            <a:off x="442913" y="5661820"/>
            <a:ext cx="6071009" cy="308418"/>
          </a:xfrm>
          <a:prstGeom prst="rect">
            <a:avLst/>
          </a:prstGeom>
          <a:ln w="19811">
            <a:solidFill>
              <a:srgbClr val="C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144780" marR="139065" lvl="0" indent="0" algn="ctr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Encoder </a:t>
            </a: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RNN </a:t>
            </a:r>
            <a:r>
              <a:rPr kumimoji="0" sz="1800" b="1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produces </a:t>
            </a:r>
            <a:r>
              <a:rPr kumimoji="0" sz="1800" b="1" i="0" u="none" strike="noStrike" kern="1200" cap="none" spc="-39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an</a:t>
            </a:r>
            <a:r>
              <a:rPr kumimoji="0" sz="18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1" i="0" u="none" strike="noStrike" kern="1200" cap="none" spc="-5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encoding</a:t>
            </a:r>
            <a:r>
              <a:rPr kumimoji="0" sz="1800" b="1" i="0" u="none" strike="noStrike" kern="1200" cap="none" spc="20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of</a:t>
            </a:r>
            <a:r>
              <a:rPr kumimoji="0" sz="1800" b="1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the </a:t>
            </a:r>
            <a:r>
              <a:rPr kumimoji="0" sz="1800" b="1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1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source </a:t>
            </a:r>
            <a:r>
              <a:rPr kumimoji="0" sz="18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sentence.</a:t>
            </a:r>
            <a:endParaRPr kumimoji="0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3" name="object 56">
            <a:extLst>
              <a:ext uri="{FF2B5EF4-FFF2-40B4-BE49-F238E27FC236}">
                <a16:creationId xmlns:a16="http://schemas.microsoft.com/office/drawing/2014/main" id="{BD481604-5D19-1282-12D0-095CCA2996C0}"/>
              </a:ext>
            </a:extLst>
          </p:cNvPr>
          <p:cNvSpPr txBox="1"/>
          <p:nvPr/>
        </p:nvSpPr>
        <p:spPr>
          <a:xfrm>
            <a:off x="6909847" y="5382541"/>
            <a:ext cx="3110845" cy="768800"/>
          </a:xfrm>
          <a:prstGeom prst="rect">
            <a:avLst/>
          </a:prstGeom>
          <a:ln w="19811">
            <a:solidFill>
              <a:srgbClr val="FF89D7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-10" normalizeH="0" baseline="0" noProof="0" dirty="0">
                <a:ln>
                  <a:noFill/>
                </a:ln>
                <a:solidFill>
                  <a:srgbClr val="FF89D7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Note:</a:t>
            </a: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FF89D7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FF89D7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This</a:t>
            </a:r>
            <a:r>
              <a:rPr kumimoji="0" sz="1600" b="0" i="0" u="none" strike="noStrike" kern="1200" cap="none" spc="5" normalizeH="0" baseline="0" noProof="0" dirty="0">
                <a:ln>
                  <a:noFill/>
                </a:ln>
                <a:solidFill>
                  <a:srgbClr val="FF89D7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FF89D7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diagram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FF89D7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FF89D7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shows</a:t>
            </a:r>
            <a:r>
              <a:rPr kumimoji="0" sz="1600" b="0" i="0" u="none" strike="noStrike" kern="1200" cap="none" spc="10" normalizeH="0" baseline="0" noProof="0" dirty="0">
                <a:ln>
                  <a:noFill/>
                </a:ln>
                <a:solidFill>
                  <a:srgbClr val="FF89D7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1" i="0" u="none" strike="noStrike" kern="1200" cap="none" spc="-15" normalizeH="0" baseline="0" noProof="0" dirty="0">
                <a:ln>
                  <a:noFill/>
                </a:ln>
                <a:solidFill>
                  <a:srgbClr val="FF89D7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test</a:t>
            </a:r>
            <a:r>
              <a:rPr kumimoji="0" sz="1600" b="1" i="0" u="none" strike="noStrike" kern="1200" cap="none" spc="-20" normalizeH="0" baseline="0" noProof="0" dirty="0">
                <a:ln>
                  <a:noFill/>
                </a:ln>
                <a:solidFill>
                  <a:srgbClr val="FF89D7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FF89D7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time</a:t>
            </a:r>
            <a:r>
              <a:rPr kumimoji="0" sz="1600" b="1" i="0" u="none" strike="noStrike" kern="1200" cap="none" spc="-10" normalizeH="0" baseline="0" noProof="0" dirty="0">
                <a:ln>
                  <a:noFill/>
                </a:ln>
                <a:solidFill>
                  <a:srgbClr val="FF89D7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FF89D7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behavior: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FF89D7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decoder</a:t>
            </a:r>
            <a:r>
              <a:rPr kumimoji="0" sz="1600" b="0" i="0" u="none" strike="noStrike" kern="1200" cap="none" spc="10" normalizeH="0" baseline="0" noProof="0" dirty="0">
                <a:ln>
                  <a:noFill/>
                </a:ln>
                <a:solidFill>
                  <a:srgbClr val="FF89D7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FF89D7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output</a:t>
            </a:r>
            <a:r>
              <a:rPr kumimoji="0" sz="1600" b="0" i="0" u="none" strike="noStrike" kern="1200" cap="none" spc="15" normalizeH="0" baseline="0" noProof="0" dirty="0">
                <a:ln>
                  <a:noFill/>
                </a:ln>
                <a:solidFill>
                  <a:srgbClr val="FF89D7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FF89D7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is</a:t>
            </a:r>
            <a:r>
              <a:rPr kumimoji="0" sz="1600" b="0" i="0" u="none" strike="noStrike" kern="1200" cap="none" spc="5" normalizeH="0" baseline="0" noProof="0" dirty="0">
                <a:ln>
                  <a:noFill/>
                </a:ln>
                <a:solidFill>
                  <a:srgbClr val="FF89D7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FF89D7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fed</a:t>
            </a:r>
            <a:r>
              <a:rPr kumimoji="0" sz="1600" b="0" i="0" u="none" strike="noStrike" kern="1200" cap="none" spc="25" normalizeH="0" baseline="0" noProof="0" dirty="0">
                <a:ln>
                  <a:noFill/>
                </a:ln>
                <a:solidFill>
                  <a:srgbClr val="FF89D7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FF89D7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in</a:t>
            </a:r>
            <a:r>
              <a:rPr kumimoji="0" lang="en-US" sz="1600" b="0" i="0" u="none" strike="noStrike" kern="1200" cap="none" spc="-5" normalizeH="0" baseline="0" noProof="0" dirty="0">
                <a:ln>
                  <a:noFill/>
                </a:ln>
                <a:solidFill>
                  <a:srgbClr val="FF89D7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FF89D7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as</a:t>
            </a:r>
            <a:r>
              <a:rPr kumimoji="0" sz="1600" b="0" i="0" u="none" strike="noStrike" kern="1200" cap="none" spc="-25" normalizeH="0" baseline="0" noProof="0" dirty="0">
                <a:ln>
                  <a:noFill/>
                </a:ln>
                <a:solidFill>
                  <a:srgbClr val="FF89D7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srgbClr val="FF89D7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next </a:t>
            </a:r>
            <a:r>
              <a:rPr kumimoji="0" sz="1600" b="0" i="0" u="none" strike="noStrike" kern="1200" cap="none" spc="-30" normalizeH="0" baseline="0" noProof="0" dirty="0">
                <a:ln>
                  <a:noFill/>
                </a:ln>
                <a:solidFill>
                  <a:srgbClr val="FF89D7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step’s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FF89D7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FF89D7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input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157BFF-BDA1-BC65-5292-EAC7236AD36F}"/>
              </a:ext>
            </a:extLst>
          </p:cNvPr>
          <p:cNvSpPr txBox="1"/>
          <p:nvPr/>
        </p:nvSpPr>
        <p:spPr>
          <a:xfrm>
            <a:off x="9634193" y="1477291"/>
            <a:ext cx="2422689" cy="1477328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Decoder RNN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is a Language Model that generates target sentence, 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conditioned on </a:t>
            </a:r>
            <a:r>
              <a:rPr kumimoji="0" lang="en-IN" sz="1800" b="1" i="1" u="none" strike="noStrike" kern="1200" cap="none" spc="-5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encoding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66979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6BEB6-9C0B-B91F-03D3-2CAD5163F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Machine Translation (NMT)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7A937A-B994-9CF6-5E54-2DF0919CE4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en-US" dirty="0"/>
                  <a:t>The </a:t>
                </a:r>
                <a:r>
                  <a:rPr lang="en-US" dirty="0">
                    <a:solidFill>
                      <a:schemeClr val="accent1"/>
                    </a:solidFill>
                  </a:rPr>
                  <a:t>sequence-to-sequence model </a:t>
                </a:r>
                <a:r>
                  <a:rPr lang="en-US" dirty="0"/>
                  <a:t>is an example of a </a:t>
                </a:r>
                <a:r>
                  <a:rPr lang="en-US" b="1" dirty="0">
                    <a:solidFill>
                      <a:schemeClr val="accent1"/>
                    </a:solidFill>
                  </a:rPr>
                  <a:t>Conditional Language Model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b="1" dirty="0">
                    <a:solidFill>
                      <a:schemeClr val="accent5"/>
                    </a:solidFill>
                  </a:rPr>
                  <a:t>Language Model </a:t>
                </a:r>
                <a:r>
                  <a:rPr lang="en-US" dirty="0"/>
                  <a:t>because the decoder is predicting the next word of the target sentence </a:t>
                </a:r>
                <a:r>
                  <a:rPr lang="en-US" i="1" dirty="0"/>
                  <a:t>y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b="1" dirty="0">
                    <a:solidFill>
                      <a:schemeClr val="accent5"/>
                    </a:solidFill>
                  </a:rPr>
                  <a:t>Conditional</a:t>
                </a:r>
                <a:r>
                  <a:rPr lang="en-US" dirty="0"/>
                  <a:t> because its predictions are also conditioned on the source sentence </a:t>
                </a:r>
                <a:r>
                  <a:rPr lang="en-US" i="1" dirty="0"/>
                  <a:t>x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NMT directly calculates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dirty="0"/>
              </a:p>
              <a:p>
                <a:pPr>
                  <a:lnSpc>
                    <a:spcPct val="100000"/>
                  </a:lnSpc>
                </a:pPr>
                <a:endParaRPr lang="en-IN" dirty="0"/>
              </a:p>
              <a:p>
                <a:pPr>
                  <a:lnSpc>
                    <a:spcPct val="100000"/>
                  </a:lnSpc>
                </a:pPr>
                <a:endParaRPr lang="en-IN" dirty="0"/>
              </a:p>
              <a:p>
                <a:pPr>
                  <a:lnSpc>
                    <a:spcPct val="100000"/>
                  </a:lnSpc>
                </a:pPr>
                <a:endParaRPr lang="en-IN" dirty="0"/>
              </a:p>
              <a:p>
                <a:pPr>
                  <a:lnSpc>
                    <a:spcPct val="100000"/>
                  </a:lnSpc>
                </a:pPr>
                <a:r>
                  <a:rPr lang="en-IN" dirty="0">
                    <a:solidFill>
                      <a:schemeClr val="accent5"/>
                    </a:solidFill>
                  </a:rPr>
                  <a:t>How to train an NMT system?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7A937A-B994-9CF6-5E54-2DF0919CE4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01" t="-11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2CC3EA4E-2E5D-5863-B74E-51D48A6DD2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056" t="48798" r="15180" b="46666"/>
          <a:stretch/>
        </p:blipFill>
        <p:spPr>
          <a:xfrm>
            <a:off x="1753159" y="3606758"/>
            <a:ext cx="8684094" cy="377073"/>
          </a:xfrm>
          <a:prstGeom prst="rect">
            <a:avLst/>
          </a:prstGeom>
        </p:spPr>
      </p:pic>
      <p:sp>
        <p:nvSpPr>
          <p:cNvPr id="6" name="object 31">
            <a:extLst>
              <a:ext uri="{FF2B5EF4-FFF2-40B4-BE49-F238E27FC236}">
                <a16:creationId xmlns:a16="http://schemas.microsoft.com/office/drawing/2014/main" id="{1B02659E-BD47-5202-69AA-6116C6FAD7A0}"/>
              </a:ext>
            </a:extLst>
          </p:cNvPr>
          <p:cNvSpPr/>
          <p:nvPr/>
        </p:nvSpPr>
        <p:spPr>
          <a:xfrm>
            <a:off x="7701212" y="3935889"/>
            <a:ext cx="2649420" cy="271780"/>
          </a:xfrm>
          <a:custGeom>
            <a:avLst/>
            <a:gdLst/>
            <a:ahLst/>
            <a:cxnLst/>
            <a:rect l="l" t="t" r="r" b="b"/>
            <a:pathLst>
              <a:path w="2435860" h="271779">
                <a:moveTo>
                  <a:pt x="2435352" y="0"/>
                </a:moveTo>
                <a:lnTo>
                  <a:pt x="2427013" y="52804"/>
                </a:lnTo>
                <a:lnTo>
                  <a:pt x="2404268" y="95916"/>
                </a:lnTo>
                <a:lnTo>
                  <a:pt x="2370522" y="124979"/>
                </a:lnTo>
                <a:lnTo>
                  <a:pt x="2329180" y="135636"/>
                </a:lnTo>
                <a:lnTo>
                  <a:pt x="1323848" y="135636"/>
                </a:lnTo>
                <a:lnTo>
                  <a:pt x="1282505" y="146292"/>
                </a:lnTo>
                <a:lnTo>
                  <a:pt x="1248759" y="175355"/>
                </a:lnTo>
                <a:lnTo>
                  <a:pt x="1226014" y="218467"/>
                </a:lnTo>
                <a:lnTo>
                  <a:pt x="1217676" y="271272"/>
                </a:lnTo>
                <a:lnTo>
                  <a:pt x="1209337" y="218467"/>
                </a:lnTo>
                <a:lnTo>
                  <a:pt x="1186592" y="175355"/>
                </a:lnTo>
                <a:lnTo>
                  <a:pt x="1152846" y="146292"/>
                </a:lnTo>
                <a:lnTo>
                  <a:pt x="1111504" y="135636"/>
                </a:lnTo>
                <a:lnTo>
                  <a:pt x="106146" y="135636"/>
                </a:lnTo>
                <a:lnTo>
                  <a:pt x="64829" y="124979"/>
                </a:lnTo>
                <a:lnTo>
                  <a:pt x="31089" y="95916"/>
                </a:lnTo>
                <a:lnTo>
                  <a:pt x="8341" y="52804"/>
                </a:lnTo>
                <a:lnTo>
                  <a:pt x="0" y="0"/>
                </a:lnTo>
              </a:path>
            </a:pathLst>
          </a:custGeom>
          <a:ln w="19811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716DFFC-4B57-712A-209F-8FE23738858E}"/>
                  </a:ext>
                </a:extLst>
              </p:cNvPr>
              <p:cNvSpPr txBox="1"/>
              <p:nvPr/>
            </p:nvSpPr>
            <p:spPr>
              <a:xfrm>
                <a:off x="6914317" y="4213634"/>
                <a:ext cx="422320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21717"/>
                    </a:solidFill>
                    <a:effectLst/>
                    <a:uLnTx/>
                    <a:uFillTx/>
                    <a:latin typeface="Aptos Display"/>
                    <a:ea typeface="+mn-ea"/>
                    <a:cs typeface="+mn-cs"/>
                  </a:rPr>
                  <a:t>Probability of next target word, given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21717"/>
                    </a:solidFill>
                    <a:effectLst/>
                    <a:uLnTx/>
                    <a:uFillTx/>
                    <a:latin typeface="Aptos Display"/>
                    <a:ea typeface="+mn-ea"/>
                    <a:cs typeface="+mn-cs"/>
                  </a:rPr>
                  <a:t>target words so far and source sentence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C21717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endParaRPr kumimoji="0" lang="en-IN" sz="1800" b="0" i="1" u="none" strike="noStrike" kern="1200" cap="none" spc="0" normalizeH="0" baseline="0" noProof="0" dirty="0">
                  <a:ln>
                    <a:noFill/>
                  </a:ln>
                  <a:solidFill>
                    <a:srgbClr val="C21717"/>
                  </a:solidFill>
                  <a:effectLst/>
                  <a:uLnTx/>
                  <a:uFillTx/>
                  <a:latin typeface="Aptos Display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716DFFC-4B57-712A-209F-8FE2373885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4317" y="4213634"/>
                <a:ext cx="4223209" cy="646331"/>
              </a:xfrm>
              <a:prstGeom prst="rect">
                <a:avLst/>
              </a:prstGeom>
              <a:blipFill>
                <a:blip r:embed="rId4"/>
                <a:stretch>
                  <a:fillRect t="-3774" b="-1509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6433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16EC3-056A-4C22-E0D9-B2276CBBE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an NMT System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E86AC0-849C-64A9-BD84-17C4270AC9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155" t="25154" r="15412" b="22887"/>
          <a:stretch/>
        </p:blipFill>
        <p:spPr>
          <a:xfrm>
            <a:off x="2413260" y="1475304"/>
            <a:ext cx="8371004" cy="44946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9BD0D91-B47E-167C-F4C2-3E7C090BE0E8}"/>
              </a:ext>
            </a:extLst>
          </p:cNvPr>
          <p:cNvSpPr txBox="1"/>
          <p:nvPr/>
        </p:nvSpPr>
        <p:spPr>
          <a:xfrm>
            <a:off x="697583" y="1979629"/>
            <a:ext cx="3148553" cy="923330"/>
          </a:xfrm>
          <a:prstGeom prst="rect">
            <a:avLst/>
          </a:prstGeom>
          <a:noFill/>
          <a:ln w="19050"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A87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Seq2seq is</a:t>
            </a:r>
            <a:r>
              <a:rPr kumimoji="0" lang="en-US" sz="1800" b="0" i="0" u="none" strike="noStrike" kern="1200" cap="none" spc="10" normalizeH="0" baseline="0" noProof="0" dirty="0">
                <a:ln>
                  <a:noFill/>
                </a:ln>
                <a:solidFill>
                  <a:srgbClr val="3A87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lang="en-US" sz="1800" b="0" i="0" u="none" strike="noStrike" kern="1200" cap="none" spc="-10" normalizeH="0" baseline="0" noProof="0" dirty="0">
                <a:ln>
                  <a:noFill/>
                </a:ln>
                <a:solidFill>
                  <a:srgbClr val="3A87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optimized</a:t>
            </a:r>
            <a:r>
              <a:rPr kumimoji="0" lang="en-US" sz="1800" b="0" i="0" u="none" strike="noStrike" kern="1200" cap="none" spc="5" normalizeH="0" baseline="0" noProof="0" dirty="0">
                <a:ln>
                  <a:noFill/>
                </a:ln>
                <a:solidFill>
                  <a:srgbClr val="3A87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A87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as</a:t>
            </a:r>
            <a:r>
              <a:rPr kumimoji="0" lang="en-US" sz="1800" b="0" i="0" u="none" strike="noStrike" kern="1200" cap="none" spc="5" normalizeH="0" baseline="0" noProof="0" dirty="0">
                <a:ln>
                  <a:noFill/>
                </a:ln>
                <a:solidFill>
                  <a:srgbClr val="3A87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A87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</a:t>
            </a:r>
            <a:r>
              <a:rPr kumimoji="0" lang="en-US" sz="1800" b="0" i="0" u="none" strike="noStrike" kern="1200" cap="none" spc="10" normalizeH="0" baseline="0" noProof="0" dirty="0">
                <a:ln>
                  <a:noFill/>
                </a:ln>
                <a:solidFill>
                  <a:srgbClr val="3A87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lang="en-US" sz="1800" b="1" i="0" u="none" strike="noStrike" kern="1200" cap="none" spc="-5" normalizeH="0" baseline="0" noProof="0" dirty="0">
                <a:ln>
                  <a:noFill/>
                </a:ln>
                <a:solidFill>
                  <a:srgbClr val="3A87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single</a:t>
            </a:r>
            <a:r>
              <a:rPr kumimoji="0" lang="en-US" sz="1800" b="1" i="0" u="none" strike="noStrike" kern="1200" cap="none" spc="10" normalizeH="0" baseline="0" noProof="0" dirty="0">
                <a:ln>
                  <a:noFill/>
                </a:ln>
                <a:solidFill>
                  <a:srgbClr val="3A87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lang="en-US" sz="1800" b="1" i="0" u="none" strike="noStrike" kern="1200" cap="none" spc="-15" normalizeH="0" baseline="0" noProof="0" dirty="0">
                <a:ln>
                  <a:noFill/>
                </a:ln>
                <a:solidFill>
                  <a:srgbClr val="3A87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system.</a:t>
            </a:r>
            <a:r>
              <a:rPr kumimoji="0" lang="en-US" sz="1800" b="1" i="0" u="none" strike="noStrike" kern="1200" cap="none" spc="10" normalizeH="0" baseline="0" noProof="0" dirty="0">
                <a:ln>
                  <a:noFill/>
                </a:ln>
                <a:solidFill>
                  <a:srgbClr val="3A87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lang="en-US" sz="1800" b="0" i="0" u="none" strike="noStrike" kern="1200" cap="none" spc="-10" normalizeH="0" baseline="0" noProof="0" dirty="0">
                <a:ln>
                  <a:noFill/>
                </a:ln>
                <a:solidFill>
                  <a:srgbClr val="3A87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Backpropagation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A87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lang="en-US" sz="1800" b="0" i="0" u="none" strike="noStrike" kern="1200" cap="none" spc="-15" normalizeH="0" baseline="0" noProof="0" dirty="0">
                <a:ln>
                  <a:noFill/>
                </a:ln>
                <a:solidFill>
                  <a:srgbClr val="3A87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operates</a:t>
            </a:r>
            <a:r>
              <a:rPr kumimoji="0" lang="en-US" sz="1800" b="0" i="0" u="none" strike="noStrike" kern="1200" cap="none" spc="10" normalizeH="0" baseline="0" noProof="0" dirty="0">
                <a:ln>
                  <a:noFill/>
                </a:ln>
                <a:solidFill>
                  <a:srgbClr val="3A87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lang="en-US" sz="1800" b="0" i="0" u="none" strike="noStrike" kern="1200" cap="none" spc="-10" normalizeH="0" baseline="0" noProof="0" dirty="0">
                <a:ln>
                  <a:noFill/>
                </a:ln>
                <a:solidFill>
                  <a:srgbClr val="3A87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“</a:t>
            </a:r>
            <a:r>
              <a:rPr kumimoji="0" lang="en-US" sz="1800" b="0" i="1" u="none" strike="noStrike" kern="1200" cap="none" spc="-10" normalizeH="0" baseline="0" noProof="0" dirty="0">
                <a:ln>
                  <a:noFill/>
                </a:ln>
                <a:solidFill>
                  <a:srgbClr val="3A87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end-to-end”</a:t>
            </a:r>
            <a:r>
              <a:rPr kumimoji="0" lang="en-US" sz="1800" b="0" i="0" u="none" strike="noStrike" kern="1200" cap="none" spc="-10" normalizeH="0" baseline="0" noProof="0" dirty="0">
                <a:ln>
                  <a:noFill/>
                </a:ln>
                <a:solidFill>
                  <a:srgbClr val="3A87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795170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Greedy</a:t>
            </a:r>
            <a:r>
              <a:rPr spc="-70" dirty="0"/>
              <a:t> </a:t>
            </a:r>
            <a:r>
              <a:rPr spc="-5" dirty="0"/>
              <a:t>decoding</a:t>
            </a:r>
          </a:p>
        </p:txBody>
      </p:sp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A8D0566E-09B0-446F-4054-8AB2C18A05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325" y="1814513"/>
            <a:ext cx="11307763" cy="4351337"/>
          </a:xfrm>
        </p:spPr>
        <p:txBody>
          <a:bodyPr/>
          <a:lstStyle/>
          <a:p>
            <a:r>
              <a:rPr lang="en-US" dirty="0"/>
              <a:t>We saw how to generate (or “decode”) the target sentence by taking argmax on each step of the decoder.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is </a:t>
            </a:r>
            <a:r>
              <a:rPr lang="en-US" dirty="0">
                <a:solidFill>
                  <a:schemeClr val="accent5"/>
                </a:solidFill>
              </a:rPr>
              <a:t>greedy decoding </a:t>
            </a:r>
            <a:r>
              <a:rPr lang="en-US" dirty="0"/>
              <a:t>(take most probable word on each step)</a:t>
            </a:r>
          </a:p>
          <a:p>
            <a:r>
              <a:rPr lang="en-US" b="1" dirty="0">
                <a:solidFill>
                  <a:schemeClr val="accent1"/>
                </a:solidFill>
              </a:rPr>
              <a:t>Problems with this method?</a:t>
            </a:r>
          </a:p>
          <a:p>
            <a:endParaRPr lang="en-US" dirty="0"/>
          </a:p>
          <a:p>
            <a:endParaRPr lang="en-IN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15D26C6-1D17-DB70-1DC6-BAFBCC57025D}"/>
              </a:ext>
            </a:extLst>
          </p:cNvPr>
          <p:cNvGrpSpPr/>
          <p:nvPr/>
        </p:nvGrpSpPr>
        <p:grpSpPr>
          <a:xfrm>
            <a:off x="1958498" y="2132757"/>
            <a:ext cx="8273415" cy="3026935"/>
            <a:chOff x="1907541" y="1849951"/>
            <a:chExt cx="8273415" cy="3026935"/>
          </a:xfrm>
        </p:grpSpPr>
        <p:sp>
          <p:nvSpPr>
            <p:cNvPr id="24" name="object 24"/>
            <p:cNvSpPr txBox="1"/>
            <p:nvPr/>
          </p:nvSpPr>
          <p:spPr>
            <a:xfrm>
              <a:off x="4148835" y="2625888"/>
              <a:ext cx="182038" cy="556895"/>
            </a:xfrm>
            <a:prstGeom prst="rect">
              <a:avLst/>
            </a:prstGeom>
          </p:spPr>
          <p:txBody>
            <a:bodyPr vert="vert270" wrap="square" lIns="0" tIns="0" rIns="0" bIns="0" rtlCol="0">
              <a:spAutoFit/>
            </a:bodyPr>
            <a:lstStyle/>
            <a:p>
              <a:pPr marL="12700" marR="0" lvl="0" indent="0" algn="l" defTabSz="914400" rtl="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7E7E7E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a</a:t>
              </a:r>
              <a:r>
                <a:rPr kumimoji="0" sz="1400" b="0" i="0" u="none" strike="noStrike" kern="1200" cap="none" spc="-25" normalizeH="0" baseline="0" noProof="0" dirty="0">
                  <a:ln>
                    <a:noFill/>
                  </a:ln>
                  <a:solidFill>
                    <a:srgbClr val="7E7E7E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r</a:t>
              </a:r>
              <a:r>
                <a:rPr kumimoji="0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7E7E7E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g</a:t>
              </a:r>
              <a:r>
                <a:rPr kumimoji="0" sz="1400" b="0" i="0" u="none" strike="noStrike" kern="1200" cap="none" spc="-10" normalizeH="0" baseline="0" noProof="0" dirty="0">
                  <a:ln>
                    <a:noFill/>
                  </a:ln>
                  <a:solidFill>
                    <a:srgbClr val="7E7E7E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m</a:t>
              </a:r>
              <a:r>
                <a:rPr kumimoji="0" sz="1400" b="0" i="0" u="none" strike="noStrike" kern="1200" cap="none" spc="-15" normalizeH="0" baseline="0" noProof="0" dirty="0">
                  <a:ln>
                    <a:noFill/>
                  </a:ln>
                  <a:solidFill>
                    <a:srgbClr val="7E7E7E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a</a:t>
              </a:r>
              <a:r>
                <a:rPr kumimoji="0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7E7E7E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x</a:t>
              </a:r>
              <a:endParaRPr kumimoji="0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endParaRPr>
            </a:p>
          </p:txBody>
        </p:sp>
        <p:grpSp>
          <p:nvGrpSpPr>
            <p:cNvPr id="25" name="object 25"/>
            <p:cNvGrpSpPr/>
            <p:nvPr/>
          </p:nvGrpSpPr>
          <p:grpSpPr>
            <a:xfrm>
              <a:off x="4444365" y="2542794"/>
              <a:ext cx="589915" cy="2063114"/>
              <a:chOff x="2920364" y="2542794"/>
              <a:chExt cx="589915" cy="2063114"/>
            </a:xfrm>
          </p:grpSpPr>
          <p:sp>
            <p:nvSpPr>
              <p:cNvPr id="26" name="object 26"/>
              <p:cNvSpPr/>
              <p:nvPr/>
            </p:nvSpPr>
            <p:spPr>
              <a:xfrm>
                <a:off x="2920364" y="2547239"/>
                <a:ext cx="507365" cy="2058670"/>
              </a:xfrm>
              <a:custGeom>
                <a:avLst/>
                <a:gdLst/>
                <a:ahLst/>
                <a:cxnLst/>
                <a:rect l="l" t="t" r="r" b="b"/>
                <a:pathLst>
                  <a:path w="507364" h="2058670">
                    <a:moveTo>
                      <a:pt x="28193" y="0"/>
                    </a:moveTo>
                    <a:lnTo>
                      <a:pt x="0" y="6223"/>
                    </a:lnTo>
                    <a:lnTo>
                      <a:pt x="6223" y="34544"/>
                    </a:lnTo>
                    <a:lnTo>
                      <a:pt x="34417" y="28321"/>
                    </a:lnTo>
                    <a:lnTo>
                      <a:pt x="28193" y="0"/>
                    </a:lnTo>
                    <a:close/>
                  </a:path>
                  <a:path w="507364" h="2058670">
                    <a:moveTo>
                      <a:pt x="40640" y="56641"/>
                    </a:moveTo>
                    <a:lnTo>
                      <a:pt x="12446" y="62864"/>
                    </a:lnTo>
                    <a:lnTo>
                      <a:pt x="18668" y="91186"/>
                    </a:lnTo>
                    <a:lnTo>
                      <a:pt x="46862" y="84962"/>
                    </a:lnTo>
                    <a:lnTo>
                      <a:pt x="40640" y="56641"/>
                    </a:lnTo>
                    <a:close/>
                  </a:path>
                  <a:path w="507364" h="2058670">
                    <a:moveTo>
                      <a:pt x="53086" y="113157"/>
                    </a:moveTo>
                    <a:lnTo>
                      <a:pt x="24892" y="119380"/>
                    </a:lnTo>
                    <a:lnTo>
                      <a:pt x="31115" y="147700"/>
                    </a:lnTo>
                    <a:lnTo>
                      <a:pt x="59309" y="141477"/>
                    </a:lnTo>
                    <a:lnTo>
                      <a:pt x="53086" y="113157"/>
                    </a:lnTo>
                    <a:close/>
                  </a:path>
                  <a:path w="507364" h="2058670">
                    <a:moveTo>
                      <a:pt x="65532" y="169799"/>
                    </a:moveTo>
                    <a:lnTo>
                      <a:pt x="37337" y="176022"/>
                    </a:lnTo>
                    <a:lnTo>
                      <a:pt x="43561" y="204215"/>
                    </a:lnTo>
                    <a:lnTo>
                      <a:pt x="71755" y="197993"/>
                    </a:lnTo>
                    <a:lnTo>
                      <a:pt x="65532" y="169799"/>
                    </a:lnTo>
                    <a:close/>
                  </a:path>
                  <a:path w="507364" h="2058670">
                    <a:moveTo>
                      <a:pt x="77978" y="226313"/>
                    </a:moveTo>
                    <a:lnTo>
                      <a:pt x="49784" y="232537"/>
                    </a:lnTo>
                    <a:lnTo>
                      <a:pt x="56007" y="260858"/>
                    </a:lnTo>
                    <a:lnTo>
                      <a:pt x="84201" y="254635"/>
                    </a:lnTo>
                    <a:lnTo>
                      <a:pt x="77978" y="226313"/>
                    </a:lnTo>
                    <a:close/>
                  </a:path>
                  <a:path w="507364" h="2058670">
                    <a:moveTo>
                      <a:pt x="90424" y="282828"/>
                    </a:moveTo>
                    <a:lnTo>
                      <a:pt x="62230" y="289051"/>
                    </a:lnTo>
                    <a:lnTo>
                      <a:pt x="68453" y="317373"/>
                    </a:lnTo>
                    <a:lnTo>
                      <a:pt x="96647" y="311150"/>
                    </a:lnTo>
                    <a:lnTo>
                      <a:pt x="90424" y="282828"/>
                    </a:lnTo>
                    <a:close/>
                  </a:path>
                  <a:path w="507364" h="2058670">
                    <a:moveTo>
                      <a:pt x="102870" y="339471"/>
                    </a:moveTo>
                    <a:lnTo>
                      <a:pt x="74676" y="345694"/>
                    </a:lnTo>
                    <a:lnTo>
                      <a:pt x="80899" y="373888"/>
                    </a:lnTo>
                    <a:lnTo>
                      <a:pt x="109093" y="367664"/>
                    </a:lnTo>
                    <a:lnTo>
                      <a:pt x="102870" y="339471"/>
                    </a:lnTo>
                    <a:close/>
                  </a:path>
                  <a:path w="507364" h="2058670">
                    <a:moveTo>
                      <a:pt x="115316" y="395986"/>
                    </a:moveTo>
                    <a:lnTo>
                      <a:pt x="87122" y="402209"/>
                    </a:lnTo>
                    <a:lnTo>
                      <a:pt x="93345" y="430530"/>
                    </a:lnTo>
                    <a:lnTo>
                      <a:pt x="121539" y="424307"/>
                    </a:lnTo>
                    <a:lnTo>
                      <a:pt x="115316" y="395986"/>
                    </a:lnTo>
                    <a:close/>
                  </a:path>
                  <a:path w="507364" h="2058670">
                    <a:moveTo>
                      <a:pt x="127762" y="452500"/>
                    </a:moveTo>
                    <a:lnTo>
                      <a:pt x="99568" y="458724"/>
                    </a:lnTo>
                    <a:lnTo>
                      <a:pt x="105791" y="487045"/>
                    </a:lnTo>
                    <a:lnTo>
                      <a:pt x="133985" y="480822"/>
                    </a:lnTo>
                    <a:lnTo>
                      <a:pt x="127762" y="452500"/>
                    </a:lnTo>
                    <a:close/>
                  </a:path>
                  <a:path w="507364" h="2058670">
                    <a:moveTo>
                      <a:pt x="140208" y="509143"/>
                    </a:moveTo>
                    <a:lnTo>
                      <a:pt x="112014" y="515365"/>
                    </a:lnTo>
                    <a:lnTo>
                      <a:pt x="118237" y="543560"/>
                    </a:lnTo>
                    <a:lnTo>
                      <a:pt x="146431" y="537337"/>
                    </a:lnTo>
                    <a:lnTo>
                      <a:pt x="140208" y="509143"/>
                    </a:lnTo>
                    <a:close/>
                  </a:path>
                  <a:path w="507364" h="2058670">
                    <a:moveTo>
                      <a:pt x="152654" y="565658"/>
                    </a:moveTo>
                    <a:lnTo>
                      <a:pt x="124460" y="571881"/>
                    </a:lnTo>
                    <a:lnTo>
                      <a:pt x="130683" y="600201"/>
                    </a:lnTo>
                    <a:lnTo>
                      <a:pt x="158877" y="593978"/>
                    </a:lnTo>
                    <a:lnTo>
                      <a:pt x="152654" y="565658"/>
                    </a:lnTo>
                    <a:close/>
                  </a:path>
                  <a:path w="507364" h="2058670">
                    <a:moveTo>
                      <a:pt x="165100" y="622173"/>
                    </a:moveTo>
                    <a:lnTo>
                      <a:pt x="136906" y="628396"/>
                    </a:lnTo>
                    <a:lnTo>
                      <a:pt x="143129" y="656716"/>
                    </a:lnTo>
                    <a:lnTo>
                      <a:pt x="171323" y="650494"/>
                    </a:lnTo>
                    <a:lnTo>
                      <a:pt x="165100" y="622173"/>
                    </a:lnTo>
                    <a:close/>
                  </a:path>
                  <a:path w="507364" h="2058670">
                    <a:moveTo>
                      <a:pt x="177546" y="678814"/>
                    </a:moveTo>
                    <a:lnTo>
                      <a:pt x="149352" y="685038"/>
                    </a:lnTo>
                    <a:lnTo>
                      <a:pt x="155575" y="713232"/>
                    </a:lnTo>
                    <a:lnTo>
                      <a:pt x="183769" y="707009"/>
                    </a:lnTo>
                    <a:lnTo>
                      <a:pt x="177546" y="678814"/>
                    </a:lnTo>
                    <a:close/>
                  </a:path>
                  <a:path w="507364" h="2058670">
                    <a:moveTo>
                      <a:pt x="189992" y="735330"/>
                    </a:moveTo>
                    <a:lnTo>
                      <a:pt x="161798" y="741552"/>
                    </a:lnTo>
                    <a:lnTo>
                      <a:pt x="168021" y="769874"/>
                    </a:lnTo>
                    <a:lnTo>
                      <a:pt x="196215" y="763651"/>
                    </a:lnTo>
                    <a:lnTo>
                      <a:pt x="189992" y="735330"/>
                    </a:lnTo>
                    <a:close/>
                  </a:path>
                  <a:path w="507364" h="2058670">
                    <a:moveTo>
                      <a:pt x="202437" y="791845"/>
                    </a:moveTo>
                    <a:lnTo>
                      <a:pt x="174244" y="798068"/>
                    </a:lnTo>
                    <a:lnTo>
                      <a:pt x="180467" y="826388"/>
                    </a:lnTo>
                    <a:lnTo>
                      <a:pt x="208661" y="820165"/>
                    </a:lnTo>
                    <a:lnTo>
                      <a:pt x="202437" y="791845"/>
                    </a:lnTo>
                    <a:close/>
                  </a:path>
                  <a:path w="507364" h="2058670">
                    <a:moveTo>
                      <a:pt x="214884" y="848487"/>
                    </a:moveTo>
                    <a:lnTo>
                      <a:pt x="186690" y="854710"/>
                    </a:lnTo>
                    <a:lnTo>
                      <a:pt x="192912" y="882903"/>
                    </a:lnTo>
                    <a:lnTo>
                      <a:pt x="221107" y="876681"/>
                    </a:lnTo>
                    <a:lnTo>
                      <a:pt x="214884" y="848487"/>
                    </a:lnTo>
                    <a:close/>
                  </a:path>
                  <a:path w="507364" h="2058670">
                    <a:moveTo>
                      <a:pt x="227330" y="905001"/>
                    </a:moveTo>
                    <a:lnTo>
                      <a:pt x="199136" y="911225"/>
                    </a:lnTo>
                    <a:lnTo>
                      <a:pt x="205359" y="939546"/>
                    </a:lnTo>
                    <a:lnTo>
                      <a:pt x="233553" y="933323"/>
                    </a:lnTo>
                    <a:lnTo>
                      <a:pt x="227330" y="905001"/>
                    </a:lnTo>
                    <a:close/>
                  </a:path>
                  <a:path w="507364" h="2058670">
                    <a:moveTo>
                      <a:pt x="239776" y="961516"/>
                    </a:moveTo>
                    <a:lnTo>
                      <a:pt x="211582" y="967739"/>
                    </a:lnTo>
                    <a:lnTo>
                      <a:pt x="217805" y="996061"/>
                    </a:lnTo>
                    <a:lnTo>
                      <a:pt x="245999" y="989838"/>
                    </a:lnTo>
                    <a:lnTo>
                      <a:pt x="239776" y="961516"/>
                    </a:lnTo>
                    <a:close/>
                  </a:path>
                  <a:path w="507364" h="2058670">
                    <a:moveTo>
                      <a:pt x="252222" y="1018159"/>
                    </a:moveTo>
                    <a:lnTo>
                      <a:pt x="224028" y="1024382"/>
                    </a:lnTo>
                    <a:lnTo>
                      <a:pt x="230251" y="1052576"/>
                    </a:lnTo>
                    <a:lnTo>
                      <a:pt x="258445" y="1046352"/>
                    </a:lnTo>
                    <a:lnTo>
                      <a:pt x="252222" y="1018159"/>
                    </a:lnTo>
                    <a:close/>
                  </a:path>
                  <a:path w="507364" h="2058670">
                    <a:moveTo>
                      <a:pt x="264668" y="1074674"/>
                    </a:moveTo>
                    <a:lnTo>
                      <a:pt x="236474" y="1080897"/>
                    </a:lnTo>
                    <a:lnTo>
                      <a:pt x="242697" y="1109218"/>
                    </a:lnTo>
                    <a:lnTo>
                      <a:pt x="270891" y="1102995"/>
                    </a:lnTo>
                    <a:lnTo>
                      <a:pt x="264668" y="1074674"/>
                    </a:lnTo>
                    <a:close/>
                  </a:path>
                  <a:path w="507364" h="2058670">
                    <a:moveTo>
                      <a:pt x="277114" y="1131189"/>
                    </a:moveTo>
                    <a:lnTo>
                      <a:pt x="248920" y="1137412"/>
                    </a:lnTo>
                    <a:lnTo>
                      <a:pt x="255143" y="1165733"/>
                    </a:lnTo>
                    <a:lnTo>
                      <a:pt x="283337" y="1159510"/>
                    </a:lnTo>
                    <a:lnTo>
                      <a:pt x="277114" y="1131189"/>
                    </a:lnTo>
                    <a:close/>
                  </a:path>
                  <a:path w="507364" h="2058670">
                    <a:moveTo>
                      <a:pt x="289560" y="1187831"/>
                    </a:moveTo>
                    <a:lnTo>
                      <a:pt x="261366" y="1194054"/>
                    </a:lnTo>
                    <a:lnTo>
                      <a:pt x="267589" y="1222248"/>
                    </a:lnTo>
                    <a:lnTo>
                      <a:pt x="295783" y="1216025"/>
                    </a:lnTo>
                    <a:lnTo>
                      <a:pt x="289560" y="1187831"/>
                    </a:lnTo>
                    <a:close/>
                  </a:path>
                  <a:path w="507364" h="2058670">
                    <a:moveTo>
                      <a:pt x="302006" y="1244346"/>
                    </a:moveTo>
                    <a:lnTo>
                      <a:pt x="273812" y="1250569"/>
                    </a:lnTo>
                    <a:lnTo>
                      <a:pt x="280035" y="1278890"/>
                    </a:lnTo>
                    <a:lnTo>
                      <a:pt x="308229" y="1272667"/>
                    </a:lnTo>
                    <a:lnTo>
                      <a:pt x="302006" y="1244346"/>
                    </a:lnTo>
                    <a:close/>
                  </a:path>
                  <a:path w="507364" h="2058670">
                    <a:moveTo>
                      <a:pt x="314452" y="1300861"/>
                    </a:moveTo>
                    <a:lnTo>
                      <a:pt x="286258" y="1307084"/>
                    </a:lnTo>
                    <a:lnTo>
                      <a:pt x="292481" y="1335405"/>
                    </a:lnTo>
                    <a:lnTo>
                      <a:pt x="320675" y="1329182"/>
                    </a:lnTo>
                    <a:lnTo>
                      <a:pt x="314452" y="1300861"/>
                    </a:lnTo>
                    <a:close/>
                  </a:path>
                  <a:path w="507364" h="2058670">
                    <a:moveTo>
                      <a:pt x="326898" y="1357503"/>
                    </a:moveTo>
                    <a:lnTo>
                      <a:pt x="298704" y="1363726"/>
                    </a:lnTo>
                    <a:lnTo>
                      <a:pt x="304927" y="1391920"/>
                    </a:lnTo>
                    <a:lnTo>
                      <a:pt x="333121" y="1385697"/>
                    </a:lnTo>
                    <a:lnTo>
                      <a:pt x="326898" y="1357503"/>
                    </a:lnTo>
                    <a:close/>
                  </a:path>
                  <a:path w="507364" h="2058670">
                    <a:moveTo>
                      <a:pt x="339344" y="1414018"/>
                    </a:moveTo>
                    <a:lnTo>
                      <a:pt x="311150" y="1420241"/>
                    </a:lnTo>
                    <a:lnTo>
                      <a:pt x="317373" y="1448562"/>
                    </a:lnTo>
                    <a:lnTo>
                      <a:pt x="345567" y="1442339"/>
                    </a:lnTo>
                    <a:lnTo>
                      <a:pt x="339344" y="1414018"/>
                    </a:lnTo>
                    <a:close/>
                  </a:path>
                  <a:path w="507364" h="2058670">
                    <a:moveTo>
                      <a:pt x="351789" y="1470533"/>
                    </a:moveTo>
                    <a:lnTo>
                      <a:pt x="323596" y="1476756"/>
                    </a:lnTo>
                    <a:lnTo>
                      <a:pt x="329819" y="1505077"/>
                    </a:lnTo>
                    <a:lnTo>
                      <a:pt x="358013" y="1498854"/>
                    </a:lnTo>
                    <a:lnTo>
                      <a:pt x="351789" y="1470533"/>
                    </a:lnTo>
                    <a:close/>
                  </a:path>
                  <a:path w="507364" h="2058670">
                    <a:moveTo>
                      <a:pt x="364236" y="1527175"/>
                    </a:moveTo>
                    <a:lnTo>
                      <a:pt x="336042" y="1533398"/>
                    </a:lnTo>
                    <a:lnTo>
                      <a:pt x="342264" y="1561592"/>
                    </a:lnTo>
                    <a:lnTo>
                      <a:pt x="370459" y="1555369"/>
                    </a:lnTo>
                    <a:lnTo>
                      <a:pt x="364236" y="1527175"/>
                    </a:lnTo>
                    <a:close/>
                  </a:path>
                  <a:path w="507364" h="2058670">
                    <a:moveTo>
                      <a:pt x="376809" y="1583690"/>
                    </a:moveTo>
                    <a:lnTo>
                      <a:pt x="348488" y="1589913"/>
                    </a:lnTo>
                    <a:lnTo>
                      <a:pt x="354711" y="1618234"/>
                    </a:lnTo>
                    <a:lnTo>
                      <a:pt x="383032" y="1612011"/>
                    </a:lnTo>
                    <a:lnTo>
                      <a:pt x="376809" y="1583690"/>
                    </a:lnTo>
                    <a:close/>
                  </a:path>
                  <a:path w="507364" h="2058670">
                    <a:moveTo>
                      <a:pt x="389255" y="1640205"/>
                    </a:moveTo>
                    <a:lnTo>
                      <a:pt x="360934" y="1646428"/>
                    </a:lnTo>
                    <a:lnTo>
                      <a:pt x="367157" y="1674749"/>
                    </a:lnTo>
                    <a:lnTo>
                      <a:pt x="395477" y="1668526"/>
                    </a:lnTo>
                    <a:lnTo>
                      <a:pt x="389255" y="1640205"/>
                    </a:lnTo>
                    <a:close/>
                  </a:path>
                  <a:path w="507364" h="2058670">
                    <a:moveTo>
                      <a:pt x="401700" y="1696847"/>
                    </a:moveTo>
                    <a:lnTo>
                      <a:pt x="373380" y="1703070"/>
                    </a:lnTo>
                    <a:lnTo>
                      <a:pt x="379602" y="1731264"/>
                    </a:lnTo>
                    <a:lnTo>
                      <a:pt x="407924" y="1725041"/>
                    </a:lnTo>
                    <a:lnTo>
                      <a:pt x="401700" y="1696847"/>
                    </a:lnTo>
                    <a:close/>
                  </a:path>
                  <a:path w="507364" h="2058670">
                    <a:moveTo>
                      <a:pt x="414147" y="1753362"/>
                    </a:moveTo>
                    <a:lnTo>
                      <a:pt x="385825" y="1759585"/>
                    </a:lnTo>
                    <a:lnTo>
                      <a:pt x="392049" y="1787906"/>
                    </a:lnTo>
                    <a:lnTo>
                      <a:pt x="420370" y="1781683"/>
                    </a:lnTo>
                    <a:lnTo>
                      <a:pt x="414147" y="1753362"/>
                    </a:lnTo>
                    <a:close/>
                  </a:path>
                  <a:path w="507364" h="2058670">
                    <a:moveTo>
                      <a:pt x="426593" y="1809877"/>
                    </a:moveTo>
                    <a:lnTo>
                      <a:pt x="398272" y="1816100"/>
                    </a:lnTo>
                    <a:lnTo>
                      <a:pt x="404495" y="1844421"/>
                    </a:lnTo>
                    <a:lnTo>
                      <a:pt x="432815" y="1838198"/>
                    </a:lnTo>
                    <a:lnTo>
                      <a:pt x="426593" y="1809877"/>
                    </a:lnTo>
                    <a:close/>
                  </a:path>
                  <a:path w="507364" h="2058670">
                    <a:moveTo>
                      <a:pt x="439038" y="1866519"/>
                    </a:moveTo>
                    <a:lnTo>
                      <a:pt x="410718" y="1872742"/>
                    </a:lnTo>
                    <a:lnTo>
                      <a:pt x="416940" y="1900936"/>
                    </a:lnTo>
                    <a:lnTo>
                      <a:pt x="445262" y="1894713"/>
                    </a:lnTo>
                    <a:lnTo>
                      <a:pt x="439038" y="1866519"/>
                    </a:lnTo>
                    <a:close/>
                  </a:path>
                  <a:path w="507364" h="2058670">
                    <a:moveTo>
                      <a:pt x="388112" y="1940560"/>
                    </a:moveTo>
                    <a:lnTo>
                      <a:pt x="382270" y="1945894"/>
                    </a:lnTo>
                    <a:lnTo>
                      <a:pt x="376427" y="1951355"/>
                    </a:lnTo>
                    <a:lnTo>
                      <a:pt x="376047" y="1960499"/>
                    </a:lnTo>
                    <a:lnTo>
                      <a:pt x="381508" y="1966341"/>
                    </a:lnTo>
                    <a:lnTo>
                      <a:pt x="466471" y="2058543"/>
                    </a:lnTo>
                    <a:lnTo>
                      <a:pt x="476927" y="2026031"/>
                    </a:lnTo>
                    <a:lnTo>
                      <a:pt x="446532" y="2026031"/>
                    </a:lnTo>
                    <a:lnTo>
                      <a:pt x="450368" y="2014093"/>
                    </a:lnTo>
                    <a:lnTo>
                      <a:pt x="441833" y="2014093"/>
                    </a:lnTo>
                    <a:lnTo>
                      <a:pt x="435610" y="1985899"/>
                    </a:lnTo>
                    <a:lnTo>
                      <a:pt x="438269" y="1985314"/>
                    </a:lnTo>
                    <a:lnTo>
                      <a:pt x="402717" y="1946783"/>
                    </a:lnTo>
                    <a:lnTo>
                      <a:pt x="397383" y="1940941"/>
                    </a:lnTo>
                    <a:lnTo>
                      <a:pt x="388112" y="1940560"/>
                    </a:lnTo>
                    <a:close/>
                  </a:path>
                  <a:path w="507364" h="2058670">
                    <a:moveTo>
                      <a:pt x="460947" y="2009892"/>
                    </a:moveTo>
                    <a:lnTo>
                      <a:pt x="451017" y="2012074"/>
                    </a:lnTo>
                    <a:lnTo>
                      <a:pt x="446532" y="2026031"/>
                    </a:lnTo>
                    <a:lnTo>
                      <a:pt x="470915" y="2020697"/>
                    </a:lnTo>
                    <a:lnTo>
                      <a:pt x="460947" y="2009892"/>
                    </a:lnTo>
                    <a:close/>
                  </a:path>
                  <a:path w="507364" h="2058670">
                    <a:moveTo>
                      <a:pt x="491836" y="1979676"/>
                    </a:moveTo>
                    <a:lnTo>
                      <a:pt x="463931" y="1979676"/>
                    </a:lnTo>
                    <a:lnTo>
                      <a:pt x="470154" y="2007870"/>
                    </a:lnTo>
                    <a:lnTo>
                      <a:pt x="460947" y="2009892"/>
                    </a:lnTo>
                    <a:lnTo>
                      <a:pt x="470915" y="2020697"/>
                    </a:lnTo>
                    <a:lnTo>
                      <a:pt x="446532" y="2026031"/>
                    </a:lnTo>
                    <a:lnTo>
                      <a:pt x="476927" y="2026031"/>
                    </a:lnTo>
                    <a:lnTo>
                      <a:pt x="491836" y="1979676"/>
                    </a:lnTo>
                    <a:close/>
                  </a:path>
                  <a:path w="507364" h="2058670">
                    <a:moveTo>
                      <a:pt x="438269" y="1985314"/>
                    </a:moveTo>
                    <a:lnTo>
                      <a:pt x="435610" y="1985899"/>
                    </a:lnTo>
                    <a:lnTo>
                      <a:pt x="441833" y="2014093"/>
                    </a:lnTo>
                    <a:lnTo>
                      <a:pt x="451017" y="2012074"/>
                    </a:lnTo>
                    <a:lnTo>
                      <a:pt x="454102" y="2002474"/>
                    </a:lnTo>
                    <a:lnTo>
                      <a:pt x="438269" y="1985314"/>
                    </a:lnTo>
                    <a:close/>
                  </a:path>
                  <a:path w="507364" h="2058670">
                    <a:moveTo>
                      <a:pt x="451017" y="2012074"/>
                    </a:moveTo>
                    <a:lnTo>
                      <a:pt x="441833" y="2014093"/>
                    </a:lnTo>
                    <a:lnTo>
                      <a:pt x="450368" y="2014093"/>
                    </a:lnTo>
                    <a:lnTo>
                      <a:pt x="451017" y="2012074"/>
                    </a:lnTo>
                    <a:close/>
                  </a:path>
                  <a:path w="507364" h="2058670">
                    <a:moveTo>
                      <a:pt x="454102" y="2002474"/>
                    </a:moveTo>
                    <a:lnTo>
                      <a:pt x="451017" y="2012074"/>
                    </a:lnTo>
                    <a:lnTo>
                      <a:pt x="460947" y="2009892"/>
                    </a:lnTo>
                    <a:lnTo>
                      <a:pt x="454102" y="2002474"/>
                    </a:lnTo>
                    <a:close/>
                  </a:path>
                  <a:path w="507364" h="2058670">
                    <a:moveTo>
                      <a:pt x="463931" y="1979676"/>
                    </a:moveTo>
                    <a:lnTo>
                      <a:pt x="461239" y="1980267"/>
                    </a:lnTo>
                    <a:lnTo>
                      <a:pt x="454102" y="2002474"/>
                    </a:lnTo>
                    <a:lnTo>
                      <a:pt x="460947" y="2009892"/>
                    </a:lnTo>
                    <a:lnTo>
                      <a:pt x="470154" y="2007870"/>
                    </a:lnTo>
                    <a:lnTo>
                      <a:pt x="463931" y="1979676"/>
                    </a:lnTo>
                    <a:close/>
                  </a:path>
                  <a:path w="507364" h="2058670">
                    <a:moveTo>
                      <a:pt x="461239" y="1980267"/>
                    </a:moveTo>
                    <a:lnTo>
                      <a:pt x="438269" y="1985314"/>
                    </a:lnTo>
                    <a:lnTo>
                      <a:pt x="454102" y="2002474"/>
                    </a:lnTo>
                    <a:lnTo>
                      <a:pt x="461239" y="1980267"/>
                    </a:lnTo>
                    <a:close/>
                  </a:path>
                  <a:path w="507364" h="2058670">
                    <a:moveTo>
                      <a:pt x="487934" y="1918589"/>
                    </a:moveTo>
                    <a:lnTo>
                      <a:pt x="479679" y="1922780"/>
                    </a:lnTo>
                    <a:lnTo>
                      <a:pt x="477265" y="1930400"/>
                    </a:lnTo>
                    <a:lnTo>
                      <a:pt x="461239" y="1980267"/>
                    </a:lnTo>
                    <a:lnTo>
                      <a:pt x="463931" y="1979676"/>
                    </a:lnTo>
                    <a:lnTo>
                      <a:pt x="491836" y="1979676"/>
                    </a:lnTo>
                    <a:lnTo>
                      <a:pt x="504825" y="1939290"/>
                    </a:lnTo>
                    <a:lnTo>
                      <a:pt x="507364" y="1931670"/>
                    </a:lnTo>
                    <a:lnTo>
                      <a:pt x="503174" y="1923415"/>
                    </a:lnTo>
                    <a:lnTo>
                      <a:pt x="487934" y="1918589"/>
                    </a:lnTo>
                    <a:close/>
                  </a:path>
                  <a:path w="507364" h="2058670">
                    <a:moveTo>
                      <a:pt x="451485" y="1923034"/>
                    </a:moveTo>
                    <a:lnTo>
                      <a:pt x="423163" y="1929257"/>
                    </a:lnTo>
                    <a:lnTo>
                      <a:pt x="429387" y="1957578"/>
                    </a:lnTo>
                    <a:lnTo>
                      <a:pt x="457708" y="1951355"/>
                    </a:lnTo>
                    <a:lnTo>
                      <a:pt x="451485" y="1923034"/>
                    </a:lnTo>
                    <a:close/>
                  </a:path>
                </a:pathLst>
              </a:custGeom>
              <a:solidFill>
                <a:srgbClr val="FF89D7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+mn-cs"/>
                </a:endParaRPr>
              </a:p>
            </p:txBody>
          </p:sp>
          <p:sp>
            <p:nvSpPr>
              <p:cNvPr id="27" name="object 27"/>
              <p:cNvSpPr/>
              <p:nvPr/>
            </p:nvSpPr>
            <p:spPr>
              <a:xfrm>
                <a:off x="3398392" y="2542794"/>
                <a:ext cx="111760" cy="664210"/>
              </a:xfrm>
              <a:custGeom>
                <a:avLst/>
                <a:gdLst/>
                <a:ahLst/>
                <a:cxnLst/>
                <a:rect l="l" t="t" r="r" b="b"/>
                <a:pathLst>
                  <a:path w="111760" h="664210">
                    <a:moveTo>
                      <a:pt x="55753" y="39224"/>
                    </a:moveTo>
                    <a:lnTo>
                      <a:pt x="45847" y="56206"/>
                    </a:lnTo>
                    <a:lnTo>
                      <a:pt x="45847" y="663828"/>
                    </a:lnTo>
                    <a:lnTo>
                      <a:pt x="65659" y="663828"/>
                    </a:lnTo>
                    <a:lnTo>
                      <a:pt x="65659" y="56206"/>
                    </a:lnTo>
                    <a:lnTo>
                      <a:pt x="55753" y="39224"/>
                    </a:lnTo>
                    <a:close/>
                  </a:path>
                  <a:path w="111760" h="664210">
                    <a:moveTo>
                      <a:pt x="55753" y="0"/>
                    </a:moveTo>
                    <a:lnTo>
                      <a:pt x="2794" y="90804"/>
                    </a:lnTo>
                    <a:lnTo>
                      <a:pt x="0" y="95503"/>
                    </a:lnTo>
                    <a:lnTo>
                      <a:pt x="1524" y="101600"/>
                    </a:lnTo>
                    <a:lnTo>
                      <a:pt x="6350" y="104393"/>
                    </a:lnTo>
                    <a:lnTo>
                      <a:pt x="11049" y="107187"/>
                    </a:lnTo>
                    <a:lnTo>
                      <a:pt x="17145" y="105536"/>
                    </a:lnTo>
                    <a:lnTo>
                      <a:pt x="19812" y="100837"/>
                    </a:lnTo>
                    <a:lnTo>
                      <a:pt x="45847" y="56206"/>
                    </a:lnTo>
                    <a:lnTo>
                      <a:pt x="45847" y="19557"/>
                    </a:lnTo>
                    <a:lnTo>
                      <a:pt x="67159" y="19557"/>
                    </a:lnTo>
                    <a:lnTo>
                      <a:pt x="55753" y="0"/>
                    </a:lnTo>
                    <a:close/>
                  </a:path>
                  <a:path w="111760" h="664210">
                    <a:moveTo>
                      <a:pt x="67159" y="19557"/>
                    </a:moveTo>
                    <a:lnTo>
                      <a:pt x="65659" y="19557"/>
                    </a:lnTo>
                    <a:lnTo>
                      <a:pt x="65659" y="56206"/>
                    </a:lnTo>
                    <a:lnTo>
                      <a:pt x="91694" y="100837"/>
                    </a:lnTo>
                    <a:lnTo>
                      <a:pt x="94361" y="105536"/>
                    </a:lnTo>
                    <a:lnTo>
                      <a:pt x="100457" y="107187"/>
                    </a:lnTo>
                    <a:lnTo>
                      <a:pt x="105156" y="104393"/>
                    </a:lnTo>
                    <a:lnTo>
                      <a:pt x="109982" y="101600"/>
                    </a:lnTo>
                    <a:lnTo>
                      <a:pt x="111506" y="95503"/>
                    </a:lnTo>
                    <a:lnTo>
                      <a:pt x="108712" y="90804"/>
                    </a:lnTo>
                    <a:lnTo>
                      <a:pt x="67159" y="19557"/>
                    </a:lnTo>
                    <a:close/>
                  </a:path>
                  <a:path w="111760" h="664210">
                    <a:moveTo>
                      <a:pt x="65659" y="19557"/>
                    </a:moveTo>
                    <a:lnTo>
                      <a:pt x="45847" y="19557"/>
                    </a:lnTo>
                    <a:lnTo>
                      <a:pt x="45847" y="56206"/>
                    </a:lnTo>
                    <a:lnTo>
                      <a:pt x="55753" y="39224"/>
                    </a:lnTo>
                    <a:lnTo>
                      <a:pt x="47244" y="24637"/>
                    </a:lnTo>
                    <a:lnTo>
                      <a:pt x="65659" y="24637"/>
                    </a:lnTo>
                    <a:lnTo>
                      <a:pt x="65659" y="19557"/>
                    </a:lnTo>
                    <a:close/>
                  </a:path>
                  <a:path w="111760" h="664210">
                    <a:moveTo>
                      <a:pt x="65659" y="24637"/>
                    </a:moveTo>
                    <a:lnTo>
                      <a:pt x="64262" y="24637"/>
                    </a:lnTo>
                    <a:lnTo>
                      <a:pt x="55753" y="39224"/>
                    </a:lnTo>
                    <a:lnTo>
                      <a:pt x="65659" y="56206"/>
                    </a:lnTo>
                    <a:lnTo>
                      <a:pt x="65659" y="24637"/>
                    </a:lnTo>
                    <a:close/>
                  </a:path>
                  <a:path w="111760" h="664210">
                    <a:moveTo>
                      <a:pt x="64262" y="24637"/>
                    </a:moveTo>
                    <a:lnTo>
                      <a:pt x="47244" y="24637"/>
                    </a:lnTo>
                    <a:lnTo>
                      <a:pt x="55753" y="39224"/>
                    </a:lnTo>
                    <a:lnTo>
                      <a:pt x="64262" y="24637"/>
                    </a:lnTo>
                    <a:close/>
                  </a:path>
                </a:pathLst>
              </a:custGeom>
              <a:solidFill>
                <a:srgbClr val="7E7E7E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+mn-cs"/>
                </a:endParaRPr>
              </a:p>
            </p:txBody>
          </p:sp>
        </p:grpSp>
        <p:sp>
          <p:nvSpPr>
            <p:cNvPr id="28" name="object 28"/>
            <p:cNvSpPr txBox="1"/>
            <p:nvPr/>
          </p:nvSpPr>
          <p:spPr>
            <a:xfrm>
              <a:off x="4747767" y="2625888"/>
              <a:ext cx="182038" cy="556895"/>
            </a:xfrm>
            <a:prstGeom prst="rect">
              <a:avLst/>
            </a:prstGeom>
          </p:spPr>
          <p:txBody>
            <a:bodyPr vert="vert270" wrap="square" lIns="0" tIns="0" rIns="0" bIns="0" rtlCol="0">
              <a:spAutoFit/>
            </a:bodyPr>
            <a:lstStyle/>
            <a:p>
              <a:pPr marL="12700" marR="0" lvl="0" indent="0" algn="l" defTabSz="914400" rtl="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7E7E7E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a</a:t>
              </a:r>
              <a:r>
                <a:rPr kumimoji="0" sz="1400" b="0" i="0" u="none" strike="noStrike" kern="1200" cap="none" spc="-25" normalizeH="0" baseline="0" noProof="0" dirty="0">
                  <a:ln>
                    <a:noFill/>
                  </a:ln>
                  <a:solidFill>
                    <a:srgbClr val="7E7E7E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r</a:t>
              </a:r>
              <a:r>
                <a:rPr kumimoji="0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7E7E7E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g</a:t>
              </a:r>
              <a:r>
                <a:rPr kumimoji="0" sz="1400" b="0" i="0" u="none" strike="noStrike" kern="1200" cap="none" spc="-10" normalizeH="0" baseline="0" noProof="0" dirty="0">
                  <a:ln>
                    <a:noFill/>
                  </a:ln>
                  <a:solidFill>
                    <a:srgbClr val="7E7E7E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m</a:t>
              </a:r>
              <a:r>
                <a:rPr kumimoji="0" sz="1400" b="0" i="0" u="none" strike="noStrike" kern="1200" cap="none" spc="-15" normalizeH="0" baseline="0" noProof="0" dirty="0">
                  <a:ln>
                    <a:noFill/>
                  </a:ln>
                  <a:solidFill>
                    <a:srgbClr val="7E7E7E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a</a:t>
              </a:r>
              <a:r>
                <a:rPr kumimoji="0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7E7E7E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x</a:t>
              </a:r>
              <a:endParaRPr kumimoji="0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endParaRPr>
            </a:p>
          </p:txBody>
        </p:sp>
        <p:grpSp>
          <p:nvGrpSpPr>
            <p:cNvPr id="29" name="object 29"/>
            <p:cNvGrpSpPr/>
            <p:nvPr/>
          </p:nvGrpSpPr>
          <p:grpSpPr>
            <a:xfrm>
              <a:off x="5067680" y="2536699"/>
              <a:ext cx="588010" cy="2061845"/>
              <a:chOff x="3543680" y="2536698"/>
              <a:chExt cx="588010" cy="2061845"/>
            </a:xfrm>
          </p:grpSpPr>
          <p:sp>
            <p:nvSpPr>
              <p:cNvPr id="30" name="object 30"/>
              <p:cNvSpPr/>
              <p:nvPr/>
            </p:nvSpPr>
            <p:spPr>
              <a:xfrm>
                <a:off x="3543680" y="2539619"/>
                <a:ext cx="507365" cy="2058670"/>
              </a:xfrm>
              <a:custGeom>
                <a:avLst/>
                <a:gdLst/>
                <a:ahLst/>
                <a:cxnLst/>
                <a:rect l="l" t="t" r="r" b="b"/>
                <a:pathLst>
                  <a:path w="507364" h="2058670">
                    <a:moveTo>
                      <a:pt x="28194" y="0"/>
                    </a:moveTo>
                    <a:lnTo>
                      <a:pt x="0" y="6222"/>
                    </a:lnTo>
                    <a:lnTo>
                      <a:pt x="6223" y="34543"/>
                    </a:lnTo>
                    <a:lnTo>
                      <a:pt x="34417" y="28320"/>
                    </a:lnTo>
                    <a:lnTo>
                      <a:pt x="28194" y="0"/>
                    </a:lnTo>
                    <a:close/>
                  </a:path>
                  <a:path w="507364" h="2058670">
                    <a:moveTo>
                      <a:pt x="40640" y="56641"/>
                    </a:moveTo>
                    <a:lnTo>
                      <a:pt x="12446" y="62864"/>
                    </a:lnTo>
                    <a:lnTo>
                      <a:pt x="18669" y="91185"/>
                    </a:lnTo>
                    <a:lnTo>
                      <a:pt x="46863" y="84962"/>
                    </a:lnTo>
                    <a:lnTo>
                      <a:pt x="40640" y="56641"/>
                    </a:lnTo>
                    <a:close/>
                  </a:path>
                  <a:path w="507364" h="2058670">
                    <a:moveTo>
                      <a:pt x="53086" y="113156"/>
                    </a:moveTo>
                    <a:lnTo>
                      <a:pt x="24892" y="119379"/>
                    </a:lnTo>
                    <a:lnTo>
                      <a:pt x="31115" y="147700"/>
                    </a:lnTo>
                    <a:lnTo>
                      <a:pt x="59309" y="141477"/>
                    </a:lnTo>
                    <a:lnTo>
                      <a:pt x="53086" y="113156"/>
                    </a:lnTo>
                    <a:close/>
                  </a:path>
                  <a:path w="507364" h="2058670">
                    <a:moveTo>
                      <a:pt x="65532" y="169798"/>
                    </a:moveTo>
                    <a:lnTo>
                      <a:pt x="37338" y="176021"/>
                    </a:lnTo>
                    <a:lnTo>
                      <a:pt x="43561" y="204215"/>
                    </a:lnTo>
                    <a:lnTo>
                      <a:pt x="71755" y="197992"/>
                    </a:lnTo>
                    <a:lnTo>
                      <a:pt x="65532" y="169798"/>
                    </a:lnTo>
                    <a:close/>
                  </a:path>
                  <a:path w="507364" h="2058670">
                    <a:moveTo>
                      <a:pt x="77978" y="226313"/>
                    </a:moveTo>
                    <a:lnTo>
                      <a:pt x="49784" y="232536"/>
                    </a:lnTo>
                    <a:lnTo>
                      <a:pt x="56007" y="260857"/>
                    </a:lnTo>
                    <a:lnTo>
                      <a:pt x="84201" y="254634"/>
                    </a:lnTo>
                    <a:lnTo>
                      <a:pt x="77978" y="226313"/>
                    </a:lnTo>
                    <a:close/>
                  </a:path>
                  <a:path w="507364" h="2058670">
                    <a:moveTo>
                      <a:pt x="90424" y="282828"/>
                    </a:moveTo>
                    <a:lnTo>
                      <a:pt x="62230" y="289051"/>
                    </a:lnTo>
                    <a:lnTo>
                      <a:pt x="68453" y="317372"/>
                    </a:lnTo>
                    <a:lnTo>
                      <a:pt x="96647" y="311150"/>
                    </a:lnTo>
                    <a:lnTo>
                      <a:pt x="90424" y="282828"/>
                    </a:lnTo>
                    <a:close/>
                  </a:path>
                  <a:path w="507364" h="2058670">
                    <a:moveTo>
                      <a:pt x="102870" y="339470"/>
                    </a:moveTo>
                    <a:lnTo>
                      <a:pt x="74676" y="345693"/>
                    </a:lnTo>
                    <a:lnTo>
                      <a:pt x="80899" y="373888"/>
                    </a:lnTo>
                    <a:lnTo>
                      <a:pt x="109093" y="367664"/>
                    </a:lnTo>
                    <a:lnTo>
                      <a:pt x="102870" y="339470"/>
                    </a:lnTo>
                    <a:close/>
                  </a:path>
                  <a:path w="507364" h="2058670">
                    <a:moveTo>
                      <a:pt x="115316" y="395985"/>
                    </a:moveTo>
                    <a:lnTo>
                      <a:pt x="87122" y="402208"/>
                    </a:lnTo>
                    <a:lnTo>
                      <a:pt x="93345" y="430529"/>
                    </a:lnTo>
                    <a:lnTo>
                      <a:pt x="121539" y="424306"/>
                    </a:lnTo>
                    <a:lnTo>
                      <a:pt x="115316" y="395985"/>
                    </a:lnTo>
                    <a:close/>
                  </a:path>
                  <a:path w="507364" h="2058670">
                    <a:moveTo>
                      <a:pt x="127762" y="452500"/>
                    </a:moveTo>
                    <a:lnTo>
                      <a:pt x="99568" y="458723"/>
                    </a:lnTo>
                    <a:lnTo>
                      <a:pt x="105791" y="487044"/>
                    </a:lnTo>
                    <a:lnTo>
                      <a:pt x="133985" y="480821"/>
                    </a:lnTo>
                    <a:lnTo>
                      <a:pt x="127762" y="452500"/>
                    </a:lnTo>
                    <a:close/>
                  </a:path>
                  <a:path w="507364" h="2058670">
                    <a:moveTo>
                      <a:pt x="140208" y="509142"/>
                    </a:moveTo>
                    <a:lnTo>
                      <a:pt x="112014" y="515365"/>
                    </a:lnTo>
                    <a:lnTo>
                      <a:pt x="118237" y="543559"/>
                    </a:lnTo>
                    <a:lnTo>
                      <a:pt x="146431" y="537336"/>
                    </a:lnTo>
                    <a:lnTo>
                      <a:pt x="140208" y="509142"/>
                    </a:lnTo>
                    <a:close/>
                  </a:path>
                  <a:path w="507364" h="2058670">
                    <a:moveTo>
                      <a:pt x="152654" y="565657"/>
                    </a:moveTo>
                    <a:lnTo>
                      <a:pt x="124460" y="571880"/>
                    </a:lnTo>
                    <a:lnTo>
                      <a:pt x="130683" y="600201"/>
                    </a:lnTo>
                    <a:lnTo>
                      <a:pt x="158877" y="593978"/>
                    </a:lnTo>
                    <a:lnTo>
                      <a:pt x="152654" y="565657"/>
                    </a:lnTo>
                    <a:close/>
                  </a:path>
                  <a:path w="507364" h="2058670">
                    <a:moveTo>
                      <a:pt x="165100" y="622172"/>
                    </a:moveTo>
                    <a:lnTo>
                      <a:pt x="136906" y="628395"/>
                    </a:lnTo>
                    <a:lnTo>
                      <a:pt x="143129" y="656716"/>
                    </a:lnTo>
                    <a:lnTo>
                      <a:pt x="171323" y="650493"/>
                    </a:lnTo>
                    <a:lnTo>
                      <a:pt x="165100" y="622172"/>
                    </a:lnTo>
                    <a:close/>
                  </a:path>
                  <a:path w="507364" h="2058670">
                    <a:moveTo>
                      <a:pt x="177546" y="678814"/>
                    </a:moveTo>
                    <a:lnTo>
                      <a:pt x="149352" y="685038"/>
                    </a:lnTo>
                    <a:lnTo>
                      <a:pt x="155575" y="713231"/>
                    </a:lnTo>
                    <a:lnTo>
                      <a:pt x="183769" y="707008"/>
                    </a:lnTo>
                    <a:lnTo>
                      <a:pt x="177546" y="678814"/>
                    </a:lnTo>
                    <a:close/>
                  </a:path>
                  <a:path w="507364" h="2058670">
                    <a:moveTo>
                      <a:pt x="189992" y="735329"/>
                    </a:moveTo>
                    <a:lnTo>
                      <a:pt x="161798" y="741552"/>
                    </a:lnTo>
                    <a:lnTo>
                      <a:pt x="168021" y="769873"/>
                    </a:lnTo>
                    <a:lnTo>
                      <a:pt x="196215" y="763651"/>
                    </a:lnTo>
                    <a:lnTo>
                      <a:pt x="189992" y="735329"/>
                    </a:lnTo>
                    <a:close/>
                  </a:path>
                  <a:path w="507364" h="2058670">
                    <a:moveTo>
                      <a:pt x="202438" y="791844"/>
                    </a:moveTo>
                    <a:lnTo>
                      <a:pt x="174244" y="798067"/>
                    </a:lnTo>
                    <a:lnTo>
                      <a:pt x="180467" y="826388"/>
                    </a:lnTo>
                    <a:lnTo>
                      <a:pt x="208661" y="820165"/>
                    </a:lnTo>
                    <a:lnTo>
                      <a:pt x="202438" y="791844"/>
                    </a:lnTo>
                    <a:close/>
                  </a:path>
                  <a:path w="507364" h="2058670">
                    <a:moveTo>
                      <a:pt x="214884" y="848486"/>
                    </a:moveTo>
                    <a:lnTo>
                      <a:pt x="186690" y="854709"/>
                    </a:lnTo>
                    <a:lnTo>
                      <a:pt x="192913" y="882903"/>
                    </a:lnTo>
                    <a:lnTo>
                      <a:pt x="221107" y="876680"/>
                    </a:lnTo>
                    <a:lnTo>
                      <a:pt x="214884" y="848486"/>
                    </a:lnTo>
                    <a:close/>
                  </a:path>
                  <a:path w="507364" h="2058670">
                    <a:moveTo>
                      <a:pt x="227330" y="905001"/>
                    </a:moveTo>
                    <a:lnTo>
                      <a:pt x="199136" y="911225"/>
                    </a:lnTo>
                    <a:lnTo>
                      <a:pt x="205359" y="939545"/>
                    </a:lnTo>
                    <a:lnTo>
                      <a:pt x="233553" y="933322"/>
                    </a:lnTo>
                    <a:lnTo>
                      <a:pt x="227330" y="905001"/>
                    </a:lnTo>
                    <a:close/>
                  </a:path>
                  <a:path w="507364" h="2058670">
                    <a:moveTo>
                      <a:pt x="239776" y="961516"/>
                    </a:moveTo>
                    <a:lnTo>
                      <a:pt x="211582" y="967739"/>
                    </a:lnTo>
                    <a:lnTo>
                      <a:pt x="217805" y="996060"/>
                    </a:lnTo>
                    <a:lnTo>
                      <a:pt x="245999" y="989838"/>
                    </a:lnTo>
                    <a:lnTo>
                      <a:pt x="239776" y="961516"/>
                    </a:lnTo>
                    <a:close/>
                  </a:path>
                  <a:path w="507364" h="2058670">
                    <a:moveTo>
                      <a:pt x="252222" y="1018158"/>
                    </a:moveTo>
                    <a:lnTo>
                      <a:pt x="224028" y="1024381"/>
                    </a:lnTo>
                    <a:lnTo>
                      <a:pt x="230251" y="1052576"/>
                    </a:lnTo>
                    <a:lnTo>
                      <a:pt x="258445" y="1046352"/>
                    </a:lnTo>
                    <a:lnTo>
                      <a:pt x="252222" y="1018158"/>
                    </a:lnTo>
                    <a:close/>
                  </a:path>
                  <a:path w="507364" h="2058670">
                    <a:moveTo>
                      <a:pt x="264668" y="1074673"/>
                    </a:moveTo>
                    <a:lnTo>
                      <a:pt x="236474" y="1080896"/>
                    </a:lnTo>
                    <a:lnTo>
                      <a:pt x="242697" y="1109217"/>
                    </a:lnTo>
                    <a:lnTo>
                      <a:pt x="270891" y="1102994"/>
                    </a:lnTo>
                    <a:lnTo>
                      <a:pt x="264668" y="1074673"/>
                    </a:lnTo>
                    <a:close/>
                  </a:path>
                  <a:path w="507364" h="2058670">
                    <a:moveTo>
                      <a:pt x="277114" y="1131188"/>
                    </a:moveTo>
                    <a:lnTo>
                      <a:pt x="248920" y="1137411"/>
                    </a:lnTo>
                    <a:lnTo>
                      <a:pt x="255143" y="1165732"/>
                    </a:lnTo>
                    <a:lnTo>
                      <a:pt x="283337" y="1159509"/>
                    </a:lnTo>
                    <a:lnTo>
                      <a:pt x="277114" y="1131188"/>
                    </a:lnTo>
                    <a:close/>
                  </a:path>
                  <a:path w="507364" h="2058670">
                    <a:moveTo>
                      <a:pt x="289560" y="1187830"/>
                    </a:moveTo>
                    <a:lnTo>
                      <a:pt x="261366" y="1194053"/>
                    </a:lnTo>
                    <a:lnTo>
                      <a:pt x="267589" y="1222247"/>
                    </a:lnTo>
                    <a:lnTo>
                      <a:pt x="295783" y="1216024"/>
                    </a:lnTo>
                    <a:lnTo>
                      <a:pt x="289560" y="1187830"/>
                    </a:lnTo>
                    <a:close/>
                  </a:path>
                  <a:path w="507364" h="2058670">
                    <a:moveTo>
                      <a:pt x="302006" y="1244345"/>
                    </a:moveTo>
                    <a:lnTo>
                      <a:pt x="273812" y="1250568"/>
                    </a:lnTo>
                    <a:lnTo>
                      <a:pt x="280035" y="1278889"/>
                    </a:lnTo>
                    <a:lnTo>
                      <a:pt x="308229" y="1272666"/>
                    </a:lnTo>
                    <a:lnTo>
                      <a:pt x="302006" y="1244345"/>
                    </a:lnTo>
                    <a:close/>
                  </a:path>
                  <a:path w="507364" h="2058670">
                    <a:moveTo>
                      <a:pt x="314452" y="1300860"/>
                    </a:moveTo>
                    <a:lnTo>
                      <a:pt x="286258" y="1307083"/>
                    </a:lnTo>
                    <a:lnTo>
                      <a:pt x="292481" y="1335404"/>
                    </a:lnTo>
                    <a:lnTo>
                      <a:pt x="320675" y="1329181"/>
                    </a:lnTo>
                    <a:lnTo>
                      <a:pt x="314452" y="1300860"/>
                    </a:lnTo>
                    <a:close/>
                  </a:path>
                  <a:path w="507364" h="2058670">
                    <a:moveTo>
                      <a:pt x="326898" y="1357502"/>
                    </a:moveTo>
                    <a:lnTo>
                      <a:pt x="298704" y="1363725"/>
                    </a:lnTo>
                    <a:lnTo>
                      <a:pt x="304927" y="1391919"/>
                    </a:lnTo>
                    <a:lnTo>
                      <a:pt x="333121" y="1385696"/>
                    </a:lnTo>
                    <a:lnTo>
                      <a:pt x="326898" y="1357502"/>
                    </a:lnTo>
                    <a:close/>
                  </a:path>
                  <a:path w="507364" h="2058670">
                    <a:moveTo>
                      <a:pt x="339344" y="1414017"/>
                    </a:moveTo>
                    <a:lnTo>
                      <a:pt x="311150" y="1420240"/>
                    </a:lnTo>
                    <a:lnTo>
                      <a:pt x="317373" y="1448561"/>
                    </a:lnTo>
                    <a:lnTo>
                      <a:pt x="345567" y="1442338"/>
                    </a:lnTo>
                    <a:lnTo>
                      <a:pt x="339344" y="1414017"/>
                    </a:lnTo>
                    <a:close/>
                  </a:path>
                  <a:path w="507364" h="2058670">
                    <a:moveTo>
                      <a:pt x="351790" y="1470532"/>
                    </a:moveTo>
                    <a:lnTo>
                      <a:pt x="323596" y="1476755"/>
                    </a:lnTo>
                    <a:lnTo>
                      <a:pt x="329819" y="1505076"/>
                    </a:lnTo>
                    <a:lnTo>
                      <a:pt x="358013" y="1498853"/>
                    </a:lnTo>
                    <a:lnTo>
                      <a:pt x="351790" y="1470532"/>
                    </a:lnTo>
                    <a:close/>
                  </a:path>
                  <a:path w="507364" h="2058670">
                    <a:moveTo>
                      <a:pt x="364363" y="1527174"/>
                    </a:moveTo>
                    <a:lnTo>
                      <a:pt x="336042" y="1533397"/>
                    </a:lnTo>
                    <a:lnTo>
                      <a:pt x="342265" y="1561591"/>
                    </a:lnTo>
                    <a:lnTo>
                      <a:pt x="370586" y="1555368"/>
                    </a:lnTo>
                    <a:lnTo>
                      <a:pt x="364363" y="1527174"/>
                    </a:lnTo>
                    <a:close/>
                  </a:path>
                  <a:path w="507364" h="2058670">
                    <a:moveTo>
                      <a:pt x="376809" y="1583689"/>
                    </a:moveTo>
                    <a:lnTo>
                      <a:pt x="348488" y="1589912"/>
                    </a:lnTo>
                    <a:lnTo>
                      <a:pt x="354711" y="1618233"/>
                    </a:lnTo>
                    <a:lnTo>
                      <a:pt x="383032" y="1612010"/>
                    </a:lnTo>
                    <a:lnTo>
                      <a:pt x="376809" y="1583689"/>
                    </a:lnTo>
                    <a:close/>
                  </a:path>
                  <a:path w="507364" h="2058670">
                    <a:moveTo>
                      <a:pt x="389255" y="1640204"/>
                    </a:moveTo>
                    <a:lnTo>
                      <a:pt x="360934" y="1646427"/>
                    </a:lnTo>
                    <a:lnTo>
                      <a:pt x="367157" y="1674748"/>
                    </a:lnTo>
                    <a:lnTo>
                      <a:pt x="395478" y="1668525"/>
                    </a:lnTo>
                    <a:lnTo>
                      <a:pt x="389255" y="1640204"/>
                    </a:lnTo>
                    <a:close/>
                  </a:path>
                  <a:path w="507364" h="2058670">
                    <a:moveTo>
                      <a:pt x="401701" y="1696846"/>
                    </a:moveTo>
                    <a:lnTo>
                      <a:pt x="373380" y="1703069"/>
                    </a:lnTo>
                    <a:lnTo>
                      <a:pt x="379603" y="1731263"/>
                    </a:lnTo>
                    <a:lnTo>
                      <a:pt x="407924" y="1725040"/>
                    </a:lnTo>
                    <a:lnTo>
                      <a:pt x="401701" y="1696846"/>
                    </a:lnTo>
                    <a:close/>
                  </a:path>
                  <a:path w="507364" h="2058670">
                    <a:moveTo>
                      <a:pt x="414147" y="1753361"/>
                    </a:moveTo>
                    <a:lnTo>
                      <a:pt x="385826" y="1759584"/>
                    </a:lnTo>
                    <a:lnTo>
                      <a:pt x="392049" y="1787905"/>
                    </a:lnTo>
                    <a:lnTo>
                      <a:pt x="420370" y="1781682"/>
                    </a:lnTo>
                    <a:lnTo>
                      <a:pt x="414147" y="1753361"/>
                    </a:lnTo>
                    <a:close/>
                  </a:path>
                  <a:path w="507364" h="2058670">
                    <a:moveTo>
                      <a:pt x="426593" y="1809876"/>
                    </a:moveTo>
                    <a:lnTo>
                      <a:pt x="398272" y="1816099"/>
                    </a:lnTo>
                    <a:lnTo>
                      <a:pt x="404495" y="1844420"/>
                    </a:lnTo>
                    <a:lnTo>
                      <a:pt x="432816" y="1838197"/>
                    </a:lnTo>
                    <a:lnTo>
                      <a:pt x="426593" y="1809876"/>
                    </a:lnTo>
                    <a:close/>
                  </a:path>
                  <a:path w="507364" h="2058670">
                    <a:moveTo>
                      <a:pt x="439039" y="1866518"/>
                    </a:moveTo>
                    <a:lnTo>
                      <a:pt x="410718" y="1872741"/>
                    </a:lnTo>
                    <a:lnTo>
                      <a:pt x="416941" y="1900935"/>
                    </a:lnTo>
                    <a:lnTo>
                      <a:pt x="445262" y="1894712"/>
                    </a:lnTo>
                    <a:lnTo>
                      <a:pt x="439039" y="1866518"/>
                    </a:lnTo>
                    <a:close/>
                  </a:path>
                  <a:path w="507364" h="2058670">
                    <a:moveTo>
                      <a:pt x="388112" y="1940559"/>
                    </a:moveTo>
                    <a:lnTo>
                      <a:pt x="382270" y="1945893"/>
                    </a:lnTo>
                    <a:lnTo>
                      <a:pt x="376428" y="1951354"/>
                    </a:lnTo>
                    <a:lnTo>
                      <a:pt x="376047" y="1960498"/>
                    </a:lnTo>
                    <a:lnTo>
                      <a:pt x="381508" y="1966340"/>
                    </a:lnTo>
                    <a:lnTo>
                      <a:pt x="466471" y="2058542"/>
                    </a:lnTo>
                    <a:lnTo>
                      <a:pt x="476927" y="2026030"/>
                    </a:lnTo>
                    <a:lnTo>
                      <a:pt x="446532" y="2026030"/>
                    </a:lnTo>
                    <a:lnTo>
                      <a:pt x="450368" y="2014092"/>
                    </a:lnTo>
                    <a:lnTo>
                      <a:pt x="441833" y="2014092"/>
                    </a:lnTo>
                    <a:lnTo>
                      <a:pt x="435610" y="1985898"/>
                    </a:lnTo>
                    <a:lnTo>
                      <a:pt x="438269" y="1985314"/>
                    </a:lnTo>
                    <a:lnTo>
                      <a:pt x="402717" y="1946782"/>
                    </a:lnTo>
                    <a:lnTo>
                      <a:pt x="397383" y="1940940"/>
                    </a:lnTo>
                    <a:lnTo>
                      <a:pt x="388112" y="1940559"/>
                    </a:lnTo>
                    <a:close/>
                  </a:path>
                  <a:path w="507364" h="2058670">
                    <a:moveTo>
                      <a:pt x="460947" y="2009892"/>
                    </a:moveTo>
                    <a:lnTo>
                      <a:pt x="451017" y="2012074"/>
                    </a:lnTo>
                    <a:lnTo>
                      <a:pt x="446532" y="2026030"/>
                    </a:lnTo>
                    <a:lnTo>
                      <a:pt x="470916" y="2020696"/>
                    </a:lnTo>
                    <a:lnTo>
                      <a:pt x="460947" y="2009892"/>
                    </a:lnTo>
                    <a:close/>
                  </a:path>
                  <a:path w="507364" h="2058670">
                    <a:moveTo>
                      <a:pt x="491836" y="1979675"/>
                    </a:moveTo>
                    <a:lnTo>
                      <a:pt x="463931" y="1979675"/>
                    </a:lnTo>
                    <a:lnTo>
                      <a:pt x="470154" y="2007869"/>
                    </a:lnTo>
                    <a:lnTo>
                      <a:pt x="460947" y="2009892"/>
                    </a:lnTo>
                    <a:lnTo>
                      <a:pt x="470916" y="2020696"/>
                    </a:lnTo>
                    <a:lnTo>
                      <a:pt x="446532" y="2026030"/>
                    </a:lnTo>
                    <a:lnTo>
                      <a:pt x="476927" y="2026030"/>
                    </a:lnTo>
                    <a:lnTo>
                      <a:pt x="491836" y="1979675"/>
                    </a:lnTo>
                    <a:close/>
                  </a:path>
                  <a:path w="507364" h="2058670">
                    <a:moveTo>
                      <a:pt x="438269" y="1985314"/>
                    </a:moveTo>
                    <a:lnTo>
                      <a:pt x="435610" y="1985898"/>
                    </a:lnTo>
                    <a:lnTo>
                      <a:pt x="441833" y="2014092"/>
                    </a:lnTo>
                    <a:lnTo>
                      <a:pt x="451017" y="2012074"/>
                    </a:lnTo>
                    <a:lnTo>
                      <a:pt x="454102" y="2002474"/>
                    </a:lnTo>
                    <a:lnTo>
                      <a:pt x="438269" y="1985314"/>
                    </a:lnTo>
                    <a:close/>
                  </a:path>
                  <a:path w="507364" h="2058670">
                    <a:moveTo>
                      <a:pt x="451017" y="2012074"/>
                    </a:moveTo>
                    <a:lnTo>
                      <a:pt x="441833" y="2014092"/>
                    </a:lnTo>
                    <a:lnTo>
                      <a:pt x="450368" y="2014092"/>
                    </a:lnTo>
                    <a:lnTo>
                      <a:pt x="451017" y="2012074"/>
                    </a:lnTo>
                    <a:close/>
                  </a:path>
                  <a:path w="507364" h="2058670">
                    <a:moveTo>
                      <a:pt x="454102" y="2002474"/>
                    </a:moveTo>
                    <a:lnTo>
                      <a:pt x="451017" y="2012074"/>
                    </a:lnTo>
                    <a:lnTo>
                      <a:pt x="460947" y="2009892"/>
                    </a:lnTo>
                    <a:lnTo>
                      <a:pt x="454102" y="2002474"/>
                    </a:lnTo>
                    <a:close/>
                  </a:path>
                  <a:path w="507364" h="2058670">
                    <a:moveTo>
                      <a:pt x="463931" y="1979675"/>
                    </a:moveTo>
                    <a:lnTo>
                      <a:pt x="461239" y="1980267"/>
                    </a:lnTo>
                    <a:lnTo>
                      <a:pt x="454102" y="2002474"/>
                    </a:lnTo>
                    <a:lnTo>
                      <a:pt x="460947" y="2009892"/>
                    </a:lnTo>
                    <a:lnTo>
                      <a:pt x="470154" y="2007869"/>
                    </a:lnTo>
                    <a:lnTo>
                      <a:pt x="463931" y="1979675"/>
                    </a:lnTo>
                    <a:close/>
                  </a:path>
                  <a:path w="507364" h="2058670">
                    <a:moveTo>
                      <a:pt x="461239" y="1980267"/>
                    </a:moveTo>
                    <a:lnTo>
                      <a:pt x="438269" y="1985314"/>
                    </a:lnTo>
                    <a:lnTo>
                      <a:pt x="454102" y="2002474"/>
                    </a:lnTo>
                    <a:lnTo>
                      <a:pt x="461239" y="1980267"/>
                    </a:lnTo>
                    <a:close/>
                  </a:path>
                  <a:path w="507364" h="2058670">
                    <a:moveTo>
                      <a:pt x="487934" y="1918588"/>
                    </a:moveTo>
                    <a:lnTo>
                      <a:pt x="479679" y="1922779"/>
                    </a:lnTo>
                    <a:lnTo>
                      <a:pt x="477266" y="1930399"/>
                    </a:lnTo>
                    <a:lnTo>
                      <a:pt x="461239" y="1980267"/>
                    </a:lnTo>
                    <a:lnTo>
                      <a:pt x="463931" y="1979675"/>
                    </a:lnTo>
                    <a:lnTo>
                      <a:pt x="491836" y="1979675"/>
                    </a:lnTo>
                    <a:lnTo>
                      <a:pt x="504825" y="1939289"/>
                    </a:lnTo>
                    <a:lnTo>
                      <a:pt x="507365" y="1931669"/>
                    </a:lnTo>
                    <a:lnTo>
                      <a:pt x="503174" y="1923414"/>
                    </a:lnTo>
                    <a:lnTo>
                      <a:pt x="487934" y="1918588"/>
                    </a:lnTo>
                    <a:close/>
                  </a:path>
                  <a:path w="507364" h="2058670">
                    <a:moveTo>
                      <a:pt x="451485" y="1923033"/>
                    </a:moveTo>
                    <a:lnTo>
                      <a:pt x="423164" y="1929256"/>
                    </a:lnTo>
                    <a:lnTo>
                      <a:pt x="429387" y="1957577"/>
                    </a:lnTo>
                    <a:lnTo>
                      <a:pt x="457708" y="1951354"/>
                    </a:lnTo>
                    <a:lnTo>
                      <a:pt x="451485" y="1923033"/>
                    </a:lnTo>
                    <a:close/>
                  </a:path>
                </a:pathLst>
              </a:custGeom>
              <a:solidFill>
                <a:srgbClr val="FF89D7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+mn-cs"/>
                </a:endParaRPr>
              </a:p>
            </p:txBody>
          </p:sp>
          <p:sp>
            <p:nvSpPr>
              <p:cNvPr id="31" name="object 31"/>
              <p:cNvSpPr/>
              <p:nvPr/>
            </p:nvSpPr>
            <p:spPr>
              <a:xfrm>
                <a:off x="4020184" y="2536698"/>
                <a:ext cx="111760" cy="664210"/>
              </a:xfrm>
              <a:custGeom>
                <a:avLst/>
                <a:gdLst/>
                <a:ahLst/>
                <a:cxnLst/>
                <a:rect l="l" t="t" r="r" b="b"/>
                <a:pathLst>
                  <a:path w="111760" h="664210">
                    <a:moveTo>
                      <a:pt x="55752" y="39224"/>
                    </a:moveTo>
                    <a:lnTo>
                      <a:pt x="45847" y="56206"/>
                    </a:lnTo>
                    <a:lnTo>
                      <a:pt x="45847" y="663828"/>
                    </a:lnTo>
                    <a:lnTo>
                      <a:pt x="65659" y="663828"/>
                    </a:lnTo>
                    <a:lnTo>
                      <a:pt x="65659" y="56206"/>
                    </a:lnTo>
                    <a:lnTo>
                      <a:pt x="55752" y="39224"/>
                    </a:lnTo>
                    <a:close/>
                  </a:path>
                  <a:path w="111760" h="664210">
                    <a:moveTo>
                      <a:pt x="55752" y="0"/>
                    </a:moveTo>
                    <a:lnTo>
                      <a:pt x="2793" y="90804"/>
                    </a:lnTo>
                    <a:lnTo>
                      <a:pt x="0" y="95503"/>
                    </a:lnTo>
                    <a:lnTo>
                      <a:pt x="1524" y="101600"/>
                    </a:lnTo>
                    <a:lnTo>
                      <a:pt x="6350" y="104393"/>
                    </a:lnTo>
                    <a:lnTo>
                      <a:pt x="11049" y="107187"/>
                    </a:lnTo>
                    <a:lnTo>
                      <a:pt x="17144" y="105537"/>
                    </a:lnTo>
                    <a:lnTo>
                      <a:pt x="19812" y="100837"/>
                    </a:lnTo>
                    <a:lnTo>
                      <a:pt x="45846" y="56206"/>
                    </a:lnTo>
                    <a:lnTo>
                      <a:pt x="45847" y="19557"/>
                    </a:lnTo>
                    <a:lnTo>
                      <a:pt x="67159" y="19557"/>
                    </a:lnTo>
                    <a:lnTo>
                      <a:pt x="55752" y="0"/>
                    </a:lnTo>
                    <a:close/>
                  </a:path>
                  <a:path w="111760" h="664210">
                    <a:moveTo>
                      <a:pt x="67159" y="19557"/>
                    </a:moveTo>
                    <a:lnTo>
                      <a:pt x="65659" y="19557"/>
                    </a:lnTo>
                    <a:lnTo>
                      <a:pt x="65659" y="56206"/>
                    </a:lnTo>
                    <a:lnTo>
                      <a:pt x="91693" y="100837"/>
                    </a:lnTo>
                    <a:lnTo>
                      <a:pt x="94361" y="105537"/>
                    </a:lnTo>
                    <a:lnTo>
                      <a:pt x="100456" y="107187"/>
                    </a:lnTo>
                    <a:lnTo>
                      <a:pt x="105155" y="104393"/>
                    </a:lnTo>
                    <a:lnTo>
                      <a:pt x="109981" y="101600"/>
                    </a:lnTo>
                    <a:lnTo>
                      <a:pt x="111505" y="95503"/>
                    </a:lnTo>
                    <a:lnTo>
                      <a:pt x="108712" y="90804"/>
                    </a:lnTo>
                    <a:lnTo>
                      <a:pt x="67159" y="19557"/>
                    </a:lnTo>
                    <a:close/>
                  </a:path>
                  <a:path w="111760" h="664210">
                    <a:moveTo>
                      <a:pt x="65659" y="19557"/>
                    </a:moveTo>
                    <a:lnTo>
                      <a:pt x="45847" y="19557"/>
                    </a:lnTo>
                    <a:lnTo>
                      <a:pt x="45847" y="56206"/>
                    </a:lnTo>
                    <a:lnTo>
                      <a:pt x="55752" y="39224"/>
                    </a:lnTo>
                    <a:lnTo>
                      <a:pt x="47243" y="24637"/>
                    </a:lnTo>
                    <a:lnTo>
                      <a:pt x="65659" y="24637"/>
                    </a:lnTo>
                    <a:lnTo>
                      <a:pt x="65659" y="19557"/>
                    </a:lnTo>
                    <a:close/>
                  </a:path>
                  <a:path w="111760" h="664210">
                    <a:moveTo>
                      <a:pt x="65659" y="24637"/>
                    </a:moveTo>
                    <a:lnTo>
                      <a:pt x="64262" y="24637"/>
                    </a:lnTo>
                    <a:lnTo>
                      <a:pt x="55752" y="39224"/>
                    </a:lnTo>
                    <a:lnTo>
                      <a:pt x="65659" y="56206"/>
                    </a:lnTo>
                    <a:lnTo>
                      <a:pt x="65659" y="24637"/>
                    </a:lnTo>
                    <a:close/>
                  </a:path>
                  <a:path w="111760" h="664210">
                    <a:moveTo>
                      <a:pt x="64262" y="24637"/>
                    </a:moveTo>
                    <a:lnTo>
                      <a:pt x="47243" y="24637"/>
                    </a:lnTo>
                    <a:lnTo>
                      <a:pt x="55752" y="39224"/>
                    </a:lnTo>
                    <a:lnTo>
                      <a:pt x="64262" y="24637"/>
                    </a:lnTo>
                    <a:close/>
                  </a:path>
                </a:pathLst>
              </a:custGeom>
              <a:solidFill>
                <a:srgbClr val="7E7E7E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+mn-cs"/>
                </a:endParaRPr>
              </a:p>
            </p:txBody>
          </p:sp>
        </p:grpSp>
        <p:sp>
          <p:nvSpPr>
            <p:cNvPr id="32" name="object 32"/>
            <p:cNvSpPr txBox="1"/>
            <p:nvPr/>
          </p:nvSpPr>
          <p:spPr>
            <a:xfrm>
              <a:off x="5368671" y="2620427"/>
              <a:ext cx="182038" cy="556895"/>
            </a:xfrm>
            <a:prstGeom prst="rect">
              <a:avLst/>
            </a:prstGeom>
          </p:spPr>
          <p:txBody>
            <a:bodyPr vert="vert270" wrap="square" lIns="0" tIns="0" rIns="0" bIns="0" rtlCol="0">
              <a:spAutoFit/>
            </a:bodyPr>
            <a:lstStyle/>
            <a:p>
              <a:pPr marL="12700" marR="0" lvl="0" indent="0" algn="l" defTabSz="914400" rtl="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7E7E7E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a</a:t>
              </a:r>
              <a:r>
                <a:rPr kumimoji="0" sz="1400" b="0" i="0" u="none" strike="noStrike" kern="1200" cap="none" spc="-25" normalizeH="0" baseline="0" noProof="0" dirty="0">
                  <a:ln>
                    <a:noFill/>
                  </a:ln>
                  <a:solidFill>
                    <a:srgbClr val="7E7E7E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r</a:t>
              </a:r>
              <a:r>
                <a:rPr kumimoji="0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7E7E7E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g</a:t>
              </a:r>
              <a:r>
                <a:rPr kumimoji="0" sz="1400" b="0" i="0" u="none" strike="noStrike" kern="1200" cap="none" spc="-10" normalizeH="0" baseline="0" noProof="0" dirty="0">
                  <a:ln>
                    <a:noFill/>
                  </a:ln>
                  <a:solidFill>
                    <a:srgbClr val="7E7E7E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m</a:t>
              </a:r>
              <a:r>
                <a:rPr kumimoji="0" sz="1400" b="0" i="0" u="none" strike="noStrike" kern="1200" cap="none" spc="-15" normalizeH="0" baseline="0" noProof="0" dirty="0">
                  <a:ln>
                    <a:noFill/>
                  </a:ln>
                  <a:solidFill>
                    <a:srgbClr val="7E7E7E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a</a:t>
              </a:r>
              <a:r>
                <a:rPr kumimoji="0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7E7E7E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x</a:t>
              </a:r>
              <a:endParaRPr kumimoji="0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32912668-63DD-507B-7B2C-729F6F6B4B05}"/>
                </a:ext>
              </a:extLst>
            </p:cNvPr>
            <p:cNvGrpSpPr/>
            <p:nvPr/>
          </p:nvGrpSpPr>
          <p:grpSpPr>
            <a:xfrm>
              <a:off x="1907541" y="1849951"/>
              <a:ext cx="8273415" cy="3026935"/>
              <a:chOff x="1907541" y="1849951"/>
              <a:chExt cx="8273415" cy="3026935"/>
            </a:xfrm>
          </p:grpSpPr>
          <p:sp>
            <p:nvSpPr>
              <p:cNvPr id="3" name="object 3"/>
              <p:cNvSpPr txBox="1"/>
              <p:nvPr/>
            </p:nvSpPr>
            <p:spPr>
              <a:xfrm>
                <a:off x="1916248" y="1849951"/>
                <a:ext cx="6545689" cy="605294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3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2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endParaRPr>
              </a:p>
              <a:p>
                <a:pPr marL="2361565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2965450" algn="l"/>
                    <a:tab pos="3561715" algn="l"/>
                    <a:tab pos="4085590" algn="l"/>
                    <a:tab pos="4864100" algn="l"/>
                    <a:tab pos="5428615" algn="l"/>
                    <a:tab pos="5813425" algn="l"/>
                  </a:tabLst>
                  <a:defRPr/>
                </a:pPr>
                <a:r>
                  <a:rPr kumimoji="0" sz="1600" b="0" i="1" u="none" strike="noStrike" kern="1200" cap="none" spc="-5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Calibri"/>
                  </a:rPr>
                  <a:t>he	</a:t>
                </a:r>
                <a:r>
                  <a:rPr kumimoji="0" sz="2400" b="0" i="1" u="none" strike="noStrike" kern="1200" cap="none" spc="-7" normalizeH="0" baseline="1736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Calibri"/>
                  </a:rPr>
                  <a:t>hit	me	</a:t>
                </a:r>
                <a:r>
                  <a:rPr kumimoji="0" sz="2400" b="0" i="1" u="none" strike="noStrike" kern="1200" cap="none" spc="-7" normalizeH="0" baseline="3472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Calibri"/>
                  </a:rPr>
                  <a:t>with	a	pie	</a:t>
                </a:r>
                <a:r>
                  <a:rPr kumimoji="0" sz="2400" b="0" i="1" u="none" strike="noStrike" kern="1200" cap="none" spc="-15" normalizeH="0" baseline="3472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Calibri"/>
                  </a:rPr>
                  <a:t>&lt;END&gt;</a:t>
                </a:r>
                <a:endParaRPr kumimoji="0" sz="2400" b="0" i="0" u="none" strike="noStrike" kern="1200" cap="none" spc="0" normalizeH="0" baseline="3472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endParaRPr>
              </a:p>
            </p:txBody>
          </p:sp>
          <p:sp>
            <p:nvSpPr>
              <p:cNvPr id="4" name="object 4"/>
              <p:cNvSpPr txBox="1"/>
              <p:nvPr/>
            </p:nvSpPr>
            <p:spPr>
              <a:xfrm>
                <a:off x="1907541" y="4618482"/>
                <a:ext cx="8273415" cy="258404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62865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95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920750" algn="l"/>
                    <a:tab pos="1526540" algn="l"/>
                    <a:tab pos="2054225" algn="l"/>
                    <a:tab pos="2679700" algn="l"/>
                    <a:tab pos="3414395" algn="l"/>
                    <a:tab pos="3932554" algn="l"/>
                  </a:tabLst>
                  <a:defRPr/>
                </a:pPr>
                <a:r>
                  <a:rPr kumimoji="0" sz="1600" b="0" i="1" u="none" strike="noStrike" kern="1200" cap="none" spc="-3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Calibri"/>
                  </a:rPr>
                  <a:t>&lt;START&gt;	</a:t>
                </a:r>
                <a:r>
                  <a:rPr kumimoji="0" sz="2400" b="0" i="1" u="none" strike="noStrike" kern="1200" cap="none" spc="-7" normalizeH="0" baseline="5208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Calibri"/>
                  </a:rPr>
                  <a:t>he	</a:t>
                </a:r>
                <a:r>
                  <a:rPr kumimoji="0" sz="2400" b="0" i="1" u="none" strike="noStrike" kern="1200" cap="none" spc="-7" normalizeH="0" baseline="3472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Calibri"/>
                  </a:rPr>
                  <a:t>hit	me	with	a	</a:t>
                </a:r>
                <a:r>
                  <a:rPr kumimoji="0" sz="2400" b="0" i="1" u="none" strike="noStrike" kern="1200" cap="none" spc="-15" normalizeH="0" baseline="3472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Calibri"/>
                  </a:rPr>
                  <a:t>pie</a:t>
                </a:r>
                <a:endParaRPr kumimoji="0" sz="2400" b="0" i="0" u="none" strike="noStrike" kern="1200" cap="none" spc="0" normalizeH="0" baseline="3472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endParaRPr>
              </a:p>
            </p:txBody>
          </p:sp>
          <p:grpSp>
            <p:nvGrpSpPr>
              <p:cNvPr id="5" name="object 5"/>
              <p:cNvGrpSpPr/>
              <p:nvPr/>
            </p:nvGrpSpPr>
            <p:grpSpPr>
              <a:xfrm>
                <a:off x="4224273" y="2533650"/>
                <a:ext cx="1512570" cy="2062480"/>
                <a:chOff x="2700273" y="2533650"/>
                <a:chExt cx="1512570" cy="2062480"/>
              </a:xfrm>
            </p:grpSpPr>
            <p:pic>
              <p:nvPicPr>
                <p:cNvPr id="6" name="object 6"/>
                <p:cNvPicPr/>
                <p:nvPr/>
              </p:nvPicPr>
              <p:blipFill>
                <a:blip r:embed="rId2" cstate="print"/>
                <a:stretch>
                  <a:fillRect/>
                </a:stretch>
              </p:blipFill>
              <p:spPr>
                <a:xfrm>
                  <a:off x="2784347" y="3262883"/>
                  <a:ext cx="126491" cy="132587"/>
                </a:xfrm>
                <a:prstGeom prst="rect">
                  <a:avLst/>
                </a:prstGeom>
              </p:spPr>
            </p:pic>
            <p:pic>
              <p:nvPicPr>
                <p:cNvPr id="7" name="object 7"/>
                <p:cNvPicPr/>
                <p:nvPr/>
              </p:nvPicPr>
              <p:blipFill>
                <a:blip r:embed="rId3" cstate="print"/>
                <a:stretch>
                  <a:fillRect/>
                </a:stretch>
              </p:blipFill>
              <p:spPr>
                <a:xfrm>
                  <a:off x="2784347" y="3432047"/>
                  <a:ext cx="126491" cy="132587"/>
                </a:xfrm>
                <a:prstGeom prst="rect">
                  <a:avLst/>
                </a:prstGeom>
              </p:spPr>
            </p:pic>
            <p:pic>
              <p:nvPicPr>
                <p:cNvPr id="8" name="object 8"/>
                <p:cNvPicPr/>
                <p:nvPr/>
              </p:nvPicPr>
              <p:blipFill>
                <a:blip r:embed="rId2" cstate="print"/>
                <a:stretch>
                  <a:fillRect/>
                </a:stretch>
              </p:blipFill>
              <p:spPr>
                <a:xfrm>
                  <a:off x="2784347" y="3599688"/>
                  <a:ext cx="126491" cy="132587"/>
                </a:xfrm>
                <a:prstGeom prst="rect">
                  <a:avLst/>
                </a:prstGeom>
              </p:spPr>
            </p:pic>
            <p:pic>
              <p:nvPicPr>
                <p:cNvPr id="9" name="object 9"/>
                <p:cNvPicPr/>
                <p:nvPr/>
              </p:nvPicPr>
              <p:blipFill>
                <a:blip r:embed="rId2" cstate="print"/>
                <a:stretch>
                  <a:fillRect/>
                </a:stretch>
              </p:blipFill>
              <p:spPr>
                <a:xfrm>
                  <a:off x="2784347" y="3768852"/>
                  <a:ext cx="126491" cy="132587"/>
                </a:xfrm>
                <a:prstGeom prst="rect">
                  <a:avLst/>
                </a:prstGeom>
              </p:spPr>
            </p:pic>
            <p:sp>
              <p:nvSpPr>
                <p:cNvPr id="10" name="object 10"/>
                <p:cNvSpPr/>
                <p:nvPr/>
              </p:nvSpPr>
              <p:spPr>
                <a:xfrm>
                  <a:off x="2710433" y="3198113"/>
                  <a:ext cx="266700" cy="7791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700" h="779145">
                      <a:moveTo>
                        <a:pt x="222250" y="0"/>
                      </a:moveTo>
                      <a:lnTo>
                        <a:pt x="239535" y="3498"/>
                      </a:lnTo>
                      <a:lnTo>
                        <a:pt x="253666" y="13033"/>
                      </a:lnTo>
                      <a:lnTo>
                        <a:pt x="263201" y="27164"/>
                      </a:lnTo>
                      <a:lnTo>
                        <a:pt x="266700" y="44450"/>
                      </a:lnTo>
                      <a:lnTo>
                        <a:pt x="266700" y="734313"/>
                      </a:lnTo>
                      <a:lnTo>
                        <a:pt x="263201" y="751599"/>
                      </a:lnTo>
                      <a:lnTo>
                        <a:pt x="253666" y="765730"/>
                      </a:lnTo>
                      <a:lnTo>
                        <a:pt x="239535" y="775265"/>
                      </a:lnTo>
                      <a:lnTo>
                        <a:pt x="222250" y="778763"/>
                      </a:lnTo>
                      <a:lnTo>
                        <a:pt x="44450" y="778763"/>
                      </a:lnTo>
                      <a:lnTo>
                        <a:pt x="27164" y="775265"/>
                      </a:lnTo>
                      <a:lnTo>
                        <a:pt x="13033" y="765730"/>
                      </a:lnTo>
                      <a:lnTo>
                        <a:pt x="3498" y="751599"/>
                      </a:lnTo>
                      <a:lnTo>
                        <a:pt x="0" y="734313"/>
                      </a:lnTo>
                      <a:lnTo>
                        <a:pt x="0" y="44450"/>
                      </a:lnTo>
                      <a:lnTo>
                        <a:pt x="3498" y="27164"/>
                      </a:lnTo>
                      <a:lnTo>
                        <a:pt x="13033" y="13033"/>
                      </a:lnTo>
                      <a:lnTo>
                        <a:pt x="27164" y="3498"/>
                      </a:lnTo>
                      <a:lnTo>
                        <a:pt x="44450" y="0"/>
                      </a:lnTo>
                      <a:lnTo>
                        <a:pt x="222250" y="0"/>
                      </a:lnTo>
                      <a:close/>
                    </a:path>
                  </a:pathLst>
                </a:custGeom>
                <a:ln w="19812">
                  <a:solidFill>
                    <a:srgbClr val="177145"/>
                  </a:solidFill>
                </a:ln>
              </p:spPr>
              <p:txBody>
                <a:bodyPr wrap="square" lIns="0" tIns="0" rIns="0" bIns="0" rtlCol="0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ptos Display"/>
                    <a:ea typeface="+mn-ea"/>
                    <a:cs typeface="+mn-cs"/>
                  </a:endParaRPr>
                </a:p>
              </p:txBody>
            </p:sp>
            <p:sp>
              <p:nvSpPr>
                <p:cNvPr id="11" name="object 11"/>
                <p:cNvSpPr/>
                <p:nvPr/>
              </p:nvSpPr>
              <p:spPr>
                <a:xfrm>
                  <a:off x="2788793" y="3530980"/>
                  <a:ext cx="533400" cy="10560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3400" h="1056004">
                      <a:moveTo>
                        <a:pt x="111506" y="541401"/>
                      </a:moveTo>
                      <a:lnTo>
                        <a:pt x="108712" y="536702"/>
                      </a:lnTo>
                      <a:lnTo>
                        <a:pt x="67157" y="465455"/>
                      </a:lnTo>
                      <a:lnTo>
                        <a:pt x="55753" y="445897"/>
                      </a:lnTo>
                      <a:lnTo>
                        <a:pt x="2794" y="536702"/>
                      </a:lnTo>
                      <a:lnTo>
                        <a:pt x="0" y="541401"/>
                      </a:lnTo>
                      <a:lnTo>
                        <a:pt x="1524" y="547497"/>
                      </a:lnTo>
                      <a:lnTo>
                        <a:pt x="6350" y="550291"/>
                      </a:lnTo>
                      <a:lnTo>
                        <a:pt x="11049" y="553085"/>
                      </a:lnTo>
                      <a:lnTo>
                        <a:pt x="17145" y="551434"/>
                      </a:lnTo>
                      <a:lnTo>
                        <a:pt x="19812" y="546735"/>
                      </a:lnTo>
                      <a:lnTo>
                        <a:pt x="45847" y="502107"/>
                      </a:lnTo>
                      <a:lnTo>
                        <a:pt x="45847" y="1055497"/>
                      </a:lnTo>
                      <a:lnTo>
                        <a:pt x="65659" y="1055497"/>
                      </a:lnTo>
                      <a:lnTo>
                        <a:pt x="65659" y="502107"/>
                      </a:lnTo>
                      <a:lnTo>
                        <a:pt x="91694" y="546735"/>
                      </a:lnTo>
                      <a:lnTo>
                        <a:pt x="94361" y="551434"/>
                      </a:lnTo>
                      <a:lnTo>
                        <a:pt x="100457" y="553085"/>
                      </a:lnTo>
                      <a:lnTo>
                        <a:pt x="105156" y="550291"/>
                      </a:lnTo>
                      <a:lnTo>
                        <a:pt x="109982" y="547497"/>
                      </a:lnTo>
                      <a:lnTo>
                        <a:pt x="111506" y="541401"/>
                      </a:lnTo>
                      <a:close/>
                    </a:path>
                    <a:path w="533400" h="1056004">
                      <a:moveTo>
                        <a:pt x="533019" y="55765"/>
                      </a:moveTo>
                      <a:lnTo>
                        <a:pt x="516026" y="45847"/>
                      </a:lnTo>
                      <a:lnTo>
                        <a:pt x="442214" y="2794"/>
                      </a:lnTo>
                      <a:lnTo>
                        <a:pt x="437515" y="0"/>
                      </a:lnTo>
                      <a:lnTo>
                        <a:pt x="431419" y="1524"/>
                      </a:lnTo>
                      <a:lnTo>
                        <a:pt x="428625" y="6350"/>
                      </a:lnTo>
                      <a:lnTo>
                        <a:pt x="425958" y="11049"/>
                      </a:lnTo>
                      <a:lnTo>
                        <a:pt x="427482" y="17145"/>
                      </a:lnTo>
                      <a:lnTo>
                        <a:pt x="432181" y="19812"/>
                      </a:lnTo>
                      <a:lnTo>
                        <a:pt x="476783" y="45847"/>
                      </a:lnTo>
                      <a:lnTo>
                        <a:pt x="188341" y="45847"/>
                      </a:lnTo>
                      <a:lnTo>
                        <a:pt x="188341" y="65659"/>
                      </a:lnTo>
                      <a:lnTo>
                        <a:pt x="476808" y="65659"/>
                      </a:lnTo>
                      <a:lnTo>
                        <a:pt x="493788" y="55765"/>
                      </a:lnTo>
                      <a:lnTo>
                        <a:pt x="432181" y="91694"/>
                      </a:lnTo>
                      <a:lnTo>
                        <a:pt x="427482" y="94361"/>
                      </a:lnTo>
                      <a:lnTo>
                        <a:pt x="425958" y="100457"/>
                      </a:lnTo>
                      <a:lnTo>
                        <a:pt x="428625" y="105156"/>
                      </a:lnTo>
                      <a:lnTo>
                        <a:pt x="431419" y="109982"/>
                      </a:lnTo>
                      <a:lnTo>
                        <a:pt x="437515" y="111506"/>
                      </a:lnTo>
                      <a:lnTo>
                        <a:pt x="442214" y="108712"/>
                      </a:lnTo>
                      <a:lnTo>
                        <a:pt x="516026" y="65659"/>
                      </a:lnTo>
                      <a:lnTo>
                        <a:pt x="533019" y="55765"/>
                      </a:lnTo>
                      <a:close/>
                    </a:path>
                  </a:pathLst>
                </a:custGeom>
                <a:solidFill>
                  <a:srgbClr val="7E7E7E"/>
                </a:solidFill>
              </p:spPr>
              <p:txBody>
                <a:bodyPr wrap="square" lIns="0" tIns="0" rIns="0" bIns="0" rtlCol="0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ptos Display"/>
                    <a:ea typeface="+mn-ea"/>
                    <a:cs typeface="+mn-cs"/>
                  </a:endParaRPr>
                </a:p>
              </p:txBody>
            </p:sp>
            <p:pic>
              <p:nvPicPr>
                <p:cNvPr id="12" name="object 12"/>
                <p:cNvPicPr/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3395471" y="3272027"/>
                  <a:ext cx="126491" cy="131063"/>
                </a:xfrm>
                <a:prstGeom prst="rect">
                  <a:avLst/>
                </a:prstGeom>
              </p:spPr>
            </p:pic>
            <p:pic>
              <p:nvPicPr>
                <p:cNvPr id="13" name="object 13"/>
                <p:cNvPicPr/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3395471" y="3439667"/>
                  <a:ext cx="126491" cy="132587"/>
                </a:xfrm>
                <a:prstGeom prst="rect">
                  <a:avLst/>
                </a:prstGeom>
              </p:spPr>
            </p:pic>
            <p:pic>
              <p:nvPicPr>
                <p:cNvPr id="14" name="object 14"/>
                <p:cNvPicPr/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3395471" y="3608832"/>
                  <a:ext cx="126491" cy="132587"/>
                </a:xfrm>
                <a:prstGeom prst="rect">
                  <a:avLst/>
                </a:prstGeom>
              </p:spPr>
            </p:pic>
            <p:pic>
              <p:nvPicPr>
                <p:cNvPr id="15" name="object 15"/>
                <p:cNvPicPr/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3395471" y="3777996"/>
                  <a:ext cx="126491" cy="132587"/>
                </a:xfrm>
                <a:prstGeom prst="rect">
                  <a:avLst/>
                </a:prstGeom>
              </p:spPr>
            </p:pic>
            <p:sp>
              <p:nvSpPr>
                <p:cNvPr id="16" name="object 16"/>
                <p:cNvSpPr/>
                <p:nvPr/>
              </p:nvSpPr>
              <p:spPr>
                <a:xfrm>
                  <a:off x="3321557" y="3205733"/>
                  <a:ext cx="265430" cy="7804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5429" h="780414">
                      <a:moveTo>
                        <a:pt x="220979" y="0"/>
                      </a:moveTo>
                      <a:lnTo>
                        <a:pt x="238172" y="3476"/>
                      </a:lnTo>
                      <a:lnTo>
                        <a:pt x="252221" y="12953"/>
                      </a:lnTo>
                      <a:lnTo>
                        <a:pt x="261699" y="27003"/>
                      </a:lnTo>
                      <a:lnTo>
                        <a:pt x="265175" y="44195"/>
                      </a:lnTo>
                      <a:lnTo>
                        <a:pt x="265175" y="736091"/>
                      </a:lnTo>
                      <a:lnTo>
                        <a:pt x="261699" y="753284"/>
                      </a:lnTo>
                      <a:lnTo>
                        <a:pt x="252222" y="767334"/>
                      </a:lnTo>
                      <a:lnTo>
                        <a:pt x="238172" y="776811"/>
                      </a:lnTo>
                      <a:lnTo>
                        <a:pt x="220979" y="780288"/>
                      </a:lnTo>
                      <a:lnTo>
                        <a:pt x="44195" y="780288"/>
                      </a:lnTo>
                      <a:lnTo>
                        <a:pt x="27003" y="776811"/>
                      </a:lnTo>
                      <a:lnTo>
                        <a:pt x="12953" y="767333"/>
                      </a:lnTo>
                      <a:lnTo>
                        <a:pt x="3476" y="753284"/>
                      </a:lnTo>
                      <a:lnTo>
                        <a:pt x="0" y="736091"/>
                      </a:lnTo>
                      <a:lnTo>
                        <a:pt x="0" y="44195"/>
                      </a:lnTo>
                      <a:lnTo>
                        <a:pt x="3476" y="27003"/>
                      </a:lnTo>
                      <a:lnTo>
                        <a:pt x="12953" y="12953"/>
                      </a:lnTo>
                      <a:lnTo>
                        <a:pt x="27003" y="3476"/>
                      </a:lnTo>
                      <a:lnTo>
                        <a:pt x="44195" y="0"/>
                      </a:lnTo>
                      <a:lnTo>
                        <a:pt x="220979" y="0"/>
                      </a:lnTo>
                      <a:close/>
                    </a:path>
                  </a:pathLst>
                </a:custGeom>
                <a:ln w="19811">
                  <a:solidFill>
                    <a:srgbClr val="177145"/>
                  </a:solidFill>
                </a:ln>
              </p:spPr>
              <p:txBody>
                <a:bodyPr wrap="square" lIns="0" tIns="0" rIns="0" bIns="0" rtlCol="0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ptos Display"/>
                    <a:ea typeface="+mn-ea"/>
                    <a:cs typeface="+mn-cs"/>
                  </a:endParaRPr>
                </a:p>
              </p:txBody>
            </p:sp>
            <p:sp>
              <p:nvSpPr>
                <p:cNvPr id="17" name="object 17"/>
                <p:cNvSpPr/>
                <p:nvPr/>
              </p:nvSpPr>
              <p:spPr>
                <a:xfrm>
                  <a:off x="3398393" y="3540124"/>
                  <a:ext cx="533400" cy="10560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3400" h="1056004">
                      <a:moveTo>
                        <a:pt x="111506" y="541401"/>
                      </a:moveTo>
                      <a:lnTo>
                        <a:pt x="108712" y="536702"/>
                      </a:lnTo>
                      <a:lnTo>
                        <a:pt x="67157" y="465455"/>
                      </a:lnTo>
                      <a:lnTo>
                        <a:pt x="55753" y="445897"/>
                      </a:lnTo>
                      <a:lnTo>
                        <a:pt x="2794" y="536702"/>
                      </a:lnTo>
                      <a:lnTo>
                        <a:pt x="0" y="541401"/>
                      </a:lnTo>
                      <a:lnTo>
                        <a:pt x="1524" y="547497"/>
                      </a:lnTo>
                      <a:lnTo>
                        <a:pt x="6350" y="550291"/>
                      </a:lnTo>
                      <a:lnTo>
                        <a:pt x="11049" y="553085"/>
                      </a:lnTo>
                      <a:lnTo>
                        <a:pt x="17145" y="551434"/>
                      </a:lnTo>
                      <a:lnTo>
                        <a:pt x="19812" y="546735"/>
                      </a:lnTo>
                      <a:lnTo>
                        <a:pt x="45847" y="502107"/>
                      </a:lnTo>
                      <a:lnTo>
                        <a:pt x="45847" y="1055497"/>
                      </a:lnTo>
                      <a:lnTo>
                        <a:pt x="65659" y="1055497"/>
                      </a:lnTo>
                      <a:lnTo>
                        <a:pt x="65659" y="502107"/>
                      </a:lnTo>
                      <a:lnTo>
                        <a:pt x="91694" y="546735"/>
                      </a:lnTo>
                      <a:lnTo>
                        <a:pt x="94361" y="551434"/>
                      </a:lnTo>
                      <a:lnTo>
                        <a:pt x="100457" y="553085"/>
                      </a:lnTo>
                      <a:lnTo>
                        <a:pt x="105156" y="550291"/>
                      </a:lnTo>
                      <a:lnTo>
                        <a:pt x="109982" y="547497"/>
                      </a:lnTo>
                      <a:lnTo>
                        <a:pt x="111506" y="541401"/>
                      </a:lnTo>
                      <a:close/>
                    </a:path>
                    <a:path w="533400" h="1056004">
                      <a:moveTo>
                        <a:pt x="533019" y="55753"/>
                      </a:moveTo>
                      <a:lnTo>
                        <a:pt x="516026" y="45847"/>
                      </a:lnTo>
                      <a:lnTo>
                        <a:pt x="442214" y="2806"/>
                      </a:lnTo>
                      <a:lnTo>
                        <a:pt x="437515" y="0"/>
                      </a:lnTo>
                      <a:lnTo>
                        <a:pt x="431419" y="1524"/>
                      </a:lnTo>
                      <a:lnTo>
                        <a:pt x="428625" y="6350"/>
                      </a:lnTo>
                      <a:lnTo>
                        <a:pt x="425958" y="11049"/>
                      </a:lnTo>
                      <a:lnTo>
                        <a:pt x="427482" y="17157"/>
                      </a:lnTo>
                      <a:lnTo>
                        <a:pt x="432181" y="19812"/>
                      </a:lnTo>
                      <a:lnTo>
                        <a:pt x="476796" y="45847"/>
                      </a:lnTo>
                      <a:lnTo>
                        <a:pt x="188341" y="45847"/>
                      </a:lnTo>
                      <a:lnTo>
                        <a:pt x="188341" y="65671"/>
                      </a:lnTo>
                      <a:lnTo>
                        <a:pt x="476783" y="65671"/>
                      </a:lnTo>
                      <a:lnTo>
                        <a:pt x="432181" y="91694"/>
                      </a:lnTo>
                      <a:lnTo>
                        <a:pt x="427482" y="94361"/>
                      </a:lnTo>
                      <a:lnTo>
                        <a:pt x="425958" y="100457"/>
                      </a:lnTo>
                      <a:lnTo>
                        <a:pt x="428625" y="105156"/>
                      </a:lnTo>
                      <a:lnTo>
                        <a:pt x="431419" y="109982"/>
                      </a:lnTo>
                      <a:lnTo>
                        <a:pt x="437515" y="111506"/>
                      </a:lnTo>
                      <a:lnTo>
                        <a:pt x="442214" y="108712"/>
                      </a:lnTo>
                      <a:lnTo>
                        <a:pt x="516026" y="65671"/>
                      </a:lnTo>
                      <a:lnTo>
                        <a:pt x="533019" y="55753"/>
                      </a:lnTo>
                      <a:close/>
                    </a:path>
                  </a:pathLst>
                </a:custGeom>
                <a:solidFill>
                  <a:srgbClr val="7E7E7E"/>
                </a:solidFill>
              </p:spPr>
              <p:txBody>
                <a:bodyPr wrap="square" lIns="0" tIns="0" rIns="0" bIns="0" rtlCol="0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ptos Display"/>
                    <a:ea typeface="+mn-ea"/>
                    <a:cs typeface="+mn-cs"/>
                  </a:endParaRPr>
                </a:p>
              </p:txBody>
            </p:sp>
            <p:pic>
              <p:nvPicPr>
                <p:cNvPr id="18" name="object 18"/>
                <p:cNvPicPr/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4011167" y="3262883"/>
                  <a:ext cx="126491" cy="132587"/>
                </a:xfrm>
                <a:prstGeom prst="rect">
                  <a:avLst/>
                </a:prstGeom>
              </p:spPr>
            </p:pic>
            <p:pic>
              <p:nvPicPr>
                <p:cNvPr id="19" name="object 19"/>
                <p:cNvPicPr/>
                <p:nvPr/>
              </p:nvPicPr>
              <p:blipFill>
                <a:blip r:embed="rId6" cstate="print"/>
                <a:stretch>
                  <a:fillRect/>
                </a:stretch>
              </p:blipFill>
              <p:spPr>
                <a:xfrm>
                  <a:off x="4011167" y="3432047"/>
                  <a:ext cx="126491" cy="132587"/>
                </a:xfrm>
                <a:prstGeom prst="rect">
                  <a:avLst/>
                </a:prstGeom>
              </p:spPr>
            </p:pic>
            <p:pic>
              <p:nvPicPr>
                <p:cNvPr id="20" name="object 20"/>
                <p:cNvPicPr/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4011167" y="3599688"/>
                  <a:ext cx="126491" cy="132587"/>
                </a:xfrm>
                <a:prstGeom prst="rect">
                  <a:avLst/>
                </a:prstGeom>
              </p:spPr>
            </p:pic>
            <p:pic>
              <p:nvPicPr>
                <p:cNvPr id="21" name="object 21"/>
                <p:cNvPicPr/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4011167" y="3768852"/>
                  <a:ext cx="126491" cy="132587"/>
                </a:xfrm>
                <a:prstGeom prst="rect">
                  <a:avLst/>
                </a:prstGeom>
              </p:spPr>
            </p:pic>
            <p:sp>
              <p:nvSpPr>
                <p:cNvPr id="22" name="object 22"/>
                <p:cNvSpPr/>
                <p:nvPr/>
              </p:nvSpPr>
              <p:spPr>
                <a:xfrm>
                  <a:off x="3937253" y="3198113"/>
                  <a:ext cx="265430" cy="7791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5429" h="779145">
                      <a:moveTo>
                        <a:pt x="220980" y="0"/>
                      </a:moveTo>
                      <a:lnTo>
                        <a:pt x="238172" y="3476"/>
                      </a:lnTo>
                      <a:lnTo>
                        <a:pt x="252222" y="12953"/>
                      </a:lnTo>
                      <a:lnTo>
                        <a:pt x="261699" y="27003"/>
                      </a:lnTo>
                      <a:lnTo>
                        <a:pt x="265175" y="44196"/>
                      </a:lnTo>
                      <a:lnTo>
                        <a:pt x="265175" y="734568"/>
                      </a:lnTo>
                      <a:lnTo>
                        <a:pt x="261699" y="751760"/>
                      </a:lnTo>
                      <a:lnTo>
                        <a:pt x="252222" y="765810"/>
                      </a:lnTo>
                      <a:lnTo>
                        <a:pt x="238172" y="775287"/>
                      </a:lnTo>
                      <a:lnTo>
                        <a:pt x="220980" y="778763"/>
                      </a:lnTo>
                      <a:lnTo>
                        <a:pt x="44196" y="778763"/>
                      </a:lnTo>
                      <a:lnTo>
                        <a:pt x="27003" y="775287"/>
                      </a:lnTo>
                      <a:lnTo>
                        <a:pt x="12954" y="765809"/>
                      </a:lnTo>
                      <a:lnTo>
                        <a:pt x="3476" y="751760"/>
                      </a:lnTo>
                      <a:lnTo>
                        <a:pt x="0" y="734568"/>
                      </a:lnTo>
                      <a:lnTo>
                        <a:pt x="0" y="44196"/>
                      </a:lnTo>
                      <a:lnTo>
                        <a:pt x="3476" y="27003"/>
                      </a:lnTo>
                      <a:lnTo>
                        <a:pt x="12953" y="12954"/>
                      </a:lnTo>
                      <a:lnTo>
                        <a:pt x="27003" y="3476"/>
                      </a:lnTo>
                      <a:lnTo>
                        <a:pt x="44196" y="0"/>
                      </a:lnTo>
                      <a:lnTo>
                        <a:pt x="220980" y="0"/>
                      </a:lnTo>
                      <a:close/>
                    </a:path>
                  </a:pathLst>
                </a:custGeom>
                <a:ln w="19812">
                  <a:solidFill>
                    <a:srgbClr val="177145"/>
                  </a:solidFill>
                </a:ln>
              </p:spPr>
              <p:txBody>
                <a:bodyPr wrap="square" lIns="0" tIns="0" rIns="0" bIns="0" rtlCol="0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ptos Display"/>
                    <a:ea typeface="+mn-ea"/>
                    <a:cs typeface="+mn-cs"/>
                  </a:endParaRPr>
                </a:p>
              </p:txBody>
            </p:sp>
            <p:sp>
              <p:nvSpPr>
                <p:cNvPr id="23" name="object 23"/>
                <p:cNvSpPr/>
                <p:nvPr/>
              </p:nvSpPr>
              <p:spPr>
                <a:xfrm>
                  <a:off x="2788793" y="2533649"/>
                  <a:ext cx="1337310" cy="2052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7310" h="2052954">
                      <a:moveTo>
                        <a:pt x="111506" y="95504"/>
                      </a:moveTo>
                      <a:lnTo>
                        <a:pt x="108712" y="90805"/>
                      </a:lnTo>
                      <a:lnTo>
                        <a:pt x="67157" y="19558"/>
                      </a:lnTo>
                      <a:lnTo>
                        <a:pt x="55753" y="0"/>
                      </a:lnTo>
                      <a:lnTo>
                        <a:pt x="2794" y="90805"/>
                      </a:lnTo>
                      <a:lnTo>
                        <a:pt x="0" y="95504"/>
                      </a:lnTo>
                      <a:lnTo>
                        <a:pt x="1524" y="101600"/>
                      </a:lnTo>
                      <a:lnTo>
                        <a:pt x="6350" y="104394"/>
                      </a:lnTo>
                      <a:lnTo>
                        <a:pt x="11049" y="107188"/>
                      </a:lnTo>
                      <a:lnTo>
                        <a:pt x="17145" y="105537"/>
                      </a:lnTo>
                      <a:lnTo>
                        <a:pt x="19812" y="100838"/>
                      </a:lnTo>
                      <a:lnTo>
                        <a:pt x="45847" y="56210"/>
                      </a:lnTo>
                      <a:lnTo>
                        <a:pt x="45847" y="663829"/>
                      </a:lnTo>
                      <a:lnTo>
                        <a:pt x="65659" y="663829"/>
                      </a:lnTo>
                      <a:lnTo>
                        <a:pt x="65659" y="56210"/>
                      </a:lnTo>
                      <a:lnTo>
                        <a:pt x="91694" y="100838"/>
                      </a:lnTo>
                      <a:lnTo>
                        <a:pt x="94361" y="105537"/>
                      </a:lnTo>
                      <a:lnTo>
                        <a:pt x="100457" y="107188"/>
                      </a:lnTo>
                      <a:lnTo>
                        <a:pt x="105156" y="104394"/>
                      </a:lnTo>
                      <a:lnTo>
                        <a:pt x="109982" y="101600"/>
                      </a:lnTo>
                      <a:lnTo>
                        <a:pt x="111506" y="95504"/>
                      </a:lnTo>
                      <a:close/>
                    </a:path>
                    <a:path w="1337310" h="2052954">
                      <a:moveTo>
                        <a:pt x="1336802" y="1538732"/>
                      </a:moveTo>
                      <a:lnTo>
                        <a:pt x="1334008" y="1534033"/>
                      </a:lnTo>
                      <a:lnTo>
                        <a:pt x="1292453" y="1462786"/>
                      </a:lnTo>
                      <a:lnTo>
                        <a:pt x="1281049" y="1443228"/>
                      </a:lnTo>
                      <a:lnTo>
                        <a:pt x="1228090" y="1534033"/>
                      </a:lnTo>
                      <a:lnTo>
                        <a:pt x="1225296" y="1538732"/>
                      </a:lnTo>
                      <a:lnTo>
                        <a:pt x="1226820" y="1544828"/>
                      </a:lnTo>
                      <a:lnTo>
                        <a:pt x="1231646" y="1547622"/>
                      </a:lnTo>
                      <a:lnTo>
                        <a:pt x="1236345" y="1550416"/>
                      </a:lnTo>
                      <a:lnTo>
                        <a:pt x="1242441" y="1548765"/>
                      </a:lnTo>
                      <a:lnTo>
                        <a:pt x="1245108" y="1544066"/>
                      </a:lnTo>
                      <a:lnTo>
                        <a:pt x="1271143" y="1499438"/>
                      </a:lnTo>
                      <a:lnTo>
                        <a:pt x="1271143" y="2052828"/>
                      </a:lnTo>
                      <a:lnTo>
                        <a:pt x="1290955" y="2052828"/>
                      </a:lnTo>
                      <a:lnTo>
                        <a:pt x="1290955" y="1499438"/>
                      </a:lnTo>
                      <a:lnTo>
                        <a:pt x="1316990" y="1544066"/>
                      </a:lnTo>
                      <a:lnTo>
                        <a:pt x="1319657" y="1548765"/>
                      </a:lnTo>
                      <a:lnTo>
                        <a:pt x="1325753" y="1550416"/>
                      </a:lnTo>
                      <a:lnTo>
                        <a:pt x="1330452" y="1547622"/>
                      </a:lnTo>
                      <a:lnTo>
                        <a:pt x="1335278" y="1544828"/>
                      </a:lnTo>
                      <a:lnTo>
                        <a:pt x="1336802" y="1538732"/>
                      </a:lnTo>
                      <a:close/>
                    </a:path>
                  </a:pathLst>
                </a:custGeom>
                <a:solidFill>
                  <a:srgbClr val="7E7E7E"/>
                </a:solidFill>
              </p:spPr>
              <p:txBody>
                <a:bodyPr wrap="square" lIns="0" tIns="0" rIns="0" bIns="0" rtlCol="0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ptos Display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3" name="object 33"/>
              <p:cNvGrpSpPr/>
              <p:nvPr/>
            </p:nvGrpSpPr>
            <p:grpSpPr>
              <a:xfrm>
                <a:off x="5697093" y="2504568"/>
                <a:ext cx="2464435" cy="2091055"/>
                <a:chOff x="4173092" y="2504567"/>
                <a:chExt cx="2464435" cy="2091055"/>
              </a:xfrm>
            </p:grpSpPr>
            <p:pic>
              <p:nvPicPr>
                <p:cNvPr id="34" name="object 34"/>
                <p:cNvPicPr/>
                <p:nvPr/>
              </p:nvPicPr>
              <p:blipFill>
                <a:blip r:embed="rId7" cstate="print"/>
                <a:stretch>
                  <a:fillRect/>
                </a:stretch>
              </p:blipFill>
              <p:spPr>
                <a:xfrm>
                  <a:off x="4202429" y="2533650"/>
                  <a:ext cx="2434590" cy="2061972"/>
                </a:xfrm>
                <a:prstGeom prst="rect">
                  <a:avLst/>
                </a:prstGeom>
              </p:spPr>
            </p:pic>
            <p:sp>
              <p:nvSpPr>
                <p:cNvPr id="35" name="object 35"/>
                <p:cNvSpPr/>
                <p:nvPr/>
              </p:nvSpPr>
              <p:spPr>
                <a:xfrm>
                  <a:off x="4173093" y="2504566"/>
                  <a:ext cx="2307590" cy="20834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590" h="2083435">
                      <a:moveTo>
                        <a:pt x="34417" y="52705"/>
                      </a:moveTo>
                      <a:lnTo>
                        <a:pt x="28194" y="24384"/>
                      </a:lnTo>
                      <a:lnTo>
                        <a:pt x="0" y="30607"/>
                      </a:lnTo>
                      <a:lnTo>
                        <a:pt x="6223" y="58928"/>
                      </a:lnTo>
                      <a:lnTo>
                        <a:pt x="34417" y="52705"/>
                      </a:lnTo>
                      <a:close/>
                    </a:path>
                    <a:path w="2307590" h="2083435">
                      <a:moveTo>
                        <a:pt x="46863" y="109347"/>
                      </a:moveTo>
                      <a:lnTo>
                        <a:pt x="40640" y="81026"/>
                      </a:lnTo>
                      <a:lnTo>
                        <a:pt x="12446" y="87249"/>
                      </a:lnTo>
                      <a:lnTo>
                        <a:pt x="18669" y="115570"/>
                      </a:lnTo>
                      <a:lnTo>
                        <a:pt x="46863" y="109347"/>
                      </a:lnTo>
                      <a:close/>
                    </a:path>
                    <a:path w="2307590" h="2083435">
                      <a:moveTo>
                        <a:pt x="59309" y="165862"/>
                      </a:moveTo>
                      <a:lnTo>
                        <a:pt x="53086" y="137541"/>
                      </a:lnTo>
                      <a:lnTo>
                        <a:pt x="24892" y="143764"/>
                      </a:lnTo>
                      <a:lnTo>
                        <a:pt x="31115" y="172085"/>
                      </a:lnTo>
                      <a:lnTo>
                        <a:pt x="59309" y="165862"/>
                      </a:lnTo>
                      <a:close/>
                    </a:path>
                    <a:path w="2307590" h="2083435">
                      <a:moveTo>
                        <a:pt x="71755" y="222377"/>
                      </a:moveTo>
                      <a:lnTo>
                        <a:pt x="65532" y="194183"/>
                      </a:lnTo>
                      <a:lnTo>
                        <a:pt x="37338" y="200406"/>
                      </a:lnTo>
                      <a:lnTo>
                        <a:pt x="43561" y="228600"/>
                      </a:lnTo>
                      <a:lnTo>
                        <a:pt x="71755" y="222377"/>
                      </a:lnTo>
                      <a:close/>
                    </a:path>
                    <a:path w="2307590" h="2083435">
                      <a:moveTo>
                        <a:pt x="84201" y="279019"/>
                      </a:moveTo>
                      <a:lnTo>
                        <a:pt x="77978" y="250698"/>
                      </a:lnTo>
                      <a:lnTo>
                        <a:pt x="49784" y="256921"/>
                      </a:lnTo>
                      <a:lnTo>
                        <a:pt x="56007" y="285242"/>
                      </a:lnTo>
                      <a:lnTo>
                        <a:pt x="84201" y="279019"/>
                      </a:lnTo>
                      <a:close/>
                    </a:path>
                    <a:path w="2307590" h="2083435">
                      <a:moveTo>
                        <a:pt x="96647" y="335534"/>
                      </a:moveTo>
                      <a:lnTo>
                        <a:pt x="90424" y="307213"/>
                      </a:lnTo>
                      <a:lnTo>
                        <a:pt x="62230" y="313436"/>
                      </a:lnTo>
                      <a:lnTo>
                        <a:pt x="68453" y="341757"/>
                      </a:lnTo>
                      <a:lnTo>
                        <a:pt x="96647" y="335534"/>
                      </a:lnTo>
                      <a:close/>
                    </a:path>
                    <a:path w="2307590" h="2083435">
                      <a:moveTo>
                        <a:pt x="109093" y="392049"/>
                      </a:moveTo>
                      <a:lnTo>
                        <a:pt x="102870" y="363855"/>
                      </a:lnTo>
                      <a:lnTo>
                        <a:pt x="74676" y="370078"/>
                      </a:lnTo>
                      <a:lnTo>
                        <a:pt x="80899" y="398272"/>
                      </a:lnTo>
                      <a:lnTo>
                        <a:pt x="109093" y="392049"/>
                      </a:lnTo>
                      <a:close/>
                    </a:path>
                    <a:path w="2307590" h="2083435">
                      <a:moveTo>
                        <a:pt x="121539" y="448691"/>
                      </a:moveTo>
                      <a:lnTo>
                        <a:pt x="115316" y="420370"/>
                      </a:lnTo>
                      <a:lnTo>
                        <a:pt x="87122" y="426593"/>
                      </a:lnTo>
                      <a:lnTo>
                        <a:pt x="93345" y="454914"/>
                      </a:lnTo>
                      <a:lnTo>
                        <a:pt x="121539" y="448691"/>
                      </a:lnTo>
                      <a:close/>
                    </a:path>
                    <a:path w="2307590" h="2083435">
                      <a:moveTo>
                        <a:pt x="133985" y="505206"/>
                      </a:moveTo>
                      <a:lnTo>
                        <a:pt x="127762" y="476885"/>
                      </a:lnTo>
                      <a:lnTo>
                        <a:pt x="99568" y="483108"/>
                      </a:lnTo>
                      <a:lnTo>
                        <a:pt x="105791" y="511429"/>
                      </a:lnTo>
                      <a:lnTo>
                        <a:pt x="133985" y="505206"/>
                      </a:lnTo>
                      <a:close/>
                    </a:path>
                    <a:path w="2307590" h="2083435">
                      <a:moveTo>
                        <a:pt x="146431" y="561721"/>
                      </a:moveTo>
                      <a:lnTo>
                        <a:pt x="140208" y="533527"/>
                      </a:lnTo>
                      <a:lnTo>
                        <a:pt x="112014" y="539750"/>
                      </a:lnTo>
                      <a:lnTo>
                        <a:pt x="118237" y="567944"/>
                      </a:lnTo>
                      <a:lnTo>
                        <a:pt x="146431" y="561721"/>
                      </a:lnTo>
                      <a:close/>
                    </a:path>
                    <a:path w="2307590" h="2083435">
                      <a:moveTo>
                        <a:pt x="158877" y="618363"/>
                      </a:moveTo>
                      <a:lnTo>
                        <a:pt x="152654" y="590042"/>
                      </a:lnTo>
                      <a:lnTo>
                        <a:pt x="124460" y="596265"/>
                      </a:lnTo>
                      <a:lnTo>
                        <a:pt x="130683" y="624586"/>
                      </a:lnTo>
                      <a:lnTo>
                        <a:pt x="158877" y="618363"/>
                      </a:lnTo>
                      <a:close/>
                    </a:path>
                    <a:path w="2307590" h="2083435">
                      <a:moveTo>
                        <a:pt x="171323" y="674878"/>
                      </a:moveTo>
                      <a:lnTo>
                        <a:pt x="165100" y="646557"/>
                      </a:lnTo>
                      <a:lnTo>
                        <a:pt x="136906" y="652780"/>
                      </a:lnTo>
                      <a:lnTo>
                        <a:pt x="143129" y="681101"/>
                      </a:lnTo>
                      <a:lnTo>
                        <a:pt x="171323" y="674878"/>
                      </a:lnTo>
                      <a:close/>
                    </a:path>
                    <a:path w="2307590" h="2083435">
                      <a:moveTo>
                        <a:pt x="183769" y="731393"/>
                      </a:moveTo>
                      <a:lnTo>
                        <a:pt x="177546" y="703199"/>
                      </a:lnTo>
                      <a:lnTo>
                        <a:pt x="149352" y="709422"/>
                      </a:lnTo>
                      <a:lnTo>
                        <a:pt x="155575" y="737616"/>
                      </a:lnTo>
                      <a:lnTo>
                        <a:pt x="183769" y="731393"/>
                      </a:lnTo>
                      <a:close/>
                    </a:path>
                    <a:path w="2307590" h="2083435">
                      <a:moveTo>
                        <a:pt x="196215" y="788035"/>
                      </a:moveTo>
                      <a:lnTo>
                        <a:pt x="189992" y="759714"/>
                      </a:lnTo>
                      <a:lnTo>
                        <a:pt x="161798" y="765937"/>
                      </a:lnTo>
                      <a:lnTo>
                        <a:pt x="168021" y="794258"/>
                      </a:lnTo>
                      <a:lnTo>
                        <a:pt x="196215" y="788035"/>
                      </a:lnTo>
                      <a:close/>
                    </a:path>
                    <a:path w="2307590" h="2083435">
                      <a:moveTo>
                        <a:pt x="208661" y="844550"/>
                      </a:moveTo>
                      <a:lnTo>
                        <a:pt x="202438" y="816229"/>
                      </a:lnTo>
                      <a:lnTo>
                        <a:pt x="174244" y="822452"/>
                      </a:lnTo>
                      <a:lnTo>
                        <a:pt x="180467" y="850773"/>
                      </a:lnTo>
                      <a:lnTo>
                        <a:pt x="208661" y="844550"/>
                      </a:lnTo>
                      <a:close/>
                    </a:path>
                    <a:path w="2307590" h="2083435">
                      <a:moveTo>
                        <a:pt x="221107" y="901065"/>
                      </a:moveTo>
                      <a:lnTo>
                        <a:pt x="214884" y="872871"/>
                      </a:lnTo>
                      <a:lnTo>
                        <a:pt x="186690" y="879094"/>
                      </a:lnTo>
                      <a:lnTo>
                        <a:pt x="192913" y="907288"/>
                      </a:lnTo>
                      <a:lnTo>
                        <a:pt x="221107" y="901065"/>
                      </a:lnTo>
                      <a:close/>
                    </a:path>
                    <a:path w="2307590" h="2083435">
                      <a:moveTo>
                        <a:pt x="233553" y="957707"/>
                      </a:moveTo>
                      <a:lnTo>
                        <a:pt x="227330" y="929386"/>
                      </a:lnTo>
                      <a:lnTo>
                        <a:pt x="199136" y="935609"/>
                      </a:lnTo>
                      <a:lnTo>
                        <a:pt x="205359" y="963930"/>
                      </a:lnTo>
                      <a:lnTo>
                        <a:pt x="233553" y="957707"/>
                      </a:lnTo>
                      <a:close/>
                    </a:path>
                    <a:path w="2307590" h="2083435">
                      <a:moveTo>
                        <a:pt x="245999" y="1014222"/>
                      </a:moveTo>
                      <a:lnTo>
                        <a:pt x="239776" y="985901"/>
                      </a:lnTo>
                      <a:lnTo>
                        <a:pt x="211582" y="992124"/>
                      </a:lnTo>
                      <a:lnTo>
                        <a:pt x="217805" y="1020445"/>
                      </a:lnTo>
                      <a:lnTo>
                        <a:pt x="245999" y="1014222"/>
                      </a:lnTo>
                      <a:close/>
                    </a:path>
                    <a:path w="2307590" h="2083435">
                      <a:moveTo>
                        <a:pt x="258445" y="1070737"/>
                      </a:moveTo>
                      <a:lnTo>
                        <a:pt x="252222" y="1042543"/>
                      </a:lnTo>
                      <a:lnTo>
                        <a:pt x="224028" y="1048778"/>
                      </a:lnTo>
                      <a:lnTo>
                        <a:pt x="230251" y="1076960"/>
                      </a:lnTo>
                      <a:lnTo>
                        <a:pt x="258445" y="1070737"/>
                      </a:lnTo>
                      <a:close/>
                    </a:path>
                    <a:path w="2307590" h="2083435">
                      <a:moveTo>
                        <a:pt x="270891" y="1127379"/>
                      </a:moveTo>
                      <a:lnTo>
                        <a:pt x="264668" y="1099058"/>
                      </a:lnTo>
                      <a:lnTo>
                        <a:pt x="236474" y="1105281"/>
                      </a:lnTo>
                      <a:lnTo>
                        <a:pt x="242697" y="1133602"/>
                      </a:lnTo>
                      <a:lnTo>
                        <a:pt x="270891" y="1127379"/>
                      </a:lnTo>
                      <a:close/>
                    </a:path>
                    <a:path w="2307590" h="2083435">
                      <a:moveTo>
                        <a:pt x="283337" y="1183894"/>
                      </a:moveTo>
                      <a:lnTo>
                        <a:pt x="277114" y="1155573"/>
                      </a:lnTo>
                      <a:lnTo>
                        <a:pt x="248920" y="1161796"/>
                      </a:lnTo>
                      <a:lnTo>
                        <a:pt x="255143" y="1190117"/>
                      </a:lnTo>
                      <a:lnTo>
                        <a:pt x="283337" y="1183894"/>
                      </a:lnTo>
                      <a:close/>
                    </a:path>
                    <a:path w="2307590" h="2083435">
                      <a:moveTo>
                        <a:pt x="295783" y="1240409"/>
                      </a:moveTo>
                      <a:lnTo>
                        <a:pt x="289560" y="1212215"/>
                      </a:lnTo>
                      <a:lnTo>
                        <a:pt x="261366" y="1218438"/>
                      </a:lnTo>
                      <a:lnTo>
                        <a:pt x="267589" y="1246632"/>
                      </a:lnTo>
                      <a:lnTo>
                        <a:pt x="295783" y="1240409"/>
                      </a:lnTo>
                      <a:close/>
                    </a:path>
                    <a:path w="2307590" h="2083435">
                      <a:moveTo>
                        <a:pt x="308229" y="1297051"/>
                      </a:moveTo>
                      <a:lnTo>
                        <a:pt x="302006" y="1268730"/>
                      </a:lnTo>
                      <a:lnTo>
                        <a:pt x="273812" y="1274953"/>
                      </a:lnTo>
                      <a:lnTo>
                        <a:pt x="280035" y="1303274"/>
                      </a:lnTo>
                      <a:lnTo>
                        <a:pt x="308229" y="1297051"/>
                      </a:lnTo>
                      <a:close/>
                    </a:path>
                    <a:path w="2307590" h="2083435">
                      <a:moveTo>
                        <a:pt x="320675" y="1353566"/>
                      </a:moveTo>
                      <a:lnTo>
                        <a:pt x="314452" y="1325245"/>
                      </a:lnTo>
                      <a:lnTo>
                        <a:pt x="286258" y="1331468"/>
                      </a:lnTo>
                      <a:lnTo>
                        <a:pt x="292481" y="1359789"/>
                      </a:lnTo>
                      <a:lnTo>
                        <a:pt x="320675" y="1353566"/>
                      </a:lnTo>
                      <a:close/>
                    </a:path>
                    <a:path w="2307590" h="2083435">
                      <a:moveTo>
                        <a:pt x="333121" y="1410081"/>
                      </a:moveTo>
                      <a:lnTo>
                        <a:pt x="326898" y="1381887"/>
                      </a:lnTo>
                      <a:lnTo>
                        <a:pt x="298704" y="1388110"/>
                      </a:lnTo>
                      <a:lnTo>
                        <a:pt x="304927" y="1416304"/>
                      </a:lnTo>
                      <a:lnTo>
                        <a:pt x="333121" y="1410081"/>
                      </a:lnTo>
                      <a:close/>
                    </a:path>
                    <a:path w="2307590" h="2083435">
                      <a:moveTo>
                        <a:pt x="345567" y="1466723"/>
                      </a:moveTo>
                      <a:lnTo>
                        <a:pt x="339344" y="1438402"/>
                      </a:lnTo>
                      <a:lnTo>
                        <a:pt x="311150" y="1444625"/>
                      </a:lnTo>
                      <a:lnTo>
                        <a:pt x="317373" y="1472946"/>
                      </a:lnTo>
                      <a:lnTo>
                        <a:pt x="345567" y="1466723"/>
                      </a:lnTo>
                      <a:close/>
                    </a:path>
                    <a:path w="2307590" h="2083435">
                      <a:moveTo>
                        <a:pt x="358013" y="1523238"/>
                      </a:moveTo>
                      <a:lnTo>
                        <a:pt x="351790" y="1494917"/>
                      </a:lnTo>
                      <a:lnTo>
                        <a:pt x="323596" y="1501140"/>
                      </a:lnTo>
                      <a:lnTo>
                        <a:pt x="329819" y="1529461"/>
                      </a:lnTo>
                      <a:lnTo>
                        <a:pt x="358013" y="1523238"/>
                      </a:lnTo>
                      <a:close/>
                    </a:path>
                    <a:path w="2307590" h="2083435">
                      <a:moveTo>
                        <a:pt x="370459" y="1579753"/>
                      </a:moveTo>
                      <a:lnTo>
                        <a:pt x="364236" y="1551559"/>
                      </a:lnTo>
                      <a:lnTo>
                        <a:pt x="336042" y="1557782"/>
                      </a:lnTo>
                      <a:lnTo>
                        <a:pt x="342265" y="1585976"/>
                      </a:lnTo>
                      <a:lnTo>
                        <a:pt x="370459" y="1579753"/>
                      </a:lnTo>
                      <a:close/>
                    </a:path>
                    <a:path w="2307590" h="2083435">
                      <a:moveTo>
                        <a:pt x="383032" y="1636395"/>
                      </a:moveTo>
                      <a:lnTo>
                        <a:pt x="376682" y="1608074"/>
                      </a:lnTo>
                      <a:lnTo>
                        <a:pt x="348488" y="1614297"/>
                      </a:lnTo>
                      <a:lnTo>
                        <a:pt x="354711" y="1642618"/>
                      </a:lnTo>
                      <a:lnTo>
                        <a:pt x="383032" y="1636395"/>
                      </a:lnTo>
                      <a:close/>
                    </a:path>
                    <a:path w="2307590" h="2083435">
                      <a:moveTo>
                        <a:pt x="395478" y="1692910"/>
                      </a:moveTo>
                      <a:lnTo>
                        <a:pt x="389255" y="1664589"/>
                      </a:lnTo>
                      <a:lnTo>
                        <a:pt x="360934" y="1670812"/>
                      </a:lnTo>
                      <a:lnTo>
                        <a:pt x="367157" y="1699133"/>
                      </a:lnTo>
                      <a:lnTo>
                        <a:pt x="395478" y="1692910"/>
                      </a:lnTo>
                      <a:close/>
                    </a:path>
                    <a:path w="2307590" h="2083435">
                      <a:moveTo>
                        <a:pt x="407924" y="1749425"/>
                      </a:moveTo>
                      <a:lnTo>
                        <a:pt x="401701" y="1721231"/>
                      </a:lnTo>
                      <a:lnTo>
                        <a:pt x="373380" y="1727454"/>
                      </a:lnTo>
                      <a:lnTo>
                        <a:pt x="379603" y="1755648"/>
                      </a:lnTo>
                      <a:lnTo>
                        <a:pt x="407924" y="1749425"/>
                      </a:lnTo>
                      <a:close/>
                    </a:path>
                    <a:path w="2307590" h="2083435">
                      <a:moveTo>
                        <a:pt x="420370" y="1806067"/>
                      </a:moveTo>
                      <a:lnTo>
                        <a:pt x="414147" y="1777746"/>
                      </a:lnTo>
                      <a:lnTo>
                        <a:pt x="385826" y="1783969"/>
                      </a:lnTo>
                      <a:lnTo>
                        <a:pt x="392049" y="1812290"/>
                      </a:lnTo>
                      <a:lnTo>
                        <a:pt x="420370" y="1806067"/>
                      </a:lnTo>
                      <a:close/>
                    </a:path>
                    <a:path w="2307590" h="2083435">
                      <a:moveTo>
                        <a:pt x="432816" y="1862582"/>
                      </a:moveTo>
                      <a:lnTo>
                        <a:pt x="426593" y="1834261"/>
                      </a:lnTo>
                      <a:lnTo>
                        <a:pt x="398272" y="1840484"/>
                      </a:lnTo>
                      <a:lnTo>
                        <a:pt x="404495" y="1868805"/>
                      </a:lnTo>
                      <a:lnTo>
                        <a:pt x="432816" y="1862582"/>
                      </a:lnTo>
                      <a:close/>
                    </a:path>
                    <a:path w="2307590" h="2083435">
                      <a:moveTo>
                        <a:pt x="445262" y="1919097"/>
                      </a:moveTo>
                      <a:lnTo>
                        <a:pt x="439039" y="1890903"/>
                      </a:lnTo>
                      <a:lnTo>
                        <a:pt x="410718" y="1897126"/>
                      </a:lnTo>
                      <a:lnTo>
                        <a:pt x="416941" y="1925320"/>
                      </a:lnTo>
                      <a:lnTo>
                        <a:pt x="445262" y="1919097"/>
                      </a:lnTo>
                      <a:close/>
                    </a:path>
                    <a:path w="2307590" h="2083435">
                      <a:moveTo>
                        <a:pt x="457708" y="1975739"/>
                      </a:moveTo>
                      <a:lnTo>
                        <a:pt x="451485" y="1947418"/>
                      </a:lnTo>
                      <a:lnTo>
                        <a:pt x="423164" y="1953641"/>
                      </a:lnTo>
                      <a:lnTo>
                        <a:pt x="429387" y="1981962"/>
                      </a:lnTo>
                      <a:lnTo>
                        <a:pt x="457708" y="1975739"/>
                      </a:lnTo>
                      <a:close/>
                    </a:path>
                    <a:path w="2307590" h="2083435">
                      <a:moveTo>
                        <a:pt x="507365" y="1956054"/>
                      </a:moveTo>
                      <a:lnTo>
                        <a:pt x="503174" y="1947799"/>
                      </a:lnTo>
                      <a:lnTo>
                        <a:pt x="487934" y="1942973"/>
                      </a:lnTo>
                      <a:lnTo>
                        <a:pt x="479679" y="1947164"/>
                      </a:lnTo>
                      <a:lnTo>
                        <a:pt x="477266" y="1954784"/>
                      </a:lnTo>
                      <a:lnTo>
                        <a:pt x="461238" y="2004656"/>
                      </a:lnTo>
                      <a:lnTo>
                        <a:pt x="438264" y="2009698"/>
                      </a:lnTo>
                      <a:lnTo>
                        <a:pt x="402717" y="1971167"/>
                      </a:lnTo>
                      <a:lnTo>
                        <a:pt x="397383" y="1965325"/>
                      </a:lnTo>
                      <a:lnTo>
                        <a:pt x="388112" y="1964944"/>
                      </a:lnTo>
                      <a:lnTo>
                        <a:pt x="382270" y="1970278"/>
                      </a:lnTo>
                      <a:lnTo>
                        <a:pt x="376428" y="1975739"/>
                      </a:lnTo>
                      <a:lnTo>
                        <a:pt x="376047" y="1984883"/>
                      </a:lnTo>
                      <a:lnTo>
                        <a:pt x="381508" y="1990725"/>
                      </a:lnTo>
                      <a:lnTo>
                        <a:pt x="466471" y="2082927"/>
                      </a:lnTo>
                      <a:lnTo>
                        <a:pt x="476923" y="2050415"/>
                      </a:lnTo>
                      <a:lnTo>
                        <a:pt x="491832" y="2004060"/>
                      </a:lnTo>
                      <a:lnTo>
                        <a:pt x="504825" y="1963674"/>
                      </a:lnTo>
                      <a:lnTo>
                        <a:pt x="507365" y="1956054"/>
                      </a:lnTo>
                      <a:close/>
                    </a:path>
                    <a:path w="2307590" h="2083435">
                      <a:moveTo>
                        <a:pt x="630301" y="52705"/>
                      </a:moveTo>
                      <a:lnTo>
                        <a:pt x="624078" y="24384"/>
                      </a:lnTo>
                      <a:lnTo>
                        <a:pt x="595884" y="30607"/>
                      </a:lnTo>
                      <a:lnTo>
                        <a:pt x="602107" y="58928"/>
                      </a:lnTo>
                      <a:lnTo>
                        <a:pt x="630301" y="52705"/>
                      </a:lnTo>
                      <a:close/>
                    </a:path>
                    <a:path w="2307590" h="2083435">
                      <a:moveTo>
                        <a:pt x="642747" y="109347"/>
                      </a:moveTo>
                      <a:lnTo>
                        <a:pt x="636524" y="81026"/>
                      </a:lnTo>
                      <a:lnTo>
                        <a:pt x="608330" y="87249"/>
                      </a:lnTo>
                      <a:lnTo>
                        <a:pt x="614553" y="115570"/>
                      </a:lnTo>
                      <a:lnTo>
                        <a:pt x="642747" y="109347"/>
                      </a:lnTo>
                      <a:close/>
                    </a:path>
                    <a:path w="2307590" h="2083435">
                      <a:moveTo>
                        <a:pt x="655193" y="165862"/>
                      </a:moveTo>
                      <a:lnTo>
                        <a:pt x="648970" y="137541"/>
                      </a:lnTo>
                      <a:lnTo>
                        <a:pt x="620776" y="143764"/>
                      </a:lnTo>
                      <a:lnTo>
                        <a:pt x="626999" y="172085"/>
                      </a:lnTo>
                      <a:lnTo>
                        <a:pt x="655193" y="165862"/>
                      </a:lnTo>
                      <a:close/>
                    </a:path>
                    <a:path w="2307590" h="2083435">
                      <a:moveTo>
                        <a:pt x="667639" y="222377"/>
                      </a:moveTo>
                      <a:lnTo>
                        <a:pt x="661416" y="194183"/>
                      </a:lnTo>
                      <a:lnTo>
                        <a:pt x="633222" y="200406"/>
                      </a:lnTo>
                      <a:lnTo>
                        <a:pt x="639445" y="228600"/>
                      </a:lnTo>
                      <a:lnTo>
                        <a:pt x="667639" y="222377"/>
                      </a:lnTo>
                      <a:close/>
                    </a:path>
                    <a:path w="2307590" h="2083435">
                      <a:moveTo>
                        <a:pt x="680085" y="279019"/>
                      </a:moveTo>
                      <a:lnTo>
                        <a:pt x="673862" y="250698"/>
                      </a:lnTo>
                      <a:lnTo>
                        <a:pt x="645668" y="256921"/>
                      </a:lnTo>
                      <a:lnTo>
                        <a:pt x="651891" y="285242"/>
                      </a:lnTo>
                      <a:lnTo>
                        <a:pt x="680085" y="279019"/>
                      </a:lnTo>
                      <a:close/>
                    </a:path>
                    <a:path w="2307590" h="2083435">
                      <a:moveTo>
                        <a:pt x="692531" y="335534"/>
                      </a:moveTo>
                      <a:lnTo>
                        <a:pt x="686308" y="307213"/>
                      </a:lnTo>
                      <a:lnTo>
                        <a:pt x="658114" y="313436"/>
                      </a:lnTo>
                      <a:lnTo>
                        <a:pt x="664337" y="341757"/>
                      </a:lnTo>
                      <a:lnTo>
                        <a:pt x="692531" y="335534"/>
                      </a:lnTo>
                      <a:close/>
                    </a:path>
                    <a:path w="2307590" h="2083435">
                      <a:moveTo>
                        <a:pt x="704977" y="392049"/>
                      </a:moveTo>
                      <a:lnTo>
                        <a:pt x="698754" y="363855"/>
                      </a:lnTo>
                      <a:lnTo>
                        <a:pt x="670560" y="370078"/>
                      </a:lnTo>
                      <a:lnTo>
                        <a:pt x="676783" y="398272"/>
                      </a:lnTo>
                      <a:lnTo>
                        <a:pt x="704977" y="392049"/>
                      </a:lnTo>
                      <a:close/>
                    </a:path>
                    <a:path w="2307590" h="2083435">
                      <a:moveTo>
                        <a:pt x="717423" y="448691"/>
                      </a:moveTo>
                      <a:lnTo>
                        <a:pt x="711200" y="420370"/>
                      </a:lnTo>
                      <a:lnTo>
                        <a:pt x="683006" y="426593"/>
                      </a:lnTo>
                      <a:lnTo>
                        <a:pt x="689229" y="454914"/>
                      </a:lnTo>
                      <a:lnTo>
                        <a:pt x="717423" y="448691"/>
                      </a:lnTo>
                      <a:close/>
                    </a:path>
                    <a:path w="2307590" h="2083435">
                      <a:moveTo>
                        <a:pt x="729869" y="505206"/>
                      </a:moveTo>
                      <a:lnTo>
                        <a:pt x="723646" y="476885"/>
                      </a:lnTo>
                      <a:lnTo>
                        <a:pt x="695452" y="483108"/>
                      </a:lnTo>
                      <a:lnTo>
                        <a:pt x="701675" y="511429"/>
                      </a:lnTo>
                      <a:lnTo>
                        <a:pt x="729869" y="505206"/>
                      </a:lnTo>
                      <a:close/>
                    </a:path>
                    <a:path w="2307590" h="2083435">
                      <a:moveTo>
                        <a:pt x="742315" y="561721"/>
                      </a:moveTo>
                      <a:lnTo>
                        <a:pt x="736092" y="533527"/>
                      </a:lnTo>
                      <a:lnTo>
                        <a:pt x="707898" y="539750"/>
                      </a:lnTo>
                      <a:lnTo>
                        <a:pt x="714121" y="567944"/>
                      </a:lnTo>
                      <a:lnTo>
                        <a:pt x="742315" y="561721"/>
                      </a:lnTo>
                      <a:close/>
                    </a:path>
                    <a:path w="2307590" h="2083435">
                      <a:moveTo>
                        <a:pt x="754761" y="618363"/>
                      </a:moveTo>
                      <a:lnTo>
                        <a:pt x="748538" y="590042"/>
                      </a:lnTo>
                      <a:lnTo>
                        <a:pt x="720344" y="596265"/>
                      </a:lnTo>
                      <a:lnTo>
                        <a:pt x="726567" y="624586"/>
                      </a:lnTo>
                      <a:lnTo>
                        <a:pt x="754761" y="618363"/>
                      </a:lnTo>
                      <a:close/>
                    </a:path>
                    <a:path w="2307590" h="2083435">
                      <a:moveTo>
                        <a:pt x="767207" y="674878"/>
                      </a:moveTo>
                      <a:lnTo>
                        <a:pt x="760984" y="646557"/>
                      </a:lnTo>
                      <a:lnTo>
                        <a:pt x="732790" y="652780"/>
                      </a:lnTo>
                      <a:lnTo>
                        <a:pt x="739013" y="681101"/>
                      </a:lnTo>
                      <a:lnTo>
                        <a:pt x="767207" y="674878"/>
                      </a:lnTo>
                      <a:close/>
                    </a:path>
                    <a:path w="2307590" h="2083435">
                      <a:moveTo>
                        <a:pt x="779653" y="731393"/>
                      </a:moveTo>
                      <a:lnTo>
                        <a:pt x="773430" y="703199"/>
                      </a:lnTo>
                      <a:lnTo>
                        <a:pt x="745236" y="709422"/>
                      </a:lnTo>
                      <a:lnTo>
                        <a:pt x="751459" y="737616"/>
                      </a:lnTo>
                      <a:lnTo>
                        <a:pt x="779653" y="731393"/>
                      </a:lnTo>
                      <a:close/>
                    </a:path>
                    <a:path w="2307590" h="2083435">
                      <a:moveTo>
                        <a:pt x="792099" y="788035"/>
                      </a:moveTo>
                      <a:lnTo>
                        <a:pt x="785876" y="759714"/>
                      </a:lnTo>
                      <a:lnTo>
                        <a:pt x="757682" y="765937"/>
                      </a:lnTo>
                      <a:lnTo>
                        <a:pt x="763905" y="794258"/>
                      </a:lnTo>
                      <a:lnTo>
                        <a:pt x="792099" y="788035"/>
                      </a:lnTo>
                      <a:close/>
                    </a:path>
                    <a:path w="2307590" h="2083435">
                      <a:moveTo>
                        <a:pt x="804545" y="844550"/>
                      </a:moveTo>
                      <a:lnTo>
                        <a:pt x="798322" y="816229"/>
                      </a:lnTo>
                      <a:lnTo>
                        <a:pt x="770128" y="822452"/>
                      </a:lnTo>
                      <a:lnTo>
                        <a:pt x="776351" y="850773"/>
                      </a:lnTo>
                      <a:lnTo>
                        <a:pt x="804545" y="844550"/>
                      </a:lnTo>
                      <a:close/>
                    </a:path>
                    <a:path w="2307590" h="2083435">
                      <a:moveTo>
                        <a:pt x="816991" y="901065"/>
                      </a:moveTo>
                      <a:lnTo>
                        <a:pt x="810768" y="872871"/>
                      </a:lnTo>
                      <a:lnTo>
                        <a:pt x="782574" y="879094"/>
                      </a:lnTo>
                      <a:lnTo>
                        <a:pt x="788797" y="907288"/>
                      </a:lnTo>
                      <a:lnTo>
                        <a:pt x="816991" y="901065"/>
                      </a:lnTo>
                      <a:close/>
                    </a:path>
                    <a:path w="2307590" h="2083435">
                      <a:moveTo>
                        <a:pt x="829437" y="957707"/>
                      </a:moveTo>
                      <a:lnTo>
                        <a:pt x="823214" y="929386"/>
                      </a:lnTo>
                      <a:lnTo>
                        <a:pt x="795020" y="935609"/>
                      </a:lnTo>
                      <a:lnTo>
                        <a:pt x="801243" y="963930"/>
                      </a:lnTo>
                      <a:lnTo>
                        <a:pt x="829437" y="957707"/>
                      </a:lnTo>
                      <a:close/>
                    </a:path>
                    <a:path w="2307590" h="2083435">
                      <a:moveTo>
                        <a:pt x="841883" y="1014222"/>
                      </a:moveTo>
                      <a:lnTo>
                        <a:pt x="835660" y="985901"/>
                      </a:lnTo>
                      <a:lnTo>
                        <a:pt x="807466" y="992124"/>
                      </a:lnTo>
                      <a:lnTo>
                        <a:pt x="813689" y="1020445"/>
                      </a:lnTo>
                      <a:lnTo>
                        <a:pt x="841883" y="1014222"/>
                      </a:lnTo>
                      <a:close/>
                    </a:path>
                    <a:path w="2307590" h="2083435">
                      <a:moveTo>
                        <a:pt x="854329" y="1070737"/>
                      </a:moveTo>
                      <a:lnTo>
                        <a:pt x="848106" y="1042543"/>
                      </a:lnTo>
                      <a:lnTo>
                        <a:pt x="819912" y="1048778"/>
                      </a:lnTo>
                      <a:lnTo>
                        <a:pt x="826135" y="1076960"/>
                      </a:lnTo>
                      <a:lnTo>
                        <a:pt x="854329" y="1070737"/>
                      </a:lnTo>
                      <a:close/>
                    </a:path>
                    <a:path w="2307590" h="2083435">
                      <a:moveTo>
                        <a:pt x="866775" y="1127379"/>
                      </a:moveTo>
                      <a:lnTo>
                        <a:pt x="860552" y="1099058"/>
                      </a:lnTo>
                      <a:lnTo>
                        <a:pt x="832358" y="1105281"/>
                      </a:lnTo>
                      <a:lnTo>
                        <a:pt x="838581" y="1133602"/>
                      </a:lnTo>
                      <a:lnTo>
                        <a:pt x="866775" y="1127379"/>
                      </a:lnTo>
                      <a:close/>
                    </a:path>
                    <a:path w="2307590" h="2083435">
                      <a:moveTo>
                        <a:pt x="879221" y="1183894"/>
                      </a:moveTo>
                      <a:lnTo>
                        <a:pt x="872998" y="1155573"/>
                      </a:lnTo>
                      <a:lnTo>
                        <a:pt x="844804" y="1161796"/>
                      </a:lnTo>
                      <a:lnTo>
                        <a:pt x="851027" y="1190117"/>
                      </a:lnTo>
                      <a:lnTo>
                        <a:pt x="879221" y="1183894"/>
                      </a:lnTo>
                      <a:close/>
                    </a:path>
                    <a:path w="2307590" h="2083435">
                      <a:moveTo>
                        <a:pt x="891667" y="1240409"/>
                      </a:moveTo>
                      <a:lnTo>
                        <a:pt x="885444" y="1212215"/>
                      </a:lnTo>
                      <a:lnTo>
                        <a:pt x="857250" y="1218438"/>
                      </a:lnTo>
                      <a:lnTo>
                        <a:pt x="863473" y="1246632"/>
                      </a:lnTo>
                      <a:lnTo>
                        <a:pt x="891667" y="1240409"/>
                      </a:lnTo>
                      <a:close/>
                    </a:path>
                    <a:path w="2307590" h="2083435">
                      <a:moveTo>
                        <a:pt x="904113" y="1297051"/>
                      </a:moveTo>
                      <a:lnTo>
                        <a:pt x="897890" y="1268730"/>
                      </a:lnTo>
                      <a:lnTo>
                        <a:pt x="869696" y="1274953"/>
                      </a:lnTo>
                      <a:lnTo>
                        <a:pt x="875919" y="1303274"/>
                      </a:lnTo>
                      <a:lnTo>
                        <a:pt x="904113" y="1297051"/>
                      </a:lnTo>
                      <a:close/>
                    </a:path>
                    <a:path w="2307590" h="2083435">
                      <a:moveTo>
                        <a:pt x="916559" y="1353566"/>
                      </a:moveTo>
                      <a:lnTo>
                        <a:pt x="910336" y="1325245"/>
                      </a:lnTo>
                      <a:lnTo>
                        <a:pt x="882142" y="1331468"/>
                      </a:lnTo>
                      <a:lnTo>
                        <a:pt x="888365" y="1359789"/>
                      </a:lnTo>
                      <a:lnTo>
                        <a:pt x="916559" y="1353566"/>
                      </a:lnTo>
                      <a:close/>
                    </a:path>
                    <a:path w="2307590" h="2083435">
                      <a:moveTo>
                        <a:pt x="929005" y="1410081"/>
                      </a:moveTo>
                      <a:lnTo>
                        <a:pt x="922782" y="1381887"/>
                      </a:lnTo>
                      <a:lnTo>
                        <a:pt x="894588" y="1388110"/>
                      </a:lnTo>
                      <a:lnTo>
                        <a:pt x="900811" y="1416304"/>
                      </a:lnTo>
                      <a:lnTo>
                        <a:pt x="929005" y="1410081"/>
                      </a:lnTo>
                      <a:close/>
                    </a:path>
                    <a:path w="2307590" h="2083435">
                      <a:moveTo>
                        <a:pt x="941451" y="1466723"/>
                      </a:moveTo>
                      <a:lnTo>
                        <a:pt x="935228" y="1438402"/>
                      </a:lnTo>
                      <a:lnTo>
                        <a:pt x="907034" y="1444625"/>
                      </a:lnTo>
                      <a:lnTo>
                        <a:pt x="913257" y="1472946"/>
                      </a:lnTo>
                      <a:lnTo>
                        <a:pt x="941451" y="1466723"/>
                      </a:lnTo>
                      <a:close/>
                    </a:path>
                    <a:path w="2307590" h="2083435">
                      <a:moveTo>
                        <a:pt x="953897" y="1523238"/>
                      </a:moveTo>
                      <a:lnTo>
                        <a:pt x="947674" y="1494917"/>
                      </a:lnTo>
                      <a:lnTo>
                        <a:pt x="919480" y="1501140"/>
                      </a:lnTo>
                      <a:lnTo>
                        <a:pt x="925703" y="1529461"/>
                      </a:lnTo>
                      <a:lnTo>
                        <a:pt x="953897" y="1523238"/>
                      </a:lnTo>
                      <a:close/>
                    </a:path>
                    <a:path w="2307590" h="2083435">
                      <a:moveTo>
                        <a:pt x="966343" y="1579753"/>
                      </a:moveTo>
                      <a:lnTo>
                        <a:pt x="960120" y="1551559"/>
                      </a:lnTo>
                      <a:lnTo>
                        <a:pt x="931926" y="1557782"/>
                      </a:lnTo>
                      <a:lnTo>
                        <a:pt x="938149" y="1585976"/>
                      </a:lnTo>
                      <a:lnTo>
                        <a:pt x="966343" y="1579753"/>
                      </a:lnTo>
                      <a:close/>
                    </a:path>
                    <a:path w="2307590" h="2083435">
                      <a:moveTo>
                        <a:pt x="978916" y="1636395"/>
                      </a:moveTo>
                      <a:lnTo>
                        <a:pt x="972566" y="1608074"/>
                      </a:lnTo>
                      <a:lnTo>
                        <a:pt x="944372" y="1614297"/>
                      </a:lnTo>
                      <a:lnTo>
                        <a:pt x="950595" y="1642618"/>
                      </a:lnTo>
                      <a:lnTo>
                        <a:pt x="978916" y="1636395"/>
                      </a:lnTo>
                      <a:close/>
                    </a:path>
                    <a:path w="2307590" h="2083435">
                      <a:moveTo>
                        <a:pt x="991362" y="1692910"/>
                      </a:moveTo>
                      <a:lnTo>
                        <a:pt x="985139" y="1664589"/>
                      </a:lnTo>
                      <a:lnTo>
                        <a:pt x="956818" y="1670812"/>
                      </a:lnTo>
                      <a:lnTo>
                        <a:pt x="963041" y="1699133"/>
                      </a:lnTo>
                      <a:lnTo>
                        <a:pt x="991362" y="1692910"/>
                      </a:lnTo>
                      <a:close/>
                    </a:path>
                    <a:path w="2307590" h="2083435">
                      <a:moveTo>
                        <a:pt x="1003808" y="1749425"/>
                      </a:moveTo>
                      <a:lnTo>
                        <a:pt x="997585" y="1721231"/>
                      </a:lnTo>
                      <a:lnTo>
                        <a:pt x="969264" y="1727454"/>
                      </a:lnTo>
                      <a:lnTo>
                        <a:pt x="975487" y="1755648"/>
                      </a:lnTo>
                      <a:lnTo>
                        <a:pt x="1003808" y="1749425"/>
                      </a:lnTo>
                      <a:close/>
                    </a:path>
                    <a:path w="2307590" h="2083435">
                      <a:moveTo>
                        <a:pt x="1016254" y="1806067"/>
                      </a:moveTo>
                      <a:lnTo>
                        <a:pt x="1010031" y="1777746"/>
                      </a:lnTo>
                      <a:lnTo>
                        <a:pt x="981710" y="1783969"/>
                      </a:lnTo>
                      <a:lnTo>
                        <a:pt x="987933" y="1812290"/>
                      </a:lnTo>
                      <a:lnTo>
                        <a:pt x="1016254" y="1806067"/>
                      </a:lnTo>
                      <a:close/>
                    </a:path>
                    <a:path w="2307590" h="2083435">
                      <a:moveTo>
                        <a:pt x="1028700" y="1862582"/>
                      </a:moveTo>
                      <a:lnTo>
                        <a:pt x="1022477" y="1834261"/>
                      </a:lnTo>
                      <a:lnTo>
                        <a:pt x="994156" y="1840484"/>
                      </a:lnTo>
                      <a:lnTo>
                        <a:pt x="1000379" y="1868805"/>
                      </a:lnTo>
                      <a:lnTo>
                        <a:pt x="1028700" y="1862582"/>
                      </a:lnTo>
                      <a:close/>
                    </a:path>
                    <a:path w="2307590" h="2083435">
                      <a:moveTo>
                        <a:pt x="1041146" y="1919097"/>
                      </a:moveTo>
                      <a:lnTo>
                        <a:pt x="1034923" y="1890903"/>
                      </a:lnTo>
                      <a:lnTo>
                        <a:pt x="1006602" y="1897126"/>
                      </a:lnTo>
                      <a:lnTo>
                        <a:pt x="1012825" y="1925320"/>
                      </a:lnTo>
                      <a:lnTo>
                        <a:pt x="1041146" y="1919097"/>
                      </a:lnTo>
                      <a:close/>
                    </a:path>
                    <a:path w="2307590" h="2083435">
                      <a:moveTo>
                        <a:pt x="1053592" y="1975739"/>
                      </a:moveTo>
                      <a:lnTo>
                        <a:pt x="1047369" y="1947418"/>
                      </a:lnTo>
                      <a:lnTo>
                        <a:pt x="1019048" y="1953641"/>
                      </a:lnTo>
                      <a:lnTo>
                        <a:pt x="1025271" y="1981962"/>
                      </a:lnTo>
                      <a:lnTo>
                        <a:pt x="1053592" y="1975739"/>
                      </a:lnTo>
                      <a:close/>
                    </a:path>
                    <a:path w="2307590" h="2083435">
                      <a:moveTo>
                        <a:pt x="1103249" y="1956054"/>
                      </a:moveTo>
                      <a:lnTo>
                        <a:pt x="1099058" y="1947799"/>
                      </a:lnTo>
                      <a:lnTo>
                        <a:pt x="1083818" y="1942973"/>
                      </a:lnTo>
                      <a:lnTo>
                        <a:pt x="1075563" y="1947164"/>
                      </a:lnTo>
                      <a:lnTo>
                        <a:pt x="1073150" y="1954784"/>
                      </a:lnTo>
                      <a:lnTo>
                        <a:pt x="1057122" y="2004656"/>
                      </a:lnTo>
                      <a:lnTo>
                        <a:pt x="1034148" y="2009698"/>
                      </a:lnTo>
                      <a:lnTo>
                        <a:pt x="998601" y="1971167"/>
                      </a:lnTo>
                      <a:lnTo>
                        <a:pt x="993267" y="1965325"/>
                      </a:lnTo>
                      <a:lnTo>
                        <a:pt x="983996" y="1964944"/>
                      </a:lnTo>
                      <a:lnTo>
                        <a:pt x="978154" y="1970278"/>
                      </a:lnTo>
                      <a:lnTo>
                        <a:pt x="972312" y="1975739"/>
                      </a:lnTo>
                      <a:lnTo>
                        <a:pt x="971931" y="1984883"/>
                      </a:lnTo>
                      <a:lnTo>
                        <a:pt x="977392" y="1990725"/>
                      </a:lnTo>
                      <a:lnTo>
                        <a:pt x="1062355" y="2082927"/>
                      </a:lnTo>
                      <a:lnTo>
                        <a:pt x="1072807" y="2050415"/>
                      </a:lnTo>
                      <a:lnTo>
                        <a:pt x="1087716" y="2004060"/>
                      </a:lnTo>
                      <a:lnTo>
                        <a:pt x="1100709" y="1963674"/>
                      </a:lnTo>
                      <a:lnTo>
                        <a:pt x="1103249" y="1956054"/>
                      </a:lnTo>
                      <a:close/>
                    </a:path>
                    <a:path w="2307590" h="2083435">
                      <a:moveTo>
                        <a:pt x="1241425" y="28321"/>
                      </a:moveTo>
                      <a:lnTo>
                        <a:pt x="1235202" y="0"/>
                      </a:lnTo>
                      <a:lnTo>
                        <a:pt x="1207008" y="6223"/>
                      </a:lnTo>
                      <a:lnTo>
                        <a:pt x="1213231" y="34544"/>
                      </a:lnTo>
                      <a:lnTo>
                        <a:pt x="1241425" y="28321"/>
                      </a:lnTo>
                      <a:close/>
                    </a:path>
                    <a:path w="2307590" h="2083435">
                      <a:moveTo>
                        <a:pt x="1253871" y="84963"/>
                      </a:moveTo>
                      <a:lnTo>
                        <a:pt x="1247648" y="56642"/>
                      </a:lnTo>
                      <a:lnTo>
                        <a:pt x="1219454" y="62865"/>
                      </a:lnTo>
                      <a:lnTo>
                        <a:pt x="1225677" y="91186"/>
                      </a:lnTo>
                      <a:lnTo>
                        <a:pt x="1253871" y="84963"/>
                      </a:lnTo>
                      <a:close/>
                    </a:path>
                    <a:path w="2307590" h="2083435">
                      <a:moveTo>
                        <a:pt x="1266317" y="141478"/>
                      </a:moveTo>
                      <a:lnTo>
                        <a:pt x="1260094" y="113157"/>
                      </a:lnTo>
                      <a:lnTo>
                        <a:pt x="1231900" y="119380"/>
                      </a:lnTo>
                      <a:lnTo>
                        <a:pt x="1238123" y="147701"/>
                      </a:lnTo>
                      <a:lnTo>
                        <a:pt x="1266317" y="141478"/>
                      </a:lnTo>
                      <a:close/>
                    </a:path>
                    <a:path w="2307590" h="2083435">
                      <a:moveTo>
                        <a:pt x="1278763" y="197993"/>
                      </a:moveTo>
                      <a:lnTo>
                        <a:pt x="1272540" y="169799"/>
                      </a:lnTo>
                      <a:lnTo>
                        <a:pt x="1244346" y="176022"/>
                      </a:lnTo>
                      <a:lnTo>
                        <a:pt x="1250569" y="204216"/>
                      </a:lnTo>
                      <a:lnTo>
                        <a:pt x="1278763" y="197993"/>
                      </a:lnTo>
                      <a:close/>
                    </a:path>
                    <a:path w="2307590" h="2083435">
                      <a:moveTo>
                        <a:pt x="1291209" y="254635"/>
                      </a:moveTo>
                      <a:lnTo>
                        <a:pt x="1284986" y="226314"/>
                      </a:lnTo>
                      <a:lnTo>
                        <a:pt x="1256792" y="232537"/>
                      </a:lnTo>
                      <a:lnTo>
                        <a:pt x="1263015" y="260858"/>
                      </a:lnTo>
                      <a:lnTo>
                        <a:pt x="1291209" y="254635"/>
                      </a:lnTo>
                      <a:close/>
                    </a:path>
                    <a:path w="2307590" h="2083435">
                      <a:moveTo>
                        <a:pt x="1303655" y="311150"/>
                      </a:moveTo>
                      <a:lnTo>
                        <a:pt x="1297432" y="282829"/>
                      </a:lnTo>
                      <a:lnTo>
                        <a:pt x="1269238" y="289052"/>
                      </a:lnTo>
                      <a:lnTo>
                        <a:pt x="1275461" y="317373"/>
                      </a:lnTo>
                      <a:lnTo>
                        <a:pt x="1303655" y="311150"/>
                      </a:lnTo>
                      <a:close/>
                    </a:path>
                    <a:path w="2307590" h="2083435">
                      <a:moveTo>
                        <a:pt x="1316101" y="367665"/>
                      </a:moveTo>
                      <a:lnTo>
                        <a:pt x="1309878" y="339471"/>
                      </a:lnTo>
                      <a:lnTo>
                        <a:pt x="1281684" y="345694"/>
                      </a:lnTo>
                      <a:lnTo>
                        <a:pt x="1287907" y="373888"/>
                      </a:lnTo>
                      <a:lnTo>
                        <a:pt x="1316101" y="367665"/>
                      </a:lnTo>
                      <a:close/>
                    </a:path>
                    <a:path w="2307590" h="2083435">
                      <a:moveTo>
                        <a:pt x="1328547" y="424307"/>
                      </a:moveTo>
                      <a:lnTo>
                        <a:pt x="1322324" y="395986"/>
                      </a:lnTo>
                      <a:lnTo>
                        <a:pt x="1294130" y="402209"/>
                      </a:lnTo>
                      <a:lnTo>
                        <a:pt x="1300353" y="430530"/>
                      </a:lnTo>
                      <a:lnTo>
                        <a:pt x="1328547" y="424307"/>
                      </a:lnTo>
                      <a:close/>
                    </a:path>
                    <a:path w="2307590" h="2083435">
                      <a:moveTo>
                        <a:pt x="1340993" y="480822"/>
                      </a:moveTo>
                      <a:lnTo>
                        <a:pt x="1334770" y="452501"/>
                      </a:lnTo>
                      <a:lnTo>
                        <a:pt x="1306576" y="458724"/>
                      </a:lnTo>
                      <a:lnTo>
                        <a:pt x="1312799" y="487045"/>
                      </a:lnTo>
                      <a:lnTo>
                        <a:pt x="1340993" y="480822"/>
                      </a:lnTo>
                      <a:close/>
                    </a:path>
                    <a:path w="2307590" h="2083435">
                      <a:moveTo>
                        <a:pt x="1353439" y="537337"/>
                      </a:moveTo>
                      <a:lnTo>
                        <a:pt x="1347216" y="509143"/>
                      </a:lnTo>
                      <a:lnTo>
                        <a:pt x="1319022" y="515366"/>
                      </a:lnTo>
                      <a:lnTo>
                        <a:pt x="1325245" y="543560"/>
                      </a:lnTo>
                      <a:lnTo>
                        <a:pt x="1353439" y="537337"/>
                      </a:lnTo>
                      <a:close/>
                    </a:path>
                    <a:path w="2307590" h="2083435">
                      <a:moveTo>
                        <a:pt x="1365885" y="593979"/>
                      </a:moveTo>
                      <a:lnTo>
                        <a:pt x="1359662" y="565658"/>
                      </a:lnTo>
                      <a:lnTo>
                        <a:pt x="1331468" y="571881"/>
                      </a:lnTo>
                      <a:lnTo>
                        <a:pt x="1337691" y="600202"/>
                      </a:lnTo>
                      <a:lnTo>
                        <a:pt x="1365885" y="593979"/>
                      </a:lnTo>
                      <a:close/>
                    </a:path>
                    <a:path w="2307590" h="2083435">
                      <a:moveTo>
                        <a:pt x="1378331" y="650494"/>
                      </a:moveTo>
                      <a:lnTo>
                        <a:pt x="1372108" y="622173"/>
                      </a:lnTo>
                      <a:lnTo>
                        <a:pt x="1343914" y="628396"/>
                      </a:lnTo>
                      <a:lnTo>
                        <a:pt x="1350137" y="656717"/>
                      </a:lnTo>
                      <a:lnTo>
                        <a:pt x="1378331" y="650494"/>
                      </a:lnTo>
                      <a:close/>
                    </a:path>
                    <a:path w="2307590" h="2083435">
                      <a:moveTo>
                        <a:pt x="1390777" y="707009"/>
                      </a:moveTo>
                      <a:lnTo>
                        <a:pt x="1384554" y="678815"/>
                      </a:lnTo>
                      <a:lnTo>
                        <a:pt x="1356360" y="685038"/>
                      </a:lnTo>
                      <a:lnTo>
                        <a:pt x="1362583" y="713232"/>
                      </a:lnTo>
                      <a:lnTo>
                        <a:pt x="1390777" y="707009"/>
                      </a:lnTo>
                      <a:close/>
                    </a:path>
                    <a:path w="2307590" h="2083435">
                      <a:moveTo>
                        <a:pt x="1403223" y="763651"/>
                      </a:moveTo>
                      <a:lnTo>
                        <a:pt x="1397000" y="735330"/>
                      </a:lnTo>
                      <a:lnTo>
                        <a:pt x="1368806" y="741553"/>
                      </a:lnTo>
                      <a:lnTo>
                        <a:pt x="1375029" y="769874"/>
                      </a:lnTo>
                      <a:lnTo>
                        <a:pt x="1403223" y="763651"/>
                      </a:lnTo>
                      <a:close/>
                    </a:path>
                    <a:path w="2307590" h="2083435">
                      <a:moveTo>
                        <a:pt x="1415669" y="820166"/>
                      </a:moveTo>
                      <a:lnTo>
                        <a:pt x="1409446" y="791845"/>
                      </a:lnTo>
                      <a:lnTo>
                        <a:pt x="1381252" y="798068"/>
                      </a:lnTo>
                      <a:lnTo>
                        <a:pt x="1387475" y="826389"/>
                      </a:lnTo>
                      <a:lnTo>
                        <a:pt x="1415669" y="820166"/>
                      </a:lnTo>
                      <a:close/>
                    </a:path>
                    <a:path w="2307590" h="2083435">
                      <a:moveTo>
                        <a:pt x="1428115" y="876681"/>
                      </a:moveTo>
                      <a:lnTo>
                        <a:pt x="1421892" y="848487"/>
                      </a:lnTo>
                      <a:lnTo>
                        <a:pt x="1393698" y="854710"/>
                      </a:lnTo>
                      <a:lnTo>
                        <a:pt x="1399921" y="882904"/>
                      </a:lnTo>
                      <a:lnTo>
                        <a:pt x="1428115" y="876681"/>
                      </a:lnTo>
                      <a:close/>
                    </a:path>
                    <a:path w="2307590" h="2083435">
                      <a:moveTo>
                        <a:pt x="1440561" y="933323"/>
                      </a:moveTo>
                      <a:lnTo>
                        <a:pt x="1434338" y="905002"/>
                      </a:lnTo>
                      <a:lnTo>
                        <a:pt x="1406144" y="911225"/>
                      </a:lnTo>
                      <a:lnTo>
                        <a:pt x="1412367" y="939546"/>
                      </a:lnTo>
                      <a:lnTo>
                        <a:pt x="1440561" y="933323"/>
                      </a:lnTo>
                      <a:close/>
                    </a:path>
                    <a:path w="2307590" h="2083435">
                      <a:moveTo>
                        <a:pt x="1453007" y="989838"/>
                      </a:moveTo>
                      <a:lnTo>
                        <a:pt x="1446784" y="961517"/>
                      </a:lnTo>
                      <a:lnTo>
                        <a:pt x="1418590" y="967740"/>
                      </a:lnTo>
                      <a:lnTo>
                        <a:pt x="1424813" y="996061"/>
                      </a:lnTo>
                      <a:lnTo>
                        <a:pt x="1453007" y="989838"/>
                      </a:lnTo>
                      <a:close/>
                    </a:path>
                    <a:path w="2307590" h="2083435">
                      <a:moveTo>
                        <a:pt x="1465453" y="1046365"/>
                      </a:moveTo>
                      <a:lnTo>
                        <a:pt x="1459230" y="1018159"/>
                      </a:lnTo>
                      <a:lnTo>
                        <a:pt x="1431036" y="1024382"/>
                      </a:lnTo>
                      <a:lnTo>
                        <a:pt x="1437259" y="1052576"/>
                      </a:lnTo>
                      <a:lnTo>
                        <a:pt x="1465453" y="1046365"/>
                      </a:lnTo>
                      <a:close/>
                    </a:path>
                    <a:path w="2307590" h="2083435">
                      <a:moveTo>
                        <a:pt x="1477899" y="1102995"/>
                      </a:moveTo>
                      <a:lnTo>
                        <a:pt x="1471676" y="1074674"/>
                      </a:lnTo>
                      <a:lnTo>
                        <a:pt x="1443482" y="1080897"/>
                      </a:lnTo>
                      <a:lnTo>
                        <a:pt x="1449705" y="1109218"/>
                      </a:lnTo>
                      <a:lnTo>
                        <a:pt x="1477899" y="1102995"/>
                      </a:lnTo>
                      <a:close/>
                    </a:path>
                    <a:path w="2307590" h="2083435">
                      <a:moveTo>
                        <a:pt x="1490345" y="1159510"/>
                      </a:moveTo>
                      <a:lnTo>
                        <a:pt x="1484122" y="1131189"/>
                      </a:lnTo>
                      <a:lnTo>
                        <a:pt x="1455928" y="1137412"/>
                      </a:lnTo>
                      <a:lnTo>
                        <a:pt x="1462151" y="1165733"/>
                      </a:lnTo>
                      <a:lnTo>
                        <a:pt x="1490345" y="1159510"/>
                      </a:lnTo>
                      <a:close/>
                    </a:path>
                    <a:path w="2307590" h="2083435">
                      <a:moveTo>
                        <a:pt x="1502791" y="1216025"/>
                      </a:moveTo>
                      <a:lnTo>
                        <a:pt x="1496568" y="1187831"/>
                      </a:lnTo>
                      <a:lnTo>
                        <a:pt x="1468374" y="1194054"/>
                      </a:lnTo>
                      <a:lnTo>
                        <a:pt x="1474597" y="1222248"/>
                      </a:lnTo>
                      <a:lnTo>
                        <a:pt x="1502791" y="1216025"/>
                      </a:lnTo>
                      <a:close/>
                    </a:path>
                    <a:path w="2307590" h="2083435">
                      <a:moveTo>
                        <a:pt x="1515237" y="1272667"/>
                      </a:moveTo>
                      <a:lnTo>
                        <a:pt x="1509014" y="1244346"/>
                      </a:lnTo>
                      <a:lnTo>
                        <a:pt x="1480820" y="1250569"/>
                      </a:lnTo>
                      <a:lnTo>
                        <a:pt x="1487043" y="1278890"/>
                      </a:lnTo>
                      <a:lnTo>
                        <a:pt x="1515237" y="1272667"/>
                      </a:lnTo>
                      <a:close/>
                    </a:path>
                    <a:path w="2307590" h="2083435">
                      <a:moveTo>
                        <a:pt x="1527683" y="1329182"/>
                      </a:moveTo>
                      <a:lnTo>
                        <a:pt x="1521460" y="1300861"/>
                      </a:lnTo>
                      <a:lnTo>
                        <a:pt x="1493266" y="1307084"/>
                      </a:lnTo>
                      <a:lnTo>
                        <a:pt x="1499489" y="1335405"/>
                      </a:lnTo>
                      <a:lnTo>
                        <a:pt x="1527683" y="1329182"/>
                      </a:lnTo>
                      <a:close/>
                    </a:path>
                    <a:path w="2307590" h="2083435">
                      <a:moveTo>
                        <a:pt x="1540129" y="1385697"/>
                      </a:moveTo>
                      <a:lnTo>
                        <a:pt x="1533906" y="1357503"/>
                      </a:lnTo>
                      <a:lnTo>
                        <a:pt x="1505712" y="1363726"/>
                      </a:lnTo>
                      <a:lnTo>
                        <a:pt x="1511935" y="1391920"/>
                      </a:lnTo>
                      <a:lnTo>
                        <a:pt x="1540129" y="1385697"/>
                      </a:lnTo>
                      <a:close/>
                    </a:path>
                    <a:path w="2307590" h="2083435">
                      <a:moveTo>
                        <a:pt x="1552575" y="1442339"/>
                      </a:moveTo>
                      <a:lnTo>
                        <a:pt x="1546352" y="1414018"/>
                      </a:lnTo>
                      <a:lnTo>
                        <a:pt x="1518158" y="1420241"/>
                      </a:lnTo>
                      <a:lnTo>
                        <a:pt x="1524381" y="1448562"/>
                      </a:lnTo>
                      <a:lnTo>
                        <a:pt x="1552575" y="1442339"/>
                      </a:lnTo>
                      <a:close/>
                    </a:path>
                    <a:path w="2307590" h="2083435">
                      <a:moveTo>
                        <a:pt x="1565021" y="1498854"/>
                      </a:moveTo>
                      <a:lnTo>
                        <a:pt x="1558798" y="1470533"/>
                      </a:lnTo>
                      <a:lnTo>
                        <a:pt x="1530604" y="1476756"/>
                      </a:lnTo>
                      <a:lnTo>
                        <a:pt x="1536827" y="1505077"/>
                      </a:lnTo>
                      <a:lnTo>
                        <a:pt x="1565021" y="1498854"/>
                      </a:lnTo>
                      <a:close/>
                    </a:path>
                    <a:path w="2307590" h="2083435">
                      <a:moveTo>
                        <a:pt x="1577467" y="1555369"/>
                      </a:moveTo>
                      <a:lnTo>
                        <a:pt x="1571244" y="1527175"/>
                      </a:lnTo>
                      <a:lnTo>
                        <a:pt x="1543050" y="1533398"/>
                      </a:lnTo>
                      <a:lnTo>
                        <a:pt x="1549273" y="1561592"/>
                      </a:lnTo>
                      <a:lnTo>
                        <a:pt x="1577467" y="1555369"/>
                      </a:lnTo>
                      <a:close/>
                    </a:path>
                    <a:path w="2307590" h="2083435">
                      <a:moveTo>
                        <a:pt x="1590040" y="1612011"/>
                      </a:moveTo>
                      <a:lnTo>
                        <a:pt x="1583690" y="1583690"/>
                      </a:lnTo>
                      <a:lnTo>
                        <a:pt x="1555496" y="1589913"/>
                      </a:lnTo>
                      <a:lnTo>
                        <a:pt x="1561719" y="1618234"/>
                      </a:lnTo>
                      <a:lnTo>
                        <a:pt x="1590040" y="1612011"/>
                      </a:lnTo>
                      <a:close/>
                    </a:path>
                    <a:path w="2307590" h="2083435">
                      <a:moveTo>
                        <a:pt x="1602486" y="1668526"/>
                      </a:moveTo>
                      <a:lnTo>
                        <a:pt x="1596263" y="1640205"/>
                      </a:lnTo>
                      <a:lnTo>
                        <a:pt x="1567942" y="1646428"/>
                      </a:lnTo>
                      <a:lnTo>
                        <a:pt x="1574165" y="1674749"/>
                      </a:lnTo>
                      <a:lnTo>
                        <a:pt x="1602486" y="1668526"/>
                      </a:lnTo>
                      <a:close/>
                    </a:path>
                    <a:path w="2307590" h="2083435">
                      <a:moveTo>
                        <a:pt x="1614932" y="1725041"/>
                      </a:moveTo>
                      <a:lnTo>
                        <a:pt x="1608709" y="1696847"/>
                      </a:lnTo>
                      <a:lnTo>
                        <a:pt x="1580388" y="1703070"/>
                      </a:lnTo>
                      <a:lnTo>
                        <a:pt x="1586611" y="1731264"/>
                      </a:lnTo>
                      <a:lnTo>
                        <a:pt x="1614932" y="1725041"/>
                      </a:lnTo>
                      <a:close/>
                    </a:path>
                    <a:path w="2307590" h="2083435">
                      <a:moveTo>
                        <a:pt x="1627378" y="1781683"/>
                      </a:moveTo>
                      <a:lnTo>
                        <a:pt x="1621155" y="1753362"/>
                      </a:lnTo>
                      <a:lnTo>
                        <a:pt x="1592834" y="1759585"/>
                      </a:lnTo>
                      <a:lnTo>
                        <a:pt x="1599057" y="1787906"/>
                      </a:lnTo>
                      <a:lnTo>
                        <a:pt x="1627378" y="1781683"/>
                      </a:lnTo>
                      <a:close/>
                    </a:path>
                    <a:path w="2307590" h="2083435">
                      <a:moveTo>
                        <a:pt x="1639824" y="1838198"/>
                      </a:moveTo>
                      <a:lnTo>
                        <a:pt x="1633601" y="1809877"/>
                      </a:lnTo>
                      <a:lnTo>
                        <a:pt x="1605280" y="1816100"/>
                      </a:lnTo>
                      <a:lnTo>
                        <a:pt x="1611503" y="1844421"/>
                      </a:lnTo>
                      <a:lnTo>
                        <a:pt x="1639824" y="1838198"/>
                      </a:lnTo>
                      <a:close/>
                    </a:path>
                    <a:path w="2307590" h="2083435">
                      <a:moveTo>
                        <a:pt x="1652270" y="1894713"/>
                      </a:moveTo>
                      <a:lnTo>
                        <a:pt x="1646047" y="1866519"/>
                      </a:lnTo>
                      <a:lnTo>
                        <a:pt x="1617726" y="1872742"/>
                      </a:lnTo>
                      <a:lnTo>
                        <a:pt x="1623949" y="1900936"/>
                      </a:lnTo>
                      <a:lnTo>
                        <a:pt x="1652270" y="1894713"/>
                      </a:lnTo>
                      <a:close/>
                    </a:path>
                    <a:path w="2307590" h="2083435">
                      <a:moveTo>
                        <a:pt x="1664716" y="1951355"/>
                      </a:moveTo>
                      <a:lnTo>
                        <a:pt x="1658493" y="1923034"/>
                      </a:lnTo>
                      <a:lnTo>
                        <a:pt x="1630172" y="1929257"/>
                      </a:lnTo>
                      <a:lnTo>
                        <a:pt x="1636395" y="1957578"/>
                      </a:lnTo>
                      <a:lnTo>
                        <a:pt x="1664716" y="1951355"/>
                      </a:lnTo>
                      <a:close/>
                    </a:path>
                    <a:path w="2307590" h="2083435">
                      <a:moveTo>
                        <a:pt x="1714373" y="1931670"/>
                      </a:moveTo>
                      <a:lnTo>
                        <a:pt x="1710182" y="1923415"/>
                      </a:lnTo>
                      <a:lnTo>
                        <a:pt x="1694942" y="1918589"/>
                      </a:lnTo>
                      <a:lnTo>
                        <a:pt x="1686687" y="1922780"/>
                      </a:lnTo>
                      <a:lnTo>
                        <a:pt x="1684274" y="1930400"/>
                      </a:lnTo>
                      <a:lnTo>
                        <a:pt x="1668246" y="1980272"/>
                      </a:lnTo>
                      <a:lnTo>
                        <a:pt x="1645272" y="1985314"/>
                      </a:lnTo>
                      <a:lnTo>
                        <a:pt x="1609725" y="1946783"/>
                      </a:lnTo>
                      <a:lnTo>
                        <a:pt x="1604391" y="1940941"/>
                      </a:lnTo>
                      <a:lnTo>
                        <a:pt x="1595120" y="1940560"/>
                      </a:lnTo>
                      <a:lnTo>
                        <a:pt x="1589278" y="1945894"/>
                      </a:lnTo>
                      <a:lnTo>
                        <a:pt x="1583436" y="1951355"/>
                      </a:lnTo>
                      <a:lnTo>
                        <a:pt x="1583055" y="1960499"/>
                      </a:lnTo>
                      <a:lnTo>
                        <a:pt x="1588516" y="1966341"/>
                      </a:lnTo>
                      <a:lnTo>
                        <a:pt x="1673479" y="2058543"/>
                      </a:lnTo>
                      <a:lnTo>
                        <a:pt x="1683931" y="2026031"/>
                      </a:lnTo>
                      <a:lnTo>
                        <a:pt x="1698840" y="1979676"/>
                      </a:lnTo>
                      <a:lnTo>
                        <a:pt x="1711833" y="1939290"/>
                      </a:lnTo>
                      <a:lnTo>
                        <a:pt x="1714373" y="1931670"/>
                      </a:lnTo>
                      <a:close/>
                    </a:path>
                    <a:path w="2307590" h="2083435">
                      <a:moveTo>
                        <a:pt x="1834261" y="52705"/>
                      </a:moveTo>
                      <a:lnTo>
                        <a:pt x="1828038" y="24384"/>
                      </a:lnTo>
                      <a:lnTo>
                        <a:pt x="1799844" y="30607"/>
                      </a:lnTo>
                      <a:lnTo>
                        <a:pt x="1806067" y="58928"/>
                      </a:lnTo>
                      <a:lnTo>
                        <a:pt x="1834261" y="52705"/>
                      </a:lnTo>
                      <a:close/>
                    </a:path>
                    <a:path w="2307590" h="2083435">
                      <a:moveTo>
                        <a:pt x="1846707" y="109347"/>
                      </a:moveTo>
                      <a:lnTo>
                        <a:pt x="1840484" y="81026"/>
                      </a:lnTo>
                      <a:lnTo>
                        <a:pt x="1812290" y="87249"/>
                      </a:lnTo>
                      <a:lnTo>
                        <a:pt x="1818513" y="115570"/>
                      </a:lnTo>
                      <a:lnTo>
                        <a:pt x="1846707" y="109347"/>
                      </a:lnTo>
                      <a:close/>
                    </a:path>
                    <a:path w="2307590" h="2083435">
                      <a:moveTo>
                        <a:pt x="1859153" y="165862"/>
                      </a:moveTo>
                      <a:lnTo>
                        <a:pt x="1852930" y="137541"/>
                      </a:lnTo>
                      <a:lnTo>
                        <a:pt x="1824736" y="143764"/>
                      </a:lnTo>
                      <a:lnTo>
                        <a:pt x="1830959" y="172085"/>
                      </a:lnTo>
                      <a:lnTo>
                        <a:pt x="1859153" y="165862"/>
                      </a:lnTo>
                      <a:close/>
                    </a:path>
                    <a:path w="2307590" h="2083435">
                      <a:moveTo>
                        <a:pt x="1871599" y="222377"/>
                      </a:moveTo>
                      <a:lnTo>
                        <a:pt x="1865376" y="194183"/>
                      </a:lnTo>
                      <a:lnTo>
                        <a:pt x="1837182" y="200406"/>
                      </a:lnTo>
                      <a:lnTo>
                        <a:pt x="1843405" y="228600"/>
                      </a:lnTo>
                      <a:lnTo>
                        <a:pt x="1871599" y="222377"/>
                      </a:lnTo>
                      <a:close/>
                    </a:path>
                    <a:path w="2307590" h="2083435">
                      <a:moveTo>
                        <a:pt x="1884045" y="279019"/>
                      </a:moveTo>
                      <a:lnTo>
                        <a:pt x="1877822" y="250698"/>
                      </a:lnTo>
                      <a:lnTo>
                        <a:pt x="1849628" y="256921"/>
                      </a:lnTo>
                      <a:lnTo>
                        <a:pt x="1855851" y="285242"/>
                      </a:lnTo>
                      <a:lnTo>
                        <a:pt x="1884045" y="279019"/>
                      </a:lnTo>
                      <a:close/>
                    </a:path>
                    <a:path w="2307590" h="2083435">
                      <a:moveTo>
                        <a:pt x="1896491" y="335534"/>
                      </a:moveTo>
                      <a:lnTo>
                        <a:pt x="1890268" y="307213"/>
                      </a:lnTo>
                      <a:lnTo>
                        <a:pt x="1862074" y="313436"/>
                      </a:lnTo>
                      <a:lnTo>
                        <a:pt x="1868297" y="341757"/>
                      </a:lnTo>
                      <a:lnTo>
                        <a:pt x="1896491" y="335534"/>
                      </a:lnTo>
                      <a:close/>
                    </a:path>
                    <a:path w="2307590" h="2083435">
                      <a:moveTo>
                        <a:pt x="1908937" y="392049"/>
                      </a:moveTo>
                      <a:lnTo>
                        <a:pt x="1902714" y="363855"/>
                      </a:lnTo>
                      <a:lnTo>
                        <a:pt x="1874520" y="370078"/>
                      </a:lnTo>
                      <a:lnTo>
                        <a:pt x="1880743" y="398272"/>
                      </a:lnTo>
                      <a:lnTo>
                        <a:pt x="1908937" y="392049"/>
                      </a:lnTo>
                      <a:close/>
                    </a:path>
                    <a:path w="2307590" h="2083435">
                      <a:moveTo>
                        <a:pt x="1921383" y="448691"/>
                      </a:moveTo>
                      <a:lnTo>
                        <a:pt x="1915160" y="420370"/>
                      </a:lnTo>
                      <a:lnTo>
                        <a:pt x="1886966" y="426593"/>
                      </a:lnTo>
                      <a:lnTo>
                        <a:pt x="1893189" y="454914"/>
                      </a:lnTo>
                      <a:lnTo>
                        <a:pt x="1921383" y="448691"/>
                      </a:lnTo>
                      <a:close/>
                    </a:path>
                    <a:path w="2307590" h="2083435">
                      <a:moveTo>
                        <a:pt x="1933829" y="505206"/>
                      </a:moveTo>
                      <a:lnTo>
                        <a:pt x="1927606" y="476885"/>
                      </a:lnTo>
                      <a:lnTo>
                        <a:pt x="1899412" y="483108"/>
                      </a:lnTo>
                      <a:lnTo>
                        <a:pt x="1905635" y="511429"/>
                      </a:lnTo>
                      <a:lnTo>
                        <a:pt x="1933829" y="505206"/>
                      </a:lnTo>
                      <a:close/>
                    </a:path>
                    <a:path w="2307590" h="2083435">
                      <a:moveTo>
                        <a:pt x="1946275" y="561721"/>
                      </a:moveTo>
                      <a:lnTo>
                        <a:pt x="1940052" y="533527"/>
                      </a:lnTo>
                      <a:lnTo>
                        <a:pt x="1911858" y="539750"/>
                      </a:lnTo>
                      <a:lnTo>
                        <a:pt x="1918081" y="567944"/>
                      </a:lnTo>
                      <a:lnTo>
                        <a:pt x="1946275" y="561721"/>
                      </a:lnTo>
                      <a:close/>
                    </a:path>
                    <a:path w="2307590" h="2083435">
                      <a:moveTo>
                        <a:pt x="1958721" y="618363"/>
                      </a:moveTo>
                      <a:lnTo>
                        <a:pt x="1952498" y="590042"/>
                      </a:lnTo>
                      <a:lnTo>
                        <a:pt x="1924304" y="596265"/>
                      </a:lnTo>
                      <a:lnTo>
                        <a:pt x="1930527" y="624586"/>
                      </a:lnTo>
                      <a:lnTo>
                        <a:pt x="1958721" y="618363"/>
                      </a:lnTo>
                      <a:close/>
                    </a:path>
                    <a:path w="2307590" h="2083435">
                      <a:moveTo>
                        <a:pt x="1971167" y="674878"/>
                      </a:moveTo>
                      <a:lnTo>
                        <a:pt x="1964944" y="646557"/>
                      </a:lnTo>
                      <a:lnTo>
                        <a:pt x="1936750" y="652780"/>
                      </a:lnTo>
                      <a:lnTo>
                        <a:pt x="1942973" y="681101"/>
                      </a:lnTo>
                      <a:lnTo>
                        <a:pt x="1971167" y="674878"/>
                      </a:lnTo>
                      <a:close/>
                    </a:path>
                    <a:path w="2307590" h="2083435">
                      <a:moveTo>
                        <a:pt x="1983613" y="731393"/>
                      </a:moveTo>
                      <a:lnTo>
                        <a:pt x="1977390" y="703199"/>
                      </a:lnTo>
                      <a:lnTo>
                        <a:pt x="1949196" y="709422"/>
                      </a:lnTo>
                      <a:lnTo>
                        <a:pt x="1955419" y="737616"/>
                      </a:lnTo>
                      <a:lnTo>
                        <a:pt x="1983613" y="731393"/>
                      </a:lnTo>
                      <a:close/>
                    </a:path>
                    <a:path w="2307590" h="2083435">
                      <a:moveTo>
                        <a:pt x="1996059" y="788035"/>
                      </a:moveTo>
                      <a:lnTo>
                        <a:pt x="1989836" y="759714"/>
                      </a:lnTo>
                      <a:lnTo>
                        <a:pt x="1961642" y="765937"/>
                      </a:lnTo>
                      <a:lnTo>
                        <a:pt x="1967865" y="794258"/>
                      </a:lnTo>
                      <a:lnTo>
                        <a:pt x="1996059" y="788035"/>
                      </a:lnTo>
                      <a:close/>
                    </a:path>
                    <a:path w="2307590" h="2083435">
                      <a:moveTo>
                        <a:pt x="2008505" y="844550"/>
                      </a:moveTo>
                      <a:lnTo>
                        <a:pt x="2002282" y="816229"/>
                      </a:lnTo>
                      <a:lnTo>
                        <a:pt x="1974088" y="822452"/>
                      </a:lnTo>
                      <a:lnTo>
                        <a:pt x="1980311" y="850773"/>
                      </a:lnTo>
                      <a:lnTo>
                        <a:pt x="2008505" y="844550"/>
                      </a:lnTo>
                      <a:close/>
                    </a:path>
                    <a:path w="2307590" h="2083435">
                      <a:moveTo>
                        <a:pt x="2020951" y="901065"/>
                      </a:moveTo>
                      <a:lnTo>
                        <a:pt x="2014728" y="872871"/>
                      </a:lnTo>
                      <a:lnTo>
                        <a:pt x="1986534" y="879094"/>
                      </a:lnTo>
                      <a:lnTo>
                        <a:pt x="1992757" y="907288"/>
                      </a:lnTo>
                      <a:lnTo>
                        <a:pt x="2020951" y="901065"/>
                      </a:lnTo>
                      <a:close/>
                    </a:path>
                    <a:path w="2307590" h="2083435">
                      <a:moveTo>
                        <a:pt x="2033397" y="957707"/>
                      </a:moveTo>
                      <a:lnTo>
                        <a:pt x="2027174" y="929386"/>
                      </a:lnTo>
                      <a:lnTo>
                        <a:pt x="1998980" y="935609"/>
                      </a:lnTo>
                      <a:lnTo>
                        <a:pt x="2005203" y="963930"/>
                      </a:lnTo>
                      <a:lnTo>
                        <a:pt x="2033397" y="957707"/>
                      </a:lnTo>
                      <a:close/>
                    </a:path>
                    <a:path w="2307590" h="2083435">
                      <a:moveTo>
                        <a:pt x="2045843" y="1014222"/>
                      </a:moveTo>
                      <a:lnTo>
                        <a:pt x="2039620" y="985901"/>
                      </a:lnTo>
                      <a:lnTo>
                        <a:pt x="2011426" y="992124"/>
                      </a:lnTo>
                      <a:lnTo>
                        <a:pt x="2017649" y="1020445"/>
                      </a:lnTo>
                      <a:lnTo>
                        <a:pt x="2045843" y="1014222"/>
                      </a:lnTo>
                      <a:close/>
                    </a:path>
                    <a:path w="2307590" h="2083435">
                      <a:moveTo>
                        <a:pt x="2058289" y="1070737"/>
                      </a:moveTo>
                      <a:lnTo>
                        <a:pt x="2052066" y="1042543"/>
                      </a:lnTo>
                      <a:lnTo>
                        <a:pt x="2023872" y="1048778"/>
                      </a:lnTo>
                      <a:lnTo>
                        <a:pt x="2030095" y="1076960"/>
                      </a:lnTo>
                      <a:lnTo>
                        <a:pt x="2058289" y="1070737"/>
                      </a:lnTo>
                      <a:close/>
                    </a:path>
                    <a:path w="2307590" h="2083435">
                      <a:moveTo>
                        <a:pt x="2070735" y="1127379"/>
                      </a:moveTo>
                      <a:lnTo>
                        <a:pt x="2064512" y="1099058"/>
                      </a:lnTo>
                      <a:lnTo>
                        <a:pt x="2036318" y="1105281"/>
                      </a:lnTo>
                      <a:lnTo>
                        <a:pt x="2042541" y="1133602"/>
                      </a:lnTo>
                      <a:lnTo>
                        <a:pt x="2070735" y="1127379"/>
                      </a:lnTo>
                      <a:close/>
                    </a:path>
                    <a:path w="2307590" h="2083435">
                      <a:moveTo>
                        <a:pt x="2083181" y="1183894"/>
                      </a:moveTo>
                      <a:lnTo>
                        <a:pt x="2076958" y="1155573"/>
                      </a:lnTo>
                      <a:lnTo>
                        <a:pt x="2048764" y="1161796"/>
                      </a:lnTo>
                      <a:lnTo>
                        <a:pt x="2054987" y="1190117"/>
                      </a:lnTo>
                      <a:lnTo>
                        <a:pt x="2083181" y="1183894"/>
                      </a:lnTo>
                      <a:close/>
                    </a:path>
                    <a:path w="2307590" h="2083435">
                      <a:moveTo>
                        <a:pt x="2095627" y="1240409"/>
                      </a:moveTo>
                      <a:lnTo>
                        <a:pt x="2089404" y="1212215"/>
                      </a:lnTo>
                      <a:lnTo>
                        <a:pt x="2061210" y="1218438"/>
                      </a:lnTo>
                      <a:lnTo>
                        <a:pt x="2067433" y="1246632"/>
                      </a:lnTo>
                      <a:lnTo>
                        <a:pt x="2095627" y="1240409"/>
                      </a:lnTo>
                      <a:close/>
                    </a:path>
                    <a:path w="2307590" h="2083435">
                      <a:moveTo>
                        <a:pt x="2108073" y="1297051"/>
                      </a:moveTo>
                      <a:lnTo>
                        <a:pt x="2101850" y="1268730"/>
                      </a:lnTo>
                      <a:lnTo>
                        <a:pt x="2073656" y="1274953"/>
                      </a:lnTo>
                      <a:lnTo>
                        <a:pt x="2079879" y="1303274"/>
                      </a:lnTo>
                      <a:lnTo>
                        <a:pt x="2108073" y="1297051"/>
                      </a:lnTo>
                      <a:close/>
                    </a:path>
                    <a:path w="2307590" h="2083435">
                      <a:moveTo>
                        <a:pt x="2120519" y="1353566"/>
                      </a:moveTo>
                      <a:lnTo>
                        <a:pt x="2114296" y="1325245"/>
                      </a:lnTo>
                      <a:lnTo>
                        <a:pt x="2086102" y="1331468"/>
                      </a:lnTo>
                      <a:lnTo>
                        <a:pt x="2092325" y="1359789"/>
                      </a:lnTo>
                      <a:lnTo>
                        <a:pt x="2120519" y="1353566"/>
                      </a:lnTo>
                      <a:close/>
                    </a:path>
                    <a:path w="2307590" h="2083435">
                      <a:moveTo>
                        <a:pt x="2132965" y="1410081"/>
                      </a:moveTo>
                      <a:lnTo>
                        <a:pt x="2126742" y="1381887"/>
                      </a:lnTo>
                      <a:lnTo>
                        <a:pt x="2098548" y="1388110"/>
                      </a:lnTo>
                      <a:lnTo>
                        <a:pt x="2104771" y="1416304"/>
                      </a:lnTo>
                      <a:lnTo>
                        <a:pt x="2132965" y="1410081"/>
                      </a:lnTo>
                      <a:close/>
                    </a:path>
                    <a:path w="2307590" h="2083435">
                      <a:moveTo>
                        <a:pt x="2145411" y="1466723"/>
                      </a:moveTo>
                      <a:lnTo>
                        <a:pt x="2139188" y="1438402"/>
                      </a:lnTo>
                      <a:lnTo>
                        <a:pt x="2110994" y="1444625"/>
                      </a:lnTo>
                      <a:lnTo>
                        <a:pt x="2117217" y="1472946"/>
                      </a:lnTo>
                      <a:lnTo>
                        <a:pt x="2145411" y="1466723"/>
                      </a:lnTo>
                      <a:close/>
                    </a:path>
                    <a:path w="2307590" h="2083435">
                      <a:moveTo>
                        <a:pt x="2157857" y="1523238"/>
                      </a:moveTo>
                      <a:lnTo>
                        <a:pt x="2151634" y="1494917"/>
                      </a:lnTo>
                      <a:lnTo>
                        <a:pt x="2123440" y="1501140"/>
                      </a:lnTo>
                      <a:lnTo>
                        <a:pt x="2129663" y="1529461"/>
                      </a:lnTo>
                      <a:lnTo>
                        <a:pt x="2157857" y="1523238"/>
                      </a:lnTo>
                      <a:close/>
                    </a:path>
                    <a:path w="2307590" h="2083435">
                      <a:moveTo>
                        <a:pt x="2170303" y="1579753"/>
                      </a:moveTo>
                      <a:lnTo>
                        <a:pt x="2164080" y="1551559"/>
                      </a:lnTo>
                      <a:lnTo>
                        <a:pt x="2135886" y="1557782"/>
                      </a:lnTo>
                      <a:lnTo>
                        <a:pt x="2142109" y="1585976"/>
                      </a:lnTo>
                      <a:lnTo>
                        <a:pt x="2170303" y="1579753"/>
                      </a:lnTo>
                      <a:close/>
                    </a:path>
                    <a:path w="2307590" h="2083435">
                      <a:moveTo>
                        <a:pt x="2182749" y="1636395"/>
                      </a:moveTo>
                      <a:lnTo>
                        <a:pt x="2176526" y="1608074"/>
                      </a:lnTo>
                      <a:lnTo>
                        <a:pt x="2148332" y="1614297"/>
                      </a:lnTo>
                      <a:lnTo>
                        <a:pt x="2154555" y="1642618"/>
                      </a:lnTo>
                      <a:lnTo>
                        <a:pt x="2182749" y="1636395"/>
                      </a:lnTo>
                      <a:close/>
                    </a:path>
                    <a:path w="2307590" h="2083435">
                      <a:moveTo>
                        <a:pt x="2195195" y="1692910"/>
                      </a:moveTo>
                      <a:lnTo>
                        <a:pt x="2188972" y="1664589"/>
                      </a:lnTo>
                      <a:lnTo>
                        <a:pt x="2160778" y="1670812"/>
                      </a:lnTo>
                      <a:lnTo>
                        <a:pt x="2167001" y="1699133"/>
                      </a:lnTo>
                      <a:lnTo>
                        <a:pt x="2195195" y="1692910"/>
                      </a:lnTo>
                      <a:close/>
                    </a:path>
                    <a:path w="2307590" h="2083435">
                      <a:moveTo>
                        <a:pt x="2207768" y="1749425"/>
                      </a:moveTo>
                      <a:lnTo>
                        <a:pt x="2201545" y="1721231"/>
                      </a:lnTo>
                      <a:lnTo>
                        <a:pt x="2173224" y="1727454"/>
                      </a:lnTo>
                      <a:lnTo>
                        <a:pt x="2179447" y="1755648"/>
                      </a:lnTo>
                      <a:lnTo>
                        <a:pt x="2207768" y="1749425"/>
                      </a:lnTo>
                      <a:close/>
                    </a:path>
                    <a:path w="2307590" h="2083435">
                      <a:moveTo>
                        <a:pt x="2220214" y="1806067"/>
                      </a:moveTo>
                      <a:lnTo>
                        <a:pt x="2213991" y="1777746"/>
                      </a:lnTo>
                      <a:lnTo>
                        <a:pt x="2185670" y="1783969"/>
                      </a:lnTo>
                      <a:lnTo>
                        <a:pt x="2191893" y="1812290"/>
                      </a:lnTo>
                      <a:lnTo>
                        <a:pt x="2220214" y="1806067"/>
                      </a:lnTo>
                      <a:close/>
                    </a:path>
                    <a:path w="2307590" h="2083435">
                      <a:moveTo>
                        <a:pt x="2232660" y="1862582"/>
                      </a:moveTo>
                      <a:lnTo>
                        <a:pt x="2226437" y="1834261"/>
                      </a:lnTo>
                      <a:lnTo>
                        <a:pt x="2198116" y="1840484"/>
                      </a:lnTo>
                      <a:lnTo>
                        <a:pt x="2204339" y="1868805"/>
                      </a:lnTo>
                      <a:lnTo>
                        <a:pt x="2232660" y="1862582"/>
                      </a:lnTo>
                      <a:close/>
                    </a:path>
                    <a:path w="2307590" h="2083435">
                      <a:moveTo>
                        <a:pt x="2245106" y="1919097"/>
                      </a:moveTo>
                      <a:lnTo>
                        <a:pt x="2238883" y="1890903"/>
                      </a:lnTo>
                      <a:lnTo>
                        <a:pt x="2210562" y="1897126"/>
                      </a:lnTo>
                      <a:lnTo>
                        <a:pt x="2216785" y="1925320"/>
                      </a:lnTo>
                      <a:lnTo>
                        <a:pt x="2245106" y="1919097"/>
                      </a:lnTo>
                      <a:close/>
                    </a:path>
                    <a:path w="2307590" h="2083435">
                      <a:moveTo>
                        <a:pt x="2257552" y="1975739"/>
                      </a:moveTo>
                      <a:lnTo>
                        <a:pt x="2251329" y="1947418"/>
                      </a:lnTo>
                      <a:lnTo>
                        <a:pt x="2223008" y="1953641"/>
                      </a:lnTo>
                      <a:lnTo>
                        <a:pt x="2229231" y="1981962"/>
                      </a:lnTo>
                      <a:lnTo>
                        <a:pt x="2257552" y="1975739"/>
                      </a:lnTo>
                      <a:close/>
                    </a:path>
                    <a:path w="2307590" h="2083435">
                      <a:moveTo>
                        <a:pt x="2307209" y="1956054"/>
                      </a:moveTo>
                      <a:lnTo>
                        <a:pt x="2303018" y="1947799"/>
                      </a:lnTo>
                      <a:lnTo>
                        <a:pt x="2287778" y="1942973"/>
                      </a:lnTo>
                      <a:lnTo>
                        <a:pt x="2279523" y="1947164"/>
                      </a:lnTo>
                      <a:lnTo>
                        <a:pt x="2277110" y="1954784"/>
                      </a:lnTo>
                      <a:lnTo>
                        <a:pt x="2261082" y="2004656"/>
                      </a:lnTo>
                      <a:lnTo>
                        <a:pt x="2238108" y="2009698"/>
                      </a:lnTo>
                      <a:lnTo>
                        <a:pt x="2202561" y="1971167"/>
                      </a:lnTo>
                      <a:lnTo>
                        <a:pt x="2197227" y="1965325"/>
                      </a:lnTo>
                      <a:lnTo>
                        <a:pt x="2187956" y="1964944"/>
                      </a:lnTo>
                      <a:lnTo>
                        <a:pt x="2182114" y="1970278"/>
                      </a:lnTo>
                      <a:lnTo>
                        <a:pt x="2176272" y="1975739"/>
                      </a:lnTo>
                      <a:lnTo>
                        <a:pt x="2175891" y="1984883"/>
                      </a:lnTo>
                      <a:lnTo>
                        <a:pt x="2181352" y="1990725"/>
                      </a:lnTo>
                      <a:lnTo>
                        <a:pt x="2266315" y="2082927"/>
                      </a:lnTo>
                      <a:lnTo>
                        <a:pt x="2276767" y="2050415"/>
                      </a:lnTo>
                      <a:lnTo>
                        <a:pt x="2291677" y="2004060"/>
                      </a:lnTo>
                      <a:lnTo>
                        <a:pt x="2304669" y="1963674"/>
                      </a:lnTo>
                      <a:lnTo>
                        <a:pt x="2307209" y="1956054"/>
                      </a:lnTo>
                      <a:close/>
                    </a:path>
                  </a:pathLst>
                </a:custGeom>
                <a:solidFill>
                  <a:srgbClr val="FF89D7"/>
                </a:solidFill>
              </p:spPr>
              <p:txBody>
                <a:bodyPr wrap="square" lIns="0" tIns="0" rIns="0" bIns="0" rtlCol="0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ptos Display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36" name="object 36"/>
            <p:cNvSpPr txBox="1"/>
            <p:nvPr/>
          </p:nvSpPr>
          <p:spPr>
            <a:xfrm>
              <a:off x="6003163" y="2622205"/>
              <a:ext cx="182038" cy="556895"/>
            </a:xfrm>
            <a:prstGeom prst="rect">
              <a:avLst/>
            </a:prstGeom>
          </p:spPr>
          <p:txBody>
            <a:bodyPr vert="vert270" wrap="square" lIns="0" tIns="0" rIns="0" bIns="0" rtlCol="0">
              <a:spAutoFit/>
            </a:bodyPr>
            <a:lstStyle/>
            <a:p>
              <a:pPr marL="12700" marR="0" lvl="0" indent="0" algn="l" defTabSz="914400" rtl="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7E7E7E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a</a:t>
              </a:r>
              <a:r>
                <a:rPr kumimoji="0" sz="1400" b="0" i="0" u="none" strike="noStrike" kern="1200" cap="none" spc="-25" normalizeH="0" baseline="0" noProof="0" dirty="0">
                  <a:ln>
                    <a:noFill/>
                  </a:ln>
                  <a:solidFill>
                    <a:srgbClr val="7E7E7E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r</a:t>
              </a:r>
              <a:r>
                <a:rPr kumimoji="0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7E7E7E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g</a:t>
              </a:r>
              <a:r>
                <a:rPr kumimoji="0" sz="1400" b="0" i="0" u="none" strike="noStrike" kern="1200" cap="none" spc="-10" normalizeH="0" baseline="0" noProof="0" dirty="0">
                  <a:ln>
                    <a:noFill/>
                  </a:ln>
                  <a:solidFill>
                    <a:srgbClr val="7E7E7E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m</a:t>
              </a:r>
              <a:r>
                <a:rPr kumimoji="0" sz="1400" b="0" i="0" u="none" strike="noStrike" kern="1200" cap="none" spc="-15" normalizeH="0" baseline="0" noProof="0" dirty="0">
                  <a:ln>
                    <a:noFill/>
                  </a:ln>
                  <a:solidFill>
                    <a:srgbClr val="7E7E7E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a</a:t>
              </a:r>
              <a:r>
                <a:rPr kumimoji="0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7E7E7E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x</a:t>
              </a:r>
              <a:endParaRPr kumimoji="0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endParaRPr>
            </a:p>
          </p:txBody>
        </p:sp>
        <p:sp>
          <p:nvSpPr>
            <p:cNvPr id="37" name="object 37"/>
            <p:cNvSpPr txBox="1"/>
            <p:nvPr/>
          </p:nvSpPr>
          <p:spPr>
            <a:xfrm>
              <a:off x="6607936" y="2622205"/>
              <a:ext cx="182038" cy="556895"/>
            </a:xfrm>
            <a:prstGeom prst="rect">
              <a:avLst/>
            </a:prstGeom>
          </p:spPr>
          <p:txBody>
            <a:bodyPr vert="vert270" wrap="square" lIns="0" tIns="0" rIns="0" bIns="0" rtlCol="0">
              <a:spAutoFit/>
            </a:bodyPr>
            <a:lstStyle/>
            <a:p>
              <a:pPr marL="12700" marR="0" lvl="0" indent="0" algn="l" defTabSz="914400" rtl="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7E7E7E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a</a:t>
              </a:r>
              <a:r>
                <a:rPr kumimoji="0" sz="1400" b="0" i="0" u="none" strike="noStrike" kern="1200" cap="none" spc="-25" normalizeH="0" baseline="0" noProof="0" dirty="0">
                  <a:ln>
                    <a:noFill/>
                  </a:ln>
                  <a:solidFill>
                    <a:srgbClr val="7E7E7E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r</a:t>
              </a:r>
              <a:r>
                <a:rPr kumimoji="0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7E7E7E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g</a:t>
              </a:r>
              <a:r>
                <a:rPr kumimoji="0" sz="1400" b="0" i="0" u="none" strike="noStrike" kern="1200" cap="none" spc="-10" normalizeH="0" baseline="0" noProof="0" dirty="0">
                  <a:ln>
                    <a:noFill/>
                  </a:ln>
                  <a:solidFill>
                    <a:srgbClr val="7E7E7E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m</a:t>
              </a:r>
              <a:r>
                <a:rPr kumimoji="0" sz="1400" b="0" i="0" u="none" strike="noStrike" kern="1200" cap="none" spc="-15" normalizeH="0" baseline="0" noProof="0" dirty="0">
                  <a:ln>
                    <a:noFill/>
                  </a:ln>
                  <a:solidFill>
                    <a:srgbClr val="7E7E7E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a</a:t>
              </a:r>
              <a:r>
                <a:rPr kumimoji="0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7E7E7E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x</a:t>
              </a:r>
              <a:endParaRPr kumimoji="0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endParaRPr>
            </a:p>
          </p:txBody>
        </p:sp>
        <p:sp>
          <p:nvSpPr>
            <p:cNvPr id="38" name="object 38"/>
            <p:cNvSpPr txBox="1"/>
            <p:nvPr/>
          </p:nvSpPr>
          <p:spPr>
            <a:xfrm>
              <a:off x="7212710" y="2622205"/>
              <a:ext cx="182038" cy="556895"/>
            </a:xfrm>
            <a:prstGeom prst="rect">
              <a:avLst/>
            </a:prstGeom>
          </p:spPr>
          <p:txBody>
            <a:bodyPr vert="vert270" wrap="square" lIns="0" tIns="0" rIns="0" bIns="0" rtlCol="0">
              <a:spAutoFit/>
            </a:bodyPr>
            <a:lstStyle/>
            <a:p>
              <a:pPr marL="12700" marR="0" lvl="0" indent="0" algn="l" defTabSz="914400" rtl="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7E7E7E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a</a:t>
              </a:r>
              <a:r>
                <a:rPr kumimoji="0" sz="1400" b="0" i="0" u="none" strike="noStrike" kern="1200" cap="none" spc="-25" normalizeH="0" baseline="0" noProof="0" dirty="0">
                  <a:ln>
                    <a:noFill/>
                  </a:ln>
                  <a:solidFill>
                    <a:srgbClr val="7E7E7E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r</a:t>
              </a:r>
              <a:r>
                <a:rPr kumimoji="0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7E7E7E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g</a:t>
              </a:r>
              <a:r>
                <a:rPr kumimoji="0" sz="1400" b="0" i="0" u="none" strike="noStrike" kern="1200" cap="none" spc="-10" normalizeH="0" baseline="0" noProof="0" dirty="0">
                  <a:ln>
                    <a:noFill/>
                  </a:ln>
                  <a:solidFill>
                    <a:srgbClr val="7E7E7E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m</a:t>
              </a:r>
              <a:r>
                <a:rPr kumimoji="0" sz="1400" b="0" i="0" u="none" strike="noStrike" kern="1200" cap="none" spc="-15" normalizeH="0" baseline="0" noProof="0" dirty="0">
                  <a:ln>
                    <a:noFill/>
                  </a:ln>
                  <a:solidFill>
                    <a:srgbClr val="7E7E7E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a</a:t>
              </a:r>
              <a:r>
                <a:rPr kumimoji="0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7E7E7E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x</a:t>
              </a:r>
              <a:endParaRPr kumimoji="0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endParaRPr>
            </a:p>
          </p:txBody>
        </p:sp>
        <p:sp>
          <p:nvSpPr>
            <p:cNvPr id="39" name="object 39"/>
            <p:cNvSpPr txBox="1"/>
            <p:nvPr/>
          </p:nvSpPr>
          <p:spPr>
            <a:xfrm>
              <a:off x="7817358" y="2622205"/>
              <a:ext cx="182038" cy="556895"/>
            </a:xfrm>
            <a:prstGeom prst="rect">
              <a:avLst/>
            </a:prstGeom>
          </p:spPr>
          <p:txBody>
            <a:bodyPr vert="vert270" wrap="square" lIns="0" tIns="0" rIns="0" bIns="0" rtlCol="0">
              <a:spAutoFit/>
            </a:bodyPr>
            <a:lstStyle/>
            <a:p>
              <a:pPr marL="12700" marR="0" lvl="0" indent="0" algn="l" defTabSz="914400" rtl="0" eaLnBrk="1" fontAlgn="auto" latinLnBrk="0" hangingPunct="1">
                <a:lnSpc>
                  <a:spcPts val="143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7E7E7E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a</a:t>
              </a:r>
              <a:r>
                <a:rPr kumimoji="0" sz="1400" b="0" i="0" u="none" strike="noStrike" kern="1200" cap="none" spc="-25" normalizeH="0" baseline="0" noProof="0" dirty="0">
                  <a:ln>
                    <a:noFill/>
                  </a:ln>
                  <a:solidFill>
                    <a:srgbClr val="7E7E7E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r</a:t>
              </a:r>
              <a:r>
                <a:rPr kumimoji="0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7E7E7E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g</a:t>
              </a:r>
              <a:r>
                <a:rPr kumimoji="0" sz="1400" b="0" i="0" u="none" strike="noStrike" kern="1200" cap="none" spc="-10" normalizeH="0" baseline="0" noProof="0" dirty="0">
                  <a:ln>
                    <a:noFill/>
                  </a:ln>
                  <a:solidFill>
                    <a:srgbClr val="7E7E7E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m</a:t>
              </a:r>
              <a:r>
                <a:rPr kumimoji="0" sz="1400" b="0" i="0" u="none" strike="noStrike" kern="1200" cap="none" spc="-15" normalizeH="0" baseline="0" noProof="0" dirty="0">
                  <a:ln>
                    <a:noFill/>
                  </a:ln>
                  <a:solidFill>
                    <a:srgbClr val="7E7E7E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a</a:t>
              </a:r>
              <a:r>
                <a:rPr kumimoji="0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7E7E7E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x</a:t>
              </a:r>
              <a:endParaRPr kumimoji="0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1325" y="955307"/>
            <a:ext cx="11307763" cy="629018"/>
          </a:xfrm>
          <a:prstGeom prst="rect">
            <a:avLst/>
          </a:prstGeom>
        </p:spPr>
        <p:txBody>
          <a:bodyPr vert="horz" wrap="square" lIns="0" tIns="13335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Problems</a:t>
            </a:r>
            <a:r>
              <a:rPr spc="-40" dirty="0"/>
              <a:t> </a:t>
            </a:r>
            <a:r>
              <a:rPr lang="en-US" spc="-5" dirty="0"/>
              <a:t>W</a:t>
            </a:r>
            <a:r>
              <a:rPr spc="-5" dirty="0"/>
              <a:t>ith </a:t>
            </a:r>
            <a:r>
              <a:rPr lang="en-US" spc="-5" dirty="0"/>
              <a:t>G</a:t>
            </a:r>
            <a:r>
              <a:rPr spc="-5" dirty="0"/>
              <a:t>reedy</a:t>
            </a:r>
            <a:r>
              <a:rPr spc="-30" dirty="0"/>
              <a:t> </a:t>
            </a:r>
            <a:r>
              <a:rPr lang="en-US" spc="-5" dirty="0"/>
              <a:t>D</a:t>
            </a:r>
            <a:r>
              <a:rPr spc="-5" dirty="0"/>
              <a:t>ecoding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C2FB85A-B900-717E-D238-4B09F5528B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Greedy decoding has no way to undo decisions!</a:t>
            </a:r>
          </a:p>
          <a:p>
            <a:pPr>
              <a:lnSpc>
                <a:spcPct val="100000"/>
              </a:lnSpc>
            </a:pPr>
            <a:r>
              <a:rPr lang="en-US" sz="2400" u="heavy" spc="-5" dirty="0">
                <a:uFill>
                  <a:solidFill>
                    <a:srgbClr val="000000"/>
                  </a:solidFill>
                </a:uFill>
                <a:cs typeface="Calibri"/>
              </a:rPr>
              <a:t>Input</a:t>
            </a:r>
            <a:r>
              <a:rPr lang="en-US" sz="2400" spc="-5" dirty="0">
                <a:cs typeface="Calibri"/>
              </a:rPr>
              <a:t>:</a:t>
            </a:r>
            <a:r>
              <a:rPr lang="en-US" sz="2400" spc="-35" dirty="0">
                <a:cs typeface="Calibri"/>
              </a:rPr>
              <a:t> </a:t>
            </a:r>
            <a:r>
              <a:rPr lang="en-US" sz="2400" i="1" dirty="0">
                <a:cs typeface="Calibri"/>
              </a:rPr>
              <a:t>il</a:t>
            </a:r>
            <a:r>
              <a:rPr lang="en-US" sz="2400" i="1" spc="-30" dirty="0">
                <a:cs typeface="Calibri"/>
              </a:rPr>
              <a:t> </a:t>
            </a:r>
            <a:r>
              <a:rPr lang="en-US" sz="2400" i="1" dirty="0">
                <a:cs typeface="Calibri"/>
              </a:rPr>
              <a:t>a</a:t>
            </a:r>
            <a:r>
              <a:rPr lang="en-US" sz="2400" i="1" spc="-25" dirty="0">
                <a:cs typeface="Calibri"/>
              </a:rPr>
              <a:t> </a:t>
            </a:r>
            <a:r>
              <a:rPr lang="en-US" sz="2400" i="1" dirty="0" err="1">
                <a:cs typeface="Calibri"/>
              </a:rPr>
              <a:t>m’entarté</a:t>
            </a:r>
            <a:endParaRPr lang="en-US" sz="2400" dirty="0">
              <a:cs typeface="Calibri"/>
            </a:endParaRPr>
          </a:p>
          <a:p>
            <a:pPr marL="354965" indent="-342900">
              <a:lnSpc>
                <a:spcPct val="100000"/>
              </a:lnSpc>
              <a:spcBef>
                <a:spcPts val="575"/>
              </a:spcBef>
              <a:buClr>
                <a:srgbClr val="3986FF"/>
              </a:buClr>
              <a:tabLst>
                <a:tab pos="241935" algn="l"/>
                <a:tab pos="1638300" algn="l"/>
              </a:tabLst>
            </a:pPr>
            <a:r>
              <a:rPr lang="en-US" sz="2400" i="1" dirty="0">
                <a:cs typeface="Calibri"/>
              </a:rPr>
              <a:t>→</a:t>
            </a:r>
            <a:r>
              <a:rPr lang="en-US" sz="2400" i="1" spc="-45" dirty="0">
                <a:cs typeface="Calibri"/>
              </a:rPr>
              <a:t> </a:t>
            </a:r>
            <a:r>
              <a:rPr lang="en-US" sz="2400" i="1" spc="-5" dirty="0">
                <a:cs typeface="Calibri"/>
              </a:rPr>
              <a:t>he </a:t>
            </a:r>
            <a:r>
              <a:rPr lang="en-US" sz="2400" u="heavy" dirty="0">
                <a:uFill>
                  <a:solidFill>
                    <a:srgbClr val="000000"/>
                  </a:solidFill>
                </a:uFill>
                <a:cs typeface="Times New Roman"/>
              </a:rPr>
              <a:t> 	</a:t>
            </a:r>
            <a:endParaRPr lang="en-US" sz="2400" dirty="0">
              <a:cs typeface="Times New Roman"/>
            </a:endParaRPr>
          </a:p>
          <a:p>
            <a:pPr marL="354965" indent="-342900">
              <a:lnSpc>
                <a:spcPct val="100000"/>
              </a:lnSpc>
              <a:spcBef>
                <a:spcPts val="575"/>
              </a:spcBef>
              <a:buClr>
                <a:srgbClr val="3986FF"/>
              </a:buClr>
              <a:tabLst>
                <a:tab pos="241935" algn="l"/>
                <a:tab pos="2033905" algn="l"/>
              </a:tabLst>
            </a:pPr>
            <a:r>
              <a:rPr lang="en-US" sz="2400" i="1" dirty="0">
                <a:cs typeface="Calibri"/>
              </a:rPr>
              <a:t>→</a:t>
            </a:r>
            <a:r>
              <a:rPr lang="en-US" sz="2400" i="1" spc="-35" dirty="0">
                <a:cs typeface="Calibri"/>
              </a:rPr>
              <a:t> </a:t>
            </a:r>
            <a:r>
              <a:rPr lang="en-US" sz="2400" i="1" spc="-5" dirty="0">
                <a:cs typeface="Calibri"/>
              </a:rPr>
              <a:t>he</a:t>
            </a:r>
            <a:r>
              <a:rPr lang="en-US" sz="2400" i="1" spc="-30" dirty="0">
                <a:cs typeface="Calibri"/>
              </a:rPr>
              <a:t> </a:t>
            </a:r>
            <a:r>
              <a:rPr lang="en-US" sz="2400" i="1" spc="-5" dirty="0">
                <a:cs typeface="Calibri"/>
              </a:rPr>
              <a:t>hit</a:t>
            </a:r>
            <a:r>
              <a:rPr lang="en-US" sz="2400" i="1" spc="-15" dirty="0">
                <a:cs typeface="Calibri"/>
              </a:rPr>
              <a:t> </a:t>
            </a:r>
            <a:r>
              <a:rPr lang="en-US" sz="2400" u="heavy" dirty="0">
                <a:uFill>
                  <a:solidFill>
                    <a:srgbClr val="000000"/>
                  </a:solidFill>
                </a:uFill>
                <a:cs typeface="Times New Roman"/>
              </a:rPr>
              <a:t> 	</a:t>
            </a:r>
            <a:endParaRPr lang="en-US" sz="2400" dirty="0">
              <a:cs typeface="Times New Roman"/>
            </a:endParaRPr>
          </a:p>
          <a:p>
            <a:pPr marL="354965" indent="-342900">
              <a:lnSpc>
                <a:spcPct val="100000"/>
              </a:lnSpc>
              <a:spcBef>
                <a:spcPts val="575"/>
              </a:spcBef>
              <a:buClr>
                <a:srgbClr val="3986FF"/>
              </a:buClr>
              <a:tabLst>
                <a:tab pos="241935" algn="l"/>
                <a:tab pos="2253615" algn="l"/>
              </a:tabLst>
            </a:pPr>
            <a:r>
              <a:rPr lang="en-US" sz="2400" i="1" dirty="0">
                <a:cs typeface="Calibri"/>
              </a:rPr>
              <a:t>→</a:t>
            </a:r>
            <a:r>
              <a:rPr lang="en-US" sz="2400" i="1" spc="-25" dirty="0">
                <a:cs typeface="Calibri"/>
              </a:rPr>
              <a:t> </a:t>
            </a:r>
            <a:r>
              <a:rPr lang="en-US" sz="2400" i="1" spc="-5" dirty="0">
                <a:cs typeface="Calibri"/>
              </a:rPr>
              <a:t>he</a:t>
            </a:r>
            <a:r>
              <a:rPr lang="en-US" sz="2400" i="1" spc="-25" dirty="0">
                <a:cs typeface="Calibri"/>
              </a:rPr>
              <a:t> </a:t>
            </a:r>
            <a:r>
              <a:rPr lang="en-US" sz="2400" i="1" spc="-5" dirty="0">
                <a:cs typeface="Calibri"/>
              </a:rPr>
              <a:t>hit</a:t>
            </a:r>
            <a:r>
              <a:rPr lang="en-US" sz="2400" i="1" spc="-30" dirty="0">
                <a:cs typeface="Calibri"/>
              </a:rPr>
              <a:t> </a:t>
            </a:r>
            <a:r>
              <a:rPr lang="en-US" sz="2400" i="1" dirty="0">
                <a:solidFill>
                  <a:srgbClr val="C00000"/>
                </a:solidFill>
                <a:cs typeface="Calibri"/>
              </a:rPr>
              <a:t>a</a:t>
            </a:r>
            <a:r>
              <a:rPr lang="en-US" sz="2400" i="1" spc="-5" dirty="0">
                <a:solidFill>
                  <a:srgbClr val="C00000"/>
                </a:solidFill>
                <a:cs typeface="Calibri"/>
              </a:rPr>
              <a:t> </a:t>
            </a:r>
            <a:r>
              <a:rPr lang="en-US" sz="2400" i="1" u="heavy" dirty="0">
                <a:solidFill>
                  <a:srgbClr val="C00000"/>
                </a:solidFill>
                <a:uFill>
                  <a:solidFill>
                    <a:srgbClr val="000000"/>
                  </a:solidFill>
                </a:uFill>
                <a:cs typeface="Calibri"/>
              </a:rPr>
              <a:t> 	</a:t>
            </a:r>
            <a:endParaRPr lang="en-US" dirty="0"/>
          </a:p>
          <a:p>
            <a:endParaRPr lang="en-IN" dirty="0"/>
          </a:p>
        </p:txBody>
      </p:sp>
      <p:sp>
        <p:nvSpPr>
          <p:cNvPr id="5" name="object 5"/>
          <p:cNvSpPr txBox="1"/>
          <p:nvPr/>
        </p:nvSpPr>
        <p:spPr>
          <a:xfrm>
            <a:off x="3382369" y="2407532"/>
            <a:ext cx="19951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(he hit</a:t>
            </a:r>
            <a:r>
              <a:rPr kumimoji="0" sz="1800" b="0" i="1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me</a:t>
            </a:r>
            <a:r>
              <a:rPr kumimoji="0" sz="1800" b="0" i="1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with</a:t>
            </a:r>
            <a:r>
              <a:rPr kumimoji="0" sz="1800" b="0" i="1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pie)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48817" y="3683476"/>
            <a:ext cx="29273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(whoops! no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going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back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now…)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86655" y="4645413"/>
            <a:ext cx="2291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CC0000"/>
              </a:buClr>
              <a:buSzTx/>
              <a:buFontTx/>
              <a:buNone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E08080">
                    <a:lumMod val="75000"/>
                  </a:srgbClr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How</a:t>
            </a:r>
            <a:r>
              <a:rPr kumimoji="0" sz="2400" b="0" i="0" u="none" strike="noStrike" kern="1200" cap="none" spc="-35" normalizeH="0" baseline="0" noProof="0" dirty="0">
                <a:ln>
                  <a:noFill/>
                </a:ln>
                <a:solidFill>
                  <a:srgbClr val="E08080">
                    <a:lumMod val="75000"/>
                  </a:srgbClr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E08080">
                    <a:lumMod val="75000"/>
                  </a:srgbClr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to</a:t>
            </a:r>
            <a:r>
              <a:rPr kumimoji="0" sz="2400" b="0" i="0" u="none" strike="noStrike" kern="1200" cap="none" spc="-50" normalizeH="0" baseline="0" noProof="0" dirty="0">
                <a:ln>
                  <a:noFill/>
                </a:ln>
                <a:solidFill>
                  <a:srgbClr val="E08080">
                    <a:lumMod val="75000"/>
                  </a:srgbClr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E08080">
                    <a:lumMod val="75000"/>
                  </a:srgbClr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fix</a:t>
            </a:r>
            <a:r>
              <a:rPr kumimoji="0" sz="2400" b="0" i="0" u="none" strike="noStrike" kern="1200" cap="none" spc="-30" normalizeH="0" baseline="0" noProof="0" dirty="0">
                <a:ln>
                  <a:noFill/>
                </a:ln>
                <a:solidFill>
                  <a:srgbClr val="E08080">
                    <a:lumMod val="75000"/>
                  </a:srgbClr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E08080">
                    <a:lumMod val="75000"/>
                  </a:srgbClr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this?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1325" y="955307"/>
            <a:ext cx="11307763" cy="629018"/>
          </a:xfrm>
          <a:prstGeom prst="rect">
            <a:avLst/>
          </a:prstGeom>
        </p:spPr>
        <p:txBody>
          <a:bodyPr vert="horz" wrap="square" lIns="0" tIns="13335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Exhaustive</a:t>
            </a:r>
            <a:r>
              <a:rPr spc="-60" dirty="0"/>
              <a:t> </a:t>
            </a:r>
            <a:r>
              <a:rPr lang="en-US" dirty="0"/>
              <a:t>S</a:t>
            </a:r>
            <a:r>
              <a:rPr dirty="0"/>
              <a:t>earch</a:t>
            </a:r>
            <a:r>
              <a:rPr spc="-55" dirty="0"/>
              <a:t> </a:t>
            </a:r>
            <a:r>
              <a:rPr lang="en-US" spc="-5" dirty="0"/>
              <a:t>D</a:t>
            </a:r>
            <a:r>
              <a:rPr spc="-5" dirty="0"/>
              <a:t>ecoding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189EE5-2C8E-2BD0-BBD2-6DF899DF51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Ideally we want to find a (length </a:t>
            </a:r>
            <a:r>
              <a:rPr lang="en-US" i="1" dirty="0"/>
              <a:t>T</a:t>
            </a:r>
            <a:r>
              <a:rPr lang="en-US" dirty="0"/>
              <a:t>) translation </a:t>
            </a:r>
            <a:r>
              <a:rPr lang="en-US" i="1" dirty="0"/>
              <a:t>y</a:t>
            </a:r>
            <a:r>
              <a:rPr lang="en-US" dirty="0"/>
              <a:t> that maximizes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endParaRPr lang="en-US" dirty="0"/>
          </a:p>
          <a:p>
            <a:pPr marL="0" indent="0">
              <a:lnSpc>
                <a:spcPct val="100000"/>
              </a:lnSpc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buNone/>
            </a:pPr>
            <a:endParaRPr lang="en-US" sz="1200" dirty="0"/>
          </a:p>
          <a:p>
            <a:pPr>
              <a:lnSpc>
                <a:spcPct val="100000"/>
              </a:lnSpc>
            </a:pPr>
            <a:r>
              <a:rPr lang="en-US" dirty="0"/>
              <a:t>We could try computing </a:t>
            </a:r>
            <a:r>
              <a:rPr lang="en-US" dirty="0">
                <a:solidFill>
                  <a:schemeClr val="accent5"/>
                </a:solidFill>
              </a:rPr>
              <a:t>all possible sequences </a:t>
            </a:r>
            <a:r>
              <a:rPr lang="en-US" i="1" dirty="0"/>
              <a:t>y</a:t>
            </a:r>
          </a:p>
          <a:p>
            <a:pPr>
              <a:lnSpc>
                <a:spcPct val="100000"/>
              </a:lnSpc>
            </a:pPr>
            <a:r>
              <a:rPr lang="en-US" dirty="0"/>
              <a:t>This means that on each step </a:t>
            </a:r>
            <a:r>
              <a:rPr lang="en-US" i="1" dirty="0"/>
              <a:t>t</a:t>
            </a:r>
            <a:r>
              <a:rPr lang="en-US" dirty="0"/>
              <a:t> of the decoder, we’re tracking </a:t>
            </a:r>
            <a:r>
              <a:rPr lang="en-US" i="1" dirty="0"/>
              <a:t>V</a:t>
            </a:r>
            <a:r>
              <a:rPr lang="en-US" i="1" baseline="30000" dirty="0"/>
              <a:t>t</a:t>
            </a:r>
            <a:r>
              <a:rPr lang="en-US" dirty="0"/>
              <a:t> possible  partial translations, where </a:t>
            </a:r>
            <a:r>
              <a:rPr lang="en-US" i="1" dirty="0"/>
              <a:t>V</a:t>
            </a:r>
            <a:r>
              <a:rPr lang="en-US" dirty="0"/>
              <a:t> is vocab size</a:t>
            </a:r>
          </a:p>
          <a:p>
            <a:pPr>
              <a:lnSpc>
                <a:spcPct val="100000"/>
              </a:lnSpc>
            </a:pPr>
            <a:r>
              <a:rPr lang="en-US" dirty="0"/>
              <a:t>This O(V</a:t>
            </a:r>
            <a:r>
              <a:rPr lang="en-US" baseline="30000" dirty="0"/>
              <a:t>T</a:t>
            </a:r>
            <a:r>
              <a:rPr lang="en-US" dirty="0"/>
              <a:t>) complexity is </a:t>
            </a:r>
            <a:r>
              <a:rPr lang="en-US" b="1" dirty="0">
                <a:solidFill>
                  <a:schemeClr val="accent5"/>
                </a:solidFill>
              </a:rPr>
              <a:t>far too expensive</a:t>
            </a:r>
            <a:r>
              <a:rPr lang="en-US" dirty="0"/>
              <a:t>!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5597" y="2639505"/>
            <a:ext cx="8187265" cy="1170932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1325" y="955307"/>
            <a:ext cx="11307763" cy="629018"/>
          </a:xfrm>
          <a:prstGeom prst="rect">
            <a:avLst/>
          </a:prstGeom>
        </p:spPr>
        <p:txBody>
          <a:bodyPr vert="horz" wrap="square" lIns="0" tIns="13335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Beam</a:t>
            </a:r>
            <a:r>
              <a:rPr spc="-30" dirty="0"/>
              <a:t> </a:t>
            </a:r>
            <a:r>
              <a:rPr lang="en-US" dirty="0"/>
              <a:t>S</a:t>
            </a:r>
            <a:r>
              <a:rPr dirty="0"/>
              <a:t>earch</a:t>
            </a:r>
            <a:r>
              <a:rPr spc="-50" dirty="0"/>
              <a:t> </a:t>
            </a:r>
            <a:r>
              <a:rPr lang="en-US" spc="-5" dirty="0"/>
              <a:t>D</a:t>
            </a:r>
            <a:r>
              <a:rPr spc="-5" dirty="0"/>
              <a:t>ecoding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9BA33ADD-3574-B055-0944-4CBFFE90B5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en-US" b="1" dirty="0">
                    <a:solidFill>
                      <a:schemeClr val="accent1"/>
                    </a:solidFill>
                  </a:rPr>
                  <a:t>Core idea: </a:t>
                </a:r>
                <a:r>
                  <a:rPr lang="en-US" dirty="0"/>
                  <a:t>On each step of decoder, keep track of the </a:t>
                </a:r>
                <a:r>
                  <a:rPr lang="en-US" i="1" dirty="0">
                    <a:solidFill>
                      <a:schemeClr val="accent6">
                        <a:lumMod val="75000"/>
                      </a:schemeClr>
                    </a:solidFill>
                  </a:rPr>
                  <a:t>k most  probable </a:t>
                </a:r>
                <a:r>
                  <a:rPr lang="en-US" dirty="0"/>
                  <a:t>partial translations (which we call </a:t>
                </a:r>
                <a:r>
                  <a:rPr lang="en-US" i="1" dirty="0">
                    <a:solidFill>
                      <a:schemeClr val="accent6">
                        <a:lumMod val="75000"/>
                      </a:schemeClr>
                    </a:solidFill>
                  </a:rPr>
                  <a:t>hypotheses</a:t>
                </a:r>
                <a:r>
                  <a:rPr lang="en-US" dirty="0"/>
                  <a:t>)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i="1" dirty="0">
                    <a:solidFill>
                      <a:schemeClr val="accent6">
                        <a:lumMod val="75000"/>
                      </a:schemeClr>
                    </a:solidFill>
                  </a:rPr>
                  <a:t>k</a:t>
                </a:r>
                <a:r>
                  <a:rPr lang="en-US" dirty="0"/>
                  <a:t> is the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beam size </a:t>
                </a:r>
                <a:r>
                  <a:rPr lang="en-US" dirty="0"/>
                  <a:t>(in practice around 5 to 10)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A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has a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score</a:t>
                </a:r>
                <a:r>
                  <a:rPr lang="en-US" dirty="0"/>
                  <a:t> which is its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log probability</a:t>
                </a:r>
                <a:r>
                  <a:rPr lang="en-US" dirty="0"/>
                  <a:t>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dirty="0"/>
              </a:p>
              <a:p>
                <a:pPr lvl="1">
                  <a:lnSpc>
                    <a:spcPct val="100000"/>
                  </a:lnSpc>
                </a:pPr>
                <a:r>
                  <a:rPr lang="en-US" dirty="0"/>
                  <a:t>Scores are all negative, and higher score is better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dirty="0"/>
                  <a:t>We search for high-scoring hypotheses, tracking top </a:t>
                </a:r>
                <a:r>
                  <a:rPr lang="en-US" i="1" dirty="0"/>
                  <a:t>k</a:t>
                </a:r>
                <a:r>
                  <a:rPr lang="en-US" dirty="0"/>
                  <a:t> on each step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Beam search is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not guaranteed </a:t>
                </a:r>
                <a:r>
                  <a:rPr lang="en-US" dirty="0"/>
                  <a:t>to find optimal solution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dirty="0"/>
                  <a:t>But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much more efficient </a:t>
                </a:r>
                <a:r>
                  <a:rPr lang="en-US" dirty="0"/>
                  <a:t>than exhaustive search!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9BA33ADD-3574-B055-0944-4CBFFE90B5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01" t="-1122" b="-70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98638" y="3602068"/>
            <a:ext cx="8084770" cy="76352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74838" y="3006768"/>
            <a:ext cx="9242323" cy="844462"/>
          </a:xfrm>
          <a:prstGeom prst="rect">
            <a:avLst/>
          </a:prstGeom>
        </p:spPr>
        <p:txBody>
          <a:bodyPr vert="horz" wrap="square" lIns="0" tIns="1333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5400" dirty="0"/>
              <a:t>Beam Search Decoding: Example</a:t>
            </a:r>
            <a:endParaRPr sz="5400" dirty="0"/>
          </a:p>
        </p:txBody>
      </p:sp>
    </p:spTree>
    <p:extLst>
      <p:ext uri="{BB962C8B-B14F-4D97-AF65-F5344CB8AC3E}">
        <p14:creationId xmlns:p14="http://schemas.microsoft.com/office/powerpoint/2010/main" val="3532337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524001" y="4038601"/>
            <a:ext cx="1167765" cy="337913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31445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&lt;START&gt;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15362" y="5982461"/>
            <a:ext cx="2348869" cy="584134"/>
          </a:xfrm>
          <a:prstGeom prst="rect">
            <a:avLst/>
          </a:prstGeom>
          <a:ln w="19812">
            <a:solidFill>
              <a:srgbClr val="BA56BD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87960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Calculate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prob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  <a:p>
            <a:pPr marL="9969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dist</a:t>
            </a:r>
            <a:r>
              <a:rPr kumimoji="0" lang="en-US" sz="18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ribution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of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next</a:t>
            </a: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word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3FC75D26-A9ED-E6EE-4AFE-1F5B6F49FF9F}"/>
              </a:ext>
            </a:extLst>
          </p:cNvPr>
          <p:cNvSpPr txBox="1"/>
          <p:nvPr/>
        </p:nvSpPr>
        <p:spPr>
          <a:xfrm>
            <a:off x="1875934" y="840487"/>
            <a:ext cx="3557126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Beam</a:t>
            </a:r>
            <a:r>
              <a:rPr kumimoji="0" sz="2000" b="1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20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size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=</a:t>
            </a:r>
            <a:r>
              <a:rPr kumimoji="0" sz="2000" b="1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k</a:t>
            </a:r>
            <a:r>
              <a:rPr kumimoji="0" sz="2000" b="1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=</a:t>
            </a:r>
            <a:r>
              <a:rPr kumimoji="0" sz="20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2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.</a:t>
            </a:r>
            <a:r>
              <a:rPr kumimoji="0" sz="2000" b="0" i="0" u="none" strike="noStrike" kern="120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524001" y="4038601"/>
            <a:ext cx="1167765" cy="337913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31445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&lt;START&gt;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08859" y="3107436"/>
            <a:ext cx="571500" cy="337913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he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08859" y="4971289"/>
            <a:ext cx="571500" cy="337271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103158" y="3543300"/>
            <a:ext cx="491490" cy="500380"/>
          </a:xfrm>
          <a:custGeom>
            <a:avLst/>
            <a:gdLst/>
            <a:ahLst/>
            <a:cxnLst/>
            <a:rect l="l" t="t" r="r" b="b"/>
            <a:pathLst>
              <a:path w="491490" h="500379">
                <a:moveTo>
                  <a:pt x="433491" y="49928"/>
                </a:moveTo>
                <a:lnTo>
                  <a:pt x="0" y="491236"/>
                </a:lnTo>
                <a:lnTo>
                  <a:pt x="9067" y="500125"/>
                </a:lnTo>
                <a:lnTo>
                  <a:pt x="442556" y="58822"/>
                </a:lnTo>
                <a:lnTo>
                  <a:pt x="433491" y="49928"/>
                </a:lnTo>
                <a:close/>
              </a:path>
              <a:path w="491490" h="500379">
                <a:moveTo>
                  <a:pt x="478171" y="40894"/>
                </a:moveTo>
                <a:lnTo>
                  <a:pt x="442366" y="40894"/>
                </a:lnTo>
                <a:lnTo>
                  <a:pt x="451434" y="49784"/>
                </a:lnTo>
                <a:lnTo>
                  <a:pt x="442556" y="58822"/>
                </a:lnTo>
                <a:lnTo>
                  <a:pt x="465188" y="81025"/>
                </a:lnTo>
                <a:lnTo>
                  <a:pt x="478171" y="40894"/>
                </a:lnTo>
                <a:close/>
              </a:path>
              <a:path w="491490" h="500379">
                <a:moveTo>
                  <a:pt x="442366" y="40894"/>
                </a:moveTo>
                <a:lnTo>
                  <a:pt x="433491" y="49928"/>
                </a:lnTo>
                <a:lnTo>
                  <a:pt x="442556" y="58822"/>
                </a:lnTo>
                <a:lnTo>
                  <a:pt x="451434" y="49784"/>
                </a:lnTo>
                <a:lnTo>
                  <a:pt x="442366" y="40894"/>
                </a:lnTo>
                <a:close/>
              </a:path>
              <a:path w="491490" h="500379">
                <a:moveTo>
                  <a:pt x="491401" y="0"/>
                </a:moveTo>
                <a:lnTo>
                  <a:pt x="410819" y="27686"/>
                </a:lnTo>
                <a:lnTo>
                  <a:pt x="433491" y="49928"/>
                </a:lnTo>
                <a:lnTo>
                  <a:pt x="442366" y="40894"/>
                </a:lnTo>
                <a:lnTo>
                  <a:pt x="478171" y="40894"/>
                </a:lnTo>
                <a:lnTo>
                  <a:pt x="4914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103158" y="4470020"/>
            <a:ext cx="491490" cy="501015"/>
          </a:xfrm>
          <a:custGeom>
            <a:avLst/>
            <a:gdLst/>
            <a:ahLst/>
            <a:cxnLst/>
            <a:rect l="l" t="t" r="r" b="b"/>
            <a:pathLst>
              <a:path w="491490" h="501014">
                <a:moveTo>
                  <a:pt x="433458" y="450760"/>
                </a:moveTo>
                <a:lnTo>
                  <a:pt x="410832" y="472947"/>
                </a:lnTo>
                <a:lnTo>
                  <a:pt x="491401" y="500760"/>
                </a:lnTo>
                <a:lnTo>
                  <a:pt x="478211" y="459866"/>
                </a:lnTo>
                <a:lnTo>
                  <a:pt x="442391" y="459866"/>
                </a:lnTo>
                <a:lnTo>
                  <a:pt x="433458" y="450760"/>
                </a:lnTo>
                <a:close/>
              </a:path>
              <a:path w="491490" h="501014">
                <a:moveTo>
                  <a:pt x="442525" y="441869"/>
                </a:moveTo>
                <a:lnTo>
                  <a:pt x="433458" y="450760"/>
                </a:lnTo>
                <a:lnTo>
                  <a:pt x="442391" y="459866"/>
                </a:lnTo>
                <a:lnTo>
                  <a:pt x="451459" y="450976"/>
                </a:lnTo>
                <a:lnTo>
                  <a:pt x="442525" y="441869"/>
                </a:lnTo>
                <a:close/>
              </a:path>
              <a:path w="491490" h="501014">
                <a:moveTo>
                  <a:pt x="465226" y="419607"/>
                </a:moveTo>
                <a:lnTo>
                  <a:pt x="442525" y="441869"/>
                </a:lnTo>
                <a:lnTo>
                  <a:pt x="451459" y="450976"/>
                </a:lnTo>
                <a:lnTo>
                  <a:pt x="442391" y="459866"/>
                </a:lnTo>
                <a:lnTo>
                  <a:pt x="478211" y="459866"/>
                </a:lnTo>
                <a:lnTo>
                  <a:pt x="465226" y="419607"/>
                </a:lnTo>
                <a:close/>
              </a:path>
              <a:path w="491490" h="501014">
                <a:moveTo>
                  <a:pt x="9067" y="0"/>
                </a:moveTo>
                <a:lnTo>
                  <a:pt x="0" y="8889"/>
                </a:lnTo>
                <a:lnTo>
                  <a:pt x="433458" y="450760"/>
                </a:lnTo>
                <a:lnTo>
                  <a:pt x="442525" y="441869"/>
                </a:lnTo>
                <a:lnTo>
                  <a:pt x="90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59457" y="2785617"/>
            <a:ext cx="26092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-0.7</a:t>
            </a:r>
            <a:r>
              <a:rPr kumimoji="0" sz="1800" b="0" i="0" u="none" strike="noStrike" kern="1200" cap="none" spc="39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700" b="0" i="0" u="none" strike="noStrike" kern="1200" cap="none" spc="0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=</a:t>
            </a:r>
            <a:r>
              <a:rPr kumimoji="0" sz="2700" b="0" i="0" u="none" strike="noStrike" kern="1200" cap="none" spc="-22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700" b="0" i="0" u="none" strike="noStrike" kern="1200" cap="none" spc="0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log</a:t>
            </a:r>
            <a:r>
              <a:rPr kumimoji="0" sz="2700" b="0" i="0" u="none" strike="noStrike" kern="1200" cap="none" spc="7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700" b="0" i="0" u="none" strike="noStrike" kern="1200" cap="none" spc="-30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</a:t>
            </a:r>
            <a:r>
              <a:rPr kumimoji="0" sz="1800" b="0" i="0" u="none" strike="noStrike" kern="1200" cap="none" spc="-30" normalizeH="0" baseline="-18518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LM</a:t>
            </a:r>
            <a:r>
              <a:rPr kumimoji="0" sz="2700" b="0" i="0" u="none" strike="noStrike" kern="1200" cap="none" spc="-30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</a:t>
            </a:r>
            <a:r>
              <a:rPr kumimoji="0" sz="2700" b="0" i="1" u="none" strike="noStrike" kern="1200" cap="none" spc="-30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he</a:t>
            </a:r>
            <a:r>
              <a:rPr kumimoji="0" sz="2700" b="0" i="0" u="none" strike="noStrike" kern="1200" cap="none" spc="-30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|</a:t>
            </a:r>
            <a:r>
              <a:rPr kumimoji="0" sz="2700" b="0" i="1" u="none" strike="noStrike" kern="1200" cap="none" spc="-30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&lt;START&gt;</a:t>
            </a:r>
            <a:r>
              <a:rPr kumimoji="0" sz="2700" b="0" i="0" u="none" strike="noStrike" kern="1200" cap="none" spc="-30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)</a:t>
            </a:r>
            <a:endParaRPr kumimoji="0" sz="2700" b="0" i="0" u="none" strike="noStrike" kern="1200" cap="none" spc="0" normalizeH="0" baseline="1543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59457" y="5425236"/>
            <a:ext cx="24085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700" b="0" i="0" u="none" strike="noStrike" kern="1200" cap="none" spc="0" normalizeH="0" baseline="-3086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-0.9</a:t>
            </a:r>
            <a:r>
              <a:rPr kumimoji="0" sz="2700" b="0" i="0" u="none" strike="noStrike" kern="1200" cap="none" spc="209" normalizeH="0" baseline="-3086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=</a:t>
            </a: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log</a:t>
            </a:r>
            <a:r>
              <a:rPr kumimoji="0" sz="1800" b="0" i="0" u="none" strike="noStrike" kern="1200" cap="none" spc="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</a:t>
            </a:r>
            <a:r>
              <a:rPr kumimoji="0" sz="1800" b="0" i="0" u="none" strike="noStrike" kern="1200" cap="none" spc="-30" normalizeH="0" baseline="-2083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LM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</a:t>
            </a:r>
            <a:r>
              <a:rPr kumimoji="0" sz="1800" b="0" i="1" u="none" strike="noStrike" kern="1200" cap="none" spc="-2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|</a:t>
            </a:r>
            <a:r>
              <a:rPr kumimoji="0" sz="1800" b="0" i="1" u="none" strike="noStrike" kern="1200" cap="none" spc="-2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&lt;START&gt;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)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00122" y="6017515"/>
            <a:ext cx="2070100" cy="585417"/>
          </a:xfrm>
          <a:prstGeom prst="rect">
            <a:avLst/>
          </a:prstGeom>
          <a:ln w="19812">
            <a:solidFill>
              <a:srgbClr val="BA56BD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99695" marR="95250" lvl="0" indent="129539" algn="l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Take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top</a:t>
            </a:r>
            <a:r>
              <a:rPr kumimoji="0" sz="1800" b="0" i="0" u="none" strike="noStrike" kern="1200" cap="none" spc="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k</a:t>
            </a:r>
            <a:r>
              <a:rPr kumimoji="0" sz="1800" b="0" i="1" u="none" strike="noStrike" kern="1200" cap="none" spc="-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words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and</a:t>
            </a:r>
            <a:r>
              <a:rPr kumimoji="0" sz="1800" b="0" i="0" u="none" strike="noStrike" kern="1200" cap="none" spc="-3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compute</a:t>
            </a:r>
            <a:r>
              <a:rPr kumimoji="0" sz="1800" b="0" i="0" u="none" strike="noStrike" kern="1200" cap="none" spc="-2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scores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7F95AD7-0E3E-E02B-BD8A-65F06B7433DF}"/>
              </a:ext>
            </a:extLst>
          </p:cNvPr>
          <p:cNvGrpSpPr/>
          <p:nvPr/>
        </p:nvGrpSpPr>
        <p:grpSpPr>
          <a:xfrm>
            <a:off x="1875934" y="646192"/>
            <a:ext cx="8356238" cy="736600"/>
            <a:chOff x="1875934" y="646192"/>
            <a:chExt cx="8356238" cy="736600"/>
          </a:xfrm>
        </p:grpSpPr>
        <p:sp>
          <p:nvSpPr>
            <p:cNvPr id="16" name="object 3">
              <a:extLst>
                <a:ext uri="{FF2B5EF4-FFF2-40B4-BE49-F238E27FC236}">
                  <a16:creationId xmlns:a16="http://schemas.microsoft.com/office/drawing/2014/main" id="{75CBD72F-7BFA-7F26-06F2-FEC0C13CD3C9}"/>
                </a:ext>
              </a:extLst>
            </p:cNvPr>
            <p:cNvSpPr txBox="1"/>
            <p:nvPr/>
          </p:nvSpPr>
          <p:spPr>
            <a:xfrm>
              <a:off x="1875934" y="840487"/>
              <a:ext cx="3557126" cy="321242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0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Beam</a:t>
              </a:r>
              <a:r>
                <a:rPr kumimoji="0" sz="2000" b="1" i="0" u="none" strike="noStrike" kern="1200" cap="none" spc="-1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1" i="0" u="none" strike="noStrike" kern="1200" cap="none" spc="-5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size</a:t>
              </a:r>
              <a:r>
                <a:rPr kumimoji="0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=</a:t>
              </a:r>
              <a:r>
                <a:rPr kumimoji="0" sz="2000" b="1" i="0" u="none" strike="noStrike" kern="1200" cap="none" spc="-15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k</a:t>
              </a:r>
              <a:r>
                <a:rPr kumimoji="0" sz="2000" b="1" i="0" u="none" strike="noStrike" kern="1200" cap="none" spc="-1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=</a:t>
              </a:r>
              <a:r>
                <a:rPr kumimoji="0" sz="2000" b="1" i="0" u="none" strike="noStrike" kern="1200" cap="none" spc="-5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2</a:t>
              </a:r>
              <a:r>
                <a:rPr kumimoji="0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.</a:t>
              </a:r>
              <a:r>
                <a:rPr kumimoji="0" sz="2000" b="0" i="0" u="none" strike="noStrike" kern="1200" cap="none" spc="-25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285F4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Blue</a:t>
              </a:r>
              <a:r>
                <a:rPr kumimoji="0" sz="2000" b="0" i="0" u="none" strike="noStrike" kern="1200" cap="none" spc="-10" normalizeH="0" baseline="0" noProof="0" dirty="0">
                  <a:ln>
                    <a:noFill/>
                  </a:ln>
                  <a:solidFill>
                    <a:srgbClr val="4285F4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285F4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numbers</a:t>
              </a:r>
              <a:r>
                <a:rPr kumimoji="0" sz="2000" b="0" i="0" u="none" strike="noStrike" kern="1200" cap="none" spc="-5" normalizeH="0" baseline="0" noProof="0" dirty="0">
                  <a:ln>
                    <a:noFill/>
                  </a:ln>
                  <a:solidFill>
                    <a:srgbClr val="4285F4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285F4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=</a:t>
              </a:r>
              <a:endPara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endParaRPr>
            </a:p>
          </p:txBody>
        </p:sp>
        <p:pic>
          <p:nvPicPr>
            <p:cNvPr id="17" name="object 50">
              <a:extLst>
                <a:ext uri="{FF2B5EF4-FFF2-40B4-BE49-F238E27FC236}">
                  <a16:creationId xmlns:a16="http://schemas.microsoft.com/office/drawing/2014/main" id="{D5EA8AD1-C3E3-242D-5226-B075210E683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5822" y="646192"/>
              <a:ext cx="4816350" cy="7366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273551" y="2842260"/>
            <a:ext cx="1117600" cy="337912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4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hit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73551" y="3368040"/>
            <a:ext cx="1117600" cy="33855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247015" marR="0" lvl="0" indent="0" algn="l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struck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73551" y="4698491"/>
            <a:ext cx="1117600" cy="33855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352425" marR="0" lvl="0" indent="0" algn="l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was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73551" y="5224272"/>
            <a:ext cx="1117600" cy="33919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got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876804" y="3060192"/>
            <a:ext cx="397510" cy="526415"/>
          </a:xfrm>
          <a:custGeom>
            <a:avLst/>
            <a:gdLst/>
            <a:ahLst/>
            <a:cxnLst/>
            <a:rect l="l" t="t" r="r" b="b"/>
            <a:pathLst>
              <a:path w="397510" h="526414">
                <a:moveTo>
                  <a:pt x="397383" y="0"/>
                </a:moveTo>
                <a:lnTo>
                  <a:pt x="312801" y="11049"/>
                </a:lnTo>
                <a:lnTo>
                  <a:pt x="330568" y="37338"/>
                </a:lnTo>
                <a:lnTo>
                  <a:pt x="0" y="260223"/>
                </a:lnTo>
                <a:lnTo>
                  <a:pt x="3441" y="265341"/>
                </a:lnTo>
                <a:lnTo>
                  <a:pt x="0" y="270510"/>
                </a:lnTo>
                <a:lnTo>
                  <a:pt x="330288" y="489445"/>
                </a:lnTo>
                <a:lnTo>
                  <a:pt x="312801" y="515874"/>
                </a:lnTo>
                <a:lnTo>
                  <a:pt x="397383" y="526161"/>
                </a:lnTo>
                <a:lnTo>
                  <a:pt x="380238" y="496443"/>
                </a:lnTo>
                <a:lnTo>
                  <a:pt x="354838" y="452374"/>
                </a:lnTo>
                <a:lnTo>
                  <a:pt x="337337" y="478815"/>
                </a:lnTo>
                <a:lnTo>
                  <a:pt x="15278" y="265264"/>
                </a:lnTo>
                <a:lnTo>
                  <a:pt x="337693" y="47879"/>
                </a:lnTo>
                <a:lnTo>
                  <a:pt x="355473" y="74168"/>
                </a:lnTo>
                <a:lnTo>
                  <a:pt x="380301" y="30226"/>
                </a:lnTo>
                <a:lnTo>
                  <a:pt x="3973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876804" y="4916423"/>
            <a:ext cx="397510" cy="527050"/>
          </a:xfrm>
          <a:custGeom>
            <a:avLst/>
            <a:gdLst/>
            <a:ahLst/>
            <a:cxnLst/>
            <a:rect l="l" t="t" r="r" b="b"/>
            <a:pathLst>
              <a:path w="397510" h="527050">
                <a:moveTo>
                  <a:pt x="397383" y="0"/>
                </a:moveTo>
                <a:lnTo>
                  <a:pt x="312928" y="11938"/>
                </a:lnTo>
                <a:lnTo>
                  <a:pt x="331038" y="38100"/>
                </a:lnTo>
                <a:lnTo>
                  <a:pt x="0" y="267081"/>
                </a:lnTo>
                <a:lnTo>
                  <a:pt x="3721" y="272542"/>
                </a:lnTo>
                <a:lnTo>
                  <a:pt x="127" y="278142"/>
                </a:lnTo>
                <a:lnTo>
                  <a:pt x="329869" y="491121"/>
                </a:lnTo>
                <a:lnTo>
                  <a:pt x="312674" y="517779"/>
                </a:lnTo>
                <a:lnTo>
                  <a:pt x="397383" y="527050"/>
                </a:lnTo>
                <a:lnTo>
                  <a:pt x="380136" y="497967"/>
                </a:lnTo>
                <a:lnTo>
                  <a:pt x="353949" y="453771"/>
                </a:lnTo>
                <a:lnTo>
                  <a:pt x="336778" y="480402"/>
                </a:lnTo>
                <a:lnTo>
                  <a:pt x="14541" y="272351"/>
                </a:lnTo>
                <a:lnTo>
                  <a:pt x="338251" y="48526"/>
                </a:lnTo>
                <a:lnTo>
                  <a:pt x="356362" y="74676"/>
                </a:lnTo>
                <a:lnTo>
                  <a:pt x="380428" y="30861"/>
                </a:lnTo>
                <a:lnTo>
                  <a:pt x="3973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24001" y="4038601"/>
            <a:ext cx="1167765" cy="337913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31445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&lt;START&gt;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08859" y="3107436"/>
            <a:ext cx="571500" cy="337913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he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08859" y="4971289"/>
            <a:ext cx="571500" cy="337271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103158" y="3543300"/>
            <a:ext cx="491490" cy="500380"/>
          </a:xfrm>
          <a:custGeom>
            <a:avLst/>
            <a:gdLst/>
            <a:ahLst/>
            <a:cxnLst/>
            <a:rect l="l" t="t" r="r" b="b"/>
            <a:pathLst>
              <a:path w="491490" h="500379">
                <a:moveTo>
                  <a:pt x="433491" y="49928"/>
                </a:moveTo>
                <a:lnTo>
                  <a:pt x="0" y="491236"/>
                </a:lnTo>
                <a:lnTo>
                  <a:pt x="9067" y="500125"/>
                </a:lnTo>
                <a:lnTo>
                  <a:pt x="442556" y="58822"/>
                </a:lnTo>
                <a:lnTo>
                  <a:pt x="433491" y="49928"/>
                </a:lnTo>
                <a:close/>
              </a:path>
              <a:path w="491490" h="500379">
                <a:moveTo>
                  <a:pt x="478171" y="40894"/>
                </a:moveTo>
                <a:lnTo>
                  <a:pt x="442366" y="40894"/>
                </a:lnTo>
                <a:lnTo>
                  <a:pt x="451434" y="49784"/>
                </a:lnTo>
                <a:lnTo>
                  <a:pt x="442556" y="58822"/>
                </a:lnTo>
                <a:lnTo>
                  <a:pt x="465188" y="81025"/>
                </a:lnTo>
                <a:lnTo>
                  <a:pt x="478171" y="40894"/>
                </a:lnTo>
                <a:close/>
              </a:path>
              <a:path w="491490" h="500379">
                <a:moveTo>
                  <a:pt x="442366" y="40894"/>
                </a:moveTo>
                <a:lnTo>
                  <a:pt x="433491" y="49928"/>
                </a:lnTo>
                <a:lnTo>
                  <a:pt x="442556" y="58822"/>
                </a:lnTo>
                <a:lnTo>
                  <a:pt x="451434" y="49784"/>
                </a:lnTo>
                <a:lnTo>
                  <a:pt x="442366" y="40894"/>
                </a:lnTo>
                <a:close/>
              </a:path>
              <a:path w="491490" h="500379">
                <a:moveTo>
                  <a:pt x="491401" y="0"/>
                </a:moveTo>
                <a:lnTo>
                  <a:pt x="410819" y="27686"/>
                </a:lnTo>
                <a:lnTo>
                  <a:pt x="433491" y="49928"/>
                </a:lnTo>
                <a:lnTo>
                  <a:pt x="442366" y="40894"/>
                </a:lnTo>
                <a:lnTo>
                  <a:pt x="478171" y="40894"/>
                </a:lnTo>
                <a:lnTo>
                  <a:pt x="4914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103158" y="4470020"/>
            <a:ext cx="491490" cy="501015"/>
          </a:xfrm>
          <a:custGeom>
            <a:avLst/>
            <a:gdLst/>
            <a:ahLst/>
            <a:cxnLst/>
            <a:rect l="l" t="t" r="r" b="b"/>
            <a:pathLst>
              <a:path w="491490" h="501014">
                <a:moveTo>
                  <a:pt x="433458" y="450760"/>
                </a:moveTo>
                <a:lnTo>
                  <a:pt x="410832" y="472947"/>
                </a:lnTo>
                <a:lnTo>
                  <a:pt x="491401" y="500760"/>
                </a:lnTo>
                <a:lnTo>
                  <a:pt x="478211" y="459866"/>
                </a:lnTo>
                <a:lnTo>
                  <a:pt x="442391" y="459866"/>
                </a:lnTo>
                <a:lnTo>
                  <a:pt x="433458" y="450760"/>
                </a:lnTo>
                <a:close/>
              </a:path>
              <a:path w="491490" h="501014">
                <a:moveTo>
                  <a:pt x="442525" y="441869"/>
                </a:moveTo>
                <a:lnTo>
                  <a:pt x="433458" y="450760"/>
                </a:lnTo>
                <a:lnTo>
                  <a:pt x="442391" y="459866"/>
                </a:lnTo>
                <a:lnTo>
                  <a:pt x="451459" y="450976"/>
                </a:lnTo>
                <a:lnTo>
                  <a:pt x="442525" y="441869"/>
                </a:lnTo>
                <a:close/>
              </a:path>
              <a:path w="491490" h="501014">
                <a:moveTo>
                  <a:pt x="465226" y="419607"/>
                </a:moveTo>
                <a:lnTo>
                  <a:pt x="442525" y="441869"/>
                </a:lnTo>
                <a:lnTo>
                  <a:pt x="451459" y="450976"/>
                </a:lnTo>
                <a:lnTo>
                  <a:pt x="442391" y="459866"/>
                </a:lnTo>
                <a:lnTo>
                  <a:pt x="478211" y="459866"/>
                </a:lnTo>
                <a:lnTo>
                  <a:pt x="465226" y="419607"/>
                </a:lnTo>
                <a:close/>
              </a:path>
              <a:path w="491490" h="501014">
                <a:moveTo>
                  <a:pt x="9067" y="0"/>
                </a:moveTo>
                <a:lnTo>
                  <a:pt x="0" y="8889"/>
                </a:lnTo>
                <a:lnTo>
                  <a:pt x="433458" y="450760"/>
                </a:lnTo>
                <a:lnTo>
                  <a:pt x="442525" y="441869"/>
                </a:lnTo>
                <a:lnTo>
                  <a:pt x="90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84857" y="2785617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-0.7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84857" y="5439562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-0.9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601212" y="4346829"/>
            <a:ext cx="3388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700" b="0" i="0" u="none" strike="noStrike" kern="1200" cap="none" spc="0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-1.6</a:t>
            </a:r>
            <a:r>
              <a:rPr kumimoji="0" sz="2700" b="0" i="0" u="none" strike="noStrike" kern="1200" cap="none" spc="-7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=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log</a:t>
            </a:r>
            <a:r>
              <a:rPr kumimoji="0" sz="1800" b="0" i="0" u="none" strike="noStrike" kern="1200" cap="none" spc="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</a:t>
            </a:r>
            <a:r>
              <a:rPr kumimoji="0" sz="1800" b="0" i="0" u="none" strike="noStrike" kern="1200" cap="none" spc="-30" normalizeH="0" baseline="-2083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LM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</a:t>
            </a:r>
            <a:r>
              <a:rPr kumimoji="0" sz="1800" b="0" i="1" u="none" strike="noStrike" kern="1200" cap="none" spc="-2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was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|</a:t>
            </a:r>
            <a:r>
              <a:rPr kumimoji="0" sz="1800" b="0" i="1" u="none" strike="noStrike" kern="1200" cap="none" spc="-2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&lt;START&gt;</a:t>
            </a:r>
            <a:r>
              <a:rPr kumimoji="0" sz="1800" b="0" i="1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)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+</a:t>
            </a:r>
            <a:r>
              <a:rPr kumimoji="0" sz="1800" b="0" i="0" u="none" strike="noStrike" kern="1200" cap="none" spc="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-0.9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601211" y="5669992"/>
            <a:ext cx="33413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700" b="0" i="0" u="none" strike="noStrike" kern="1200" cap="none" spc="0" normalizeH="0" baseline="-3086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-1.8</a:t>
            </a:r>
            <a:r>
              <a:rPr kumimoji="0" sz="2700" b="0" i="0" u="none" strike="noStrike" kern="1200" cap="none" spc="120" normalizeH="0" baseline="-3086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=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log</a:t>
            </a:r>
            <a:r>
              <a:rPr kumimoji="0" sz="1800" b="0" i="0" u="none" strike="noStrike" kern="1200" cap="none" spc="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</a:t>
            </a:r>
            <a:r>
              <a:rPr kumimoji="0" sz="1800" b="0" i="0" u="none" strike="noStrike" kern="1200" cap="none" spc="-30" normalizeH="0" baseline="-2083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LM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</a:t>
            </a:r>
            <a:r>
              <a:rPr kumimoji="0" sz="1800" b="0" i="1" u="none" strike="noStrike" kern="1200" cap="none" spc="-2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got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|</a:t>
            </a:r>
            <a:r>
              <a:rPr kumimoji="0" sz="1800" b="0" i="1" u="none" strike="noStrike" kern="1200" cap="none" spc="-2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&lt;START&gt;</a:t>
            </a:r>
            <a:r>
              <a:rPr kumimoji="0" sz="1800" b="0" i="1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)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+ -0.9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601211" y="2482977"/>
            <a:ext cx="34886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-1.7</a:t>
            </a:r>
            <a:r>
              <a:rPr kumimoji="0" sz="1800" b="0" i="0" u="none" strike="noStrike" kern="1200" cap="none" spc="41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=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log</a:t>
            </a:r>
            <a:r>
              <a:rPr kumimoji="0" sz="1800" b="0" i="0" u="none" strike="noStrike" kern="1200" cap="none" spc="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</a:t>
            </a:r>
            <a:r>
              <a:rPr kumimoji="0" sz="1800" b="0" i="0" u="none" strike="noStrike" kern="1200" cap="none" spc="-30" normalizeH="0" baseline="-2083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LM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</a:t>
            </a:r>
            <a:r>
              <a:rPr kumimoji="0" sz="1800" b="0" i="1" u="none" strike="noStrike" kern="1200" cap="none" spc="-2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hit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|</a:t>
            </a:r>
            <a:r>
              <a:rPr kumimoji="0" sz="1800" b="0" i="1" u="none" strike="noStrike" kern="1200" cap="none" spc="-2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&lt;START&gt;</a:t>
            </a:r>
            <a:r>
              <a:rPr kumimoji="0" sz="1800" b="0" i="1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he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)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+</a:t>
            </a:r>
            <a:r>
              <a:rPr kumimoji="0" sz="1800" b="0" i="0" u="none" strike="noStrike" kern="1200" cap="none" spc="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-0.7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601211" y="3800602"/>
            <a:ext cx="3743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-2.9 </a:t>
            </a:r>
            <a:r>
              <a:rPr kumimoji="0" sz="2700" b="0" i="0" u="none" strike="noStrike" kern="1200" cap="none" spc="0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=</a:t>
            </a:r>
            <a:r>
              <a:rPr kumimoji="0" sz="2700" b="0" i="0" u="none" strike="noStrike" kern="1200" cap="none" spc="-15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700" b="0" i="0" u="none" strike="noStrike" kern="1200" cap="none" spc="0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log</a:t>
            </a:r>
            <a:r>
              <a:rPr kumimoji="0" sz="2700" b="0" i="0" u="none" strike="noStrike" kern="1200" cap="none" spc="15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700" b="0" i="0" u="none" strike="noStrike" kern="1200" cap="none" spc="-30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</a:t>
            </a:r>
            <a:r>
              <a:rPr kumimoji="0" sz="1800" b="0" i="0" u="none" strike="noStrike" kern="1200" cap="none" spc="-30" normalizeH="0" baseline="-1620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LM</a:t>
            </a:r>
            <a:r>
              <a:rPr kumimoji="0" sz="2700" b="0" i="0" u="none" strike="noStrike" kern="1200" cap="none" spc="-30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</a:t>
            </a:r>
            <a:r>
              <a:rPr kumimoji="0" sz="2700" b="0" i="1" u="none" strike="noStrike" kern="1200" cap="none" spc="-30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struck</a:t>
            </a:r>
            <a:r>
              <a:rPr kumimoji="0" sz="2700" b="0" i="0" u="none" strike="noStrike" kern="1200" cap="none" spc="-30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|</a:t>
            </a:r>
            <a:r>
              <a:rPr kumimoji="0" sz="2700" b="0" i="1" u="none" strike="noStrike" kern="1200" cap="none" spc="-30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&lt;START&gt;</a:t>
            </a:r>
            <a:r>
              <a:rPr kumimoji="0" sz="2700" b="0" i="1" u="none" strike="noStrike" kern="1200" cap="none" spc="7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700" b="0" i="1" u="none" strike="noStrike" kern="1200" cap="none" spc="0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he</a:t>
            </a:r>
            <a:r>
              <a:rPr kumimoji="0" sz="2700" b="0" i="0" u="none" strike="noStrike" kern="1200" cap="none" spc="0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)</a:t>
            </a:r>
            <a:r>
              <a:rPr kumimoji="0" sz="2700" b="0" i="0" u="none" strike="noStrike" kern="1200" cap="none" spc="-7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700" b="0" i="0" u="none" strike="noStrike" kern="1200" cap="none" spc="0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+ -0.7</a:t>
            </a:r>
            <a:endParaRPr kumimoji="0" sz="2700" b="0" i="0" u="none" strike="noStrike" kern="1200" cap="none" spc="0" normalizeH="0" baseline="1543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480311" y="6083047"/>
            <a:ext cx="3683635" cy="585417"/>
          </a:xfrm>
          <a:prstGeom prst="rect">
            <a:avLst/>
          </a:prstGeom>
          <a:ln w="19811">
            <a:solidFill>
              <a:srgbClr val="BA56BD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0" marR="46355" lvl="0" indent="0" algn="ctr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For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each</a:t>
            </a:r>
            <a:r>
              <a:rPr kumimoji="0" sz="1800" b="0" i="0" u="none" strike="noStrike" kern="1200" cap="none" spc="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of</a:t>
            </a:r>
            <a:r>
              <a:rPr kumimoji="0" sz="1800" b="0" i="0" u="none" strike="noStrike" kern="1200" cap="none" spc="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the 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k</a:t>
            </a:r>
            <a:r>
              <a:rPr kumimoji="0" sz="1800" b="0" i="1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hypotheses,</a:t>
            </a: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find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top 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k</a:t>
            </a:r>
            <a:r>
              <a:rPr kumimoji="0" sz="1800" b="0" i="1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next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words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and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calculate</a:t>
            </a:r>
            <a:r>
              <a:rPr kumimoji="0" sz="1800" b="0" i="0" u="none" strike="noStrike" kern="1200" cap="none" spc="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scores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07E257E-F948-1AA9-8BC5-D85C0D4A83D2}"/>
              </a:ext>
            </a:extLst>
          </p:cNvPr>
          <p:cNvGrpSpPr/>
          <p:nvPr/>
        </p:nvGrpSpPr>
        <p:grpSpPr>
          <a:xfrm>
            <a:off x="1875934" y="646192"/>
            <a:ext cx="8356238" cy="736600"/>
            <a:chOff x="1875934" y="646192"/>
            <a:chExt cx="8356238" cy="736600"/>
          </a:xfrm>
        </p:grpSpPr>
        <p:sp>
          <p:nvSpPr>
            <p:cNvPr id="29" name="object 3">
              <a:extLst>
                <a:ext uri="{FF2B5EF4-FFF2-40B4-BE49-F238E27FC236}">
                  <a16:creationId xmlns:a16="http://schemas.microsoft.com/office/drawing/2014/main" id="{C0D4E3EB-5C50-8DA6-761A-5E7BCE876320}"/>
                </a:ext>
              </a:extLst>
            </p:cNvPr>
            <p:cNvSpPr txBox="1"/>
            <p:nvPr/>
          </p:nvSpPr>
          <p:spPr>
            <a:xfrm>
              <a:off x="1875934" y="840487"/>
              <a:ext cx="3557126" cy="321242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0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Beam</a:t>
              </a:r>
              <a:r>
                <a:rPr kumimoji="0" sz="2000" b="1" i="0" u="none" strike="noStrike" kern="1200" cap="none" spc="-1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1" i="0" u="none" strike="noStrike" kern="1200" cap="none" spc="-5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size</a:t>
              </a:r>
              <a:r>
                <a:rPr kumimoji="0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=</a:t>
              </a:r>
              <a:r>
                <a:rPr kumimoji="0" sz="2000" b="1" i="0" u="none" strike="noStrike" kern="1200" cap="none" spc="-15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k</a:t>
              </a:r>
              <a:r>
                <a:rPr kumimoji="0" sz="2000" b="1" i="0" u="none" strike="noStrike" kern="1200" cap="none" spc="-1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=</a:t>
              </a:r>
              <a:r>
                <a:rPr kumimoji="0" sz="2000" b="1" i="0" u="none" strike="noStrike" kern="1200" cap="none" spc="-5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2</a:t>
              </a:r>
              <a:r>
                <a:rPr kumimoji="0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.</a:t>
              </a:r>
              <a:r>
                <a:rPr kumimoji="0" sz="2000" b="0" i="0" u="none" strike="noStrike" kern="1200" cap="none" spc="-25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285F4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Blue</a:t>
              </a:r>
              <a:r>
                <a:rPr kumimoji="0" sz="2000" b="0" i="0" u="none" strike="noStrike" kern="1200" cap="none" spc="-10" normalizeH="0" baseline="0" noProof="0" dirty="0">
                  <a:ln>
                    <a:noFill/>
                  </a:ln>
                  <a:solidFill>
                    <a:srgbClr val="4285F4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285F4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numbers</a:t>
              </a:r>
              <a:r>
                <a:rPr kumimoji="0" sz="2000" b="0" i="0" u="none" strike="noStrike" kern="1200" cap="none" spc="-5" normalizeH="0" baseline="0" noProof="0" dirty="0">
                  <a:ln>
                    <a:noFill/>
                  </a:ln>
                  <a:solidFill>
                    <a:srgbClr val="4285F4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285F4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=</a:t>
              </a:r>
              <a:endPara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endParaRPr>
            </a:p>
          </p:txBody>
        </p:sp>
        <p:pic>
          <p:nvPicPr>
            <p:cNvPr id="30" name="object 50">
              <a:extLst>
                <a:ext uri="{FF2B5EF4-FFF2-40B4-BE49-F238E27FC236}">
                  <a16:creationId xmlns:a16="http://schemas.microsoft.com/office/drawing/2014/main" id="{9771CECC-ABB4-12D1-B063-CC7C2649348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5822" y="646192"/>
              <a:ext cx="4816350" cy="7366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273551" y="2842260"/>
            <a:ext cx="1117600" cy="337912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4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hit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73551" y="3368040"/>
            <a:ext cx="1117600" cy="33855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247015" marR="0" lvl="0" indent="0" algn="l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struck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73551" y="4698491"/>
            <a:ext cx="1117600" cy="33855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352425" marR="0" lvl="0" indent="0" algn="l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was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73551" y="5224272"/>
            <a:ext cx="1117600" cy="33919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got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876804" y="3060192"/>
            <a:ext cx="397510" cy="526415"/>
          </a:xfrm>
          <a:custGeom>
            <a:avLst/>
            <a:gdLst/>
            <a:ahLst/>
            <a:cxnLst/>
            <a:rect l="l" t="t" r="r" b="b"/>
            <a:pathLst>
              <a:path w="397510" h="526414">
                <a:moveTo>
                  <a:pt x="397383" y="0"/>
                </a:moveTo>
                <a:lnTo>
                  <a:pt x="312801" y="11049"/>
                </a:lnTo>
                <a:lnTo>
                  <a:pt x="330568" y="37338"/>
                </a:lnTo>
                <a:lnTo>
                  <a:pt x="0" y="260223"/>
                </a:lnTo>
                <a:lnTo>
                  <a:pt x="3441" y="265341"/>
                </a:lnTo>
                <a:lnTo>
                  <a:pt x="0" y="270510"/>
                </a:lnTo>
                <a:lnTo>
                  <a:pt x="330288" y="489445"/>
                </a:lnTo>
                <a:lnTo>
                  <a:pt x="312801" y="515874"/>
                </a:lnTo>
                <a:lnTo>
                  <a:pt x="397383" y="526161"/>
                </a:lnTo>
                <a:lnTo>
                  <a:pt x="380238" y="496443"/>
                </a:lnTo>
                <a:lnTo>
                  <a:pt x="354838" y="452374"/>
                </a:lnTo>
                <a:lnTo>
                  <a:pt x="337337" y="478815"/>
                </a:lnTo>
                <a:lnTo>
                  <a:pt x="15278" y="265264"/>
                </a:lnTo>
                <a:lnTo>
                  <a:pt x="337693" y="47879"/>
                </a:lnTo>
                <a:lnTo>
                  <a:pt x="355473" y="74168"/>
                </a:lnTo>
                <a:lnTo>
                  <a:pt x="380301" y="30226"/>
                </a:lnTo>
                <a:lnTo>
                  <a:pt x="3973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876804" y="4916423"/>
            <a:ext cx="397510" cy="527050"/>
          </a:xfrm>
          <a:custGeom>
            <a:avLst/>
            <a:gdLst/>
            <a:ahLst/>
            <a:cxnLst/>
            <a:rect l="l" t="t" r="r" b="b"/>
            <a:pathLst>
              <a:path w="397510" h="527050">
                <a:moveTo>
                  <a:pt x="397383" y="0"/>
                </a:moveTo>
                <a:lnTo>
                  <a:pt x="312928" y="11938"/>
                </a:lnTo>
                <a:lnTo>
                  <a:pt x="331038" y="38100"/>
                </a:lnTo>
                <a:lnTo>
                  <a:pt x="0" y="267081"/>
                </a:lnTo>
                <a:lnTo>
                  <a:pt x="3721" y="272542"/>
                </a:lnTo>
                <a:lnTo>
                  <a:pt x="127" y="278142"/>
                </a:lnTo>
                <a:lnTo>
                  <a:pt x="329869" y="491121"/>
                </a:lnTo>
                <a:lnTo>
                  <a:pt x="312674" y="517779"/>
                </a:lnTo>
                <a:lnTo>
                  <a:pt x="397383" y="527050"/>
                </a:lnTo>
                <a:lnTo>
                  <a:pt x="380136" y="497967"/>
                </a:lnTo>
                <a:lnTo>
                  <a:pt x="353949" y="453771"/>
                </a:lnTo>
                <a:lnTo>
                  <a:pt x="336778" y="480402"/>
                </a:lnTo>
                <a:lnTo>
                  <a:pt x="14541" y="272351"/>
                </a:lnTo>
                <a:lnTo>
                  <a:pt x="338251" y="48526"/>
                </a:lnTo>
                <a:lnTo>
                  <a:pt x="356362" y="74676"/>
                </a:lnTo>
                <a:lnTo>
                  <a:pt x="380428" y="30861"/>
                </a:lnTo>
                <a:lnTo>
                  <a:pt x="3973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24001" y="4038601"/>
            <a:ext cx="1167765" cy="337913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31445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&lt;START&gt;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08859" y="3107436"/>
            <a:ext cx="571500" cy="337913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he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08859" y="4971289"/>
            <a:ext cx="571500" cy="337271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103158" y="3543300"/>
            <a:ext cx="491490" cy="500380"/>
          </a:xfrm>
          <a:custGeom>
            <a:avLst/>
            <a:gdLst/>
            <a:ahLst/>
            <a:cxnLst/>
            <a:rect l="l" t="t" r="r" b="b"/>
            <a:pathLst>
              <a:path w="491490" h="500379">
                <a:moveTo>
                  <a:pt x="433491" y="49928"/>
                </a:moveTo>
                <a:lnTo>
                  <a:pt x="0" y="491236"/>
                </a:lnTo>
                <a:lnTo>
                  <a:pt x="9067" y="500125"/>
                </a:lnTo>
                <a:lnTo>
                  <a:pt x="442556" y="58822"/>
                </a:lnTo>
                <a:lnTo>
                  <a:pt x="433491" y="49928"/>
                </a:lnTo>
                <a:close/>
              </a:path>
              <a:path w="491490" h="500379">
                <a:moveTo>
                  <a:pt x="478171" y="40894"/>
                </a:moveTo>
                <a:lnTo>
                  <a:pt x="442366" y="40894"/>
                </a:lnTo>
                <a:lnTo>
                  <a:pt x="451434" y="49784"/>
                </a:lnTo>
                <a:lnTo>
                  <a:pt x="442556" y="58822"/>
                </a:lnTo>
                <a:lnTo>
                  <a:pt x="465188" y="81025"/>
                </a:lnTo>
                <a:lnTo>
                  <a:pt x="478171" y="40894"/>
                </a:lnTo>
                <a:close/>
              </a:path>
              <a:path w="491490" h="500379">
                <a:moveTo>
                  <a:pt x="442366" y="40894"/>
                </a:moveTo>
                <a:lnTo>
                  <a:pt x="433491" y="49928"/>
                </a:lnTo>
                <a:lnTo>
                  <a:pt x="442556" y="58822"/>
                </a:lnTo>
                <a:lnTo>
                  <a:pt x="451434" y="49784"/>
                </a:lnTo>
                <a:lnTo>
                  <a:pt x="442366" y="40894"/>
                </a:lnTo>
                <a:close/>
              </a:path>
              <a:path w="491490" h="500379">
                <a:moveTo>
                  <a:pt x="491401" y="0"/>
                </a:moveTo>
                <a:lnTo>
                  <a:pt x="410819" y="27686"/>
                </a:lnTo>
                <a:lnTo>
                  <a:pt x="433491" y="49928"/>
                </a:lnTo>
                <a:lnTo>
                  <a:pt x="442366" y="40894"/>
                </a:lnTo>
                <a:lnTo>
                  <a:pt x="478171" y="40894"/>
                </a:lnTo>
                <a:lnTo>
                  <a:pt x="4914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103158" y="4470020"/>
            <a:ext cx="491490" cy="501015"/>
          </a:xfrm>
          <a:custGeom>
            <a:avLst/>
            <a:gdLst/>
            <a:ahLst/>
            <a:cxnLst/>
            <a:rect l="l" t="t" r="r" b="b"/>
            <a:pathLst>
              <a:path w="491490" h="501014">
                <a:moveTo>
                  <a:pt x="433458" y="450760"/>
                </a:moveTo>
                <a:lnTo>
                  <a:pt x="410832" y="472947"/>
                </a:lnTo>
                <a:lnTo>
                  <a:pt x="491401" y="500760"/>
                </a:lnTo>
                <a:lnTo>
                  <a:pt x="478211" y="459866"/>
                </a:lnTo>
                <a:lnTo>
                  <a:pt x="442391" y="459866"/>
                </a:lnTo>
                <a:lnTo>
                  <a:pt x="433458" y="450760"/>
                </a:lnTo>
                <a:close/>
              </a:path>
              <a:path w="491490" h="501014">
                <a:moveTo>
                  <a:pt x="442525" y="441869"/>
                </a:moveTo>
                <a:lnTo>
                  <a:pt x="433458" y="450760"/>
                </a:lnTo>
                <a:lnTo>
                  <a:pt x="442391" y="459866"/>
                </a:lnTo>
                <a:lnTo>
                  <a:pt x="451459" y="450976"/>
                </a:lnTo>
                <a:lnTo>
                  <a:pt x="442525" y="441869"/>
                </a:lnTo>
                <a:close/>
              </a:path>
              <a:path w="491490" h="501014">
                <a:moveTo>
                  <a:pt x="465226" y="419607"/>
                </a:moveTo>
                <a:lnTo>
                  <a:pt x="442525" y="441869"/>
                </a:lnTo>
                <a:lnTo>
                  <a:pt x="451459" y="450976"/>
                </a:lnTo>
                <a:lnTo>
                  <a:pt x="442391" y="459866"/>
                </a:lnTo>
                <a:lnTo>
                  <a:pt x="478211" y="459866"/>
                </a:lnTo>
                <a:lnTo>
                  <a:pt x="465226" y="419607"/>
                </a:lnTo>
                <a:close/>
              </a:path>
              <a:path w="491490" h="501014">
                <a:moveTo>
                  <a:pt x="9067" y="0"/>
                </a:moveTo>
                <a:lnTo>
                  <a:pt x="0" y="8889"/>
                </a:lnTo>
                <a:lnTo>
                  <a:pt x="433458" y="450760"/>
                </a:lnTo>
                <a:lnTo>
                  <a:pt x="442525" y="441869"/>
                </a:lnTo>
                <a:lnTo>
                  <a:pt x="90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84857" y="2785617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-0.7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84857" y="5439562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-0.9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626612" y="4340479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-1.6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626612" y="5683708"/>
            <a:ext cx="3854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-1.8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626612" y="2481198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-1.7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626612" y="3800602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-2.9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04923" y="6083047"/>
            <a:ext cx="3034665" cy="585417"/>
          </a:xfrm>
          <a:prstGeom prst="rect">
            <a:avLst/>
          </a:prstGeom>
          <a:ln w="19811">
            <a:solidFill>
              <a:srgbClr val="BA56BD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Of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these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k</a:t>
            </a:r>
            <a:r>
              <a:rPr kumimoji="0" sz="1800" b="0" i="0" u="none" strike="noStrike" kern="1200" cap="none" spc="-7" normalizeH="0" baseline="25462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2</a:t>
            </a:r>
            <a:r>
              <a:rPr kumimoji="0" sz="1800" b="0" i="0" u="none" strike="noStrike" kern="1200" cap="none" spc="195" normalizeH="0" baseline="25462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hypotheses,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just </a:t>
            </a: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keep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k</a:t>
            </a:r>
            <a:r>
              <a:rPr kumimoji="0" sz="1800" b="0" i="1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with</a:t>
            </a:r>
            <a:r>
              <a:rPr kumimoji="0" sz="1800" b="0" i="0" u="none" strike="noStrike" kern="1200" cap="none" spc="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highest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scores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8E4988F-505E-DD15-C5AD-10789E49DC89}"/>
              </a:ext>
            </a:extLst>
          </p:cNvPr>
          <p:cNvGrpSpPr/>
          <p:nvPr/>
        </p:nvGrpSpPr>
        <p:grpSpPr>
          <a:xfrm>
            <a:off x="1875934" y="646192"/>
            <a:ext cx="8356238" cy="736600"/>
            <a:chOff x="1875934" y="646192"/>
            <a:chExt cx="8356238" cy="736600"/>
          </a:xfrm>
        </p:grpSpPr>
        <p:sp>
          <p:nvSpPr>
            <p:cNvPr id="26" name="object 3">
              <a:extLst>
                <a:ext uri="{FF2B5EF4-FFF2-40B4-BE49-F238E27FC236}">
                  <a16:creationId xmlns:a16="http://schemas.microsoft.com/office/drawing/2014/main" id="{1BA0428B-211E-CED0-C534-9C000EB621C5}"/>
                </a:ext>
              </a:extLst>
            </p:cNvPr>
            <p:cNvSpPr txBox="1"/>
            <p:nvPr/>
          </p:nvSpPr>
          <p:spPr>
            <a:xfrm>
              <a:off x="1875934" y="840487"/>
              <a:ext cx="3557126" cy="321242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0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Beam</a:t>
              </a:r>
              <a:r>
                <a:rPr kumimoji="0" sz="2000" b="1" i="0" u="none" strike="noStrike" kern="1200" cap="none" spc="-1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1" i="0" u="none" strike="noStrike" kern="1200" cap="none" spc="-5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size</a:t>
              </a:r>
              <a:r>
                <a:rPr kumimoji="0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=</a:t>
              </a:r>
              <a:r>
                <a:rPr kumimoji="0" sz="2000" b="1" i="0" u="none" strike="noStrike" kern="1200" cap="none" spc="-15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k</a:t>
              </a:r>
              <a:r>
                <a:rPr kumimoji="0" sz="2000" b="1" i="0" u="none" strike="noStrike" kern="1200" cap="none" spc="-1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=</a:t>
              </a:r>
              <a:r>
                <a:rPr kumimoji="0" sz="2000" b="1" i="0" u="none" strike="noStrike" kern="1200" cap="none" spc="-5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2</a:t>
              </a:r>
              <a:r>
                <a:rPr kumimoji="0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.</a:t>
              </a:r>
              <a:r>
                <a:rPr kumimoji="0" sz="2000" b="0" i="0" u="none" strike="noStrike" kern="1200" cap="none" spc="-25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285F4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Blue</a:t>
              </a:r>
              <a:r>
                <a:rPr kumimoji="0" sz="2000" b="0" i="0" u="none" strike="noStrike" kern="1200" cap="none" spc="-10" normalizeH="0" baseline="0" noProof="0" dirty="0">
                  <a:ln>
                    <a:noFill/>
                  </a:ln>
                  <a:solidFill>
                    <a:srgbClr val="4285F4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285F4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numbers</a:t>
              </a:r>
              <a:r>
                <a:rPr kumimoji="0" sz="2000" b="0" i="0" u="none" strike="noStrike" kern="1200" cap="none" spc="-5" normalizeH="0" baseline="0" noProof="0" dirty="0">
                  <a:ln>
                    <a:noFill/>
                  </a:ln>
                  <a:solidFill>
                    <a:srgbClr val="4285F4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285F4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=</a:t>
              </a:r>
              <a:endPara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endParaRPr>
            </a:p>
          </p:txBody>
        </p:sp>
        <p:pic>
          <p:nvPicPr>
            <p:cNvPr id="27" name="object 50">
              <a:extLst>
                <a:ext uri="{FF2B5EF4-FFF2-40B4-BE49-F238E27FC236}">
                  <a16:creationId xmlns:a16="http://schemas.microsoft.com/office/drawing/2014/main" id="{E83A473B-44A9-585D-E49B-B2FE8D0069A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5822" y="646192"/>
              <a:ext cx="4816350" cy="7366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273551" y="2842260"/>
            <a:ext cx="1117600" cy="337912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4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hit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73551" y="3368040"/>
            <a:ext cx="1117600" cy="33855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247015" marR="0" lvl="0" indent="0" algn="l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struck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73551" y="4698491"/>
            <a:ext cx="1117600" cy="33855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352425" marR="0" lvl="0" indent="0" algn="l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was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73551" y="5224272"/>
            <a:ext cx="1117600" cy="33919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got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876804" y="3060192"/>
            <a:ext cx="397510" cy="526415"/>
          </a:xfrm>
          <a:custGeom>
            <a:avLst/>
            <a:gdLst/>
            <a:ahLst/>
            <a:cxnLst/>
            <a:rect l="l" t="t" r="r" b="b"/>
            <a:pathLst>
              <a:path w="397510" h="526414">
                <a:moveTo>
                  <a:pt x="397383" y="0"/>
                </a:moveTo>
                <a:lnTo>
                  <a:pt x="312801" y="11049"/>
                </a:lnTo>
                <a:lnTo>
                  <a:pt x="330568" y="37338"/>
                </a:lnTo>
                <a:lnTo>
                  <a:pt x="0" y="260223"/>
                </a:lnTo>
                <a:lnTo>
                  <a:pt x="3441" y="265341"/>
                </a:lnTo>
                <a:lnTo>
                  <a:pt x="0" y="270510"/>
                </a:lnTo>
                <a:lnTo>
                  <a:pt x="330288" y="489445"/>
                </a:lnTo>
                <a:lnTo>
                  <a:pt x="312801" y="515874"/>
                </a:lnTo>
                <a:lnTo>
                  <a:pt x="397383" y="526161"/>
                </a:lnTo>
                <a:lnTo>
                  <a:pt x="380238" y="496443"/>
                </a:lnTo>
                <a:lnTo>
                  <a:pt x="354838" y="452374"/>
                </a:lnTo>
                <a:lnTo>
                  <a:pt x="337337" y="478815"/>
                </a:lnTo>
                <a:lnTo>
                  <a:pt x="15278" y="265264"/>
                </a:lnTo>
                <a:lnTo>
                  <a:pt x="337693" y="47879"/>
                </a:lnTo>
                <a:lnTo>
                  <a:pt x="355473" y="74168"/>
                </a:lnTo>
                <a:lnTo>
                  <a:pt x="380301" y="30226"/>
                </a:lnTo>
                <a:lnTo>
                  <a:pt x="3973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876804" y="4916423"/>
            <a:ext cx="397510" cy="527050"/>
          </a:xfrm>
          <a:custGeom>
            <a:avLst/>
            <a:gdLst/>
            <a:ahLst/>
            <a:cxnLst/>
            <a:rect l="l" t="t" r="r" b="b"/>
            <a:pathLst>
              <a:path w="397510" h="527050">
                <a:moveTo>
                  <a:pt x="397383" y="0"/>
                </a:moveTo>
                <a:lnTo>
                  <a:pt x="312928" y="11938"/>
                </a:lnTo>
                <a:lnTo>
                  <a:pt x="331038" y="38100"/>
                </a:lnTo>
                <a:lnTo>
                  <a:pt x="0" y="267081"/>
                </a:lnTo>
                <a:lnTo>
                  <a:pt x="3721" y="272542"/>
                </a:lnTo>
                <a:lnTo>
                  <a:pt x="127" y="278142"/>
                </a:lnTo>
                <a:lnTo>
                  <a:pt x="329869" y="491121"/>
                </a:lnTo>
                <a:lnTo>
                  <a:pt x="312674" y="517779"/>
                </a:lnTo>
                <a:lnTo>
                  <a:pt x="397383" y="527050"/>
                </a:lnTo>
                <a:lnTo>
                  <a:pt x="380136" y="497967"/>
                </a:lnTo>
                <a:lnTo>
                  <a:pt x="353949" y="453771"/>
                </a:lnTo>
                <a:lnTo>
                  <a:pt x="336778" y="480402"/>
                </a:lnTo>
                <a:lnTo>
                  <a:pt x="14541" y="272351"/>
                </a:lnTo>
                <a:lnTo>
                  <a:pt x="338251" y="48526"/>
                </a:lnTo>
                <a:lnTo>
                  <a:pt x="356362" y="74676"/>
                </a:lnTo>
                <a:lnTo>
                  <a:pt x="380428" y="30861"/>
                </a:lnTo>
                <a:lnTo>
                  <a:pt x="3973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28972" y="2546604"/>
            <a:ext cx="1117600" cy="33855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28972" y="3073908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28972" y="4430268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hit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28972" y="4956048"/>
            <a:ext cx="1117600" cy="33919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247015" marR="0" lvl="0" indent="0" algn="l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struck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386454" y="2764536"/>
            <a:ext cx="342265" cy="527685"/>
          </a:xfrm>
          <a:custGeom>
            <a:avLst/>
            <a:gdLst/>
            <a:ahLst/>
            <a:cxnLst/>
            <a:rect l="l" t="t" r="r" b="b"/>
            <a:pathLst>
              <a:path w="342264" h="527685">
                <a:moveTo>
                  <a:pt x="342265" y="0"/>
                </a:moveTo>
                <a:lnTo>
                  <a:pt x="259842" y="21336"/>
                </a:lnTo>
                <a:lnTo>
                  <a:pt x="280670" y="45250"/>
                </a:lnTo>
                <a:lnTo>
                  <a:pt x="0" y="289687"/>
                </a:lnTo>
                <a:lnTo>
                  <a:pt x="4622" y="295021"/>
                </a:lnTo>
                <a:lnTo>
                  <a:pt x="635" y="300863"/>
                </a:lnTo>
                <a:lnTo>
                  <a:pt x="275856" y="489826"/>
                </a:lnTo>
                <a:lnTo>
                  <a:pt x="257937" y="516001"/>
                </a:lnTo>
                <a:lnTo>
                  <a:pt x="342265" y="527685"/>
                </a:lnTo>
                <a:lnTo>
                  <a:pt x="325247" y="496951"/>
                </a:lnTo>
                <a:lnTo>
                  <a:pt x="300990" y="453136"/>
                </a:lnTo>
                <a:lnTo>
                  <a:pt x="283032" y="479361"/>
                </a:lnTo>
                <a:lnTo>
                  <a:pt x="13804" y="294614"/>
                </a:lnTo>
                <a:lnTo>
                  <a:pt x="289013" y="54813"/>
                </a:lnTo>
                <a:lnTo>
                  <a:pt x="309880" y="78740"/>
                </a:lnTo>
                <a:lnTo>
                  <a:pt x="327063" y="36957"/>
                </a:lnTo>
                <a:lnTo>
                  <a:pt x="3422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386708" y="4648200"/>
            <a:ext cx="342265" cy="527050"/>
          </a:xfrm>
          <a:custGeom>
            <a:avLst/>
            <a:gdLst/>
            <a:ahLst/>
            <a:cxnLst/>
            <a:rect l="l" t="t" r="r" b="b"/>
            <a:pathLst>
              <a:path w="342264" h="527050">
                <a:moveTo>
                  <a:pt x="342011" y="0"/>
                </a:moveTo>
                <a:lnTo>
                  <a:pt x="258572" y="17526"/>
                </a:lnTo>
                <a:lnTo>
                  <a:pt x="278333" y="42443"/>
                </a:lnTo>
                <a:lnTo>
                  <a:pt x="0" y="263271"/>
                </a:lnTo>
                <a:lnTo>
                  <a:pt x="3937" y="268224"/>
                </a:lnTo>
                <a:lnTo>
                  <a:pt x="127" y="273304"/>
                </a:lnTo>
                <a:lnTo>
                  <a:pt x="277596" y="485330"/>
                </a:lnTo>
                <a:lnTo>
                  <a:pt x="258318" y="510540"/>
                </a:lnTo>
                <a:lnTo>
                  <a:pt x="342011" y="526542"/>
                </a:lnTo>
                <a:lnTo>
                  <a:pt x="325577" y="493014"/>
                </a:lnTo>
                <a:lnTo>
                  <a:pt x="304546" y="450088"/>
                </a:lnTo>
                <a:lnTo>
                  <a:pt x="285292" y="475259"/>
                </a:lnTo>
                <a:lnTo>
                  <a:pt x="14249" y="268122"/>
                </a:lnTo>
                <a:lnTo>
                  <a:pt x="286207" y="52349"/>
                </a:lnTo>
                <a:lnTo>
                  <a:pt x="305943" y="77216"/>
                </a:lnTo>
                <a:lnTo>
                  <a:pt x="325869" y="34544"/>
                </a:lnTo>
                <a:lnTo>
                  <a:pt x="3420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24001" y="4038601"/>
            <a:ext cx="1167765" cy="337913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31445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&lt;START&gt;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08859" y="3107436"/>
            <a:ext cx="571500" cy="337913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he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08859" y="4971289"/>
            <a:ext cx="571500" cy="337271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103158" y="3543300"/>
            <a:ext cx="491490" cy="500380"/>
          </a:xfrm>
          <a:custGeom>
            <a:avLst/>
            <a:gdLst/>
            <a:ahLst/>
            <a:cxnLst/>
            <a:rect l="l" t="t" r="r" b="b"/>
            <a:pathLst>
              <a:path w="491490" h="500379">
                <a:moveTo>
                  <a:pt x="433491" y="49928"/>
                </a:moveTo>
                <a:lnTo>
                  <a:pt x="0" y="491236"/>
                </a:lnTo>
                <a:lnTo>
                  <a:pt x="9067" y="500125"/>
                </a:lnTo>
                <a:lnTo>
                  <a:pt x="442556" y="58822"/>
                </a:lnTo>
                <a:lnTo>
                  <a:pt x="433491" y="49928"/>
                </a:lnTo>
                <a:close/>
              </a:path>
              <a:path w="491490" h="500379">
                <a:moveTo>
                  <a:pt x="478171" y="40894"/>
                </a:moveTo>
                <a:lnTo>
                  <a:pt x="442366" y="40894"/>
                </a:lnTo>
                <a:lnTo>
                  <a:pt x="451434" y="49784"/>
                </a:lnTo>
                <a:lnTo>
                  <a:pt x="442556" y="58822"/>
                </a:lnTo>
                <a:lnTo>
                  <a:pt x="465188" y="81025"/>
                </a:lnTo>
                <a:lnTo>
                  <a:pt x="478171" y="40894"/>
                </a:lnTo>
                <a:close/>
              </a:path>
              <a:path w="491490" h="500379">
                <a:moveTo>
                  <a:pt x="442366" y="40894"/>
                </a:moveTo>
                <a:lnTo>
                  <a:pt x="433491" y="49928"/>
                </a:lnTo>
                <a:lnTo>
                  <a:pt x="442556" y="58822"/>
                </a:lnTo>
                <a:lnTo>
                  <a:pt x="451434" y="49784"/>
                </a:lnTo>
                <a:lnTo>
                  <a:pt x="442366" y="40894"/>
                </a:lnTo>
                <a:close/>
              </a:path>
              <a:path w="491490" h="500379">
                <a:moveTo>
                  <a:pt x="491401" y="0"/>
                </a:moveTo>
                <a:lnTo>
                  <a:pt x="410819" y="27686"/>
                </a:lnTo>
                <a:lnTo>
                  <a:pt x="433491" y="49928"/>
                </a:lnTo>
                <a:lnTo>
                  <a:pt x="442366" y="40894"/>
                </a:lnTo>
                <a:lnTo>
                  <a:pt x="478171" y="40894"/>
                </a:lnTo>
                <a:lnTo>
                  <a:pt x="4914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103158" y="4470020"/>
            <a:ext cx="491490" cy="501015"/>
          </a:xfrm>
          <a:custGeom>
            <a:avLst/>
            <a:gdLst/>
            <a:ahLst/>
            <a:cxnLst/>
            <a:rect l="l" t="t" r="r" b="b"/>
            <a:pathLst>
              <a:path w="491490" h="501014">
                <a:moveTo>
                  <a:pt x="433458" y="450760"/>
                </a:moveTo>
                <a:lnTo>
                  <a:pt x="410832" y="472947"/>
                </a:lnTo>
                <a:lnTo>
                  <a:pt x="491401" y="500760"/>
                </a:lnTo>
                <a:lnTo>
                  <a:pt x="478211" y="459866"/>
                </a:lnTo>
                <a:lnTo>
                  <a:pt x="442391" y="459866"/>
                </a:lnTo>
                <a:lnTo>
                  <a:pt x="433458" y="450760"/>
                </a:lnTo>
                <a:close/>
              </a:path>
              <a:path w="491490" h="501014">
                <a:moveTo>
                  <a:pt x="442525" y="441869"/>
                </a:moveTo>
                <a:lnTo>
                  <a:pt x="433458" y="450760"/>
                </a:lnTo>
                <a:lnTo>
                  <a:pt x="442391" y="459866"/>
                </a:lnTo>
                <a:lnTo>
                  <a:pt x="451459" y="450976"/>
                </a:lnTo>
                <a:lnTo>
                  <a:pt x="442525" y="441869"/>
                </a:lnTo>
                <a:close/>
              </a:path>
              <a:path w="491490" h="501014">
                <a:moveTo>
                  <a:pt x="465226" y="419607"/>
                </a:moveTo>
                <a:lnTo>
                  <a:pt x="442525" y="441869"/>
                </a:lnTo>
                <a:lnTo>
                  <a:pt x="451459" y="450976"/>
                </a:lnTo>
                <a:lnTo>
                  <a:pt x="442391" y="459866"/>
                </a:lnTo>
                <a:lnTo>
                  <a:pt x="478211" y="459866"/>
                </a:lnTo>
                <a:lnTo>
                  <a:pt x="465226" y="419607"/>
                </a:lnTo>
                <a:close/>
              </a:path>
              <a:path w="491490" h="501014">
                <a:moveTo>
                  <a:pt x="9067" y="0"/>
                </a:moveTo>
                <a:lnTo>
                  <a:pt x="0" y="8889"/>
                </a:lnTo>
                <a:lnTo>
                  <a:pt x="433458" y="450760"/>
                </a:lnTo>
                <a:lnTo>
                  <a:pt x="442525" y="441869"/>
                </a:lnTo>
                <a:lnTo>
                  <a:pt x="90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384857" y="2785617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-0.7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384857" y="5439562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-0.9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26612" y="4340479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-1.6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626612" y="5683708"/>
            <a:ext cx="3854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-1.8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626612" y="2481198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-1.7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626612" y="3800602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-2.9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056378" y="3508375"/>
            <a:ext cx="38138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700" b="0" i="0" u="none" strike="noStrike" kern="1200" cap="none" spc="0" normalizeH="0" baseline="-4629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-2.5</a:t>
            </a:r>
            <a:r>
              <a:rPr kumimoji="0" sz="2700" b="0" i="0" u="none" strike="noStrike" kern="1200" cap="none" spc="412" normalizeH="0" baseline="-4629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=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log</a:t>
            </a:r>
            <a:r>
              <a:rPr kumimoji="0" sz="1800" b="0" i="0" u="none" strike="noStrike" kern="1200" cap="none" spc="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</a:t>
            </a:r>
            <a:r>
              <a:rPr kumimoji="0" sz="1800" b="0" i="0" u="none" strike="noStrike" kern="1200" cap="none" spc="-30" normalizeH="0" baseline="-2083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LM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</a:t>
            </a:r>
            <a:r>
              <a:rPr kumimoji="0" sz="1800" b="0" i="1" u="none" strike="noStrike" kern="1200" cap="none" spc="-2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|</a:t>
            </a:r>
            <a:r>
              <a:rPr kumimoji="0" sz="1800" b="0" i="1" u="none" strike="noStrike" kern="1200" cap="none" spc="-2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&lt;START&gt;</a:t>
            </a:r>
            <a:r>
              <a:rPr kumimoji="0" sz="1800" b="0" i="1" u="none" strike="noStrike" kern="1200" cap="none" spc="-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he</a:t>
            </a:r>
            <a:r>
              <a:rPr kumimoji="0" sz="1800" b="0" i="1" u="none" strike="noStrike" kern="1200" cap="none" spc="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hit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)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+</a:t>
            </a:r>
            <a:r>
              <a:rPr kumimoji="0" sz="1800" b="0" i="0" u="none" strike="noStrike" kern="1200" cap="none" spc="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-1.7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056378" y="2184272"/>
            <a:ext cx="36398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-2.8</a:t>
            </a:r>
            <a:r>
              <a:rPr kumimoji="0" sz="1800" b="0" i="0" u="none" strike="noStrike" kern="1200" cap="none" spc="27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700" b="0" i="0" u="none" strike="noStrike" kern="1200" cap="none" spc="0" normalizeH="0" baseline="3086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=</a:t>
            </a:r>
            <a:r>
              <a:rPr kumimoji="0" sz="2700" b="0" i="0" u="none" strike="noStrike" kern="1200" cap="none" spc="-15" normalizeH="0" baseline="3086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700" b="0" i="0" u="none" strike="noStrike" kern="1200" cap="none" spc="0" normalizeH="0" baseline="3086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log</a:t>
            </a:r>
            <a:r>
              <a:rPr kumimoji="0" sz="2700" b="0" i="0" u="none" strike="noStrike" kern="1200" cap="none" spc="7" normalizeH="0" baseline="3086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700" b="0" i="0" u="none" strike="noStrike" kern="1200" cap="none" spc="-30" normalizeH="0" baseline="3086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</a:t>
            </a:r>
            <a:r>
              <a:rPr kumimoji="0" sz="1800" b="0" i="0" u="none" strike="noStrike" kern="1200" cap="none" spc="-30" normalizeH="0" baseline="-1620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LM</a:t>
            </a:r>
            <a:r>
              <a:rPr kumimoji="0" sz="2700" b="0" i="0" u="none" strike="noStrike" kern="1200" cap="none" spc="-30" normalizeH="0" baseline="3086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</a:t>
            </a:r>
            <a:r>
              <a:rPr kumimoji="0" sz="2700" b="0" i="1" u="none" strike="noStrike" kern="1200" cap="none" spc="-30" normalizeH="0" baseline="3086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sz="2700" b="0" i="0" u="none" strike="noStrike" kern="1200" cap="none" spc="-30" normalizeH="0" baseline="3086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|</a:t>
            </a:r>
            <a:r>
              <a:rPr kumimoji="0" sz="2700" b="0" i="1" u="none" strike="noStrike" kern="1200" cap="none" spc="-30" normalizeH="0" baseline="3086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&lt;START&gt;</a:t>
            </a:r>
            <a:r>
              <a:rPr kumimoji="0" sz="2700" b="0" i="1" u="none" strike="noStrike" kern="1200" cap="none" spc="-22" normalizeH="0" baseline="3086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700" b="0" i="1" u="none" strike="noStrike" kern="1200" cap="none" spc="-7" normalizeH="0" baseline="3086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he</a:t>
            </a:r>
            <a:r>
              <a:rPr kumimoji="0" sz="2700" b="0" i="1" u="none" strike="noStrike" kern="1200" cap="none" spc="0" normalizeH="0" baseline="3086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700" b="0" i="1" u="none" strike="noStrike" kern="1200" cap="none" spc="-7" normalizeH="0" baseline="3086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hit</a:t>
            </a:r>
            <a:r>
              <a:rPr kumimoji="0" sz="2700" b="0" i="0" u="none" strike="noStrike" kern="1200" cap="none" spc="-7" normalizeH="0" baseline="3086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)</a:t>
            </a:r>
            <a:r>
              <a:rPr kumimoji="0" sz="2700" b="0" i="0" u="none" strike="noStrike" kern="1200" cap="none" spc="7" normalizeH="0" baseline="3086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700" b="0" i="0" u="none" strike="noStrike" kern="1200" cap="none" spc="0" normalizeH="0" baseline="3086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+</a:t>
            </a:r>
            <a:r>
              <a:rPr kumimoji="0" sz="2700" b="0" i="0" u="none" strike="noStrike" kern="1200" cap="none" spc="-7" normalizeH="0" baseline="3086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700" b="0" i="0" u="none" strike="noStrike" kern="1200" cap="none" spc="0" normalizeH="0" baseline="3086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-1.7</a:t>
            </a:r>
            <a:endParaRPr kumimoji="0" sz="2700" b="0" i="0" u="none" strike="noStrike" kern="1200" cap="none" spc="0" normalizeH="0" baseline="3086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056379" y="5406949"/>
            <a:ext cx="402462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-3.8</a:t>
            </a:r>
            <a:r>
              <a:rPr kumimoji="0" sz="1800" b="0" i="0" u="none" strike="noStrike" kern="1200" cap="none" spc="2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=</a:t>
            </a:r>
            <a:r>
              <a:rPr kumimoji="0" sz="1800" b="0" i="0" u="none" strike="noStrike" kern="1200" cap="none" spc="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log</a:t>
            </a:r>
            <a:r>
              <a:rPr kumimoji="0" sz="1800" b="0" i="0" u="none" strike="noStrike" kern="1200" cap="none" spc="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</a:t>
            </a:r>
            <a:r>
              <a:rPr kumimoji="0" sz="1800" b="0" i="0" u="none" strike="noStrike" kern="1200" cap="none" spc="-30" normalizeH="0" baseline="-2083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LM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</a:t>
            </a:r>
            <a:r>
              <a:rPr kumimoji="0" sz="1800" b="0" i="1" u="none" strike="noStrike" kern="1200" cap="none" spc="-2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struck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|</a:t>
            </a:r>
            <a:r>
              <a:rPr kumimoji="0" sz="1800" b="0" i="1" u="none" strike="noStrike" kern="1200" cap="none" spc="-2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&lt;START&gt;</a:t>
            </a:r>
            <a:r>
              <a:rPr kumimoji="0" sz="1800" b="0" i="1" u="none" strike="noStrike" kern="1200" cap="none" spc="1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was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)</a:t>
            </a:r>
            <a:r>
              <a:rPr kumimoji="0" sz="1800" b="0" i="0" u="none" strike="noStrike" kern="1200" cap="none" spc="2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+ -1.6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056378" y="4079494"/>
            <a:ext cx="37223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-2.9</a:t>
            </a:r>
            <a:r>
              <a:rPr kumimoji="0" sz="1800" b="0" i="0" u="none" strike="noStrike" kern="1200" cap="none" spc="275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700" b="0" i="0" u="none" strike="noStrike" kern="1200" cap="none" spc="0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=</a:t>
            </a:r>
            <a:r>
              <a:rPr kumimoji="0" sz="2700" b="0" i="0" u="none" strike="noStrike" kern="1200" cap="none" spc="-15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700" b="0" i="0" u="none" strike="noStrike" kern="1200" cap="none" spc="0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log</a:t>
            </a:r>
            <a:r>
              <a:rPr kumimoji="0" sz="2700" b="0" i="0" u="none" strike="noStrike" kern="1200" cap="none" spc="15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700" b="0" i="0" u="none" strike="noStrike" kern="1200" cap="none" spc="-30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</a:t>
            </a:r>
            <a:r>
              <a:rPr kumimoji="0" sz="1800" b="0" i="0" u="none" strike="noStrike" kern="1200" cap="none" spc="-30" normalizeH="0" baseline="-18518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LM</a:t>
            </a:r>
            <a:r>
              <a:rPr kumimoji="0" sz="2700" b="0" i="0" u="none" strike="noStrike" kern="1200" cap="none" spc="-30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</a:t>
            </a:r>
            <a:r>
              <a:rPr kumimoji="0" sz="2700" b="0" i="1" u="none" strike="noStrike" kern="1200" cap="none" spc="-30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hit</a:t>
            </a:r>
            <a:r>
              <a:rPr kumimoji="0" sz="2700" b="0" i="0" u="none" strike="noStrike" kern="1200" cap="none" spc="-30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|</a:t>
            </a:r>
            <a:r>
              <a:rPr kumimoji="0" sz="2700" b="0" i="1" u="none" strike="noStrike" kern="1200" cap="none" spc="-30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&lt;START&gt;</a:t>
            </a:r>
            <a:r>
              <a:rPr kumimoji="0" sz="2700" b="0" i="1" u="none" strike="noStrike" kern="1200" cap="none" spc="-7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700" b="0" i="1" u="none" strike="noStrike" kern="1200" cap="none" spc="0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</a:t>
            </a:r>
            <a:r>
              <a:rPr kumimoji="0" sz="2700" b="0" i="1" u="none" strike="noStrike" kern="1200" cap="none" spc="-7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was</a:t>
            </a:r>
            <a:r>
              <a:rPr kumimoji="0" sz="2700" b="0" i="0" u="none" strike="noStrike" kern="1200" cap="none" spc="-7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)</a:t>
            </a:r>
            <a:r>
              <a:rPr kumimoji="0" sz="2700" b="0" i="0" u="none" strike="noStrike" kern="1200" cap="none" spc="15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700" b="0" i="0" u="none" strike="noStrike" kern="1200" cap="none" spc="0" normalizeH="0" baseline="1543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+ -1.6</a:t>
            </a:r>
            <a:endParaRPr kumimoji="0" sz="2700" b="0" i="0" u="none" strike="noStrike" kern="1200" cap="none" spc="0" normalizeH="0" baseline="1543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446527" y="6083047"/>
            <a:ext cx="3683635" cy="585417"/>
          </a:xfrm>
          <a:prstGeom prst="rect">
            <a:avLst/>
          </a:prstGeom>
          <a:ln w="19811">
            <a:solidFill>
              <a:srgbClr val="BA56BD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0" marR="48260" lvl="0" indent="0" algn="ctr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For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each</a:t>
            </a:r>
            <a:r>
              <a:rPr kumimoji="0" sz="1800" b="0" i="0" u="none" strike="noStrike" kern="1200" cap="none" spc="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of</a:t>
            </a:r>
            <a:r>
              <a:rPr kumimoji="0" sz="1800" b="0" i="0" u="none" strike="noStrike" kern="1200" cap="none" spc="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the 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k</a:t>
            </a:r>
            <a:r>
              <a:rPr kumimoji="0" sz="1800" b="0" i="1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hypotheses,</a:t>
            </a: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find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  <a:p>
            <a:pPr marL="1905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top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k</a:t>
            </a:r>
            <a:r>
              <a:rPr kumimoji="0" sz="1800" b="0" i="1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next</a:t>
            </a:r>
            <a:r>
              <a:rPr kumimoji="0" sz="1800" b="0" i="0" u="none" strike="noStrike" kern="1200" cap="none" spc="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words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and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calculate</a:t>
            </a:r>
            <a:r>
              <a:rPr kumimoji="0" sz="1800" b="0" i="0" u="none" strike="noStrike" kern="1200" cap="none" spc="2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scores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0C670DA-8BB3-2291-FDF7-066AB6F5BE4B}"/>
              </a:ext>
            </a:extLst>
          </p:cNvPr>
          <p:cNvGrpSpPr/>
          <p:nvPr/>
        </p:nvGrpSpPr>
        <p:grpSpPr>
          <a:xfrm>
            <a:off x="1875934" y="646192"/>
            <a:ext cx="8356238" cy="736600"/>
            <a:chOff x="1875934" y="646192"/>
            <a:chExt cx="8356238" cy="736600"/>
          </a:xfrm>
        </p:grpSpPr>
        <p:sp>
          <p:nvSpPr>
            <p:cNvPr id="39" name="object 3">
              <a:extLst>
                <a:ext uri="{FF2B5EF4-FFF2-40B4-BE49-F238E27FC236}">
                  <a16:creationId xmlns:a16="http://schemas.microsoft.com/office/drawing/2014/main" id="{DDF44FFF-A0DA-89C3-85B3-5A14DE594602}"/>
                </a:ext>
              </a:extLst>
            </p:cNvPr>
            <p:cNvSpPr txBox="1"/>
            <p:nvPr/>
          </p:nvSpPr>
          <p:spPr>
            <a:xfrm>
              <a:off x="1875934" y="840487"/>
              <a:ext cx="3557126" cy="321242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0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Beam</a:t>
              </a:r>
              <a:r>
                <a:rPr kumimoji="0" sz="2000" b="1" i="0" u="none" strike="noStrike" kern="1200" cap="none" spc="-1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1" i="0" u="none" strike="noStrike" kern="1200" cap="none" spc="-5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size</a:t>
              </a:r>
              <a:r>
                <a:rPr kumimoji="0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=</a:t>
              </a:r>
              <a:r>
                <a:rPr kumimoji="0" sz="2000" b="1" i="0" u="none" strike="noStrike" kern="1200" cap="none" spc="-15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k</a:t>
              </a:r>
              <a:r>
                <a:rPr kumimoji="0" sz="2000" b="1" i="0" u="none" strike="noStrike" kern="1200" cap="none" spc="-1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=</a:t>
              </a:r>
              <a:r>
                <a:rPr kumimoji="0" sz="2000" b="1" i="0" u="none" strike="noStrike" kern="1200" cap="none" spc="-5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2</a:t>
              </a:r>
              <a:r>
                <a:rPr kumimoji="0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.</a:t>
              </a:r>
              <a:r>
                <a:rPr kumimoji="0" sz="2000" b="0" i="0" u="none" strike="noStrike" kern="1200" cap="none" spc="-25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285F4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Blue</a:t>
              </a:r>
              <a:r>
                <a:rPr kumimoji="0" sz="2000" b="0" i="0" u="none" strike="noStrike" kern="1200" cap="none" spc="-10" normalizeH="0" baseline="0" noProof="0" dirty="0">
                  <a:ln>
                    <a:noFill/>
                  </a:ln>
                  <a:solidFill>
                    <a:srgbClr val="4285F4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285F4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numbers</a:t>
              </a:r>
              <a:r>
                <a:rPr kumimoji="0" sz="2000" b="0" i="0" u="none" strike="noStrike" kern="1200" cap="none" spc="-5" normalizeH="0" baseline="0" noProof="0" dirty="0">
                  <a:ln>
                    <a:noFill/>
                  </a:ln>
                  <a:solidFill>
                    <a:srgbClr val="4285F4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285F4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=</a:t>
              </a:r>
              <a:endPara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endParaRPr>
            </a:p>
          </p:txBody>
        </p:sp>
        <p:pic>
          <p:nvPicPr>
            <p:cNvPr id="40" name="object 50">
              <a:extLst>
                <a:ext uri="{FF2B5EF4-FFF2-40B4-BE49-F238E27FC236}">
                  <a16:creationId xmlns:a16="http://schemas.microsoft.com/office/drawing/2014/main" id="{2C7697E5-0B56-F20F-1D03-542875E5E88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5822" y="646192"/>
              <a:ext cx="4816350" cy="7366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273551" y="2842260"/>
            <a:ext cx="1117600" cy="337912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4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hit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73551" y="3368040"/>
            <a:ext cx="1117600" cy="33855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247015" marR="0" lvl="0" indent="0" algn="l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struck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73551" y="4698491"/>
            <a:ext cx="1117600" cy="33855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352425" marR="0" lvl="0" indent="0" algn="l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was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73551" y="5224272"/>
            <a:ext cx="1117600" cy="33919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got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876804" y="3060192"/>
            <a:ext cx="397510" cy="526415"/>
          </a:xfrm>
          <a:custGeom>
            <a:avLst/>
            <a:gdLst/>
            <a:ahLst/>
            <a:cxnLst/>
            <a:rect l="l" t="t" r="r" b="b"/>
            <a:pathLst>
              <a:path w="397510" h="526414">
                <a:moveTo>
                  <a:pt x="397383" y="0"/>
                </a:moveTo>
                <a:lnTo>
                  <a:pt x="312801" y="11049"/>
                </a:lnTo>
                <a:lnTo>
                  <a:pt x="330568" y="37338"/>
                </a:lnTo>
                <a:lnTo>
                  <a:pt x="0" y="260223"/>
                </a:lnTo>
                <a:lnTo>
                  <a:pt x="3441" y="265341"/>
                </a:lnTo>
                <a:lnTo>
                  <a:pt x="0" y="270510"/>
                </a:lnTo>
                <a:lnTo>
                  <a:pt x="330288" y="489445"/>
                </a:lnTo>
                <a:lnTo>
                  <a:pt x="312801" y="515874"/>
                </a:lnTo>
                <a:lnTo>
                  <a:pt x="397383" y="526161"/>
                </a:lnTo>
                <a:lnTo>
                  <a:pt x="380238" y="496443"/>
                </a:lnTo>
                <a:lnTo>
                  <a:pt x="354838" y="452374"/>
                </a:lnTo>
                <a:lnTo>
                  <a:pt x="337337" y="478815"/>
                </a:lnTo>
                <a:lnTo>
                  <a:pt x="15278" y="265264"/>
                </a:lnTo>
                <a:lnTo>
                  <a:pt x="337693" y="47879"/>
                </a:lnTo>
                <a:lnTo>
                  <a:pt x="355473" y="74168"/>
                </a:lnTo>
                <a:lnTo>
                  <a:pt x="380301" y="30226"/>
                </a:lnTo>
                <a:lnTo>
                  <a:pt x="3973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876804" y="4916423"/>
            <a:ext cx="397510" cy="527050"/>
          </a:xfrm>
          <a:custGeom>
            <a:avLst/>
            <a:gdLst/>
            <a:ahLst/>
            <a:cxnLst/>
            <a:rect l="l" t="t" r="r" b="b"/>
            <a:pathLst>
              <a:path w="397510" h="527050">
                <a:moveTo>
                  <a:pt x="397383" y="0"/>
                </a:moveTo>
                <a:lnTo>
                  <a:pt x="312928" y="11938"/>
                </a:lnTo>
                <a:lnTo>
                  <a:pt x="331038" y="38100"/>
                </a:lnTo>
                <a:lnTo>
                  <a:pt x="0" y="267081"/>
                </a:lnTo>
                <a:lnTo>
                  <a:pt x="3721" y="272542"/>
                </a:lnTo>
                <a:lnTo>
                  <a:pt x="127" y="278142"/>
                </a:lnTo>
                <a:lnTo>
                  <a:pt x="329869" y="491121"/>
                </a:lnTo>
                <a:lnTo>
                  <a:pt x="312674" y="517779"/>
                </a:lnTo>
                <a:lnTo>
                  <a:pt x="397383" y="527050"/>
                </a:lnTo>
                <a:lnTo>
                  <a:pt x="380136" y="497967"/>
                </a:lnTo>
                <a:lnTo>
                  <a:pt x="353949" y="453771"/>
                </a:lnTo>
                <a:lnTo>
                  <a:pt x="336778" y="480402"/>
                </a:lnTo>
                <a:lnTo>
                  <a:pt x="14541" y="272351"/>
                </a:lnTo>
                <a:lnTo>
                  <a:pt x="338251" y="48526"/>
                </a:lnTo>
                <a:lnTo>
                  <a:pt x="356362" y="74676"/>
                </a:lnTo>
                <a:lnTo>
                  <a:pt x="380428" y="30861"/>
                </a:lnTo>
                <a:lnTo>
                  <a:pt x="3973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28972" y="2546604"/>
            <a:ext cx="1117600" cy="33855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28972" y="3073908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28972" y="4430268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hit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28972" y="4956048"/>
            <a:ext cx="1117600" cy="33919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247015" marR="0" lvl="0" indent="0" algn="l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struck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386454" y="2764536"/>
            <a:ext cx="342265" cy="527685"/>
          </a:xfrm>
          <a:custGeom>
            <a:avLst/>
            <a:gdLst/>
            <a:ahLst/>
            <a:cxnLst/>
            <a:rect l="l" t="t" r="r" b="b"/>
            <a:pathLst>
              <a:path w="342264" h="527685">
                <a:moveTo>
                  <a:pt x="342265" y="0"/>
                </a:moveTo>
                <a:lnTo>
                  <a:pt x="259842" y="21336"/>
                </a:lnTo>
                <a:lnTo>
                  <a:pt x="280670" y="45250"/>
                </a:lnTo>
                <a:lnTo>
                  <a:pt x="0" y="289687"/>
                </a:lnTo>
                <a:lnTo>
                  <a:pt x="4622" y="295021"/>
                </a:lnTo>
                <a:lnTo>
                  <a:pt x="635" y="300863"/>
                </a:lnTo>
                <a:lnTo>
                  <a:pt x="275856" y="489826"/>
                </a:lnTo>
                <a:lnTo>
                  <a:pt x="257937" y="516001"/>
                </a:lnTo>
                <a:lnTo>
                  <a:pt x="342265" y="527685"/>
                </a:lnTo>
                <a:lnTo>
                  <a:pt x="325247" y="496951"/>
                </a:lnTo>
                <a:lnTo>
                  <a:pt x="300990" y="453136"/>
                </a:lnTo>
                <a:lnTo>
                  <a:pt x="283032" y="479361"/>
                </a:lnTo>
                <a:lnTo>
                  <a:pt x="13804" y="294614"/>
                </a:lnTo>
                <a:lnTo>
                  <a:pt x="289013" y="54813"/>
                </a:lnTo>
                <a:lnTo>
                  <a:pt x="309880" y="78740"/>
                </a:lnTo>
                <a:lnTo>
                  <a:pt x="327063" y="36957"/>
                </a:lnTo>
                <a:lnTo>
                  <a:pt x="3422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386708" y="4648200"/>
            <a:ext cx="342265" cy="527050"/>
          </a:xfrm>
          <a:custGeom>
            <a:avLst/>
            <a:gdLst/>
            <a:ahLst/>
            <a:cxnLst/>
            <a:rect l="l" t="t" r="r" b="b"/>
            <a:pathLst>
              <a:path w="342264" h="527050">
                <a:moveTo>
                  <a:pt x="342011" y="0"/>
                </a:moveTo>
                <a:lnTo>
                  <a:pt x="258572" y="17526"/>
                </a:lnTo>
                <a:lnTo>
                  <a:pt x="278333" y="42443"/>
                </a:lnTo>
                <a:lnTo>
                  <a:pt x="0" y="263271"/>
                </a:lnTo>
                <a:lnTo>
                  <a:pt x="3937" y="268224"/>
                </a:lnTo>
                <a:lnTo>
                  <a:pt x="127" y="273304"/>
                </a:lnTo>
                <a:lnTo>
                  <a:pt x="277596" y="485330"/>
                </a:lnTo>
                <a:lnTo>
                  <a:pt x="258318" y="510540"/>
                </a:lnTo>
                <a:lnTo>
                  <a:pt x="342011" y="526542"/>
                </a:lnTo>
                <a:lnTo>
                  <a:pt x="325577" y="493014"/>
                </a:lnTo>
                <a:lnTo>
                  <a:pt x="304546" y="450088"/>
                </a:lnTo>
                <a:lnTo>
                  <a:pt x="285292" y="475259"/>
                </a:lnTo>
                <a:lnTo>
                  <a:pt x="14249" y="268122"/>
                </a:lnTo>
                <a:lnTo>
                  <a:pt x="286207" y="52349"/>
                </a:lnTo>
                <a:lnTo>
                  <a:pt x="305943" y="77216"/>
                </a:lnTo>
                <a:lnTo>
                  <a:pt x="325869" y="34544"/>
                </a:lnTo>
                <a:lnTo>
                  <a:pt x="3420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24001" y="4038601"/>
            <a:ext cx="1167765" cy="337913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31445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&lt;START&gt;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08859" y="3107436"/>
            <a:ext cx="571500" cy="337913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he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08859" y="4971289"/>
            <a:ext cx="571500" cy="337271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103158" y="3543300"/>
            <a:ext cx="491490" cy="500380"/>
          </a:xfrm>
          <a:custGeom>
            <a:avLst/>
            <a:gdLst/>
            <a:ahLst/>
            <a:cxnLst/>
            <a:rect l="l" t="t" r="r" b="b"/>
            <a:pathLst>
              <a:path w="491490" h="500379">
                <a:moveTo>
                  <a:pt x="433491" y="49928"/>
                </a:moveTo>
                <a:lnTo>
                  <a:pt x="0" y="491236"/>
                </a:lnTo>
                <a:lnTo>
                  <a:pt x="9067" y="500125"/>
                </a:lnTo>
                <a:lnTo>
                  <a:pt x="442556" y="58822"/>
                </a:lnTo>
                <a:lnTo>
                  <a:pt x="433491" y="49928"/>
                </a:lnTo>
                <a:close/>
              </a:path>
              <a:path w="491490" h="500379">
                <a:moveTo>
                  <a:pt x="478171" y="40894"/>
                </a:moveTo>
                <a:lnTo>
                  <a:pt x="442366" y="40894"/>
                </a:lnTo>
                <a:lnTo>
                  <a:pt x="451434" y="49784"/>
                </a:lnTo>
                <a:lnTo>
                  <a:pt x="442556" y="58822"/>
                </a:lnTo>
                <a:lnTo>
                  <a:pt x="465188" y="81025"/>
                </a:lnTo>
                <a:lnTo>
                  <a:pt x="478171" y="40894"/>
                </a:lnTo>
                <a:close/>
              </a:path>
              <a:path w="491490" h="500379">
                <a:moveTo>
                  <a:pt x="442366" y="40894"/>
                </a:moveTo>
                <a:lnTo>
                  <a:pt x="433491" y="49928"/>
                </a:lnTo>
                <a:lnTo>
                  <a:pt x="442556" y="58822"/>
                </a:lnTo>
                <a:lnTo>
                  <a:pt x="451434" y="49784"/>
                </a:lnTo>
                <a:lnTo>
                  <a:pt x="442366" y="40894"/>
                </a:lnTo>
                <a:close/>
              </a:path>
              <a:path w="491490" h="500379">
                <a:moveTo>
                  <a:pt x="491401" y="0"/>
                </a:moveTo>
                <a:lnTo>
                  <a:pt x="410819" y="27686"/>
                </a:lnTo>
                <a:lnTo>
                  <a:pt x="433491" y="49928"/>
                </a:lnTo>
                <a:lnTo>
                  <a:pt x="442366" y="40894"/>
                </a:lnTo>
                <a:lnTo>
                  <a:pt x="478171" y="40894"/>
                </a:lnTo>
                <a:lnTo>
                  <a:pt x="4914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103158" y="4470020"/>
            <a:ext cx="491490" cy="501015"/>
          </a:xfrm>
          <a:custGeom>
            <a:avLst/>
            <a:gdLst/>
            <a:ahLst/>
            <a:cxnLst/>
            <a:rect l="l" t="t" r="r" b="b"/>
            <a:pathLst>
              <a:path w="491490" h="501014">
                <a:moveTo>
                  <a:pt x="433458" y="450760"/>
                </a:moveTo>
                <a:lnTo>
                  <a:pt x="410832" y="472947"/>
                </a:lnTo>
                <a:lnTo>
                  <a:pt x="491401" y="500760"/>
                </a:lnTo>
                <a:lnTo>
                  <a:pt x="478211" y="459866"/>
                </a:lnTo>
                <a:lnTo>
                  <a:pt x="442391" y="459866"/>
                </a:lnTo>
                <a:lnTo>
                  <a:pt x="433458" y="450760"/>
                </a:lnTo>
                <a:close/>
              </a:path>
              <a:path w="491490" h="501014">
                <a:moveTo>
                  <a:pt x="442525" y="441869"/>
                </a:moveTo>
                <a:lnTo>
                  <a:pt x="433458" y="450760"/>
                </a:lnTo>
                <a:lnTo>
                  <a:pt x="442391" y="459866"/>
                </a:lnTo>
                <a:lnTo>
                  <a:pt x="451459" y="450976"/>
                </a:lnTo>
                <a:lnTo>
                  <a:pt x="442525" y="441869"/>
                </a:lnTo>
                <a:close/>
              </a:path>
              <a:path w="491490" h="501014">
                <a:moveTo>
                  <a:pt x="465226" y="419607"/>
                </a:moveTo>
                <a:lnTo>
                  <a:pt x="442525" y="441869"/>
                </a:lnTo>
                <a:lnTo>
                  <a:pt x="451459" y="450976"/>
                </a:lnTo>
                <a:lnTo>
                  <a:pt x="442391" y="459866"/>
                </a:lnTo>
                <a:lnTo>
                  <a:pt x="478211" y="459866"/>
                </a:lnTo>
                <a:lnTo>
                  <a:pt x="465226" y="419607"/>
                </a:lnTo>
                <a:close/>
              </a:path>
              <a:path w="491490" h="501014">
                <a:moveTo>
                  <a:pt x="9067" y="0"/>
                </a:moveTo>
                <a:lnTo>
                  <a:pt x="0" y="8889"/>
                </a:lnTo>
                <a:lnTo>
                  <a:pt x="433458" y="450760"/>
                </a:lnTo>
                <a:lnTo>
                  <a:pt x="442525" y="441869"/>
                </a:lnTo>
                <a:lnTo>
                  <a:pt x="90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384857" y="2785617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-0.7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384857" y="5439562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-0.9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26612" y="4340479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-1.6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626612" y="5683708"/>
            <a:ext cx="3854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-1.8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626612" y="2481198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-1.7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626612" y="3800602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-2.9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081779" y="3525392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-2.5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081779" y="2184272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-2.8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081779" y="5406949"/>
            <a:ext cx="3854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-3.8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081779" y="4079494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-2.9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832099" y="6083047"/>
            <a:ext cx="3035935" cy="585417"/>
          </a:xfrm>
          <a:prstGeom prst="rect">
            <a:avLst/>
          </a:prstGeom>
          <a:ln w="19811">
            <a:solidFill>
              <a:srgbClr val="BA56BD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Of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these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k</a:t>
            </a:r>
            <a:r>
              <a:rPr kumimoji="0" sz="1800" b="0" i="0" u="none" strike="noStrike" kern="1200" cap="none" spc="-7" normalizeH="0" baseline="25462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2</a:t>
            </a:r>
            <a:r>
              <a:rPr kumimoji="0" sz="1800" b="0" i="0" u="none" strike="noStrike" kern="1200" cap="none" spc="195" normalizeH="0" baseline="25462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hypotheses,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just </a:t>
            </a: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keep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k</a:t>
            </a:r>
            <a:r>
              <a:rPr kumimoji="0" sz="1800" b="0" i="1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with</a:t>
            </a:r>
            <a:r>
              <a:rPr kumimoji="0" sz="1800" b="0" i="0" u="none" strike="noStrike" kern="1200" cap="none" spc="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highest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scores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D1EC3E4-FE8A-692B-6E72-CAFB92C9EB41}"/>
              </a:ext>
            </a:extLst>
          </p:cNvPr>
          <p:cNvGrpSpPr/>
          <p:nvPr/>
        </p:nvGrpSpPr>
        <p:grpSpPr>
          <a:xfrm>
            <a:off x="1875934" y="646192"/>
            <a:ext cx="8356238" cy="736600"/>
            <a:chOff x="1875934" y="646192"/>
            <a:chExt cx="8356238" cy="736600"/>
          </a:xfrm>
        </p:grpSpPr>
        <p:sp>
          <p:nvSpPr>
            <p:cNvPr id="36" name="object 3">
              <a:extLst>
                <a:ext uri="{FF2B5EF4-FFF2-40B4-BE49-F238E27FC236}">
                  <a16:creationId xmlns:a16="http://schemas.microsoft.com/office/drawing/2014/main" id="{7AB604DB-EA2A-5572-42B3-DBE6844C9E10}"/>
                </a:ext>
              </a:extLst>
            </p:cNvPr>
            <p:cNvSpPr txBox="1"/>
            <p:nvPr/>
          </p:nvSpPr>
          <p:spPr>
            <a:xfrm>
              <a:off x="1875934" y="840487"/>
              <a:ext cx="3557126" cy="321242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0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Beam</a:t>
              </a:r>
              <a:r>
                <a:rPr kumimoji="0" sz="2000" b="1" i="0" u="none" strike="noStrike" kern="1200" cap="none" spc="-1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1" i="0" u="none" strike="noStrike" kern="1200" cap="none" spc="-5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size</a:t>
              </a:r>
              <a:r>
                <a:rPr kumimoji="0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=</a:t>
              </a:r>
              <a:r>
                <a:rPr kumimoji="0" sz="2000" b="1" i="0" u="none" strike="noStrike" kern="1200" cap="none" spc="-15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k</a:t>
              </a:r>
              <a:r>
                <a:rPr kumimoji="0" sz="2000" b="1" i="0" u="none" strike="noStrike" kern="1200" cap="none" spc="-1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=</a:t>
              </a:r>
              <a:r>
                <a:rPr kumimoji="0" sz="2000" b="1" i="0" u="none" strike="noStrike" kern="1200" cap="none" spc="-5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2</a:t>
              </a:r>
              <a:r>
                <a:rPr kumimoji="0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.</a:t>
              </a:r>
              <a:r>
                <a:rPr kumimoji="0" sz="2000" b="0" i="0" u="none" strike="noStrike" kern="1200" cap="none" spc="-25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285F4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Blue</a:t>
              </a:r>
              <a:r>
                <a:rPr kumimoji="0" sz="2000" b="0" i="0" u="none" strike="noStrike" kern="1200" cap="none" spc="-10" normalizeH="0" baseline="0" noProof="0" dirty="0">
                  <a:ln>
                    <a:noFill/>
                  </a:ln>
                  <a:solidFill>
                    <a:srgbClr val="4285F4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285F4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numbers</a:t>
              </a:r>
              <a:r>
                <a:rPr kumimoji="0" sz="2000" b="0" i="0" u="none" strike="noStrike" kern="1200" cap="none" spc="-5" normalizeH="0" baseline="0" noProof="0" dirty="0">
                  <a:ln>
                    <a:noFill/>
                  </a:ln>
                  <a:solidFill>
                    <a:srgbClr val="4285F4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285F4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=</a:t>
              </a:r>
              <a:endPara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endParaRPr>
            </a:p>
          </p:txBody>
        </p:sp>
        <p:pic>
          <p:nvPicPr>
            <p:cNvPr id="37" name="object 50">
              <a:extLst>
                <a:ext uri="{FF2B5EF4-FFF2-40B4-BE49-F238E27FC236}">
                  <a16:creationId xmlns:a16="http://schemas.microsoft.com/office/drawing/2014/main" id="{32633F3D-EC71-541B-B9DF-2B0D0147A8C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5822" y="646192"/>
              <a:ext cx="4816350" cy="7366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273551" y="2842260"/>
            <a:ext cx="1117600" cy="337912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4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hit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73551" y="3368040"/>
            <a:ext cx="1117600" cy="33855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247015" marR="0" lvl="0" indent="0" algn="l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struck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73551" y="4698491"/>
            <a:ext cx="1117600" cy="33855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352425" marR="0" lvl="0" indent="0" algn="l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was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73551" y="5224272"/>
            <a:ext cx="1117600" cy="33919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got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876804" y="3060192"/>
            <a:ext cx="397510" cy="526415"/>
          </a:xfrm>
          <a:custGeom>
            <a:avLst/>
            <a:gdLst/>
            <a:ahLst/>
            <a:cxnLst/>
            <a:rect l="l" t="t" r="r" b="b"/>
            <a:pathLst>
              <a:path w="397510" h="526414">
                <a:moveTo>
                  <a:pt x="397383" y="0"/>
                </a:moveTo>
                <a:lnTo>
                  <a:pt x="312801" y="11049"/>
                </a:lnTo>
                <a:lnTo>
                  <a:pt x="330568" y="37338"/>
                </a:lnTo>
                <a:lnTo>
                  <a:pt x="0" y="260223"/>
                </a:lnTo>
                <a:lnTo>
                  <a:pt x="3441" y="265341"/>
                </a:lnTo>
                <a:lnTo>
                  <a:pt x="0" y="270510"/>
                </a:lnTo>
                <a:lnTo>
                  <a:pt x="330288" y="489445"/>
                </a:lnTo>
                <a:lnTo>
                  <a:pt x="312801" y="515874"/>
                </a:lnTo>
                <a:lnTo>
                  <a:pt x="397383" y="526161"/>
                </a:lnTo>
                <a:lnTo>
                  <a:pt x="380238" y="496443"/>
                </a:lnTo>
                <a:lnTo>
                  <a:pt x="354838" y="452374"/>
                </a:lnTo>
                <a:lnTo>
                  <a:pt x="337337" y="478815"/>
                </a:lnTo>
                <a:lnTo>
                  <a:pt x="15278" y="265264"/>
                </a:lnTo>
                <a:lnTo>
                  <a:pt x="337693" y="47879"/>
                </a:lnTo>
                <a:lnTo>
                  <a:pt x="355473" y="74168"/>
                </a:lnTo>
                <a:lnTo>
                  <a:pt x="380301" y="30226"/>
                </a:lnTo>
                <a:lnTo>
                  <a:pt x="3973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876804" y="4916423"/>
            <a:ext cx="397510" cy="527050"/>
          </a:xfrm>
          <a:custGeom>
            <a:avLst/>
            <a:gdLst/>
            <a:ahLst/>
            <a:cxnLst/>
            <a:rect l="l" t="t" r="r" b="b"/>
            <a:pathLst>
              <a:path w="397510" h="527050">
                <a:moveTo>
                  <a:pt x="397383" y="0"/>
                </a:moveTo>
                <a:lnTo>
                  <a:pt x="312928" y="11938"/>
                </a:lnTo>
                <a:lnTo>
                  <a:pt x="331038" y="38100"/>
                </a:lnTo>
                <a:lnTo>
                  <a:pt x="0" y="267081"/>
                </a:lnTo>
                <a:lnTo>
                  <a:pt x="3721" y="272542"/>
                </a:lnTo>
                <a:lnTo>
                  <a:pt x="127" y="278142"/>
                </a:lnTo>
                <a:lnTo>
                  <a:pt x="329869" y="491121"/>
                </a:lnTo>
                <a:lnTo>
                  <a:pt x="312674" y="517779"/>
                </a:lnTo>
                <a:lnTo>
                  <a:pt x="397383" y="527050"/>
                </a:lnTo>
                <a:lnTo>
                  <a:pt x="380136" y="497967"/>
                </a:lnTo>
                <a:lnTo>
                  <a:pt x="353949" y="453771"/>
                </a:lnTo>
                <a:lnTo>
                  <a:pt x="336778" y="480402"/>
                </a:lnTo>
                <a:lnTo>
                  <a:pt x="14541" y="272351"/>
                </a:lnTo>
                <a:lnTo>
                  <a:pt x="338251" y="48526"/>
                </a:lnTo>
                <a:lnTo>
                  <a:pt x="356362" y="74676"/>
                </a:lnTo>
                <a:lnTo>
                  <a:pt x="380428" y="30861"/>
                </a:lnTo>
                <a:lnTo>
                  <a:pt x="3973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28972" y="2546604"/>
            <a:ext cx="1117600" cy="33855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28972" y="3073908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28972" y="4430268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hit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28972" y="4956048"/>
            <a:ext cx="1117600" cy="33919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247015" marR="0" lvl="0" indent="0" algn="l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struck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386454" y="2764536"/>
            <a:ext cx="342265" cy="527685"/>
          </a:xfrm>
          <a:custGeom>
            <a:avLst/>
            <a:gdLst/>
            <a:ahLst/>
            <a:cxnLst/>
            <a:rect l="l" t="t" r="r" b="b"/>
            <a:pathLst>
              <a:path w="342264" h="527685">
                <a:moveTo>
                  <a:pt x="342265" y="0"/>
                </a:moveTo>
                <a:lnTo>
                  <a:pt x="259842" y="21336"/>
                </a:lnTo>
                <a:lnTo>
                  <a:pt x="280670" y="45250"/>
                </a:lnTo>
                <a:lnTo>
                  <a:pt x="0" y="289687"/>
                </a:lnTo>
                <a:lnTo>
                  <a:pt x="4622" y="295021"/>
                </a:lnTo>
                <a:lnTo>
                  <a:pt x="635" y="300863"/>
                </a:lnTo>
                <a:lnTo>
                  <a:pt x="275856" y="489826"/>
                </a:lnTo>
                <a:lnTo>
                  <a:pt x="257937" y="516001"/>
                </a:lnTo>
                <a:lnTo>
                  <a:pt x="342265" y="527685"/>
                </a:lnTo>
                <a:lnTo>
                  <a:pt x="325247" y="496951"/>
                </a:lnTo>
                <a:lnTo>
                  <a:pt x="300990" y="453136"/>
                </a:lnTo>
                <a:lnTo>
                  <a:pt x="283032" y="479361"/>
                </a:lnTo>
                <a:lnTo>
                  <a:pt x="13804" y="294614"/>
                </a:lnTo>
                <a:lnTo>
                  <a:pt x="289013" y="54813"/>
                </a:lnTo>
                <a:lnTo>
                  <a:pt x="309880" y="78740"/>
                </a:lnTo>
                <a:lnTo>
                  <a:pt x="327063" y="36957"/>
                </a:lnTo>
                <a:lnTo>
                  <a:pt x="3422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386708" y="4648200"/>
            <a:ext cx="342265" cy="527050"/>
          </a:xfrm>
          <a:custGeom>
            <a:avLst/>
            <a:gdLst/>
            <a:ahLst/>
            <a:cxnLst/>
            <a:rect l="l" t="t" r="r" b="b"/>
            <a:pathLst>
              <a:path w="342264" h="527050">
                <a:moveTo>
                  <a:pt x="342011" y="0"/>
                </a:moveTo>
                <a:lnTo>
                  <a:pt x="258572" y="17526"/>
                </a:lnTo>
                <a:lnTo>
                  <a:pt x="278333" y="42443"/>
                </a:lnTo>
                <a:lnTo>
                  <a:pt x="0" y="263271"/>
                </a:lnTo>
                <a:lnTo>
                  <a:pt x="3937" y="268224"/>
                </a:lnTo>
                <a:lnTo>
                  <a:pt x="127" y="273304"/>
                </a:lnTo>
                <a:lnTo>
                  <a:pt x="277596" y="485330"/>
                </a:lnTo>
                <a:lnTo>
                  <a:pt x="258318" y="510540"/>
                </a:lnTo>
                <a:lnTo>
                  <a:pt x="342011" y="526542"/>
                </a:lnTo>
                <a:lnTo>
                  <a:pt x="325577" y="493014"/>
                </a:lnTo>
                <a:lnTo>
                  <a:pt x="304546" y="450088"/>
                </a:lnTo>
                <a:lnTo>
                  <a:pt x="285292" y="475259"/>
                </a:lnTo>
                <a:lnTo>
                  <a:pt x="14249" y="268122"/>
                </a:lnTo>
                <a:lnTo>
                  <a:pt x="286207" y="52349"/>
                </a:lnTo>
                <a:lnTo>
                  <a:pt x="305943" y="77216"/>
                </a:lnTo>
                <a:lnTo>
                  <a:pt x="325869" y="34544"/>
                </a:lnTo>
                <a:lnTo>
                  <a:pt x="3420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256020" y="1816608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365125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tart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256020" y="2343912"/>
            <a:ext cx="1117600" cy="337271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1270" marR="0" lvl="0" indent="0" algn="ctr" defTabSz="914400" rtl="0" eaLnBrk="1" fontAlgn="auto" latinLnBrk="0" hangingPunct="1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pie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56020" y="3512820"/>
            <a:ext cx="1117600" cy="337912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4" rIns="0" bIns="0" rtlCol="0">
            <a:spAutoFit/>
          </a:bodyPr>
          <a:lstStyle/>
          <a:p>
            <a:pPr marL="332105" marR="0" lvl="0" indent="0" algn="l" defTabSz="914400" rtl="0" eaLnBrk="1" fontAlgn="auto" latinLnBrk="0" hangingPunct="1">
              <a:lnSpc>
                <a:spcPct val="100000"/>
              </a:lnSpc>
              <a:spcBef>
                <a:spcPts val="2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256020" y="4038601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270" marR="0" lvl="0" indent="0" algn="ctr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840223" y="3287521"/>
            <a:ext cx="422275" cy="969644"/>
          </a:xfrm>
          <a:custGeom>
            <a:avLst/>
            <a:gdLst/>
            <a:ahLst/>
            <a:cxnLst/>
            <a:rect l="l" t="t" r="r" b="b"/>
            <a:pathLst>
              <a:path w="422275" h="969645">
                <a:moveTo>
                  <a:pt x="422021" y="884174"/>
                </a:moveTo>
                <a:lnTo>
                  <a:pt x="392785" y="896620"/>
                </a:lnTo>
                <a:lnTo>
                  <a:pt x="25704" y="34709"/>
                </a:lnTo>
                <a:lnTo>
                  <a:pt x="360121" y="391426"/>
                </a:lnTo>
                <a:lnTo>
                  <a:pt x="336931" y="413131"/>
                </a:lnTo>
                <a:lnTo>
                  <a:pt x="416814" y="442722"/>
                </a:lnTo>
                <a:lnTo>
                  <a:pt x="404317" y="400685"/>
                </a:lnTo>
                <a:lnTo>
                  <a:pt x="392557" y="361061"/>
                </a:lnTo>
                <a:lnTo>
                  <a:pt x="369366" y="382765"/>
                </a:lnTo>
                <a:lnTo>
                  <a:pt x="10414" y="0"/>
                </a:lnTo>
                <a:lnTo>
                  <a:pt x="5842" y="4318"/>
                </a:lnTo>
                <a:lnTo>
                  <a:pt x="0" y="6858"/>
                </a:lnTo>
                <a:lnTo>
                  <a:pt x="381101" y="901598"/>
                </a:lnTo>
                <a:lnTo>
                  <a:pt x="351917" y="914019"/>
                </a:lnTo>
                <a:lnTo>
                  <a:pt x="416814" y="969137"/>
                </a:lnTo>
                <a:lnTo>
                  <a:pt x="420230" y="913257"/>
                </a:lnTo>
                <a:lnTo>
                  <a:pt x="422021" y="8841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840477" y="2034539"/>
            <a:ext cx="416559" cy="736600"/>
          </a:xfrm>
          <a:custGeom>
            <a:avLst/>
            <a:gdLst/>
            <a:ahLst/>
            <a:cxnLst/>
            <a:rect l="l" t="t" r="r" b="b"/>
            <a:pathLst>
              <a:path w="416560" h="736600">
                <a:moveTo>
                  <a:pt x="416560" y="0"/>
                </a:moveTo>
                <a:lnTo>
                  <a:pt x="346075" y="47752"/>
                </a:lnTo>
                <a:lnTo>
                  <a:pt x="373722" y="63309"/>
                </a:lnTo>
                <a:lnTo>
                  <a:pt x="0" y="726948"/>
                </a:lnTo>
                <a:lnTo>
                  <a:pt x="5067" y="729830"/>
                </a:lnTo>
                <a:lnTo>
                  <a:pt x="8382" y="736600"/>
                </a:lnTo>
                <a:lnTo>
                  <a:pt x="351205" y="566851"/>
                </a:lnTo>
                <a:lnTo>
                  <a:pt x="365252" y="595249"/>
                </a:lnTo>
                <a:lnTo>
                  <a:pt x="399580" y="549783"/>
                </a:lnTo>
                <a:lnTo>
                  <a:pt x="416560" y="527304"/>
                </a:lnTo>
                <a:lnTo>
                  <a:pt x="331470" y="526923"/>
                </a:lnTo>
                <a:lnTo>
                  <a:pt x="345541" y="555396"/>
                </a:lnTo>
                <a:lnTo>
                  <a:pt x="20751" y="716280"/>
                </a:lnTo>
                <a:lnTo>
                  <a:pt x="384784" y="69519"/>
                </a:lnTo>
                <a:lnTo>
                  <a:pt x="412496" y="85090"/>
                </a:lnTo>
                <a:lnTo>
                  <a:pt x="414058" y="52197"/>
                </a:lnTo>
                <a:lnTo>
                  <a:pt x="4165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24001" y="4038601"/>
            <a:ext cx="1167765" cy="337913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31445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&lt;START&gt;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308859" y="3107436"/>
            <a:ext cx="571500" cy="337913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he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308859" y="4971289"/>
            <a:ext cx="571500" cy="337271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103158" y="3543300"/>
            <a:ext cx="491490" cy="500380"/>
          </a:xfrm>
          <a:custGeom>
            <a:avLst/>
            <a:gdLst/>
            <a:ahLst/>
            <a:cxnLst/>
            <a:rect l="l" t="t" r="r" b="b"/>
            <a:pathLst>
              <a:path w="491490" h="500379">
                <a:moveTo>
                  <a:pt x="433491" y="49928"/>
                </a:moveTo>
                <a:lnTo>
                  <a:pt x="0" y="491236"/>
                </a:lnTo>
                <a:lnTo>
                  <a:pt x="9067" y="500125"/>
                </a:lnTo>
                <a:lnTo>
                  <a:pt x="442556" y="58822"/>
                </a:lnTo>
                <a:lnTo>
                  <a:pt x="433491" y="49928"/>
                </a:lnTo>
                <a:close/>
              </a:path>
              <a:path w="491490" h="500379">
                <a:moveTo>
                  <a:pt x="478171" y="40894"/>
                </a:moveTo>
                <a:lnTo>
                  <a:pt x="442366" y="40894"/>
                </a:lnTo>
                <a:lnTo>
                  <a:pt x="451434" y="49784"/>
                </a:lnTo>
                <a:lnTo>
                  <a:pt x="442556" y="58822"/>
                </a:lnTo>
                <a:lnTo>
                  <a:pt x="465188" y="81025"/>
                </a:lnTo>
                <a:lnTo>
                  <a:pt x="478171" y="40894"/>
                </a:lnTo>
                <a:close/>
              </a:path>
              <a:path w="491490" h="500379">
                <a:moveTo>
                  <a:pt x="442366" y="40894"/>
                </a:moveTo>
                <a:lnTo>
                  <a:pt x="433491" y="49928"/>
                </a:lnTo>
                <a:lnTo>
                  <a:pt x="442556" y="58822"/>
                </a:lnTo>
                <a:lnTo>
                  <a:pt x="451434" y="49784"/>
                </a:lnTo>
                <a:lnTo>
                  <a:pt x="442366" y="40894"/>
                </a:lnTo>
                <a:close/>
              </a:path>
              <a:path w="491490" h="500379">
                <a:moveTo>
                  <a:pt x="491401" y="0"/>
                </a:moveTo>
                <a:lnTo>
                  <a:pt x="410819" y="27686"/>
                </a:lnTo>
                <a:lnTo>
                  <a:pt x="433491" y="49928"/>
                </a:lnTo>
                <a:lnTo>
                  <a:pt x="442366" y="40894"/>
                </a:lnTo>
                <a:lnTo>
                  <a:pt x="478171" y="40894"/>
                </a:lnTo>
                <a:lnTo>
                  <a:pt x="4914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103158" y="4470020"/>
            <a:ext cx="491490" cy="501015"/>
          </a:xfrm>
          <a:custGeom>
            <a:avLst/>
            <a:gdLst/>
            <a:ahLst/>
            <a:cxnLst/>
            <a:rect l="l" t="t" r="r" b="b"/>
            <a:pathLst>
              <a:path w="491490" h="501014">
                <a:moveTo>
                  <a:pt x="433458" y="450760"/>
                </a:moveTo>
                <a:lnTo>
                  <a:pt x="410832" y="472947"/>
                </a:lnTo>
                <a:lnTo>
                  <a:pt x="491401" y="500760"/>
                </a:lnTo>
                <a:lnTo>
                  <a:pt x="478211" y="459866"/>
                </a:lnTo>
                <a:lnTo>
                  <a:pt x="442391" y="459866"/>
                </a:lnTo>
                <a:lnTo>
                  <a:pt x="433458" y="450760"/>
                </a:lnTo>
                <a:close/>
              </a:path>
              <a:path w="491490" h="501014">
                <a:moveTo>
                  <a:pt x="442525" y="441869"/>
                </a:moveTo>
                <a:lnTo>
                  <a:pt x="433458" y="450760"/>
                </a:lnTo>
                <a:lnTo>
                  <a:pt x="442391" y="459866"/>
                </a:lnTo>
                <a:lnTo>
                  <a:pt x="451459" y="450976"/>
                </a:lnTo>
                <a:lnTo>
                  <a:pt x="442525" y="441869"/>
                </a:lnTo>
                <a:close/>
              </a:path>
              <a:path w="491490" h="501014">
                <a:moveTo>
                  <a:pt x="465226" y="419607"/>
                </a:moveTo>
                <a:lnTo>
                  <a:pt x="442525" y="441869"/>
                </a:lnTo>
                <a:lnTo>
                  <a:pt x="451459" y="450976"/>
                </a:lnTo>
                <a:lnTo>
                  <a:pt x="442391" y="459866"/>
                </a:lnTo>
                <a:lnTo>
                  <a:pt x="478211" y="459866"/>
                </a:lnTo>
                <a:lnTo>
                  <a:pt x="465226" y="419607"/>
                </a:lnTo>
                <a:close/>
              </a:path>
              <a:path w="491490" h="501014">
                <a:moveTo>
                  <a:pt x="9067" y="0"/>
                </a:moveTo>
                <a:lnTo>
                  <a:pt x="0" y="8889"/>
                </a:lnTo>
                <a:lnTo>
                  <a:pt x="433458" y="450760"/>
                </a:lnTo>
                <a:lnTo>
                  <a:pt x="442525" y="441869"/>
                </a:lnTo>
                <a:lnTo>
                  <a:pt x="90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384857" y="2785617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-0.7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384857" y="5439562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-0.9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626612" y="4340479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-1.6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626612" y="5683708"/>
            <a:ext cx="3854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-1.8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626612" y="2481198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-1.7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626612" y="3800602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-2.9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081779" y="3525392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-2.5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081779" y="2184272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-2.8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081779" y="5406949"/>
            <a:ext cx="3854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-3.8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081779" y="4079494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-2.9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609716" y="4482210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-3.5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609716" y="3208146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-3.3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609715" y="2762200"/>
            <a:ext cx="3860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-3.4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113783" y="6083047"/>
            <a:ext cx="3683635" cy="585417"/>
          </a:xfrm>
          <a:prstGeom prst="rect">
            <a:avLst/>
          </a:prstGeom>
          <a:ln w="19811">
            <a:solidFill>
              <a:srgbClr val="BA56BD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0" marR="45720" lvl="0" indent="0" algn="ctr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For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each</a:t>
            </a:r>
            <a:r>
              <a:rPr kumimoji="0" sz="1800" b="0" i="0" u="none" strike="noStrike" kern="1200" cap="none" spc="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of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the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k</a:t>
            </a:r>
            <a:r>
              <a:rPr kumimoji="0" sz="1800" b="0" i="1" u="none" strike="noStrike" kern="1200" cap="none" spc="-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hypotheses,</a:t>
            </a: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find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top 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k</a:t>
            </a:r>
            <a:r>
              <a:rPr kumimoji="0" sz="1800" b="0" i="1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next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words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and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calculate</a:t>
            </a:r>
            <a:r>
              <a:rPr kumimoji="0" sz="1800" b="0" i="0" u="none" strike="noStrike" kern="1200" cap="none" spc="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scores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FC29B04-DE53-C41B-5FF8-B9E878A14EB9}"/>
              </a:ext>
            </a:extLst>
          </p:cNvPr>
          <p:cNvGrpSpPr/>
          <p:nvPr/>
        </p:nvGrpSpPr>
        <p:grpSpPr>
          <a:xfrm>
            <a:off x="1875934" y="646192"/>
            <a:ext cx="8356238" cy="736600"/>
            <a:chOff x="1875934" y="646192"/>
            <a:chExt cx="8356238" cy="736600"/>
          </a:xfrm>
        </p:grpSpPr>
        <p:sp>
          <p:nvSpPr>
            <p:cNvPr id="45" name="object 3">
              <a:extLst>
                <a:ext uri="{FF2B5EF4-FFF2-40B4-BE49-F238E27FC236}">
                  <a16:creationId xmlns:a16="http://schemas.microsoft.com/office/drawing/2014/main" id="{D293B842-F692-D71B-9ADC-3017C1D6B227}"/>
                </a:ext>
              </a:extLst>
            </p:cNvPr>
            <p:cNvSpPr txBox="1"/>
            <p:nvPr/>
          </p:nvSpPr>
          <p:spPr>
            <a:xfrm>
              <a:off x="1875934" y="840487"/>
              <a:ext cx="3557126" cy="321242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0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Beam</a:t>
              </a:r>
              <a:r>
                <a:rPr kumimoji="0" sz="2000" b="1" i="0" u="none" strike="noStrike" kern="1200" cap="none" spc="-1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1" i="0" u="none" strike="noStrike" kern="1200" cap="none" spc="-5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size</a:t>
              </a:r>
              <a:r>
                <a:rPr kumimoji="0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=</a:t>
              </a:r>
              <a:r>
                <a:rPr kumimoji="0" sz="2000" b="1" i="0" u="none" strike="noStrike" kern="1200" cap="none" spc="-15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k</a:t>
              </a:r>
              <a:r>
                <a:rPr kumimoji="0" sz="2000" b="1" i="0" u="none" strike="noStrike" kern="1200" cap="none" spc="-1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=</a:t>
              </a:r>
              <a:r>
                <a:rPr kumimoji="0" sz="2000" b="1" i="0" u="none" strike="noStrike" kern="1200" cap="none" spc="-5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2</a:t>
              </a:r>
              <a:r>
                <a:rPr kumimoji="0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.</a:t>
              </a:r>
              <a:r>
                <a:rPr kumimoji="0" sz="2000" b="0" i="0" u="none" strike="noStrike" kern="1200" cap="none" spc="-25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285F4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Blue</a:t>
              </a:r>
              <a:r>
                <a:rPr kumimoji="0" sz="2000" b="0" i="0" u="none" strike="noStrike" kern="1200" cap="none" spc="-10" normalizeH="0" baseline="0" noProof="0" dirty="0">
                  <a:ln>
                    <a:noFill/>
                  </a:ln>
                  <a:solidFill>
                    <a:srgbClr val="4285F4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285F4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numbers</a:t>
              </a:r>
              <a:r>
                <a:rPr kumimoji="0" sz="2000" b="0" i="0" u="none" strike="noStrike" kern="1200" cap="none" spc="-5" normalizeH="0" baseline="0" noProof="0" dirty="0">
                  <a:ln>
                    <a:noFill/>
                  </a:ln>
                  <a:solidFill>
                    <a:srgbClr val="4285F4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285F4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=</a:t>
              </a:r>
              <a:endPara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endParaRPr>
            </a:p>
          </p:txBody>
        </p:sp>
        <p:pic>
          <p:nvPicPr>
            <p:cNvPr id="46" name="object 50">
              <a:extLst>
                <a:ext uri="{FF2B5EF4-FFF2-40B4-BE49-F238E27FC236}">
                  <a16:creationId xmlns:a16="http://schemas.microsoft.com/office/drawing/2014/main" id="{5B1B929B-E6E5-ED38-CCE7-7AE08C2A4FB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5822" y="646192"/>
              <a:ext cx="4816350" cy="7366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273551" y="2842260"/>
            <a:ext cx="1117600" cy="337912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4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hit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73551" y="3368040"/>
            <a:ext cx="1117600" cy="33855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247015" marR="0" lvl="0" indent="0" algn="l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struck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73551" y="4698491"/>
            <a:ext cx="1117600" cy="33855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352425" marR="0" lvl="0" indent="0" algn="l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was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73551" y="5224272"/>
            <a:ext cx="1117600" cy="33919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got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876804" y="3060192"/>
            <a:ext cx="397510" cy="526415"/>
          </a:xfrm>
          <a:custGeom>
            <a:avLst/>
            <a:gdLst/>
            <a:ahLst/>
            <a:cxnLst/>
            <a:rect l="l" t="t" r="r" b="b"/>
            <a:pathLst>
              <a:path w="397510" h="526414">
                <a:moveTo>
                  <a:pt x="397383" y="0"/>
                </a:moveTo>
                <a:lnTo>
                  <a:pt x="312801" y="11049"/>
                </a:lnTo>
                <a:lnTo>
                  <a:pt x="330568" y="37338"/>
                </a:lnTo>
                <a:lnTo>
                  <a:pt x="0" y="260223"/>
                </a:lnTo>
                <a:lnTo>
                  <a:pt x="3441" y="265341"/>
                </a:lnTo>
                <a:lnTo>
                  <a:pt x="0" y="270510"/>
                </a:lnTo>
                <a:lnTo>
                  <a:pt x="330288" y="489445"/>
                </a:lnTo>
                <a:lnTo>
                  <a:pt x="312801" y="515874"/>
                </a:lnTo>
                <a:lnTo>
                  <a:pt x="397383" y="526161"/>
                </a:lnTo>
                <a:lnTo>
                  <a:pt x="380238" y="496443"/>
                </a:lnTo>
                <a:lnTo>
                  <a:pt x="354838" y="452374"/>
                </a:lnTo>
                <a:lnTo>
                  <a:pt x="337337" y="478815"/>
                </a:lnTo>
                <a:lnTo>
                  <a:pt x="15278" y="265264"/>
                </a:lnTo>
                <a:lnTo>
                  <a:pt x="337693" y="47879"/>
                </a:lnTo>
                <a:lnTo>
                  <a:pt x="355473" y="74168"/>
                </a:lnTo>
                <a:lnTo>
                  <a:pt x="380301" y="30226"/>
                </a:lnTo>
                <a:lnTo>
                  <a:pt x="3973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876804" y="4916423"/>
            <a:ext cx="397510" cy="527050"/>
          </a:xfrm>
          <a:custGeom>
            <a:avLst/>
            <a:gdLst/>
            <a:ahLst/>
            <a:cxnLst/>
            <a:rect l="l" t="t" r="r" b="b"/>
            <a:pathLst>
              <a:path w="397510" h="527050">
                <a:moveTo>
                  <a:pt x="397383" y="0"/>
                </a:moveTo>
                <a:lnTo>
                  <a:pt x="312928" y="11938"/>
                </a:lnTo>
                <a:lnTo>
                  <a:pt x="331038" y="38100"/>
                </a:lnTo>
                <a:lnTo>
                  <a:pt x="0" y="267081"/>
                </a:lnTo>
                <a:lnTo>
                  <a:pt x="3721" y="272542"/>
                </a:lnTo>
                <a:lnTo>
                  <a:pt x="127" y="278142"/>
                </a:lnTo>
                <a:lnTo>
                  <a:pt x="329869" y="491121"/>
                </a:lnTo>
                <a:lnTo>
                  <a:pt x="312674" y="517779"/>
                </a:lnTo>
                <a:lnTo>
                  <a:pt x="397383" y="527050"/>
                </a:lnTo>
                <a:lnTo>
                  <a:pt x="380136" y="497967"/>
                </a:lnTo>
                <a:lnTo>
                  <a:pt x="353949" y="453771"/>
                </a:lnTo>
                <a:lnTo>
                  <a:pt x="336778" y="480402"/>
                </a:lnTo>
                <a:lnTo>
                  <a:pt x="14541" y="272351"/>
                </a:lnTo>
                <a:lnTo>
                  <a:pt x="338251" y="48526"/>
                </a:lnTo>
                <a:lnTo>
                  <a:pt x="356362" y="74676"/>
                </a:lnTo>
                <a:lnTo>
                  <a:pt x="380428" y="30861"/>
                </a:lnTo>
                <a:lnTo>
                  <a:pt x="3973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28972" y="2546604"/>
            <a:ext cx="1117600" cy="33855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28972" y="3073908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28972" y="4430268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hit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28972" y="4956048"/>
            <a:ext cx="1117600" cy="33919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247015" marR="0" lvl="0" indent="0" algn="l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struck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386454" y="2764536"/>
            <a:ext cx="342265" cy="527685"/>
          </a:xfrm>
          <a:custGeom>
            <a:avLst/>
            <a:gdLst/>
            <a:ahLst/>
            <a:cxnLst/>
            <a:rect l="l" t="t" r="r" b="b"/>
            <a:pathLst>
              <a:path w="342264" h="527685">
                <a:moveTo>
                  <a:pt x="342265" y="0"/>
                </a:moveTo>
                <a:lnTo>
                  <a:pt x="259842" y="21336"/>
                </a:lnTo>
                <a:lnTo>
                  <a:pt x="280670" y="45250"/>
                </a:lnTo>
                <a:lnTo>
                  <a:pt x="0" y="289687"/>
                </a:lnTo>
                <a:lnTo>
                  <a:pt x="4622" y="295021"/>
                </a:lnTo>
                <a:lnTo>
                  <a:pt x="635" y="300863"/>
                </a:lnTo>
                <a:lnTo>
                  <a:pt x="275856" y="489826"/>
                </a:lnTo>
                <a:lnTo>
                  <a:pt x="257937" y="516001"/>
                </a:lnTo>
                <a:lnTo>
                  <a:pt x="342265" y="527685"/>
                </a:lnTo>
                <a:lnTo>
                  <a:pt x="325247" y="496951"/>
                </a:lnTo>
                <a:lnTo>
                  <a:pt x="300990" y="453136"/>
                </a:lnTo>
                <a:lnTo>
                  <a:pt x="283032" y="479361"/>
                </a:lnTo>
                <a:lnTo>
                  <a:pt x="13804" y="294614"/>
                </a:lnTo>
                <a:lnTo>
                  <a:pt x="289013" y="54813"/>
                </a:lnTo>
                <a:lnTo>
                  <a:pt x="309880" y="78740"/>
                </a:lnTo>
                <a:lnTo>
                  <a:pt x="327063" y="36957"/>
                </a:lnTo>
                <a:lnTo>
                  <a:pt x="3422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386708" y="4648200"/>
            <a:ext cx="342265" cy="527050"/>
          </a:xfrm>
          <a:custGeom>
            <a:avLst/>
            <a:gdLst/>
            <a:ahLst/>
            <a:cxnLst/>
            <a:rect l="l" t="t" r="r" b="b"/>
            <a:pathLst>
              <a:path w="342264" h="527050">
                <a:moveTo>
                  <a:pt x="342011" y="0"/>
                </a:moveTo>
                <a:lnTo>
                  <a:pt x="258572" y="17526"/>
                </a:lnTo>
                <a:lnTo>
                  <a:pt x="278333" y="42443"/>
                </a:lnTo>
                <a:lnTo>
                  <a:pt x="0" y="263271"/>
                </a:lnTo>
                <a:lnTo>
                  <a:pt x="3937" y="268224"/>
                </a:lnTo>
                <a:lnTo>
                  <a:pt x="127" y="273304"/>
                </a:lnTo>
                <a:lnTo>
                  <a:pt x="277596" y="485330"/>
                </a:lnTo>
                <a:lnTo>
                  <a:pt x="258318" y="510540"/>
                </a:lnTo>
                <a:lnTo>
                  <a:pt x="342011" y="526542"/>
                </a:lnTo>
                <a:lnTo>
                  <a:pt x="325577" y="493014"/>
                </a:lnTo>
                <a:lnTo>
                  <a:pt x="304546" y="450088"/>
                </a:lnTo>
                <a:lnTo>
                  <a:pt x="285292" y="475259"/>
                </a:lnTo>
                <a:lnTo>
                  <a:pt x="14249" y="268122"/>
                </a:lnTo>
                <a:lnTo>
                  <a:pt x="286207" y="52349"/>
                </a:lnTo>
                <a:lnTo>
                  <a:pt x="305943" y="77216"/>
                </a:lnTo>
                <a:lnTo>
                  <a:pt x="325869" y="34544"/>
                </a:lnTo>
                <a:lnTo>
                  <a:pt x="3420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256020" y="1816608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365125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tart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256020" y="2343912"/>
            <a:ext cx="1117600" cy="337271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1270" marR="0" lvl="0" indent="0" algn="ctr" defTabSz="914400" rtl="0" eaLnBrk="1" fontAlgn="auto" latinLnBrk="0" hangingPunct="1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pie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56020" y="3512820"/>
            <a:ext cx="1117600" cy="337912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4" rIns="0" bIns="0" rtlCol="0">
            <a:spAutoFit/>
          </a:bodyPr>
          <a:lstStyle/>
          <a:p>
            <a:pPr marL="332105" marR="0" lvl="0" indent="0" algn="l" defTabSz="914400" rtl="0" eaLnBrk="1" fontAlgn="auto" latinLnBrk="0" hangingPunct="1">
              <a:lnSpc>
                <a:spcPct val="100000"/>
              </a:lnSpc>
              <a:spcBef>
                <a:spcPts val="2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256020" y="4038601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270" marR="0" lvl="0" indent="0" algn="ctr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840223" y="3287521"/>
            <a:ext cx="422275" cy="969644"/>
          </a:xfrm>
          <a:custGeom>
            <a:avLst/>
            <a:gdLst/>
            <a:ahLst/>
            <a:cxnLst/>
            <a:rect l="l" t="t" r="r" b="b"/>
            <a:pathLst>
              <a:path w="422275" h="969645">
                <a:moveTo>
                  <a:pt x="422021" y="884174"/>
                </a:moveTo>
                <a:lnTo>
                  <a:pt x="392785" y="896620"/>
                </a:lnTo>
                <a:lnTo>
                  <a:pt x="25704" y="34709"/>
                </a:lnTo>
                <a:lnTo>
                  <a:pt x="360121" y="391426"/>
                </a:lnTo>
                <a:lnTo>
                  <a:pt x="336931" y="413131"/>
                </a:lnTo>
                <a:lnTo>
                  <a:pt x="416814" y="442722"/>
                </a:lnTo>
                <a:lnTo>
                  <a:pt x="404317" y="400685"/>
                </a:lnTo>
                <a:lnTo>
                  <a:pt x="392557" y="361061"/>
                </a:lnTo>
                <a:lnTo>
                  <a:pt x="369366" y="382765"/>
                </a:lnTo>
                <a:lnTo>
                  <a:pt x="10414" y="0"/>
                </a:lnTo>
                <a:lnTo>
                  <a:pt x="5842" y="4318"/>
                </a:lnTo>
                <a:lnTo>
                  <a:pt x="0" y="6858"/>
                </a:lnTo>
                <a:lnTo>
                  <a:pt x="381101" y="901598"/>
                </a:lnTo>
                <a:lnTo>
                  <a:pt x="351917" y="914019"/>
                </a:lnTo>
                <a:lnTo>
                  <a:pt x="416814" y="969137"/>
                </a:lnTo>
                <a:lnTo>
                  <a:pt x="420230" y="913257"/>
                </a:lnTo>
                <a:lnTo>
                  <a:pt x="422021" y="8841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840477" y="2034539"/>
            <a:ext cx="416559" cy="736600"/>
          </a:xfrm>
          <a:custGeom>
            <a:avLst/>
            <a:gdLst/>
            <a:ahLst/>
            <a:cxnLst/>
            <a:rect l="l" t="t" r="r" b="b"/>
            <a:pathLst>
              <a:path w="416560" h="736600">
                <a:moveTo>
                  <a:pt x="416560" y="0"/>
                </a:moveTo>
                <a:lnTo>
                  <a:pt x="346075" y="47752"/>
                </a:lnTo>
                <a:lnTo>
                  <a:pt x="373722" y="63309"/>
                </a:lnTo>
                <a:lnTo>
                  <a:pt x="0" y="726948"/>
                </a:lnTo>
                <a:lnTo>
                  <a:pt x="5067" y="729830"/>
                </a:lnTo>
                <a:lnTo>
                  <a:pt x="8382" y="736600"/>
                </a:lnTo>
                <a:lnTo>
                  <a:pt x="351205" y="566851"/>
                </a:lnTo>
                <a:lnTo>
                  <a:pt x="365252" y="595249"/>
                </a:lnTo>
                <a:lnTo>
                  <a:pt x="399580" y="549783"/>
                </a:lnTo>
                <a:lnTo>
                  <a:pt x="416560" y="527304"/>
                </a:lnTo>
                <a:lnTo>
                  <a:pt x="331470" y="526923"/>
                </a:lnTo>
                <a:lnTo>
                  <a:pt x="345541" y="555396"/>
                </a:lnTo>
                <a:lnTo>
                  <a:pt x="20751" y="716280"/>
                </a:lnTo>
                <a:lnTo>
                  <a:pt x="384784" y="69519"/>
                </a:lnTo>
                <a:lnTo>
                  <a:pt x="412496" y="85090"/>
                </a:lnTo>
                <a:lnTo>
                  <a:pt x="414058" y="52197"/>
                </a:lnTo>
                <a:lnTo>
                  <a:pt x="4165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24001" y="4038601"/>
            <a:ext cx="1167765" cy="337913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31445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&lt;START&gt;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308859" y="3107436"/>
            <a:ext cx="571500" cy="337913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he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308859" y="4971289"/>
            <a:ext cx="571500" cy="337271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103158" y="3543300"/>
            <a:ext cx="491490" cy="500380"/>
          </a:xfrm>
          <a:custGeom>
            <a:avLst/>
            <a:gdLst/>
            <a:ahLst/>
            <a:cxnLst/>
            <a:rect l="l" t="t" r="r" b="b"/>
            <a:pathLst>
              <a:path w="491490" h="500379">
                <a:moveTo>
                  <a:pt x="433491" y="49928"/>
                </a:moveTo>
                <a:lnTo>
                  <a:pt x="0" y="491236"/>
                </a:lnTo>
                <a:lnTo>
                  <a:pt x="9067" y="500125"/>
                </a:lnTo>
                <a:lnTo>
                  <a:pt x="442556" y="58822"/>
                </a:lnTo>
                <a:lnTo>
                  <a:pt x="433491" y="49928"/>
                </a:lnTo>
                <a:close/>
              </a:path>
              <a:path w="491490" h="500379">
                <a:moveTo>
                  <a:pt x="478171" y="40894"/>
                </a:moveTo>
                <a:lnTo>
                  <a:pt x="442366" y="40894"/>
                </a:lnTo>
                <a:lnTo>
                  <a:pt x="451434" y="49784"/>
                </a:lnTo>
                <a:lnTo>
                  <a:pt x="442556" y="58822"/>
                </a:lnTo>
                <a:lnTo>
                  <a:pt x="465188" y="81025"/>
                </a:lnTo>
                <a:lnTo>
                  <a:pt x="478171" y="40894"/>
                </a:lnTo>
                <a:close/>
              </a:path>
              <a:path w="491490" h="500379">
                <a:moveTo>
                  <a:pt x="442366" y="40894"/>
                </a:moveTo>
                <a:lnTo>
                  <a:pt x="433491" y="49928"/>
                </a:lnTo>
                <a:lnTo>
                  <a:pt x="442556" y="58822"/>
                </a:lnTo>
                <a:lnTo>
                  <a:pt x="451434" y="49784"/>
                </a:lnTo>
                <a:lnTo>
                  <a:pt x="442366" y="40894"/>
                </a:lnTo>
                <a:close/>
              </a:path>
              <a:path w="491490" h="500379">
                <a:moveTo>
                  <a:pt x="491401" y="0"/>
                </a:moveTo>
                <a:lnTo>
                  <a:pt x="410819" y="27686"/>
                </a:lnTo>
                <a:lnTo>
                  <a:pt x="433491" y="49928"/>
                </a:lnTo>
                <a:lnTo>
                  <a:pt x="442366" y="40894"/>
                </a:lnTo>
                <a:lnTo>
                  <a:pt x="478171" y="40894"/>
                </a:lnTo>
                <a:lnTo>
                  <a:pt x="4914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103158" y="4470020"/>
            <a:ext cx="491490" cy="501015"/>
          </a:xfrm>
          <a:custGeom>
            <a:avLst/>
            <a:gdLst/>
            <a:ahLst/>
            <a:cxnLst/>
            <a:rect l="l" t="t" r="r" b="b"/>
            <a:pathLst>
              <a:path w="491490" h="501014">
                <a:moveTo>
                  <a:pt x="433458" y="450760"/>
                </a:moveTo>
                <a:lnTo>
                  <a:pt x="410832" y="472947"/>
                </a:lnTo>
                <a:lnTo>
                  <a:pt x="491401" y="500760"/>
                </a:lnTo>
                <a:lnTo>
                  <a:pt x="478211" y="459866"/>
                </a:lnTo>
                <a:lnTo>
                  <a:pt x="442391" y="459866"/>
                </a:lnTo>
                <a:lnTo>
                  <a:pt x="433458" y="450760"/>
                </a:lnTo>
                <a:close/>
              </a:path>
              <a:path w="491490" h="501014">
                <a:moveTo>
                  <a:pt x="442525" y="441869"/>
                </a:moveTo>
                <a:lnTo>
                  <a:pt x="433458" y="450760"/>
                </a:lnTo>
                <a:lnTo>
                  <a:pt x="442391" y="459866"/>
                </a:lnTo>
                <a:lnTo>
                  <a:pt x="451459" y="450976"/>
                </a:lnTo>
                <a:lnTo>
                  <a:pt x="442525" y="441869"/>
                </a:lnTo>
                <a:close/>
              </a:path>
              <a:path w="491490" h="501014">
                <a:moveTo>
                  <a:pt x="465226" y="419607"/>
                </a:moveTo>
                <a:lnTo>
                  <a:pt x="442525" y="441869"/>
                </a:lnTo>
                <a:lnTo>
                  <a:pt x="451459" y="450976"/>
                </a:lnTo>
                <a:lnTo>
                  <a:pt x="442391" y="459866"/>
                </a:lnTo>
                <a:lnTo>
                  <a:pt x="478211" y="459866"/>
                </a:lnTo>
                <a:lnTo>
                  <a:pt x="465226" y="419607"/>
                </a:lnTo>
                <a:close/>
              </a:path>
              <a:path w="491490" h="501014">
                <a:moveTo>
                  <a:pt x="9067" y="0"/>
                </a:moveTo>
                <a:lnTo>
                  <a:pt x="0" y="8889"/>
                </a:lnTo>
                <a:lnTo>
                  <a:pt x="433458" y="450760"/>
                </a:lnTo>
                <a:lnTo>
                  <a:pt x="442525" y="441869"/>
                </a:lnTo>
                <a:lnTo>
                  <a:pt x="90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384857" y="2785617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-0.7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384857" y="5439562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-0.9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626612" y="4340479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-1.6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626612" y="5683708"/>
            <a:ext cx="3854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-1.8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626612" y="2481198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-1.7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626612" y="3800602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-2.9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081779" y="3525392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-2.5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081779" y="2184272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-2.8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081779" y="5406949"/>
            <a:ext cx="3854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-3.8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081779" y="4079494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-2.9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609716" y="4482210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-3.5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609716" y="3208146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-3.3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609715" y="2762200"/>
            <a:ext cx="3860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-3.4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298186" y="6083047"/>
            <a:ext cx="3034665" cy="585417"/>
          </a:xfrm>
          <a:prstGeom prst="rect">
            <a:avLst/>
          </a:prstGeom>
          <a:ln w="19811">
            <a:solidFill>
              <a:srgbClr val="BA56BD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635" marR="0" lvl="0" indent="0" algn="ctr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Of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these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k</a:t>
            </a:r>
            <a:r>
              <a:rPr kumimoji="0" sz="1800" b="0" i="0" u="none" strike="noStrike" kern="1200" cap="none" spc="-7" normalizeH="0" baseline="25462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2</a:t>
            </a:r>
            <a:r>
              <a:rPr kumimoji="0" sz="1800" b="0" i="0" u="none" strike="noStrike" kern="1200" cap="none" spc="195" normalizeH="0" baseline="25462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hypotheses,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just </a:t>
            </a: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keep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k</a:t>
            </a:r>
            <a:r>
              <a:rPr kumimoji="0" sz="1800" b="0" i="1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with</a:t>
            </a:r>
            <a:r>
              <a:rPr kumimoji="0" sz="1800" b="0" i="0" u="none" strike="noStrike" kern="1200" cap="none" spc="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highest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scores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1344463-CAE0-190E-DA61-79050695AD50}"/>
              </a:ext>
            </a:extLst>
          </p:cNvPr>
          <p:cNvGrpSpPr/>
          <p:nvPr/>
        </p:nvGrpSpPr>
        <p:grpSpPr>
          <a:xfrm>
            <a:off x="1875934" y="646192"/>
            <a:ext cx="8356238" cy="736600"/>
            <a:chOff x="1875934" y="646192"/>
            <a:chExt cx="8356238" cy="736600"/>
          </a:xfrm>
        </p:grpSpPr>
        <p:sp>
          <p:nvSpPr>
            <p:cNvPr id="45" name="object 3">
              <a:extLst>
                <a:ext uri="{FF2B5EF4-FFF2-40B4-BE49-F238E27FC236}">
                  <a16:creationId xmlns:a16="http://schemas.microsoft.com/office/drawing/2014/main" id="{2CA43104-82E2-C66B-387C-80FB03E3FB82}"/>
                </a:ext>
              </a:extLst>
            </p:cNvPr>
            <p:cNvSpPr txBox="1"/>
            <p:nvPr/>
          </p:nvSpPr>
          <p:spPr>
            <a:xfrm>
              <a:off x="1875934" y="840487"/>
              <a:ext cx="3557126" cy="321242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0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Beam</a:t>
              </a:r>
              <a:r>
                <a:rPr kumimoji="0" sz="2000" b="1" i="0" u="none" strike="noStrike" kern="1200" cap="none" spc="-1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1" i="0" u="none" strike="noStrike" kern="1200" cap="none" spc="-5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size</a:t>
              </a:r>
              <a:r>
                <a:rPr kumimoji="0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=</a:t>
              </a:r>
              <a:r>
                <a:rPr kumimoji="0" sz="2000" b="1" i="0" u="none" strike="noStrike" kern="1200" cap="none" spc="-15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k</a:t>
              </a:r>
              <a:r>
                <a:rPr kumimoji="0" sz="2000" b="1" i="0" u="none" strike="noStrike" kern="1200" cap="none" spc="-1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=</a:t>
              </a:r>
              <a:r>
                <a:rPr kumimoji="0" sz="2000" b="1" i="0" u="none" strike="noStrike" kern="1200" cap="none" spc="-5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2</a:t>
              </a:r>
              <a:r>
                <a:rPr kumimoji="0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.</a:t>
              </a:r>
              <a:r>
                <a:rPr kumimoji="0" sz="2000" b="0" i="0" u="none" strike="noStrike" kern="1200" cap="none" spc="-25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285F4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Blue</a:t>
              </a:r>
              <a:r>
                <a:rPr kumimoji="0" sz="2000" b="0" i="0" u="none" strike="noStrike" kern="1200" cap="none" spc="-10" normalizeH="0" baseline="0" noProof="0" dirty="0">
                  <a:ln>
                    <a:noFill/>
                  </a:ln>
                  <a:solidFill>
                    <a:srgbClr val="4285F4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285F4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numbers</a:t>
              </a:r>
              <a:r>
                <a:rPr kumimoji="0" sz="2000" b="0" i="0" u="none" strike="noStrike" kern="1200" cap="none" spc="-5" normalizeH="0" baseline="0" noProof="0" dirty="0">
                  <a:ln>
                    <a:noFill/>
                  </a:ln>
                  <a:solidFill>
                    <a:srgbClr val="4285F4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285F4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=</a:t>
              </a:r>
              <a:endPara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endParaRPr>
            </a:p>
          </p:txBody>
        </p:sp>
        <p:pic>
          <p:nvPicPr>
            <p:cNvPr id="46" name="object 50">
              <a:extLst>
                <a:ext uri="{FF2B5EF4-FFF2-40B4-BE49-F238E27FC236}">
                  <a16:creationId xmlns:a16="http://schemas.microsoft.com/office/drawing/2014/main" id="{31D85B0B-E816-32A5-19F7-A8C01A1C7FC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5822" y="646192"/>
              <a:ext cx="4816350" cy="7366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273551" y="2842260"/>
            <a:ext cx="1117600" cy="337912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4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hit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73551" y="3368040"/>
            <a:ext cx="1117600" cy="33855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247015" marR="0" lvl="0" indent="0" algn="l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struck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73551" y="4698491"/>
            <a:ext cx="1117600" cy="33855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352425" marR="0" lvl="0" indent="0" algn="l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was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73551" y="5224272"/>
            <a:ext cx="1117600" cy="33919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got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876804" y="3060192"/>
            <a:ext cx="397510" cy="526415"/>
          </a:xfrm>
          <a:custGeom>
            <a:avLst/>
            <a:gdLst/>
            <a:ahLst/>
            <a:cxnLst/>
            <a:rect l="l" t="t" r="r" b="b"/>
            <a:pathLst>
              <a:path w="397510" h="526414">
                <a:moveTo>
                  <a:pt x="397383" y="0"/>
                </a:moveTo>
                <a:lnTo>
                  <a:pt x="312801" y="11049"/>
                </a:lnTo>
                <a:lnTo>
                  <a:pt x="330568" y="37338"/>
                </a:lnTo>
                <a:lnTo>
                  <a:pt x="0" y="260223"/>
                </a:lnTo>
                <a:lnTo>
                  <a:pt x="3441" y="265341"/>
                </a:lnTo>
                <a:lnTo>
                  <a:pt x="0" y="270510"/>
                </a:lnTo>
                <a:lnTo>
                  <a:pt x="330288" y="489445"/>
                </a:lnTo>
                <a:lnTo>
                  <a:pt x="312801" y="515874"/>
                </a:lnTo>
                <a:lnTo>
                  <a:pt x="397383" y="526161"/>
                </a:lnTo>
                <a:lnTo>
                  <a:pt x="380238" y="496443"/>
                </a:lnTo>
                <a:lnTo>
                  <a:pt x="354838" y="452374"/>
                </a:lnTo>
                <a:lnTo>
                  <a:pt x="337337" y="478815"/>
                </a:lnTo>
                <a:lnTo>
                  <a:pt x="15278" y="265264"/>
                </a:lnTo>
                <a:lnTo>
                  <a:pt x="337693" y="47879"/>
                </a:lnTo>
                <a:lnTo>
                  <a:pt x="355473" y="74168"/>
                </a:lnTo>
                <a:lnTo>
                  <a:pt x="380301" y="30226"/>
                </a:lnTo>
                <a:lnTo>
                  <a:pt x="3973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876804" y="4916423"/>
            <a:ext cx="397510" cy="527050"/>
          </a:xfrm>
          <a:custGeom>
            <a:avLst/>
            <a:gdLst/>
            <a:ahLst/>
            <a:cxnLst/>
            <a:rect l="l" t="t" r="r" b="b"/>
            <a:pathLst>
              <a:path w="397510" h="527050">
                <a:moveTo>
                  <a:pt x="397383" y="0"/>
                </a:moveTo>
                <a:lnTo>
                  <a:pt x="312928" y="11938"/>
                </a:lnTo>
                <a:lnTo>
                  <a:pt x="331038" y="38100"/>
                </a:lnTo>
                <a:lnTo>
                  <a:pt x="0" y="267081"/>
                </a:lnTo>
                <a:lnTo>
                  <a:pt x="3721" y="272542"/>
                </a:lnTo>
                <a:lnTo>
                  <a:pt x="127" y="278142"/>
                </a:lnTo>
                <a:lnTo>
                  <a:pt x="329869" y="491121"/>
                </a:lnTo>
                <a:lnTo>
                  <a:pt x="312674" y="517779"/>
                </a:lnTo>
                <a:lnTo>
                  <a:pt x="397383" y="527050"/>
                </a:lnTo>
                <a:lnTo>
                  <a:pt x="380136" y="497967"/>
                </a:lnTo>
                <a:lnTo>
                  <a:pt x="353949" y="453771"/>
                </a:lnTo>
                <a:lnTo>
                  <a:pt x="336778" y="480402"/>
                </a:lnTo>
                <a:lnTo>
                  <a:pt x="14541" y="272351"/>
                </a:lnTo>
                <a:lnTo>
                  <a:pt x="338251" y="48526"/>
                </a:lnTo>
                <a:lnTo>
                  <a:pt x="356362" y="74676"/>
                </a:lnTo>
                <a:lnTo>
                  <a:pt x="380428" y="30861"/>
                </a:lnTo>
                <a:lnTo>
                  <a:pt x="3973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28972" y="2546604"/>
            <a:ext cx="1117600" cy="33855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28972" y="3073908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28972" y="4430268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hit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28972" y="4956048"/>
            <a:ext cx="1117600" cy="33919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247015" marR="0" lvl="0" indent="0" algn="l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struck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386454" y="2764536"/>
            <a:ext cx="342265" cy="527685"/>
          </a:xfrm>
          <a:custGeom>
            <a:avLst/>
            <a:gdLst/>
            <a:ahLst/>
            <a:cxnLst/>
            <a:rect l="l" t="t" r="r" b="b"/>
            <a:pathLst>
              <a:path w="342264" h="527685">
                <a:moveTo>
                  <a:pt x="342265" y="0"/>
                </a:moveTo>
                <a:lnTo>
                  <a:pt x="259842" y="21336"/>
                </a:lnTo>
                <a:lnTo>
                  <a:pt x="280670" y="45250"/>
                </a:lnTo>
                <a:lnTo>
                  <a:pt x="0" y="289687"/>
                </a:lnTo>
                <a:lnTo>
                  <a:pt x="4622" y="295021"/>
                </a:lnTo>
                <a:lnTo>
                  <a:pt x="635" y="300863"/>
                </a:lnTo>
                <a:lnTo>
                  <a:pt x="275856" y="489826"/>
                </a:lnTo>
                <a:lnTo>
                  <a:pt x="257937" y="516001"/>
                </a:lnTo>
                <a:lnTo>
                  <a:pt x="342265" y="527685"/>
                </a:lnTo>
                <a:lnTo>
                  <a:pt x="325247" y="496951"/>
                </a:lnTo>
                <a:lnTo>
                  <a:pt x="300990" y="453136"/>
                </a:lnTo>
                <a:lnTo>
                  <a:pt x="283032" y="479361"/>
                </a:lnTo>
                <a:lnTo>
                  <a:pt x="13804" y="294614"/>
                </a:lnTo>
                <a:lnTo>
                  <a:pt x="289013" y="54813"/>
                </a:lnTo>
                <a:lnTo>
                  <a:pt x="309880" y="78740"/>
                </a:lnTo>
                <a:lnTo>
                  <a:pt x="327063" y="36957"/>
                </a:lnTo>
                <a:lnTo>
                  <a:pt x="3422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386708" y="4648200"/>
            <a:ext cx="342265" cy="527050"/>
          </a:xfrm>
          <a:custGeom>
            <a:avLst/>
            <a:gdLst/>
            <a:ahLst/>
            <a:cxnLst/>
            <a:rect l="l" t="t" r="r" b="b"/>
            <a:pathLst>
              <a:path w="342264" h="527050">
                <a:moveTo>
                  <a:pt x="342011" y="0"/>
                </a:moveTo>
                <a:lnTo>
                  <a:pt x="258572" y="17526"/>
                </a:lnTo>
                <a:lnTo>
                  <a:pt x="278333" y="42443"/>
                </a:lnTo>
                <a:lnTo>
                  <a:pt x="0" y="263271"/>
                </a:lnTo>
                <a:lnTo>
                  <a:pt x="3937" y="268224"/>
                </a:lnTo>
                <a:lnTo>
                  <a:pt x="127" y="273304"/>
                </a:lnTo>
                <a:lnTo>
                  <a:pt x="277596" y="485330"/>
                </a:lnTo>
                <a:lnTo>
                  <a:pt x="258318" y="510540"/>
                </a:lnTo>
                <a:lnTo>
                  <a:pt x="342011" y="526542"/>
                </a:lnTo>
                <a:lnTo>
                  <a:pt x="325577" y="493014"/>
                </a:lnTo>
                <a:lnTo>
                  <a:pt x="304546" y="450088"/>
                </a:lnTo>
                <a:lnTo>
                  <a:pt x="285292" y="475259"/>
                </a:lnTo>
                <a:lnTo>
                  <a:pt x="14249" y="268122"/>
                </a:lnTo>
                <a:lnTo>
                  <a:pt x="286207" y="52349"/>
                </a:lnTo>
                <a:lnTo>
                  <a:pt x="305943" y="77216"/>
                </a:lnTo>
                <a:lnTo>
                  <a:pt x="325869" y="34544"/>
                </a:lnTo>
                <a:lnTo>
                  <a:pt x="3420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256020" y="1816608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365125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tart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56020" y="2343912"/>
            <a:ext cx="1117600" cy="337271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1270" marR="0" lvl="0" indent="0" algn="ctr" defTabSz="914400" rtl="0" eaLnBrk="1" fontAlgn="auto" latinLnBrk="0" hangingPunct="1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pie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256020" y="3512820"/>
            <a:ext cx="1117600" cy="337912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4" rIns="0" bIns="0" rtlCol="0">
            <a:spAutoFit/>
          </a:bodyPr>
          <a:lstStyle/>
          <a:p>
            <a:pPr marL="332105" marR="0" lvl="0" indent="0" algn="l" defTabSz="914400" rtl="0" eaLnBrk="1" fontAlgn="auto" latinLnBrk="0" hangingPunct="1">
              <a:lnSpc>
                <a:spcPct val="100000"/>
              </a:lnSpc>
              <a:spcBef>
                <a:spcPts val="2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256020" y="4038601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270" marR="0" lvl="0" indent="0" algn="ctr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840223" y="3287521"/>
            <a:ext cx="422275" cy="969644"/>
          </a:xfrm>
          <a:custGeom>
            <a:avLst/>
            <a:gdLst/>
            <a:ahLst/>
            <a:cxnLst/>
            <a:rect l="l" t="t" r="r" b="b"/>
            <a:pathLst>
              <a:path w="422275" h="969645">
                <a:moveTo>
                  <a:pt x="422021" y="884174"/>
                </a:moveTo>
                <a:lnTo>
                  <a:pt x="392785" y="896620"/>
                </a:lnTo>
                <a:lnTo>
                  <a:pt x="25704" y="34709"/>
                </a:lnTo>
                <a:lnTo>
                  <a:pt x="360121" y="391426"/>
                </a:lnTo>
                <a:lnTo>
                  <a:pt x="336931" y="413131"/>
                </a:lnTo>
                <a:lnTo>
                  <a:pt x="416814" y="442722"/>
                </a:lnTo>
                <a:lnTo>
                  <a:pt x="404317" y="400685"/>
                </a:lnTo>
                <a:lnTo>
                  <a:pt x="392557" y="361061"/>
                </a:lnTo>
                <a:lnTo>
                  <a:pt x="369366" y="382765"/>
                </a:lnTo>
                <a:lnTo>
                  <a:pt x="10414" y="0"/>
                </a:lnTo>
                <a:lnTo>
                  <a:pt x="5842" y="4318"/>
                </a:lnTo>
                <a:lnTo>
                  <a:pt x="0" y="6858"/>
                </a:lnTo>
                <a:lnTo>
                  <a:pt x="381101" y="901598"/>
                </a:lnTo>
                <a:lnTo>
                  <a:pt x="351917" y="914019"/>
                </a:lnTo>
                <a:lnTo>
                  <a:pt x="416814" y="969137"/>
                </a:lnTo>
                <a:lnTo>
                  <a:pt x="420230" y="913257"/>
                </a:lnTo>
                <a:lnTo>
                  <a:pt x="422021" y="8841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840477" y="2034539"/>
            <a:ext cx="416559" cy="736600"/>
          </a:xfrm>
          <a:custGeom>
            <a:avLst/>
            <a:gdLst/>
            <a:ahLst/>
            <a:cxnLst/>
            <a:rect l="l" t="t" r="r" b="b"/>
            <a:pathLst>
              <a:path w="416560" h="736600">
                <a:moveTo>
                  <a:pt x="416560" y="0"/>
                </a:moveTo>
                <a:lnTo>
                  <a:pt x="346075" y="47752"/>
                </a:lnTo>
                <a:lnTo>
                  <a:pt x="373722" y="63309"/>
                </a:lnTo>
                <a:lnTo>
                  <a:pt x="0" y="726948"/>
                </a:lnTo>
                <a:lnTo>
                  <a:pt x="5067" y="729830"/>
                </a:lnTo>
                <a:lnTo>
                  <a:pt x="8382" y="736600"/>
                </a:lnTo>
                <a:lnTo>
                  <a:pt x="351205" y="566851"/>
                </a:lnTo>
                <a:lnTo>
                  <a:pt x="365252" y="595249"/>
                </a:lnTo>
                <a:lnTo>
                  <a:pt x="399580" y="549783"/>
                </a:lnTo>
                <a:lnTo>
                  <a:pt x="416560" y="527304"/>
                </a:lnTo>
                <a:lnTo>
                  <a:pt x="331470" y="526923"/>
                </a:lnTo>
                <a:lnTo>
                  <a:pt x="345541" y="555396"/>
                </a:lnTo>
                <a:lnTo>
                  <a:pt x="20751" y="716280"/>
                </a:lnTo>
                <a:lnTo>
                  <a:pt x="384784" y="69519"/>
                </a:lnTo>
                <a:lnTo>
                  <a:pt x="412496" y="85090"/>
                </a:lnTo>
                <a:lnTo>
                  <a:pt x="414058" y="52197"/>
                </a:lnTo>
                <a:lnTo>
                  <a:pt x="4165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810500" y="1810511"/>
            <a:ext cx="1117600" cy="33855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810500" y="2337816"/>
            <a:ext cx="1117600" cy="337912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4" rIns="0" bIns="0" rtlCol="0">
            <a:spAutoFit/>
          </a:bodyPr>
          <a:lstStyle/>
          <a:p>
            <a:pPr marL="331470" marR="0" lvl="0" indent="0" algn="l" defTabSz="914400" rtl="0" eaLnBrk="1" fontAlgn="auto" latinLnBrk="0" hangingPunct="1">
              <a:lnSpc>
                <a:spcPct val="100000"/>
              </a:lnSpc>
              <a:spcBef>
                <a:spcPts val="2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810500" y="3512820"/>
            <a:ext cx="1117600" cy="337912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4" rIns="0" bIns="0" rtlCol="0">
            <a:spAutoFit/>
          </a:bodyPr>
          <a:lstStyle/>
          <a:p>
            <a:pPr marL="635" marR="0" lvl="0" indent="0" algn="ctr" defTabSz="914400" rtl="0" eaLnBrk="1" fontAlgn="auto" latinLnBrk="0" hangingPunct="1">
              <a:lnSpc>
                <a:spcPct val="100000"/>
              </a:lnSpc>
              <a:spcBef>
                <a:spcPts val="2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810500" y="4038601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366395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one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368160" y="2028443"/>
            <a:ext cx="441959" cy="566420"/>
          </a:xfrm>
          <a:custGeom>
            <a:avLst/>
            <a:gdLst/>
            <a:ahLst/>
            <a:cxnLst/>
            <a:rect l="l" t="t" r="r" b="b"/>
            <a:pathLst>
              <a:path w="441960" h="566419">
                <a:moveTo>
                  <a:pt x="441833" y="0"/>
                </a:moveTo>
                <a:lnTo>
                  <a:pt x="363982" y="34798"/>
                </a:lnTo>
                <a:lnTo>
                  <a:pt x="388543" y="54927"/>
                </a:lnTo>
                <a:lnTo>
                  <a:pt x="0" y="528701"/>
                </a:lnTo>
                <a:lnTo>
                  <a:pt x="4927" y="532701"/>
                </a:lnTo>
                <a:lnTo>
                  <a:pt x="5080" y="539750"/>
                </a:lnTo>
                <a:lnTo>
                  <a:pt x="365658" y="534720"/>
                </a:lnTo>
                <a:lnTo>
                  <a:pt x="366141" y="566420"/>
                </a:lnTo>
                <a:lnTo>
                  <a:pt x="441833" y="527304"/>
                </a:lnTo>
                <a:lnTo>
                  <a:pt x="430517" y="521843"/>
                </a:lnTo>
                <a:lnTo>
                  <a:pt x="364998" y="490220"/>
                </a:lnTo>
                <a:lnTo>
                  <a:pt x="365467" y="522020"/>
                </a:lnTo>
                <a:lnTo>
                  <a:pt x="17957" y="526872"/>
                </a:lnTo>
                <a:lnTo>
                  <a:pt x="398322" y="62928"/>
                </a:lnTo>
                <a:lnTo>
                  <a:pt x="422910" y="83058"/>
                </a:lnTo>
                <a:lnTo>
                  <a:pt x="431558" y="45085"/>
                </a:lnTo>
                <a:lnTo>
                  <a:pt x="4418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368287" y="3692651"/>
            <a:ext cx="441959" cy="565150"/>
          </a:xfrm>
          <a:custGeom>
            <a:avLst/>
            <a:gdLst/>
            <a:ahLst/>
            <a:cxnLst/>
            <a:rect l="l" t="t" r="r" b="b"/>
            <a:pathLst>
              <a:path w="441960" h="565150">
                <a:moveTo>
                  <a:pt x="441706" y="38100"/>
                </a:moveTo>
                <a:lnTo>
                  <a:pt x="429006" y="31750"/>
                </a:lnTo>
                <a:lnTo>
                  <a:pt x="365506" y="0"/>
                </a:lnTo>
                <a:lnTo>
                  <a:pt x="365506" y="31750"/>
                </a:lnTo>
                <a:lnTo>
                  <a:pt x="4826" y="31750"/>
                </a:lnTo>
                <a:lnTo>
                  <a:pt x="4826" y="38100"/>
                </a:lnTo>
                <a:lnTo>
                  <a:pt x="0" y="42164"/>
                </a:lnTo>
                <a:lnTo>
                  <a:pt x="388150" y="510070"/>
                </a:lnTo>
                <a:lnTo>
                  <a:pt x="363728" y="530352"/>
                </a:lnTo>
                <a:lnTo>
                  <a:pt x="441706" y="564642"/>
                </a:lnTo>
                <a:lnTo>
                  <a:pt x="431190" y="519811"/>
                </a:lnTo>
                <a:lnTo>
                  <a:pt x="422275" y="481711"/>
                </a:lnTo>
                <a:lnTo>
                  <a:pt x="397929" y="501942"/>
                </a:lnTo>
                <a:lnTo>
                  <a:pt x="18288" y="44450"/>
                </a:lnTo>
                <a:lnTo>
                  <a:pt x="365506" y="44450"/>
                </a:lnTo>
                <a:lnTo>
                  <a:pt x="365506" y="76200"/>
                </a:lnTo>
                <a:lnTo>
                  <a:pt x="429006" y="44450"/>
                </a:lnTo>
                <a:lnTo>
                  <a:pt x="441706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524001" y="4038601"/>
            <a:ext cx="1167765" cy="337913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31445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&lt;START&gt;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308859" y="3107436"/>
            <a:ext cx="571500" cy="337913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he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308859" y="4971289"/>
            <a:ext cx="571500" cy="337271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103158" y="3543300"/>
            <a:ext cx="491490" cy="500380"/>
          </a:xfrm>
          <a:custGeom>
            <a:avLst/>
            <a:gdLst/>
            <a:ahLst/>
            <a:cxnLst/>
            <a:rect l="l" t="t" r="r" b="b"/>
            <a:pathLst>
              <a:path w="491490" h="500379">
                <a:moveTo>
                  <a:pt x="433491" y="49928"/>
                </a:moveTo>
                <a:lnTo>
                  <a:pt x="0" y="491236"/>
                </a:lnTo>
                <a:lnTo>
                  <a:pt x="9067" y="500125"/>
                </a:lnTo>
                <a:lnTo>
                  <a:pt x="442556" y="58822"/>
                </a:lnTo>
                <a:lnTo>
                  <a:pt x="433491" y="49928"/>
                </a:lnTo>
                <a:close/>
              </a:path>
              <a:path w="491490" h="500379">
                <a:moveTo>
                  <a:pt x="478171" y="40894"/>
                </a:moveTo>
                <a:lnTo>
                  <a:pt x="442366" y="40894"/>
                </a:lnTo>
                <a:lnTo>
                  <a:pt x="451434" y="49784"/>
                </a:lnTo>
                <a:lnTo>
                  <a:pt x="442556" y="58822"/>
                </a:lnTo>
                <a:lnTo>
                  <a:pt x="465188" y="81025"/>
                </a:lnTo>
                <a:lnTo>
                  <a:pt x="478171" y="40894"/>
                </a:lnTo>
                <a:close/>
              </a:path>
              <a:path w="491490" h="500379">
                <a:moveTo>
                  <a:pt x="442366" y="40894"/>
                </a:moveTo>
                <a:lnTo>
                  <a:pt x="433491" y="49928"/>
                </a:lnTo>
                <a:lnTo>
                  <a:pt x="442556" y="58822"/>
                </a:lnTo>
                <a:lnTo>
                  <a:pt x="451434" y="49784"/>
                </a:lnTo>
                <a:lnTo>
                  <a:pt x="442366" y="40894"/>
                </a:lnTo>
                <a:close/>
              </a:path>
              <a:path w="491490" h="500379">
                <a:moveTo>
                  <a:pt x="491401" y="0"/>
                </a:moveTo>
                <a:lnTo>
                  <a:pt x="410819" y="27686"/>
                </a:lnTo>
                <a:lnTo>
                  <a:pt x="433491" y="49928"/>
                </a:lnTo>
                <a:lnTo>
                  <a:pt x="442366" y="40894"/>
                </a:lnTo>
                <a:lnTo>
                  <a:pt x="478171" y="40894"/>
                </a:lnTo>
                <a:lnTo>
                  <a:pt x="4914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2103158" y="4470020"/>
            <a:ext cx="491490" cy="501015"/>
          </a:xfrm>
          <a:custGeom>
            <a:avLst/>
            <a:gdLst/>
            <a:ahLst/>
            <a:cxnLst/>
            <a:rect l="l" t="t" r="r" b="b"/>
            <a:pathLst>
              <a:path w="491490" h="501014">
                <a:moveTo>
                  <a:pt x="433458" y="450760"/>
                </a:moveTo>
                <a:lnTo>
                  <a:pt x="410832" y="472947"/>
                </a:lnTo>
                <a:lnTo>
                  <a:pt x="491401" y="500760"/>
                </a:lnTo>
                <a:lnTo>
                  <a:pt x="478211" y="459866"/>
                </a:lnTo>
                <a:lnTo>
                  <a:pt x="442391" y="459866"/>
                </a:lnTo>
                <a:lnTo>
                  <a:pt x="433458" y="450760"/>
                </a:lnTo>
                <a:close/>
              </a:path>
              <a:path w="491490" h="501014">
                <a:moveTo>
                  <a:pt x="442525" y="441869"/>
                </a:moveTo>
                <a:lnTo>
                  <a:pt x="433458" y="450760"/>
                </a:lnTo>
                <a:lnTo>
                  <a:pt x="442391" y="459866"/>
                </a:lnTo>
                <a:lnTo>
                  <a:pt x="451459" y="450976"/>
                </a:lnTo>
                <a:lnTo>
                  <a:pt x="442525" y="441869"/>
                </a:lnTo>
                <a:close/>
              </a:path>
              <a:path w="491490" h="501014">
                <a:moveTo>
                  <a:pt x="465226" y="419607"/>
                </a:moveTo>
                <a:lnTo>
                  <a:pt x="442525" y="441869"/>
                </a:lnTo>
                <a:lnTo>
                  <a:pt x="451459" y="450976"/>
                </a:lnTo>
                <a:lnTo>
                  <a:pt x="442391" y="459866"/>
                </a:lnTo>
                <a:lnTo>
                  <a:pt x="478211" y="459866"/>
                </a:lnTo>
                <a:lnTo>
                  <a:pt x="465226" y="419607"/>
                </a:lnTo>
                <a:close/>
              </a:path>
              <a:path w="491490" h="501014">
                <a:moveTo>
                  <a:pt x="9067" y="0"/>
                </a:moveTo>
                <a:lnTo>
                  <a:pt x="0" y="8889"/>
                </a:lnTo>
                <a:lnTo>
                  <a:pt x="433458" y="450760"/>
                </a:lnTo>
                <a:lnTo>
                  <a:pt x="442525" y="441869"/>
                </a:lnTo>
                <a:lnTo>
                  <a:pt x="90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384857" y="2785617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-0.7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384857" y="5439562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-0.9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626612" y="4340479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-1.6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626612" y="5683708"/>
            <a:ext cx="3854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-1.8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626612" y="2481198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-1.7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626612" y="3800602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-2.9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081779" y="3525392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-2.5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081779" y="2184272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-2.8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081779" y="5406949"/>
            <a:ext cx="3854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-3.8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081779" y="4079494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-2.9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609716" y="4482210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-3.5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609716" y="3208146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-3.3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609716" y="1455801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-4.0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609715" y="2762200"/>
            <a:ext cx="3860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-3.4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197723" y="3201670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-3.7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8197723" y="4484878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-4.3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8197723" y="2775330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-4.5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8197723" y="1436623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-4.8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625591" y="6083047"/>
            <a:ext cx="3683635" cy="585417"/>
          </a:xfrm>
          <a:prstGeom prst="rect">
            <a:avLst/>
          </a:prstGeom>
          <a:ln w="19811">
            <a:solidFill>
              <a:srgbClr val="BA56BD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0" marR="45085" lvl="0" indent="0" algn="ctr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For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each</a:t>
            </a:r>
            <a:r>
              <a:rPr kumimoji="0" sz="1800" b="0" i="0" u="none" strike="noStrike" kern="1200" cap="none" spc="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of</a:t>
            </a:r>
            <a:r>
              <a:rPr kumimoji="0" sz="1800" b="0" i="0" u="none" strike="noStrike" kern="1200" cap="none" spc="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the 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k</a:t>
            </a:r>
            <a:r>
              <a:rPr kumimoji="0" sz="1800" b="0" i="1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hypotheses,</a:t>
            </a: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find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top 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k</a:t>
            </a:r>
            <a:r>
              <a:rPr kumimoji="0" sz="1800" b="0" i="1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next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words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and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calculate</a:t>
            </a:r>
            <a:r>
              <a:rPr kumimoji="0" sz="1800" b="0" i="0" u="none" strike="noStrike" kern="1200" cap="none" spc="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scores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B02E46F4-6BD2-9753-7390-7B101604255B}"/>
              </a:ext>
            </a:extLst>
          </p:cNvPr>
          <p:cNvGrpSpPr/>
          <p:nvPr/>
        </p:nvGrpSpPr>
        <p:grpSpPr>
          <a:xfrm>
            <a:off x="1875934" y="646192"/>
            <a:ext cx="8356238" cy="736600"/>
            <a:chOff x="1875934" y="646192"/>
            <a:chExt cx="8356238" cy="736600"/>
          </a:xfrm>
        </p:grpSpPr>
        <p:sp>
          <p:nvSpPr>
            <p:cNvPr id="56" name="object 3">
              <a:extLst>
                <a:ext uri="{FF2B5EF4-FFF2-40B4-BE49-F238E27FC236}">
                  <a16:creationId xmlns:a16="http://schemas.microsoft.com/office/drawing/2014/main" id="{DCF96C05-65BF-A6BF-3400-CD968C6F4B4E}"/>
                </a:ext>
              </a:extLst>
            </p:cNvPr>
            <p:cNvSpPr txBox="1"/>
            <p:nvPr/>
          </p:nvSpPr>
          <p:spPr>
            <a:xfrm>
              <a:off x="1875934" y="840487"/>
              <a:ext cx="3557126" cy="321242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0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Beam</a:t>
              </a:r>
              <a:r>
                <a:rPr kumimoji="0" sz="2000" b="1" i="0" u="none" strike="noStrike" kern="1200" cap="none" spc="-1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1" i="0" u="none" strike="noStrike" kern="1200" cap="none" spc="-5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size</a:t>
              </a:r>
              <a:r>
                <a:rPr kumimoji="0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=</a:t>
              </a:r>
              <a:r>
                <a:rPr kumimoji="0" sz="2000" b="1" i="0" u="none" strike="noStrike" kern="1200" cap="none" spc="-15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k</a:t>
              </a:r>
              <a:r>
                <a:rPr kumimoji="0" sz="2000" b="1" i="0" u="none" strike="noStrike" kern="1200" cap="none" spc="-1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=</a:t>
              </a:r>
              <a:r>
                <a:rPr kumimoji="0" sz="2000" b="1" i="0" u="none" strike="noStrike" kern="1200" cap="none" spc="-5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2</a:t>
              </a:r>
              <a:r>
                <a:rPr kumimoji="0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.</a:t>
              </a:r>
              <a:r>
                <a:rPr kumimoji="0" sz="2000" b="0" i="0" u="none" strike="noStrike" kern="1200" cap="none" spc="-25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285F4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Blue</a:t>
              </a:r>
              <a:r>
                <a:rPr kumimoji="0" sz="2000" b="0" i="0" u="none" strike="noStrike" kern="1200" cap="none" spc="-10" normalizeH="0" baseline="0" noProof="0" dirty="0">
                  <a:ln>
                    <a:noFill/>
                  </a:ln>
                  <a:solidFill>
                    <a:srgbClr val="4285F4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285F4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numbers</a:t>
              </a:r>
              <a:r>
                <a:rPr kumimoji="0" sz="2000" b="0" i="0" u="none" strike="noStrike" kern="1200" cap="none" spc="-5" normalizeH="0" baseline="0" noProof="0" dirty="0">
                  <a:ln>
                    <a:noFill/>
                  </a:ln>
                  <a:solidFill>
                    <a:srgbClr val="4285F4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285F4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=</a:t>
              </a:r>
              <a:endPara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endParaRPr>
            </a:p>
          </p:txBody>
        </p:sp>
        <p:pic>
          <p:nvPicPr>
            <p:cNvPr id="57" name="object 50">
              <a:extLst>
                <a:ext uri="{FF2B5EF4-FFF2-40B4-BE49-F238E27FC236}">
                  <a16:creationId xmlns:a16="http://schemas.microsoft.com/office/drawing/2014/main" id="{32E6B7DE-FE52-C50B-842E-1F5D2C898F9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5822" y="646192"/>
              <a:ext cx="4816350" cy="7366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273551" y="2842260"/>
            <a:ext cx="1117600" cy="337912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4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hit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73551" y="3368040"/>
            <a:ext cx="1117600" cy="33855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247015" marR="0" lvl="0" indent="0" algn="l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struck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73551" y="4698491"/>
            <a:ext cx="1117600" cy="33855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352425" marR="0" lvl="0" indent="0" algn="l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was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73551" y="5224272"/>
            <a:ext cx="1117600" cy="33919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got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876804" y="3060192"/>
            <a:ext cx="397510" cy="526415"/>
          </a:xfrm>
          <a:custGeom>
            <a:avLst/>
            <a:gdLst/>
            <a:ahLst/>
            <a:cxnLst/>
            <a:rect l="l" t="t" r="r" b="b"/>
            <a:pathLst>
              <a:path w="397510" h="526414">
                <a:moveTo>
                  <a:pt x="397383" y="0"/>
                </a:moveTo>
                <a:lnTo>
                  <a:pt x="312801" y="11049"/>
                </a:lnTo>
                <a:lnTo>
                  <a:pt x="330568" y="37338"/>
                </a:lnTo>
                <a:lnTo>
                  <a:pt x="0" y="260223"/>
                </a:lnTo>
                <a:lnTo>
                  <a:pt x="3441" y="265341"/>
                </a:lnTo>
                <a:lnTo>
                  <a:pt x="0" y="270510"/>
                </a:lnTo>
                <a:lnTo>
                  <a:pt x="330288" y="489445"/>
                </a:lnTo>
                <a:lnTo>
                  <a:pt x="312801" y="515874"/>
                </a:lnTo>
                <a:lnTo>
                  <a:pt x="397383" y="526161"/>
                </a:lnTo>
                <a:lnTo>
                  <a:pt x="380238" y="496443"/>
                </a:lnTo>
                <a:lnTo>
                  <a:pt x="354838" y="452374"/>
                </a:lnTo>
                <a:lnTo>
                  <a:pt x="337337" y="478815"/>
                </a:lnTo>
                <a:lnTo>
                  <a:pt x="15278" y="265264"/>
                </a:lnTo>
                <a:lnTo>
                  <a:pt x="337693" y="47879"/>
                </a:lnTo>
                <a:lnTo>
                  <a:pt x="355473" y="74168"/>
                </a:lnTo>
                <a:lnTo>
                  <a:pt x="380301" y="30226"/>
                </a:lnTo>
                <a:lnTo>
                  <a:pt x="3973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876804" y="4916423"/>
            <a:ext cx="397510" cy="527050"/>
          </a:xfrm>
          <a:custGeom>
            <a:avLst/>
            <a:gdLst/>
            <a:ahLst/>
            <a:cxnLst/>
            <a:rect l="l" t="t" r="r" b="b"/>
            <a:pathLst>
              <a:path w="397510" h="527050">
                <a:moveTo>
                  <a:pt x="397383" y="0"/>
                </a:moveTo>
                <a:lnTo>
                  <a:pt x="312928" y="11938"/>
                </a:lnTo>
                <a:lnTo>
                  <a:pt x="331038" y="38100"/>
                </a:lnTo>
                <a:lnTo>
                  <a:pt x="0" y="267081"/>
                </a:lnTo>
                <a:lnTo>
                  <a:pt x="3721" y="272542"/>
                </a:lnTo>
                <a:lnTo>
                  <a:pt x="127" y="278142"/>
                </a:lnTo>
                <a:lnTo>
                  <a:pt x="329869" y="491121"/>
                </a:lnTo>
                <a:lnTo>
                  <a:pt x="312674" y="517779"/>
                </a:lnTo>
                <a:lnTo>
                  <a:pt x="397383" y="527050"/>
                </a:lnTo>
                <a:lnTo>
                  <a:pt x="380136" y="497967"/>
                </a:lnTo>
                <a:lnTo>
                  <a:pt x="353949" y="453771"/>
                </a:lnTo>
                <a:lnTo>
                  <a:pt x="336778" y="480402"/>
                </a:lnTo>
                <a:lnTo>
                  <a:pt x="14541" y="272351"/>
                </a:lnTo>
                <a:lnTo>
                  <a:pt x="338251" y="48526"/>
                </a:lnTo>
                <a:lnTo>
                  <a:pt x="356362" y="74676"/>
                </a:lnTo>
                <a:lnTo>
                  <a:pt x="380428" y="30861"/>
                </a:lnTo>
                <a:lnTo>
                  <a:pt x="3973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28972" y="2546604"/>
            <a:ext cx="1117600" cy="33855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28972" y="3073908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28972" y="4430268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hit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28972" y="4956048"/>
            <a:ext cx="1117600" cy="33919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247015" marR="0" lvl="0" indent="0" algn="l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struck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386454" y="2764536"/>
            <a:ext cx="342265" cy="527685"/>
          </a:xfrm>
          <a:custGeom>
            <a:avLst/>
            <a:gdLst/>
            <a:ahLst/>
            <a:cxnLst/>
            <a:rect l="l" t="t" r="r" b="b"/>
            <a:pathLst>
              <a:path w="342264" h="527685">
                <a:moveTo>
                  <a:pt x="342265" y="0"/>
                </a:moveTo>
                <a:lnTo>
                  <a:pt x="259842" y="21336"/>
                </a:lnTo>
                <a:lnTo>
                  <a:pt x="280670" y="45250"/>
                </a:lnTo>
                <a:lnTo>
                  <a:pt x="0" y="289687"/>
                </a:lnTo>
                <a:lnTo>
                  <a:pt x="4622" y="295021"/>
                </a:lnTo>
                <a:lnTo>
                  <a:pt x="635" y="300863"/>
                </a:lnTo>
                <a:lnTo>
                  <a:pt x="275856" y="489826"/>
                </a:lnTo>
                <a:lnTo>
                  <a:pt x="257937" y="516001"/>
                </a:lnTo>
                <a:lnTo>
                  <a:pt x="342265" y="527685"/>
                </a:lnTo>
                <a:lnTo>
                  <a:pt x="325247" y="496951"/>
                </a:lnTo>
                <a:lnTo>
                  <a:pt x="300990" y="453136"/>
                </a:lnTo>
                <a:lnTo>
                  <a:pt x="283032" y="479361"/>
                </a:lnTo>
                <a:lnTo>
                  <a:pt x="13804" y="294614"/>
                </a:lnTo>
                <a:lnTo>
                  <a:pt x="289013" y="54813"/>
                </a:lnTo>
                <a:lnTo>
                  <a:pt x="309880" y="78740"/>
                </a:lnTo>
                <a:lnTo>
                  <a:pt x="327063" y="36957"/>
                </a:lnTo>
                <a:lnTo>
                  <a:pt x="3422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386708" y="4648200"/>
            <a:ext cx="342265" cy="527050"/>
          </a:xfrm>
          <a:custGeom>
            <a:avLst/>
            <a:gdLst/>
            <a:ahLst/>
            <a:cxnLst/>
            <a:rect l="l" t="t" r="r" b="b"/>
            <a:pathLst>
              <a:path w="342264" h="527050">
                <a:moveTo>
                  <a:pt x="342011" y="0"/>
                </a:moveTo>
                <a:lnTo>
                  <a:pt x="258572" y="17526"/>
                </a:lnTo>
                <a:lnTo>
                  <a:pt x="278333" y="42443"/>
                </a:lnTo>
                <a:lnTo>
                  <a:pt x="0" y="263271"/>
                </a:lnTo>
                <a:lnTo>
                  <a:pt x="3937" y="268224"/>
                </a:lnTo>
                <a:lnTo>
                  <a:pt x="127" y="273304"/>
                </a:lnTo>
                <a:lnTo>
                  <a:pt x="277596" y="485330"/>
                </a:lnTo>
                <a:lnTo>
                  <a:pt x="258318" y="510540"/>
                </a:lnTo>
                <a:lnTo>
                  <a:pt x="342011" y="526542"/>
                </a:lnTo>
                <a:lnTo>
                  <a:pt x="325577" y="493014"/>
                </a:lnTo>
                <a:lnTo>
                  <a:pt x="304546" y="450088"/>
                </a:lnTo>
                <a:lnTo>
                  <a:pt x="285292" y="475259"/>
                </a:lnTo>
                <a:lnTo>
                  <a:pt x="14249" y="268122"/>
                </a:lnTo>
                <a:lnTo>
                  <a:pt x="286207" y="52349"/>
                </a:lnTo>
                <a:lnTo>
                  <a:pt x="305943" y="77216"/>
                </a:lnTo>
                <a:lnTo>
                  <a:pt x="325869" y="34544"/>
                </a:lnTo>
                <a:lnTo>
                  <a:pt x="3420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256020" y="1816608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365125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tart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56020" y="2343912"/>
            <a:ext cx="1117600" cy="337271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1270" marR="0" lvl="0" indent="0" algn="ctr" defTabSz="914400" rtl="0" eaLnBrk="1" fontAlgn="auto" latinLnBrk="0" hangingPunct="1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pie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256020" y="3512820"/>
            <a:ext cx="1117600" cy="337912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4" rIns="0" bIns="0" rtlCol="0">
            <a:spAutoFit/>
          </a:bodyPr>
          <a:lstStyle/>
          <a:p>
            <a:pPr marL="332105" marR="0" lvl="0" indent="0" algn="l" defTabSz="914400" rtl="0" eaLnBrk="1" fontAlgn="auto" latinLnBrk="0" hangingPunct="1">
              <a:lnSpc>
                <a:spcPct val="100000"/>
              </a:lnSpc>
              <a:spcBef>
                <a:spcPts val="2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256020" y="4038601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270" marR="0" lvl="0" indent="0" algn="ctr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840223" y="3287521"/>
            <a:ext cx="422275" cy="969644"/>
          </a:xfrm>
          <a:custGeom>
            <a:avLst/>
            <a:gdLst/>
            <a:ahLst/>
            <a:cxnLst/>
            <a:rect l="l" t="t" r="r" b="b"/>
            <a:pathLst>
              <a:path w="422275" h="969645">
                <a:moveTo>
                  <a:pt x="422021" y="884174"/>
                </a:moveTo>
                <a:lnTo>
                  <a:pt x="392785" y="896620"/>
                </a:lnTo>
                <a:lnTo>
                  <a:pt x="25704" y="34709"/>
                </a:lnTo>
                <a:lnTo>
                  <a:pt x="360121" y="391426"/>
                </a:lnTo>
                <a:lnTo>
                  <a:pt x="336931" y="413131"/>
                </a:lnTo>
                <a:lnTo>
                  <a:pt x="416814" y="442722"/>
                </a:lnTo>
                <a:lnTo>
                  <a:pt x="404317" y="400685"/>
                </a:lnTo>
                <a:lnTo>
                  <a:pt x="392557" y="361061"/>
                </a:lnTo>
                <a:lnTo>
                  <a:pt x="369366" y="382765"/>
                </a:lnTo>
                <a:lnTo>
                  <a:pt x="10414" y="0"/>
                </a:lnTo>
                <a:lnTo>
                  <a:pt x="5842" y="4318"/>
                </a:lnTo>
                <a:lnTo>
                  <a:pt x="0" y="6858"/>
                </a:lnTo>
                <a:lnTo>
                  <a:pt x="381101" y="901598"/>
                </a:lnTo>
                <a:lnTo>
                  <a:pt x="351917" y="914019"/>
                </a:lnTo>
                <a:lnTo>
                  <a:pt x="416814" y="969137"/>
                </a:lnTo>
                <a:lnTo>
                  <a:pt x="420230" y="913257"/>
                </a:lnTo>
                <a:lnTo>
                  <a:pt x="422021" y="8841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840477" y="2034539"/>
            <a:ext cx="416559" cy="736600"/>
          </a:xfrm>
          <a:custGeom>
            <a:avLst/>
            <a:gdLst/>
            <a:ahLst/>
            <a:cxnLst/>
            <a:rect l="l" t="t" r="r" b="b"/>
            <a:pathLst>
              <a:path w="416560" h="736600">
                <a:moveTo>
                  <a:pt x="416560" y="0"/>
                </a:moveTo>
                <a:lnTo>
                  <a:pt x="346075" y="47752"/>
                </a:lnTo>
                <a:lnTo>
                  <a:pt x="373722" y="63309"/>
                </a:lnTo>
                <a:lnTo>
                  <a:pt x="0" y="726948"/>
                </a:lnTo>
                <a:lnTo>
                  <a:pt x="5067" y="729830"/>
                </a:lnTo>
                <a:lnTo>
                  <a:pt x="8382" y="736600"/>
                </a:lnTo>
                <a:lnTo>
                  <a:pt x="351205" y="566851"/>
                </a:lnTo>
                <a:lnTo>
                  <a:pt x="365252" y="595249"/>
                </a:lnTo>
                <a:lnTo>
                  <a:pt x="399580" y="549783"/>
                </a:lnTo>
                <a:lnTo>
                  <a:pt x="416560" y="527304"/>
                </a:lnTo>
                <a:lnTo>
                  <a:pt x="331470" y="526923"/>
                </a:lnTo>
                <a:lnTo>
                  <a:pt x="345541" y="555396"/>
                </a:lnTo>
                <a:lnTo>
                  <a:pt x="20751" y="716280"/>
                </a:lnTo>
                <a:lnTo>
                  <a:pt x="384784" y="69519"/>
                </a:lnTo>
                <a:lnTo>
                  <a:pt x="412496" y="85090"/>
                </a:lnTo>
                <a:lnTo>
                  <a:pt x="414058" y="52197"/>
                </a:lnTo>
                <a:lnTo>
                  <a:pt x="4165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810500" y="1810511"/>
            <a:ext cx="1117600" cy="33855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810500" y="2337816"/>
            <a:ext cx="1117600" cy="337912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4" rIns="0" bIns="0" rtlCol="0">
            <a:spAutoFit/>
          </a:bodyPr>
          <a:lstStyle/>
          <a:p>
            <a:pPr marL="331470" marR="0" lvl="0" indent="0" algn="l" defTabSz="914400" rtl="0" eaLnBrk="1" fontAlgn="auto" latinLnBrk="0" hangingPunct="1">
              <a:lnSpc>
                <a:spcPct val="100000"/>
              </a:lnSpc>
              <a:spcBef>
                <a:spcPts val="2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810500" y="3512820"/>
            <a:ext cx="1117600" cy="337912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4" rIns="0" bIns="0" rtlCol="0">
            <a:spAutoFit/>
          </a:bodyPr>
          <a:lstStyle/>
          <a:p>
            <a:pPr marL="635" marR="0" lvl="0" indent="0" algn="ctr" defTabSz="914400" rtl="0" eaLnBrk="1" fontAlgn="auto" latinLnBrk="0" hangingPunct="1">
              <a:lnSpc>
                <a:spcPct val="100000"/>
              </a:lnSpc>
              <a:spcBef>
                <a:spcPts val="2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810500" y="4038601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366395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one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368160" y="2028443"/>
            <a:ext cx="441959" cy="566420"/>
          </a:xfrm>
          <a:custGeom>
            <a:avLst/>
            <a:gdLst/>
            <a:ahLst/>
            <a:cxnLst/>
            <a:rect l="l" t="t" r="r" b="b"/>
            <a:pathLst>
              <a:path w="441960" h="566419">
                <a:moveTo>
                  <a:pt x="441833" y="0"/>
                </a:moveTo>
                <a:lnTo>
                  <a:pt x="363982" y="34798"/>
                </a:lnTo>
                <a:lnTo>
                  <a:pt x="388543" y="54927"/>
                </a:lnTo>
                <a:lnTo>
                  <a:pt x="0" y="528701"/>
                </a:lnTo>
                <a:lnTo>
                  <a:pt x="4927" y="532701"/>
                </a:lnTo>
                <a:lnTo>
                  <a:pt x="5080" y="539750"/>
                </a:lnTo>
                <a:lnTo>
                  <a:pt x="365658" y="534720"/>
                </a:lnTo>
                <a:lnTo>
                  <a:pt x="366141" y="566420"/>
                </a:lnTo>
                <a:lnTo>
                  <a:pt x="441833" y="527304"/>
                </a:lnTo>
                <a:lnTo>
                  <a:pt x="430517" y="521843"/>
                </a:lnTo>
                <a:lnTo>
                  <a:pt x="364998" y="490220"/>
                </a:lnTo>
                <a:lnTo>
                  <a:pt x="365467" y="522020"/>
                </a:lnTo>
                <a:lnTo>
                  <a:pt x="17957" y="526872"/>
                </a:lnTo>
                <a:lnTo>
                  <a:pt x="398322" y="62928"/>
                </a:lnTo>
                <a:lnTo>
                  <a:pt x="422910" y="83058"/>
                </a:lnTo>
                <a:lnTo>
                  <a:pt x="431558" y="45085"/>
                </a:lnTo>
                <a:lnTo>
                  <a:pt x="4418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368287" y="3692651"/>
            <a:ext cx="441959" cy="565150"/>
          </a:xfrm>
          <a:custGeom>
            <a:avLst/>
            <a:gdLst/>
            <a:ahLst/>
            <a:cxnLst/>
            <a:rect l="l" t="t" r="r" b="b"/>
            <a:pathLst>
              <a:path w="441960" h="565150">
                <a:moveTo>
                  <a:pt x="441706" y="38100"/>
                </a:moveTo>
                <a:lnTo>
                  <a:pt x="429006" y="31750"/>
                </a:lnTo>
                <a:lnTo>
                  <a:pt x="365506" y="0"/>
                </a:lnTo>
                <a:lnTo>
                  <a:pt x="365506" y="31750"/>
                </a:lnTo>
                <a:lnTo>
                  <a:pt x="4826" y="31750"/>
                </a:lnTo>
                <a:lnTo>
                  <a:pt x="4826" y="38100"/>
                </a:lnTo>
                <a:lnTo>
                  <a:pt x="0" y="42164"/>
                </a:lnTo>
                <a:lnTo>
                  <a:pt x="388150" y="510070"/>
                </a:lnTo>
                <a:lnTo>
                  <a:pt x="363728" y="530352"/>
                </a:lnTo>
                <a:lnTo>
                  <a:pt x="441706" y="564642"/>
                </a:lnTo>
                <a:lnTo>
                  <a:pt x="431190" y="519811"/>
                </a:lnTo>
                <a:lnTo>
                  <a:pt x="422275" y="481711"/>
                </a:lnTo>
                <a:lnTo>
                  <a:pt x="397929" y="501942"/>
                </a:lnTo>
                <a:lnTo>
                  <a:pt x="18288" y="44450"/>
                </a:lnTo>
                <a:lnTo>
                  <a:pt x="365506" y="44450"/>
                </a:lnTo>
                <a:lnTo>
                  <a:pt x="365506" y="76200"/>
                </a:lnTo>
                <a:lnTo>
                  <a:pt x="429006" y="44450"/>
                </a:lnTo>
                <a:lnTo>
                  <a:pt x="441706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524001" y="4038601"/>
            <a:ext cx="1167765" cy="337913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31445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&lt;START&gt;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308859" y="3107436"/>
            <a:ext cx="571500" cy="337913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he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308859" y="4971289"/>
            <a:ext cx="571500" cy="337271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103158" y="3543300"/>
            <a:ext cx="491490" cy="500380"/>
          </a:xfrm>
          <a:custGeom>
            <a:avLst/>
            <a:gdLst/>
            <a:ahLst/>
            <a:cxnLst/>
            <a:rect l="l" t="t" r="r" b="b"/>
            <a:pathLst>
              <a:path w="491490" h="500379">
                <a:moveTo>
                  <a:pt x="433491" y="49928"/>
                </a:moveTo>
                <a:lnTo>
                  <a:pt x="0" y="491236"/>
                </a:lnTo>
                <a:lnTo>
                  <a:pt x="9067" y="500125"/>
                </a:lnTo>
                <a:lnTo>
                  <a:pt x="442556" y="58822"/>
                </a:lnTo>
                <a:lnTo>
                  <a:pt x="433491" y="49928"/>
                </a:lnTo>
                <a:close/>
              </a:path>
              <a:path w="491490" h="500379">
                <a:moveTo>
                  <a:pt x="478171" y="40894"/>
                </a:moveTo>
                <a:lnTo>
                  <a:pt x="442366" y="40894"/>
                </a:lnTo>
                <a:lnTo>
                  <a:pt x="451434" y="49784"/>
                </a:lnTo>
                <a:lnTo>
                  <a:pt x="442556" y="58822"/>
                </a:lnTo>
                <a:lnTo>
                  <a:pt x="465188" y="81025"/>
                </a:lnTo>
                <a:lnTo>
                  <a:pt x="478171" y="40894"/>
                </a:lnTo>
                <a:close/>
              </a:path>
              <a:path w="491490" h="500379">
                <a:moveTo>
                  <a:pt x="442366" y="40894"/>
                </a:moveTo>
                <a:lnTo>
                  <a:pt x="433491" y="49928"/>
                </a:lnTo>
                <a:lnTo>
                  <a:pt x="442556" y="58822"/>
                </a:lnTo>
                <a:lnTo>
                  <a:pt x="451434" y="49784"/>
                </a:lnTo>
                <a:lnTo>
                  <a:pt x="442366" y="40894"/>
                </a:lnTo>
                <a:close/>
              </a:path>
              <a:path w="491490" h="500379">
                <a:moveTo>
                  <a:pt x="491401" y="0"/>
                </a:moveTo>
                <a:lnTo>
                  <a:pt x="410819" y="27686"/>
                </a:lnTo>
                <a:lnTo>
                  <a:pt x="433491" y="49928"/>
                </a:lnTo>
                <a:lnTo>
                  <a:pt x="442366" y="40894"/>
                </a:lnTo>
                <a:lnTo>
                  <a:pt x="478171" y="40894"/>
                </a:lnTo>
                <a:lnTo>
                  <a:pt x="4914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2103158" y="4470020"/>
            <a:ext cx="491490" cy="501015"/>
          </a:xfrm>
          <a:custGeom>
            <a:avLst/>
            <a:gdLst/>
            <a:ahLst/>
            <a:cxnLst/>
            <a:rect l="l" t="t" r="r" b="b"/>
            <a:pathLst>
              <a:path w="491490" h="501014">
                <a:moveTo>
                  <a:pt x="433458" y="450760"/>
                </a:moveTo>
                <a:lnTo>
                  <a:pt x="410832" y="472947"/>
                </a:lnTo>
                <a:lnTo>
                  <a:pt x="491401" y="500760"/>
                </a:lnTo>
                <a:lnTo>
                  <a:pt x="478211" y="459866"/>
                </a:lnTo>
                <a:lnTo>
                  <a:pt x="442391" y="459866"/>
                </a:lnTo>
                <a:lnTo>
                  <a:pt x="433458" y="450760"/>
                </a:lnTo>
                <a:close/>
              </a:path>
              <a:path w="491490" h="501014">
                <a:moveTo>
                  <a:pt x="442525" y="441869"/>
                </a:moveTo>
                <a:lnTo>
                  <a:pt x="433458" y="450760"/>
                </a:lnTo>
                <a:lnTo>
                  <a:pt x="442391" y="459866"/>
                </a:lnTo>
                <a:lnTo>
                  <a:pt x="451459" y="450976"/>
                </a:lnTo>
                <a:lnTo>
                  <a:pt x="442525" y="441869"/>
                </a:lnTo>
                <a:close/>
              </a:path>
              <a:path w="491490" h="501014">
                <a:moveTo>
                  <a:pt x="465226" y="419607"/>
                </a:moveTo>
                <a:lnTo>
                  <a:pt x="442525" y="441869"/>
                </a:lnTo>
                <a:lnTo>
                  <a:pt x="451459" y="450976"/>
                </a:lnTo>
                <a:lnTo>
                  <a:pt x="442391" y="459866"/>
                </a:lnTo>
                <a:lnTo>
                  <a:pt x="478211" y="459866"/>
                </a:lnTo>
                <a:lnTo>
                  <a:pt x="465226" y="419607"/>
                </a:lnTo>
                <a:close/>
              </a:path>
              <a:path w="491490" h="501014">
                <a:moveTo>
                  <a:pt x="9067" y="0"/>
                </a:moveTo>
                <a:lnTo>
                  <a:pt x="0" y="8889"/>
                </a:lnTo>
                <a:lnTo>
                  <a:pt x="433458" y="450760"/>
                </a:lnTo>
                <a:lnTo>
                  <a:pt x="442525" y="441869"/>
                </a:lnTo>
                <a:lnTo>
                  <a:pt x="90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384857" y="2785617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-0.7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384857" y="5439562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-0.9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626612" y="4340479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-1.6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626612" y="5683708"/>
            <a:ext cx="3854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-1.8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626612" y="2481198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-1.7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626612" y="3800602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-2.9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081779" y="3525392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-2.5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081779" y="2184272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-2.8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081779" y="5406949"/>
            <a:ext cx="3854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-3.8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081779" y="4079494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-2.9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609716" y="4482210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-3.5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609716" y="3208146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-3.3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609716" y="1455801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-4.0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609715" y="2762200"/>
            <a:ext cx="3860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-3.4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197723" y="3201670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-3.7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8197723" y="4484878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-4.3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8197723" y="2775330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-4.5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8197723" y="1436623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-4.8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875527" y="6083047"/>
            <a:ext cx="3034665" cy="585417"/>
          </a:xfrm>
          <a:prstGeom prst="rect">
            <a:avLst/>
          </a:prstGeom>
          <a:ln w="19811">
            <a:solidFill>
              <a:srgbClr val="BA56BD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Of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these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k</a:t>
            </a:r>
            <a:r>
              <a:rPr kumimoji="0" sz="1800" b="0" i="0" u="none" strike="noStrike" kern="1200" cap="none" spc="-7" normalizeH="0" baseline="25462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2</a:t>
            </a:r>
            <a:r>
              <a:rPr kumimoji="0" sz="1800" b="0" i="0" u="none" strike="noStrike" kern="1200" cap="none" spc="195" normalizeH="0" baseline="25462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hypotheses,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just </a:t>
            </a: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keep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k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with</a:t>
            </a:r>
            <a:r>
              <a:rPr kumimoji="0" sz="1800" b="0" i="0" u="none" strike="noStrike" kern="1200" cap="none" spc="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highest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scores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937C6F75-AB85-73A2-EE59-C2D2553BEFE5}"/>
              </a:ext>
            </a:extLst>
          </p:cNvPr>
          <p:cNvGrpSpPr/>
          <p:nvPr/>
        </p:nvGrpSpPr>
        <p:grpSpPr>
          <a:xfrm>
            <a:off x="1875934" y="646192"/>
            <a:ext cx="8356238" cy="736600"/>
            <a:chOff x="1875934" y="646192"/>
            <a:chExt cx="8356238" cy="736600"/>
          </a:xfrm>
        </p:grpSpPr>
        <p:sp>
          <p:nvSpPr>
            <p:cNvPr id="56" name="object 3">
              <a:extLst>
                <a:ext uri="{FF2B5EF4-FFF2-40B4-BE49-F238E27FC236}">
                  <a16:creationId xmlns:a16="http://schemas.microsoft.com/office/drawing/2014/main" id="{EB8F49FA-8C94-AD2B-3B31-16F1CC185EE8}"/>
                </a:ext>
              </a:extLst>
            </p:cNvPr>
            <p:cNvSpPr txBox="1"/>
            <p:nvPr/>
          </p:nvSpPr>
          <p:spPr>
            <a:xfrm>
              <a:off x="1875934" y="840487"/>
              <a:ext cx="3557126" cy="321242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0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Beam</a:t>
              </a:r>
              <a:r>
                <a:rPr kumimoji="0" sz="2000" b="1" i="0" u="none" strike="noStrike" kern="1200" cap="none" spc="-1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1" i="0" u="none" strike="noStrike" kern="1200" cap="none" spc="-5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size</a:t>
              </a:r>
              <a:r>
                <a:rPr kumimoji="0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=</a:t>
              </a:r>
              <a:r>
                <a:rPr kumimoji="0" sz="2000" b="1" i="0" u="none" strike="noStrike" kern="1200" cap="none" spc="-15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k</a:t>
              </a:r>
              <a:r>
                <a:rPr kumimoji="0" sz="2000" b="1" i="0" u="none" strike="noStrike" kern="1200" cap="none" spc="-1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=</a:t>
              </a:r>
              <a:r>
                <a:rPr kumimoji="0" sz="2000" b="1" i="0" u="none" strike="noStrike" kern="1200" cap="none" spc="-5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2</a:t>
              </a:r>
              <a:r>
                <a:rPr kumimoji="0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.</a:t>
              </a:r>
              <a:r>
                <a:rPr kumimoji="0" sz="2000" b="0" i="0" u="none" strike="noStrike" kern="1200" cap="none" spc="-25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285F4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Blue</a:t>
              </a:r>
              <a:r>
                <a:rPr kumimoji="0" sz="2000" b="0" i="0" u="none" strike="noStrike" kern="1200" cap="none" spc="-10" normalizeH="0" baseline="0" noProof="0" dirty="0">
                  <a:ln>
                    <a:noFill/>
                  </a:ln>
                  <a:solidFill>
                    <a:srgbClr val="4285F4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285F4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numbers</a:t>
              </a:r>
              <a:r>
                <a:rPr kumimoji="0" sz="2000" b="0" i="0" u="none" strike="noStrike" kern="1200" cap="none" spc="-5" normalizeH="0" baseline="0" noProof="0" dirty="0">
                  <a:ln>
                    <a:noFill/>
                  </a:ln>
                  <a:solidFill>
                    <a:srgbClr val="4285F4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285F4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=</a:t>
              </a:r>
              <a:endPara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endParaRPr>
            </a:p>
          </p:txBody>
        </p:sp>
        <p:pic>
          <p:nvPicPr>
            <p:cNvPr id="57" name="object 50">
              <a:extLst>
                <a:ext uri="{FF2B5EF4-FFF2-40B4-BE49-F238E27FC236}">
                  <a16:creationId xmlns:a16="http://schemas.microsoft.com/office/drawing/2014/main" id="{931F79AD-9771-94B7-04EC-B368199E27E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5822" y="646192"/>
              <a:ext cx="4816350" cy="7366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273551" y="2842260"/>
            <a:ext cx="1117600" cy="337912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4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hit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73551" y="3368040"/>
            <a:ext cx="1117600" cy="33855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247015" marR="0" lvl="0" indent="0" algn="l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struck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73551" y="4698491"/>
            <a:ext cx="1117600" cy="33855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352425" marR="0" lvl="0" indent="0" algn="l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was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73551" y="5224272"/>
            <a:ext cx="1117600" cy="33919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got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876804" y="3060192"/>
            <a:ext cx="397510" cy="526415"/>
          </a:xfrm>
          <a:custGeom>
            <a:avLst/>
            <a:gdLst/>
            <a:ahLst/>
            <a:cxnLst/>
            <a:rect l="l" t="t" r="r" b="b"/>
            <a:pathLst>
              <a:path w="397510" h="526414">
                <a:moveTo>
                  <a:pt x="397383" y="0"/>
                </a:moveTo>
                <a:lnTo>
                  <a:pt x="312801" y="11049"/>
                </a:lnTo>
                <a:lnTo>
                  <a:pt x="330568" y="37338"/>
                </a:lnTo>
                <a:lnTo>
                  <a:pt x="0" y="260223"/>
                </a:lnTo>
                <a:lnTo>
                  <a:pt x="3441" y="265341"/>
                </a:lnTo>
                <a:lnTo>
                  <a:pt x="0" y="270510"/>
                </a:lnTo>
                <a:lnTo>
                  <a:pt x="330288" y="489445"/>
                </a:lnTo>
                <a:lnTo>
                  <a:pt x="312801" y="515874"/>
                </a:lnTo>
                <a:lnTo>
                  <a:pt x="397383" y="526161"/>
                </a:lnTo>
                <a:lnTo>
                  <a:pt x="380238" y="496443"/>
                </a:lnTo>
                <a:lnTo>
                  <a:pt x="354838" y="452374"/>
                </a:lnTo>
                <a:lnTo>
                  <a:pt x="337337" y="478815"/>
                </a:lnTo>
                <a:lnTo>
                  <a:pt x="15278" y="265264"/>
                </a:lnTo>
                <a:lnTo>
                  <a:pt x="337693" y="47879"/>
                </a:lnTo>
                <a:lnTo>
                  <a:pt x="355473" y="74168"/>
                </a:lnTo>
                <a:lnTo>
                  <a:pt x="380301" y="30226"/>
                </a:lnTo>
                <a:lnTo>
                  <a:pt x="3973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876804" y="4916423"/>
            <a:ext cx="397510" cy="527050"/>
          </a:xfrm>
          <a:custGeom>
            <a:avLst/>
            <a:gdLst/>
            <a:ahLst/>
            <a:cxnLst/>
            <a:rect l="l" t="t" r="r" b="b"/>
            <a:pathLst>
              <a:path w="397510" h="527050">
                <a:moveTo>
                  <a:pt x="397383" y="0"/>
                </a:moveTo>
                <a:lnTo>
                  <a:pt x="312928" y="11938"/>
                </a:lnTo>
                <a:lnTo>
                  <a:pt x="331038" y="38100"/>
                </a:lnTo>
                <a:lnTo>
                  <a:pt x="0" y="267081"/>
                </a:lnTo>
                <a:lnTo>
                  <a:pt x="3721" y="272542"/>
                </a:lnTo>
                <a:lnTo>
                  <a:pt x="127" y="278142"/>
                </a:lnTo>
                <a:lnTo>
                  <a:pt x="329869" y="491121"/>
                </a:lnTo>
                <a:lnTo>
                  <a:pt x="312674" y="517779"/>
                </a:lnTo>
                <a:lnTo>
                  <a:pt x="397383" y="527050"/>
                </a:lnTo>
                <a:lnTo>
                  <a:pt x="380136" y="497967"/>
                </a:lnTo>
                <a:lnTo>
                  <a:pt x="353949" y="453771"/>
                </a:lnTo>
                <a:lnTo>
                  <a:pt x="336778" y="480402"/>
                </a:lnTo>
                <a:lnTo>
                  <a:pt x="14541" y="272351"/>
                </a:lnTo>
                <a:lnTo>
                  <a:pt x="338251" y="48526"/>
                </a:lnTo>
                <a:lnTo>
                  <a:pt x="356362" y="74676"/>
                </a:lnTo>
                <a:lnTo>
                  <a:pt x="380428" y="30861"/>
                </a:lnTo>
                <a:lnTo>
                  <a:pt x="3973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28972" y="2546604"/>
            <a:ext cx="1117600" cy="33855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28972" y="3073908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28972" y="4430268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hit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28972" y="4956048"/>
            <a:ext cx="1117600" cy="33919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247015" marR="0" lvl="0" indent="0" algn="l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struck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386454" y="2764536"/>
            <a:ext cx="342265" cy="527685"/>
          </a:xfrm>
          <a:custGeom>
            <a:avLst/>
            <a:gdLst/>
            <a:ahLst/>
            <a:cxnLst/>
            <a:rect l="l" t="t" r="r" b="b"/>
            <a:pathLst>
              <a:path w="342264" h="527685">
                <a:moveTo>
                  <a:pt x="342265" y="0"/>
                </a:moveTo>
                <a:lnTo>
                  <a:pt x="259842" y="21336"/>
                </a:lnTo>
                <a:lnTo>
                  <a:pt x="280670" y="45250"/>
                </a:lnTo>
                <a:lnTo>
                  <a:pt x="0" y="289687"/>
                </a:lnTo>
                <a:lnTo>
                  <a:pt x="4622" y="295021"/>
                </a:lnTo>
                <a:lnTo>
                  <a:pt x="635" y="300863"/>
                </a:lnTo>
                <a:lnTo>
                  <a:pt x="275856" y="489826"/>
                </a:lnTo>
                <a:lnTo>
                  <a:pt x="257937" y="516001"/>
                </a:lnTo>
                <a:lnTo>
                  <a:pt x="342265" y="527685"/>
                </a:lnTo>
                <a:lnTo>
                  <a:pt x="325247" y="496951"/>
                </a:lnTo>
                <a:lnTo>
                  <a:pt x="300990" y="453136"/>
                </a:lnTo>
                <a:lnTo>
                  <a:pt x="283032" y="479361"/>
                </a:lnTo>
                <a:lnTo>
                  <a:pt x="13804" y="294614"/>
                </a:lnTo>
                <a:lnTo>
                  <a:pt x="289013" y="54813"/>
                </a:lnTo>
                <a:lnTo>
                  <a:pt x="309880" y="78740"/>
                </a:lnTo>
                <a:lnTo>
                  <a:pt x="327063" y="36957"/>
                </a:lnTo>
                <a:lnTo>
                  <a:pt x="3422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386708" y="4648200"/>
            <a:ext cx="342265" cy="527050"/>
          </a:xfrm>
          <a:custGeom>
            <a:avLst/>
            <a:gdLst/>
            <a:ahLst/>
            <a:cxnLst/>
            <a:rect l="l" t="t" r="r" b="b"/>
            <a:pathLst>
              <a:path w="342264" h="527050">
                <a:moveTo>
                  <a:pt x="342011" y="0"/>
                </a:moveTo>
                <a:lnTo>
                  <a:pt x="258572" y="17526"/>
                </a:lnTo>
                <a:lnTo>
                  <a:pt x="278333" y="42443"/>
                </a:lnTo>
                <a:lnTo>
                  <a:pt x="0" y="263271"/>
                </a:lnTo>
                <a:lnTo>
                  <a:pt x="3937" y="268224"/>
                </a:lnTo>
                <a:lnTo>
                  <a:pt x="127" y="273304"/>
                </a:lnTo>
                <a:lnTo>
                  <a:pt x="277596" y="485330"/>
                </a:lnTo>
                <a:lnTo>
                  <a:pt x="258318" y="510540"/>
                </a:lnTo>
                <a:lnTo>
                  <a:pt x="342011" y="526542"/>
                </a:lnTo>
                <a:lnTo>
                  <a:pt x="325577" y="493014"/>
                </a:lnTo>
                <a:lnTo>
                  <a:pt x="304546" y="450088"/>
                </a:lnTo>
                <a:lnTo>
                  <a:pt x="285292" y="475259"/>
                </a:lnTo>
                <a:lnTo>
                  <a:pt x="14249" y="268122"/>
                </a:lnTo>
                <a:lnTo>
                  <a:pt x="286207" y="52349"/>
                </a:lnTo>
                <a:lnTo>
                  <a:pt x="305943" y="77216"/>
                </a:lnTo>
                <a:lnTo>
                  <a:pt x="325869" y="34544"/>
                </a:lnTo>
                <a:lnTo>
                  <a:pt x="3420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256020" y="1816608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365125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tart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56020" y="2343912"/>
            <a:ext cx="1117600" cy="337271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1270" marR="0" lvl="0" indent="0" algn="ctr" defTabSz="914400" rtl="0" eaLnBrk="1" fontAlgn="auto" latinLnBrk="0" hangingPunct="1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pie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256020" y="3512820"/>
            <a:ext cx="1117600" cy="337912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4" rIns="0" bIns="0" rtlCol="0">
            <a:spAutoFit/>
          </a:bodyPr>
          <a:lstStyle/>
          <a:p>
            <a:pPr marL="332105" marR="0" lvl="0" indent="0" algn="l" defTabSz="914400" rtl="0" eaLnBrk="1" fontAlgn="auto" latinLnBrk="0" hangingPunct="1">
              <a:lnSpc>
                <a:spcPct val="100000"/>
              </a:lnSpc>
              <a:spcBef>
                <a:spcPts val="2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256020" y="4038601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270" marR="0" lvl="0" indent="0" algn="ctr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840223" y="3287521"/>
            <a:ext cx="422275" cy="969644"/>
          </a:xfrm>
          <a:custGeom>
            <a:avLst/>
            <a:gdLst/>
            <a:ahLst/>
            <a:cxnLst/>
            <a:rect l="l" t="t" r="r" b="b"/>
            <a:pathLst>
              <a:path w="422275" h="969645">
                <a:moveTo>
                  <a:pt x="422021" y="884174"/>
                </a:moveTo>
                <a:lnTo>
                  <a:pt x="392785" y="896620"/>
                </a:lnTo>
                <a:lnTo>
                  <a:pt x="25704" y="34709"/>
                </a:lnTo>
                <a:lnTo>
                  <a:pt x="360121" y="391426"/>
                </a:lnTo>
                <a:lnTo>
                  <a:pt x="336931" y="413131"/>
                </a:lnTo>
                <a:lnTo>
                  <a:pt x="416814" y="442722"/>
                </a:lnTo>
                <a:lnTo>
                  <a:pt x="404317" y="400685"/>
                </a:lnTo>
                <a:lnTo>
                  <a:pt x="392557" y="361061"/>
                </a:lnTo>
                <a:lnTo>
                  <a:pt x="369366" y="382765"/>
                </a:lnTo>
                <a:lnTo>
                  <a:pt x="10414" y="0"/>
                </a:lnTo>
                <a:lnTo>
                  <a:pt x="5842" y="4318"/>
                </a:lnTo>
                <a:lnTo>
                  <a:pt x="0" y="6858"/>
                </a:lnTo>
                <a:lnTo>
                  <a:pt x="381101" y="901598"/>
                </a:lnTo>
                <a:lnTo>
                  <a:pt x="351917" y="914019"/>
                </a:lnTo>
                <a:lnTo>
                  <a:pt x="416814" y="969137"/>
                </a:lnTo>
                <a:lnTo>
                  <a:pt x="420230" y="913257"/>
                </a:lnTo>
                <a:lnTo>
                  <a:pt x="422021" y="8841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840477" y="2034539"/>
            <a:ext cx="416559" cy="736600"/>
          </a:xfrm>
          <a:custGeom>
            <a:avLst/>
            <a:gdLst/>
            <a:ahLst/>
            <a:cxnLst/>
            <a:rect l="l" t="t" r="r" b="b"/>
            <a:pathLst>
              <a:path w="416560" h="736600">
                <a:moveTo>
                  <a:pt x="416560" y="0"/>
                </a:moveTo>
                <a:lnTo>
                  <a:pt x="346075" y="47752"/>
                </a:lnTo>
                <a:lnTo>
                  <a:pt x="373722" y="63309"/>
                </a:lnTo>
                <a:lnTo>
                  <a:pt x="0" y="726948"/>
                </a:lnTo>
                <a:lnTo>
                  <a:pt x="5067" y="729830"/>
                </a:lnTo>
                <a:lnTo>
                  <a:pt x="8382" y="736600"/>
                </a:lnTo>
                <a:lnTo>
                  <a:pt x="351205" y="566851"/>
                </a:lnTo>
                <a:lnTo>
                  <a:pt x="365252" y="595249"/>
                </a:lnTo>
                <a:lnTo>
                  <a:pt x="399580" y="549783"/>
                </a:lnTo>
                <a:lnTo>
                  <a:pt x="416560" y="527304"/>
                </a:lnTo>
                <a:lnTo>
                  <a:pt x="331470" y="526923"/>
                </a:lnTo>
                <a:lnTo>
                  <a:pt x="345541" y="555396"/>
                </a:lnTo>
                <a:lnTo>
                  <a:pt x="20751" y="716280"/>
                </a:lnTo>
                <a:lnTo>
                  <a:pt x="384784" y="69519"/>
                </a:lnTo>
                <a:lnTo>
                  <a:pt x="412496" y="85090"/>
                </a:lnTo>
                <a:lnTo>
                  <a:pt x="414058" y="52197"/>
                </a:lnTo>
                <a:lnTo>
                  <a:pt x="4165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810500" y="1810511"/>
            <a:ext cx="1117600" cy="33855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810500" y="2337816"/>
            <a:ext cx="1117600" cy="337912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4" rIns="0" bIns="0" rtlCol="0">
            <a:spAutoFit/>
          </a:bodyPr>
          <a:lstStyle/>
          <a:p>
            <a:pPr marL="331470" marR="0" lvl="0" indent="0" algn="l" defTabSz="914400" rtl="0" eaLnBrk="1" fontAlgn="auto" latinLnBrk="0" hangingPunct="1">
              <a:lnSpc>
                <a:spcPct val="100000"/>
              </a:lnSpc>
              <a:spcBef>
                <a:spcPts val="2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810500" y="3512820"/>
            <a:ext cx="1117600" cy="337912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4" rIns="0" bIns="0" rtlCol="0">
            <a:spAutoFit/>
          </a:bodyPr>
          <a:lstStyle/>
          <a:p>
            <a:pPr marL="635" marR="0" lvl="0" indent="0" algn="ctr" defTabSz="914400" rtl="0" eaLnBrk="1" fontAlgn="auto" latinLnBrk="0" hangingPunct="1">
              <a:lnSpc>
                <a:spcPct val="100000"/>
              </a:lnSpc>
              <a:spcBef>
                <a:spcPts val="2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810500" y="4038601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366395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one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368160" y="2028443"/>
            <a:ext cx="441959" cy="566420"/>
          </a:xfrm>
          <a:custGeom>
            <a:avLst/>
            <a:gdLst/>
            <a:ahLst/>
            <a:cxnLst/>
            <a:rect l="l" t="t" r="r" b="b"/>
            <a:pathLst>
              <a:path w="441960" h="566419">
                <a:moveTo>
                  <a:pt x="441833" y="0"/>
                </a:moveTo>
                <a:lnTo>
                  <a:pt x="363982" y="34798"/>
                </a:lnTo>
                <a:lnTo>
                  <a:pt x="388543" y="54927"/>
                </a:lnTo>
                <a:lnTo>
                  <a:pt x="0" y="528701"/>
                </a:lnTo>
                <a:lnTo>
                  <a:pt x="4927" y="532701"/>
                </a:lnTo>
                <a:lnTo>
                  <a:pt x="5080" y="539750"/>
                </a:lnTo>
                <a:lnTo>
                  <a:pt x="365658" y="534720"/>
                </a:lnTo>
                <a:lnTo>
                  <a:pt x="366141" y="566420"/>
                </a:lnTo>
                <a:lnTo>
                  <a:pt x="441833" y="527304"/>
                </a:lnTo>
                <a:lnTo>
                  <a:pt x="430517" y="521843"/>
                </a:lnTo>
                <a:lnTo>
                  <a:pt x="364998" y="490220"/>
                </a:lnTo>
                <a:lnTo>
                  <a:pt x="365467" y="522020"/>
                </a:lnTo>
                <a:lnTo>
                  <a:pt x="17957" y="526872"/>
                </a:lnTo>
                <a:lnTo>
                  <a:pt x="398322" y="62928"/>
                </a:lnTo>
                <a:lnTo>
                  <a:pt x="422910" y="83058"/>
                </a:lnTo>
                <a:lnTo>
                  <a:pt x="431558" y="45085"/>
                </a:lnTo>
                <a:lnTo>
                  <a:pt x="4418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368287" y="3692651"/>
            <a:ext cx="441959" cy="565150"/>
          </a:xfrm>
          <a:custGeom>
            <a:avLst/>
            <a:gdLst/>
            <a:ahLst/>
            <a:cxnLst/>
            <a:rect l="l" t="t" r="r" b="b"/>
            <a:pathLst>
              <a:path w="441960" h="565150">
                <a:moveTo>
                  <a:pt x="441706" y="38100"/>
                </a:moveTo>
                <a:lnTo>
                  <a:pt x="429006" y="31750"/>
                </a:lnTo>
                <a:lnTo>
                  <a:pt x="365506" y="0"/>
                </a:lnTo>
                <a:lnTo>
                  <a:pt x="365506" y="31750"/>
                </a:lnTo>
                <a:lnTo>
                  <a:pt x="4826" y="31750"/>
                </a:lnTo>
                <a:lnTo>
                  <a:pt x="4826" y="38100"/>
                </a:lnTo>
                <a:lnTo>
                  <a:pt x="0" y="42164"/>
                </a:lnTo>
                <a:lnTo>
                  <a:pt x="388150" y="510070"/>
                </a:lnTo>
                <a:lnTo>
                  <a:pt x="363728" y="530352"/>
                </a:lnTo>
                <a:lnTo>
                  <a:pt x="441706" y="564642"/>
                </a:lnTo>
                <a:lnTo>
                  <a:pt x="431190" y="519811"/>
                </a:lnTo>
                <a:lnTo>
                  <a:pt x="422275" y="481711"/>
                </a:lnTo>
                <a:lnTo>
                  <a:pt x="397929" y="501942"/>
                </a:lnTo>
                <a:lnTo>
                  <a:pt x="18288" y="44450"/>
                </a:lnTo>
                <a:lnTo>
                  <a:pt x="365506" y="44450"/>
                </a:lnTo>
                <a:lnTo>
                  <a:pt x="365506" y="76200"/>
                </a:lnTo>
                <a:lnTo>
                  <a:pt x="429006" y="44450"/>
                </a:lnTo>
                <a:lnTo>
                  <a:pt x="441706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412223" y="2613661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270" marR="0" lvl="0" indent="0" algn="ctr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pie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412223" y="3140965"/>
            <a:ext cx="1117600" cy="337271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365125" marR="0" lvl="0" indent="0" algn="l" defTabSz="914400" rtl="0" eaLnBrk="1" fontAlgn="auto" latinLnBrk="0" hangingPunct="1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tart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412223" y="4430268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270" marR="0" lvl="0" indent="0" algn="ctr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pie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412223" y="4956048"/>
            <a:ext cx="1117600" cy="33919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365125" marR="0" lvl="0" indent="0" algn="l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tart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922005" y="2831592"/>
            <a:ext cx="490855" cy="902969"/>
          </a:xfrm>
          <a:custGeom>
            <a:avLst/>
            <a:gdLst/>
            <a:ahLst/>
            <a:cxnLst/>
            <a:rect l="l" t="t" r="r" b="b"/>
            <a:pathLst>
              <a:path w="490854" h="902970">
                <a:moveTo>
                  <a:pt x="490474" y="0"/>
                </a:moveTo>
                <a:lnTo>
                  <a:pt x="420751" y="49022"/>
                </a:lnTo>
                <a:lnTo>
                  <a:pt x="448716" y="64071"/>
                </a:lnTo>
                <a:lnTo>
                  <a:pt x="0" y="895477"/>
                </a:lnTo>
                <a:lnTo>
                  <a:pt x="6654" y="899109"/>
                </a:lnTo>
                <a:lnTo>
                  <a:pt x="9398" y="902716"/>
                </a:lnTo>
                <a:lnTo>
                  <a:pt x="10998" y="901484"/>
                </a:lnTo>
                <a:lnTo>
                  <a:pt x="11176" y="901573"/>
                </a:lnTo>
                <a:lnTo>
                  <a:pt x="11366" y="901204"/>
                </a:lnTo>
                <a:lnTo>
                  <a:pt x="433946" y="577176"/>
                </a:lnTo>
                <a:lnTo>
                  <a:pt x="453263" y="602361"/>
                </a:lnTo>
                <a:lnTo>
                  <a:pt x="474116" y="559435"/>
                </a:lnTo>
                <a:lnTo>
                  <a:pt x="490474" y="525780"/>
                </a:lnTo>
                <a:lnTo>
                  <a:pt x="406908" y="541909"/>
                </a:lnTo>
                <a:lnTo>
                  <a:pt x="426224" y="567118"/>
                </a:lnTo>
                <a:lnTo>
                  <a:pt x="25996" y="874102"/>
                </a:lnTo>
                <a:lnTo>
                  <a:pt x="459930" y="70104"/>
                </a:lnTo>
                <a:lnTo>
                  <a:pt x="487807" y="85090"/>
                </a:lnTo>
                <a:lnTo>
                  <a:pt x="488810" y="52832"/>
                </a:lnTo>
                <a:lnTo>
                  <a:pt x="49047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8922005" y="4251578"/>
            <a:ext cx="490855" cy="923290"/>
          </a:xfrm>
          <a:custGeom>
            <a:avLst/>
            <a:gdLst/>
            <a:ahLst/>
            <a:cxnLst/>
            <a:rect l="l" t="t" r="r" b="b"/>
            <a:pathLst>
              <a:path w="490854" h="923289">
                <a:moveTo>
                  <a:pt x="490474" y="396367"/>
                </a:moveTo>
                <a:lnTo>
                  <a:pt x="474548" y="361442"/>
                </a:lnTo>
                <a:lnTo>
                  <a:pt x="455168" y="318897"/>
                </a:lnTo>
                <a:lnTo>
                  <a:pt x="435254" y="343573"/>
                </a:lnTo>
                <a:lnTo>
                  <a:pt x="9525" y="0"/>
                </a:lnTo>
                <a:lnTo>
                  <a:pt x="5588" y="4953"/>
                </a:lnTo>
                <a:lnTo>
                  <a:pt x="0" y="7874"/>
                </a:lnTo>
                <a:lnTo>
                  <a:pt x="449326" y="858545"/>
                </a:lnTo>
                <a:lnTo>
                  <a:pt x="421259" y="873379"/>
                </a:lnTo>
                <a:lnTo>
                  <a:pt x="490474" y="922909"/>
                </a:lnTo>
                <a:lnTo>
                  <a:pt x="489280" y="869823"/>
                </a:lnTo>
                <a:lnTo>
                  <a:pt x="488569" y="837819"/>
                </a:lnTo>
                <a:lnTo>
                  <a:pt x="460527" y="852627"/>
                </a:lnTo>
                <a:lnTo>
                  <a:pt x="25501" y="29171"/>
                </a:lnTo>
                <a:lnTo>
                  <a:pt x="427253" y="353479"/>
                </a:lnTo>
                <a:lnTo>
                  <a:pt x="407289" y="378206"/>
                </a:lnTo>
                <a:lnTo>
                  <a:pt x="490474" y="3963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524001" y="4038601"/>
            <a:ext cx="1167765" cy="337913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31445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&lt;START&gt;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308859" y="3107436"/>
            <a:ext cx="571500" cy="337913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he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308859" y="4971289"/>
            <a:ext cx="571500" cy="337271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103158" y="3543300"/>
            <a:ext cx="491490" cy="500380"/>
          </a:xfrm>
          <a:custGeom>
            <a:avLst/>
            <a:gdLst/>
            <a:ahLst/>
            <a:cxnLst/>
            <a:rect l="l" t="t" r="r" b="b"/>
            <a:pathLst>
              <a:path w="491490" h="500379">
                <a:moveTo>
                  <a:pt x="433491" y="49928"/>
                </a:moveTo>
                <a:lnTo>
                  <a:pt x="0" y="491236"/>
                </a:lnTo>
                <a:lnTo>
                  <a:pt x="9067" y="500125"/>
                </a:lnTo>
                <a:lnTo>
                  <a:pt x="442556" y="58822"/>
                </a:lnTo>
                <a:lnTo>
                  <a:pt x="433491" y="49928"/>
                </a:lnTo>
                <a:close/>
              </a:path>
              <a:path w="491490" h="500379">
                <a:moveTo>
                  <a:pt x="478171" y="40894"/>
                </a:moveTo>
                <a:lnTo>
                  <a:pt x="442366" y="40894"/>
                </a:lnTo>
                <a:lnTo>
                  <a:pt x="451434" y="49784"/>
                </a:lnTo>
                <a:lnTo>
                  <a:pt x="442556" y="58822"/>
                </a:lnTo>
                <a:lnTo>
                  <a:pt x="465188" y="81025"/>
                </a:lnTo>
                <a:lnTo>
                  <a:pt x="478171" y="40894"/>
                </a:lnTo>
                <a:close/>
              </a:path>
              <a:path w="491490" h="500379">
                <a:moveTo>
                  <a:pt x="442366" y="40894"/>
                </a:moveTo>
                <a:lnTo>
                  <a:pt x="433491" y="49928"/>
                </a:lnTo>
                <a:lnTo>
                  <a:pt x="442556" y="58822"/>
                </a:lnTo>
                <a:lnTo>
                  <a:pt x="451434" y="49784"/>
                </a:lnTo>
                <a:lnTo>
                  <a:pt x="442366" y="40894"/>
                </a:lnTo>
                <a:close/>
              </a:path>
              <a:path w="491490" h="500379">
                <a:moveTo>
                  <a:pt x="491401" y="0"/>
                </a:moveTo>
                <a:lnTo>
                  <a:pt x="410819" y="27686"/>
                </a:lnTo>
                <a:lnTo>
                  <a:pt x="433491" y="49928"/>
                </a:lnTo>
                <a:lnTo>
                  <a:pt x="442366" y="40894"/>
                </a:lnTo>
                <a:lnTo>
                  <a:pt x="478171" y="40894"/>
                </a:lnTo>
                <a:lnTo>
                  <a:pt x="4914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2103158" y="4470020"/>
            <a:ext cx="491490" cy="501015"/>
          </a:xfrm>
          <a:custGeom>
            <a:avLst/>
            <a:gdLst/>
            <a:ahLst/>
            <a:cxnLst/>
            <a:rect l="l" t="t" r="r" b="b"/>
            <a:pathLst>
              <a:path w="491490" h="501014">
                <a:moveTo>
                  <a:pt x="433458" y="450760"/>
                </a:moveTo>
                <a:lnTo>
                  <a:pt x="410832" y="472947"/>
                </a:lnTo>
                <a:lnTo>
                  <a:pt x="491401" y="500760"/>
                </a:lnTo>
                <a:lnTo>
                  <a:pt x="478211" y="459866"/>
                </a:lnTo>
                <a:lnTo>
                  <a:pt x="442391" y="459866"/>
                </a:lnTo>
                <a:lnTo>
                  <a:pt x="433458" y="450760"/>
                </a:lnTo>
                <a:close/>
              </a:path>
              <a:path w="491490" h="501014">
                <a:moveTo>
                  <a:pt x="442525" y="441869"/>
                </a:moveTo>
                <a:lnTo>
                  <a:pt x="433458" y="450760"/>
                </a:lnTo>
                <a:lnTo>
                  <a:pt x="442391" y="459866"/>
                </a:lnTo>
                <a:lnTo>
                  <a:pt x="451459" y="450976"/>
                </a:lnTo>
                <a:lnTo>
                  <a:pt x="442525" y="441869"/>
                </a:lnTo>
                <a:close/>
              </a:path>
              <a:path w="491490" h="501014">
                <a:moveTo>
                  <a:pt x="465226" y="419607"/>
                </a:moveTo>
                <a:lnTo>
                  <a:pt x="442525" y="441869"/>
                </a:lnTo>
                <a:lnTo>
                  <a:pt x="451459" y="450976"/>
                </a:lnTo>
                <a:lnTo>
                  <a:pt x="442391" y="459866"/>
                </a:lnTo>
                <a:lnTo>
                  <a:pt x="478211" y="459866"/>
                </a:lnTo>
                <a:lnTo>
                  <a:pt x="465226" y="419607"/>
                </a:lnTo>
                <a:close/>
              </a:path>
              <a:path w="491490" h="501014">
                <a:moveTo>
                  <a:pt x="9067" y="0"/>
                </a:moveTo>
                <a:lnTo>
                  <a:pt x="0" y="8889"/>
                </a:lnTo>
                <a:lnTo>
                  <a:pt x="433458" y="450760"/>
                </a:lnTo>
                <a:lnTo>
                  <a:pt x="442525" y="441869"/>
                </a:lnTo>
                <a:lnTo>
                  <a:pt x="90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384857" y="2785617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-0.7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384857" y="5439562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-0.9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626612" y="4340479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-1.6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626612" y="5683708"/>
            <a:ext cx="3854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-1.8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626612" y="2481198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-1.7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626612" y="3800602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-2.9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081779" y="3525392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-2.5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081779" y="2184272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-2.8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081779" y="5406949"/>
            <a:ext cx="3854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-3.8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081779" y="4079494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-2.9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609716" y="4482210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-3.5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609716" y="3208146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-3.3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609716" y="1455801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-4.0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609715" y="2762200"/>
            <a:ext cx="3860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-3.4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8197723" y="3201670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-3.7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8197723" y="4484878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-4.3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8197723" y="2775330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-4.5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8197723" y="1436623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-4.8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9757410" y="2290064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-4.3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9757410" y="3586430"/>
            <a:ext cx="3854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-4.6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9757410" y="4112767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-5.0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9757410" y="5398414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-5.3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6846571" y="6083047"/>
            <a:ext cx="3683635" cy="585417"/>
          </a:xfrm>
          <a:prstGeom prst="rect">
            <a:avLst/>
          </a:prstGeom>
          <a:ln w="19811">
            <a:solidFill>
              <a:srgbClr val="BA56BD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0" marR="44450" lvl="0" indent="0" algn="ctr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For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each</a:t>
            </a:r>
            <a:r>
              <a:rPr kumimoji="0" sz="1800" b="0" i="0" u="none" strike="noStrike" kern="1200" cap="none" spc="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of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the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k</a:t>
            </a:r>
            <a:r>
              <a:rPr kumimoji="0" sz="1800" b="0" i="1" u="none" strike="noStrike" kern="1200" cap="none" spc="-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hypotheses,</a:t>
            </a: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find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top 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k</a:t>
            </a:r>
            <a:r>
              <a:rPr kumimoji="0" sz="1800" b="0" i="1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next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words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and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calculate</a:t>
            </a:r>
            <a:r>
              <a:rPr kumimoji="0" sz="1800" b="0" i="0" u="none" strike="noStrike" kern="1200" cap="none" spc="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scores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107C7D34-F24A-8606-3E22-0C32FB280349}"/>
              </a:ext>
            </a:extLst>
          </p:cNvPr>
          <p:cNvGrpSpPr/>
          <p:nvPr/>
        </p:nvGrpSpPr>
        <p:grpSpPr>
          <a:xfrm>
            <a:off x="1875934" y="646192"/>
            <a:ext cx="8356238" cy="736600"/>
            <a:chOff x="1875934" y="646192"/>
            <a:chExt cx="8356238" cy="736600"/>
          </a:xfrm>
        </p:grpSpPr>
        <p:sp>
          <p:nvSpPr>
            <p:cNvPr id="66" name="object 3">
              <a:extLst>
                <a:ext uri="{FF2B5EF4-FFF2-40B4-BE49-F238E27FC236}">
                  <a16:creationId xmlns:a16="http://schemas.microsoft.com/office/drawing/2014/main" id="{E94AEBA8-FB4F-2904-D919-2B58BD559AD0}"/>
                </a:ext>
              </a:extLst>
            </p:cNvPr>
            <p:cNvSpPr txBox="1"/>
            <p:nvPr/>
          </p:nvSpPr>
          <p:spPr>
            <a:xfrm>
              <a:off x="1875934" y="840487"/>
              <a:ext cx="3557126" cy="321242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0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Beam</a:t>
              </a:r>
              <a:r>
                <a:rPr kumimoji="0" sz="2000" b="1" i="0" u="none" strike="noStrike" kern="1200" cap="none" spc="-1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1" i="0" u="none" strike="noStrike" kern="1200" cap="none" spc="-5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size</a:t>
              </a:r>
              <a:r>
                <a:rPr kumimoji="0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=</a:t>
              </a:r>
              <a:r>
                <a:rPr kumimoji="0" sz="2000" b="1" i="0" u="none" strike="noStrike" kern="1200" cap="none" spc="-15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k</a:t>
              </a:r>
              <a:r>
                <a:rPr kumimoji="0" sz="2000" b="1" i="0" u="none" strike="noStrike" kern="1200" cap="none" spc="-1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=</a:t>
              </a:r>
              <a:r>
                <a:rPr kumimoji="0" sz="2000" b="1" i="0" u="none" strike="noStrike" kern="1200" cap="none" spc="-5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2</a:t>
              </a:r>
              <a:r>
                <a:rPr kumimoji="0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.</a:t>
              </a:r>
              <a:r>
                <a:rPr kumimoji="0" sz="2000" b="0" i="0" u="none" strike="noStrike" kern="1200" cap="none" spc="-25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285F4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Blue</a:t>
              </a:r>
              <a:r>
                <a:rPr kumimoji="0" sz="2000" b="0" i="0" u="none" strike="noStrike" kern="1200" cap="none" spc="-10" normalizeH="0" baseline="0" noProof="0" dirty="0">
                  <a:ln>
                    <a:noFill/>
                  </a:ln>
                  <a:solidFill>
                    <a:srgbClr val="4285F4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285F4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numbers</a:t>
              </a:r>
              <a:r>
                <a:rPr kumimoji="0" sz="2000" b="0" i="0" u="none" strike="noStrike" kern="1200" cap="none" spc="-5" normalizeH="0" baseline="0" noProof="0" dirty="0">
                  <a:ln>
                    <a:noFill/>
                  </a:ln>
                  <a:solidFill>
                    <a:srgbClr val="4285F4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285F4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=</a:t>
              </a:r>
              <a:endPara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endParaRPr>
            </a:p>
          </p:txBody>
        </p:sp>
        <p:pic>
          <p:nvPicPr>
            <p:cNvPr id="67" name="object 50">
              <a:extLst>
                <a:ext uri="{FF2B5EF4-FFF2-40B4-BE49-F238E27FC236}">
                  <a16:creationId xmlns:a16="http://schemas.microsoft.com/office/drawing/2014/main" id="{BCE8050C-5134-CDD2-0B5C-D1CC7FD8D24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5822" y="646192"/>
              <a:ext cx="4816350" cy="7366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273551" y="2842260"/>
            <a:ext cx="1117600" cy="337912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4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hit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73551" y="3368040"/>
            <a:ext cx="1117600" cy="33855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247015" marR="0" lvl="0" indent="0" algn="l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struck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73551" y="4698491"/>
            <a:ext cx="1117600" cy="33855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352425" marR="0" lvl="0" indent="0" algn="l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was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73551" y="5224272"/>
            <a:ext cx="1117600" cy="33919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got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876804" y="3060192"/>
            <a:ext cx="397510" cy="526415"/>
          </a:xfrm>
          <a:custGeom>
            <a:avLst/>
            <a:gdLst/>
            <a:ahLst/>
            <a:cxnLst/>
            <a:rect l="l" t="t" r="r" b="b"/>
            <a:pathLst>
              <a:path w="397510" h="526414">
                <a:moveTo>
                  <a:pt x="397383" y="0"/>
                </a:moveTo>
                <a:lnTo>
                  <a:pt x="312801" y="11049"/>
                </a:lnTo>
                <a:lnTo>
                  <a:pt x="330568" y="37338"/>
                </a:lnTo>
                <a:lnTo>
                  <a:pt x="0" y="260223"/>
                </a:lnTo>
                <a:lnTo>
                  <a:pt x="3441" y="265341"/>
                </a:lnTo>
                <a:lnTo>
                  <a:pt x="0" y="270510"/>
                </a:lnTo>
                <a:lnTo>
                  <a:pt x="330288" y="489445"/>
                </a:lnTo>
                <a:lnTo>
                  <a:pt x="312801" y="515874"/>
                </a:lnTo>
                <a:lnTo>
                  <a:pt x="397383" y="526161"/>
                </a:lnTo>
                <a:lnTo>
                  <a:pt x="380238" y="496443"/>
                </a:lnTo>
                <a:lnTo>
                  <a:pt x="354838" y="452374"/>
                </a:lnTo>
                <a:lnTo>
                  <a:pt x="337337" y="478815"/>
                </a:lnTo>
                <a:lnTo>
                  <a:pt x="15278" y="265264"/>
                </a:lnTo>
                <a:lnTo>
                  <a:pt x="337693" y="47879"/>
                </a:lnTo>
                <a:lnTo>
                  <a:pt x="355473" y="74168"/>
                </a:lnTo>
                <a:lnTo>
                  <a:pt x="380301" y="30226"/>
                </a:lnTo>
                <a:lnTo>
                  <a:pt x="3973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876804" y="4916423"/>
            <a:ext cx="397510" cy="527050"/>
          </a:xfrm>
          <a:custGeom>
            <a:avLst/>
            <a:gdLst/>
            <a:ahLst/>
            <a:cxnLst/>
            <a:rect l="l" t="t" r="r" b="b"/>
            <a:pathLst>
              <a:path w="397510" h="527050">
                <a:moveTo>
                  <a:pt x="397383" y="0"/>
                </a:moveTo>
                <a:lnTo>
                  <a:pt x="312928" y="11938"/>
                </a:lnTo>
                <a:lnTo>
                  <a:pt x="331038" y="38100"/>
                </a:lnTo>
                <a:lnTo>
                  <a:pt x="0" y="267081"/>
                </a:lnTo>
                <a:lnTo>
                  <a:pt x="3721" y="272542"/>
                </a:lnTo>
                <a:lnTo>
                  <a:pt x="127" y="278142"/>
                </a:lnTo>
                <a:lnTo>
                  <a:pt x="329869" y="491121"/>
                </a:lnTo>
                <a:lnTo>
                  <a:pt x="312674" y="517779"/>
                </a:lnTo>
                <a:lnTo>
                  <a:pt x="397383" y="527050"/>
                </a:lnTo>
                <a:lnTo>
                  <a:pt x="380136" y="497967"/>
                </a:lnTo>
                <a:lnTo>
                  <a:pt x="353949" y="453771"/>
                </a:lnTo>
                <a:lnTo>
                  <a:pt x="336778" y="480402"/>
                </a:lnTo>
                <a:lnTo>
                  <a:pt x="14541" y="272351"/>
                </a:lnTo>
                <a:lnTo>
                  <a:pt x="338251" y="48526"/>
                </a:lnTo>
                <a:lnTo>
                  <a:pt x="356362" y="74676"/>
                </a:lnTo>
                <a:lnTo>
                  <a:pt x="380428" y="30861"/>
                </a:lnTo>
                <a:lnTo>
                  <a:pt x="3973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28972" y="2546604"/>
            <a:ext cx="1117600" cy="33855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28972" y="3073908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28972" y="4430268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hit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28972" y="4956048"/>
            <a:ext cx="1117600" cy="33919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247015" marR="0" lvl="0" indent="0" algn="l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struck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386454" y="2764536"/>
            <a:ext cx="342265" cy="527685"/>
          </a:xfrm>
          <a:custGeom>
            <a:avLst/>
            <a:gdLst/>
            <a:ahLst/>
            <a:cxnLst/>
            <a:rect l="l" t="t" r="r" b="b"/>
            <a:pathLst>
              <a:path w="342264" h="527685">
                <a:moveTo>
                  <a:pt x="342265" y="0"/>
                </a:moveTo>
                <a:lnTo>
                  <a:pt x="259842" y="21336"/>
                </a:lnTo>
                <a:lnTo>
                  <a:pt x="280670" y="45250"/>
                </a:lnTo>
                <a:lnTo>
                  <a:pt x="0" y="289687"/>
                </a:lnTo>
                <a:lnTo>
                  <a:pt x="4622" y="295021"/>
                </a:lnTo>
                <a:lnTo>
                  <a:pt x="635" y="300863"/>
                </a:lnTo>
                <a:lnTo>
                  <a:pt x="275856" y="489826"/>
                </a:lnTo>
                <a:lnTo>
                  <a:pt x="257937" y="516001"/>
                </a:lnTo>
                <a:lnTo>
                  <a:pt x="342265" y="527685"/>
                </a:lnTo>
                <a:lnTo>
                  <a:pt x="325247" y="496951"/>
                </a:lnTo>
                <a:lnTo>
                  <a:pt x="300990" y="453136"/>
                </a:lnTo>
                <a:lnTo>
                  <a:pt x="283032" y="479361"/>
                </a:lnTo>
                <a:lnTo>
                  <a:pt x="13804" y="294614"/>
                </a:lnTo>
                <a:lnTo>
                  <a:pt x="289013" y="54813"/>
                </a:lnTo>
                <a:lnTo>
                  <a:pt x="309880" y="78740"/>
                </a:lnTo>
                <a:lnTo>
                  <a:pt x="327063" y="36957"/>
                </a:lnTo>
                <a:lnTo>
                  <a:pt x="3422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386708" y="4648200"/>
            <a:ext cx="342265" cy="527050"/>
          </a:xfrm>
          <a:custGeom>
            <a:avLst/>
            <a:gdLst/>
            <a:ahLst/>
            <a:cxnLst/>
            <a:rect l="l" t="t" r="r" b="b"/>
            <a:pathLst>
              <a:path w="342264" h="527050">
                <a:moveTo>
                  <a:pt x="342011" y="0"/>
                </a:moveTo>
                <a:lnTo>
                  <a:pt x="258572" y="17526"/>
                </a:lnTo>
                <a:lnTo>
                  <a:pt x="278333" y="42443"/>
                </a:lnTo>
                <a:lnTo>
                  <a:pt x="0" y="263271"/>
                </a:lnTo>
                <a:lnTo>
                  <a:pt x="3937" y="268224"/>
                </a:lnTo>
                <a:lnTo>
                  <a:pt x="127" y="273304"/>
                </a:lnTo>
                <a:lnTo>
                  <a:pt x="277596" y="485330"/>
                </a:lnTo>
                <a:lnTo>
                  <a:pt x="258318" y="510540"/>
                </a:lnTo>
                <a:lnTo>
                  <a:pt x="342011" y="526542"/>
                </a:lnTo>
                <a:lnTo>
                  <a:pt x="325577" y="493014"/>
                </a:lnTo>
                <a:lnTo>
                  <a:pt x="304546" y="450088"/>
                </a:lnTo>
                <a:lnTo>
                  <a:pt x="285292" y="475259"/>
                </a:lnTo>
                <a:lnTo>
                  <a:pt x="14249" y="268122"/>
                </a:lnTo>
                <a:lnTo>
                  <a:pt x="286207" y="52349"/>
                </a:lnTo>
                <a:lnTo>
                  <a:pt x="305943" y="77216"/>
                </a:lnTo>
                <a:lnTo>
                  <a:pt x="325869" y="34544"/>
                </a:lnTo>
                <a:lnTo>
                  <a:pt x="3420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256020" y="1816608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365125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tart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56020" y="2343912"/>
            <a:ext cx="1117600" cy="337271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1270" marR="0" lvl="0" indent="0" algn="ctr" defTabSz="914400" rtl="0" eaLnBrk="1" fontAlgn="auto" latinLnBrk="0" hangingPunct="1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pie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256020" y="3512820"/>
            <a:ext cx="1117600" cy="337912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4" rIns="0" bIns="0" rtlCol="0">
            <a:spAutoFit/>
          </a:bodyPr>
          <a:lstStyle/>
          <a:p>
            <a:pPr marL="332105" marR="0" lvl="0" indent="0" algn="l" defTabSz="914400" rtl="0" eaLnBrk="1" fontAlgn="auto" latinLnBrk="0" hangingPunct="1">
              <a:lnSpc>
                <a:spcPct val="100000"/>
              </a:lnSpc>
              <a:spcBef>
                <a:spcPts val="2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256020" y="4038601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270" marR="0" lvl="0" indent="0" algn="ctr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840223" y="3287521"/>
            <a:ext cx="422275" cy="969644"/>
          </a:xfrm>
          <a:custGeom>
            <a:avLst/>
            <a:gdLst/>
            <a:ahLst/>
            <a:cxnLst/>
            <a:rect l="l" t="t" r="r" b="b"/>
            <a:pathLst>
              <a:path w="422275" h="969645">
                <a:moveTo>
                  <a:pt x="422021" y="884174"/>
                </a:moveTo>
                <a:lnTo>
                  <a:pt x="392785" y="896620"/>
                </a:lnTo>
                <a:lnTo>
                  <a:pt x="25704" y="34709"/>
                </a:lnTo>
                <a:lnTo>
                  <a:pt x="360121" y="391426"/>
                </a:lnTo>
                <a:lnTo>
                  <a:pt x="336931" y="413131"/>
                </a:lnTo>
                <a:lnTo>
                  <a:pt x="416814" y="442722"/>
                </a:lnTo>
                <a:lnTo>
                  <a:pt x="404317" y="400685"/>
                </a:lnTo>
                <a:lnTo>
                  <a:pt x="392557" y="361061"/>
                </a:lnTo>
                <a:lnTo>
                  <a:pt x="369366" y="382765"/>
                </a:lnTo>
                <a:lnTo>
                  <a:pt x="10414" y="0"/>
                </a:lnTo>
                <a:lnTo>
                  <a:pt x="5842" y="4318"/>
                </a:lnTo>
                <a:lnTo>
                  <a:pt x="0" y="6858"/>
                </a:lnTo>
                <a:lnTo>
                  <a:pt x="381101" y="901598"/>
                </a:lnTo>
                <a:lnTo>
                  <a:pt x="351917" y="914019"/>
                </a:lnTo>
                <a:lnTo>
                  <a:pt x="416814" y="969137"/>
                </a:lnTo>
                <a:lnTo>
                  <a:pt x="420230" y="913257"/>
                </a:lnTo>
                <a:lnTo>
                  <a:pt x="422021" y="8841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840477" y="2034539"/>
            <a:ext cx="416559" cy="736600"/>
          </a:xfrm>
          <a:custGeom>
            <a:avLst/>
            <a:gdLst/>
            <a:ahLst/>
            <a:cxnLst/>
            <a:rect l="l" t="t" r="r" b="b"/>
            <a:pathLst>
              <a:path w="416560" h="736600">
                <a:moveTo>
                  <a:pt x="416560" y="0"/>
                </a:moveTo>
                <a:lnTo>
                  <a:pt x="346075" y="47752"/>
                </a:lnTo>
                <a:lnTo>
                  <a:pt x="373722" y="63309"/>
                </a:lnTo>
                <a:lnTo>
                  <a:pt x="0" y="726948"/>
                </a:lnTo>
                <a:lnTo>
                  <a:pt x="5067" y="729830"/>
                </a:lnTo>
                <a:lnTo>
                  <a:pt x="8382" y="736600"/>
                </a:lnTo>
                <a:lnTo>
                  <a:pt x="351205" y="566851"/>
                </a:lnTo>
                <a:lnTo>
                  <a:pt x="365252" y="595249"/>
                </a:lnTo>
                <a:lnTo>
                  <a:pt x="399580" y="549783"/>
                </a:lnTo>
                <a:lnTo>
                  <a:pt x="416560" y="527304"/>
                </a:lnTo>
                <a:lnTo>
                  <a:pt x="331470" y="526923"/>
                </a:lnTo>
                <a:lnTo>
                  <a:pt x="345541" y="555396"/>
                </a:lnTo>
                <a:lnTo>
                  <a:pt x="20751" y="716280"/>
                </a:lnTo>
                <a:lnTo>
                  <a:pt x="384784" y="69519"/>
                </a:lnTo>
                <a:lnTo>
                  <a:pt x="412496" y="85090"/>
                </a:lnTo>
                <a:lnTo>
                  <a:pt x="414058" y="52197"/>
                </a:lnTo>
                <a:lnTo>
                  <a:pt x="4165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810500" y="1810511"/>
            <a:ext cx="1117600" cy="33855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810500" y="2337816"/>
            <a:ext cx="1117600" cy="337912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4" rIns="0" bIns="0" rtlCol="0">
            <a:spAutoFit/>
          </a:bodyPr>
          <a:lstStyle/>
          <a:p>
            <a:pPr marL="331470" marR="0" lvl="0" indent="0" algn="l" defTabSz="914400" rtl="0" eaLnBrk="1" fontAlgn="auto" latinLnBrk="0" hangingPunct="1">
              <a:lnSpc>
                <a:spcPct val="100000"/>
              </a:lnSpc>
              <a:spcBef>
                <a:spcPts val="2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810500" y="3512820"/>
            <a:ext cx="1117600" cy="337912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4" rIns="0" bIns="0" rtlCol="0">
            <a:spAutoFit/>
          </a:bodyPr>
          <a:lstStyle/>
          <a:p>
            <a:pPr marL="635" marR="0" lvl="0" indent="0" algn="ctr" defTabSz="914400" rtl="0" eaLnBrk="1" fontAlgn="auto" latinLnBrk="0" hangingPunct="1">
              <a:lnSpc>
                <a:spcPct val="100000"/>
              </a:lnSpc>
              <a:spcBef>
                <a:spcPts val="2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810500" y="4038601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366395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one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368160" y="2028443"/>
            <a:ext cx="441959" cy="566420"/>
          </a:xfrm>
          <a:custGeom>
            <a:avLst/>
            <a:gdLst/>
            <a:ahLst/>
            <a:cxnLst/>
            <a:rect l="l" t="t" r="r" b="b"/>
            <a:pathLst>
              <a:path w="441960" h="566419">
                <a:moveTo>
                  <a:pt x="441833" y="0"/>
                </a:moveTo>
                <a:lnTo>
                  <a:pt x="363982" y="34798"/>
                </a:lnTo>
                <a:lnTo>
                  <a:pt x="388543" y="54927"/>
                </a:lnTo>
                <a:lnTo>
                  <a:pt x="0" y="528701"/>
                </a:lnTo>
                <a:lnTo>
                  <a:pt x="4927" y="532701"/>
                </a:lnTo>
                <a:lnTo>
                  <a:pt x="5080" y="539750"/>
                </a:lnTo>
                <a:lnTo>
                  <a:pt x="365658" y="534720"/>
                </a:lnTo>
                <a:lnTo>
                  <a:pt x="366141" y="566420"/>
                </a:lnTo>
                <a:lnTo>
                  <a:pt x="441833" y="527304"/>
                </a:lnTo>
                <a:lnTo>
                  <a:pt x="430517" y="521843"/>
                </a:lnTo>
                <a:lnTo>
                  <a:pt x="364998" y="490220"/>
                </a:lnTo>
                <a:lnTo>
                  <a:pt x="365467" y="522020"/>
                </a:lnTo>
                <a:lnTo>
                  <a:pt x="17957" y="526872"/>
                </a:lnTo>
                <a:lnTo>
                  <a:pt x="398322" y="62928"/>
                </a:lnTo>
                <a:lnTo>
                  <a:pt x="422910" y="83058"/>
                </a:lnTo>
                <a:lnTo>
                  <a:pt x="431558" y="45085"/>
                </a:lnTo>
                <a:lnTo>
                  <a:pt x="4418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368287" y="3692651"/>
            <a:ext cx="441959" cy="565150"/>
          </a:xfrm>
          <a:custGeom>
            <a:avLst/>
            <a:gdLst/>
            <a:ahLst/>
            <a:cxnLst/>
            <a:rect l="l" t="t" r="r" b="b"/>
            <a:pathLst>
              <a:path w="441960" h="565150">
                <a:moveTo>
                  <a:pt x="441706" y="38100"/>
                </a:moveTo>
                <a:lnTo>
                  <a:pt x="429006" y="31750"/>
                </a:lnTo>
                <a:lnTo>
                  <a:pt x="365506" y="0"/>
                </a:lnTo>
                <a:lnTo>
                  <a:pt x="365506" y="31750"/>
                </a:lnTo>
                <a:lnTo>
                  <a:pt x="4826" y="31750"/>
                </a:lnTo>
                <a:lnTo>
                  <a:pt x="4826" y="38100"/>
                </a:lnTo>
                <a:lnTo>
                  <a:pt x="0" y="42164"/>
                </a:lnTo>
                <a:lnTo>
                  <a:pt x="388150" y="510070"/>
                </a:lnTo>
                <a:lnTo>
                  <a:pt x="363728" y="530352"/>
                </a:lnTo>
                <a:lnTo>
                  <a:pt x="441706" y="564642"/>
                </a:lnTo>
                <a:lnTo>
                  <a:pt x="431190" y="519811"/>
                </a:lnTo>
                <a:lnTo>
                  <a:pt x="422275" y="481711"/>
                </a:lnTo>
                <a:lnTo>
                  <a:pt x="397929" y="501942"/>
                </a:lnTo>
                <a:lnTo>
                  <a:pt x="18288" y="44450"/>
                </a:lnTo>
                <a:lnTo>
                  <a:pt x="365506" y="44450"/>
                </a:lnTo>
                <a:lnTo>
                  <a:pt x="365506" y="76200"/>
                </a:lnTo>
                <a:lnTo>
                  <a:pt x="429006" y="44450"/>
                </a:lnTo>
                <a:lnTo>
                  <a:pt x="441706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412223" y="2613661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270" marR="0" lvl="0" indent="0" algn="ctr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pie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412223" y="3140965"/>
            <a:ext cx="1117600" cy="337271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365125" marR="0" lvl="0" indent="0" algn="l" defTabSz="914400" rtl="0" eaLnBrk="1" fontAlgn="auto" latinLnBrk="0" hangingPunct="1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tart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412223" y="4430268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270" marR="0" lvl="0" indent="0" algn="ctr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pie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412223" y="4956048"/>
            <a:ext cx="1117600" cy="33919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365125" marR="0" lvl="0" indent="0" algn="l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tart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922005" y="2831592"/>
            <a:ext cx="490855" cy="902969"/>
          </a:xfrm>
          <a:custGeom>
            <a:avLst/>
            <a:gdLst/>
            <a:ahLst/>
            <a:cxnLst/>
            <a:rect l="l" t="t" r="r" b="b"/>
            <a:pathLst>
              <a:path w="490854" h="902970">
                <a:moveTo>
                  <a:pt x="490474" y="0"/>
                </a:moveTo>
                <a:lnTo>
                  <a:pt x="420751" y="49022"/>
                </a:lnTo>
                <a:lnTo>
                  <a:pt x="448716" y="64071"/>
                </a:lnTo>
                <a:lnTo>
                  <a:pt x="0" y="895477"/>
                </a:lnTo>
                <a:lnTo>
                  <a:pt x="6654" y="899109"/>
                </a:lnTo>
                <a:lnTo>
                  <a:pt x="9398" y="902716"/>
                </a:lnTo>
                <a:lnTo>
                  <a:pt x="10998" y="901484"/>
                </a:lnTo>
                <a:lnTo>
                  <a:pt x="11176" y="901573"/>
                </a:lnTo>
                <a:lnTo>
                  <a:pt x="11366" y="901204"/>
                </a:lnTo>
                <a:lnTo>
                  <a:pt x="433946" y="577176"/>
                </a:lnTo>
                <a:lnTo>
                  <a:pt x="453263" y="602361"/>
                </a:lnTo>
                <a:lnTo>
                  <a:pt x="474116" y="559435"/>
                </a:lnTo>
                <a:lnTo>
                  <a:pt x="490474" y="525780"/>
                </a:lnTo>
                <a:lnTo>
                  <a:pt x="406908" y="541909"/>
                </a:lnTo>
                <a:lnTo>
                  <a:pt x="426224" y="567118"/>
                </a:lnTo>
                <a:lnTo>
                  <a:pt x="25996" y="874102"/>
                </a:lnTo>
                <a:lnTo>
                  <a:pt x="459930" y="70104"/>
                </a:lnTo>
                <a:lnTo>
                  <a:pt x="487807" y="85090"/>
                </a:lnTo>
                <a:lnTo>
                  <a:pt x="488810" y="52832"/>
                </a:lnTo>
                <a:lnTo>
                  <a:pt x="49047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8922005" y="4251578"/>
            <a:ext cx="490855" cy="923290"/>
          </a:xfrm>
          <a:custGeom>
            <a:avLst/>
            <a:gdLst/>
            <a:ahLst/>
            <a:cxnLst/>
            <a:rect l="l" t="t" r="r" b="b"/>
            <a:pathLst>
              <a:path w="490854" h="923289">
                <a:moveTo>
                  <a:pt x="490474" y="396367"/>
                </a:moveTo>
                <a:lnTo>
                  <a:pt x="474548" y="361442"/>
                </a:lnTo>
                <a:lnTo>
                  <a:pt x="455168" y="318897"/>
                </a:lnTo>
                <a:lnTo>
                  <a:pt x="435254" y="343573"/>
                </a:lnTo>
                <a:lnTo>
                  <a:pt x="9525" y="0"/>
                </a:lnTo>
                <a:lnTo>
                  <a:pt x="5588" y="4953"/>
                </a:lnTo>
                <a:lnTo>
                  <a:pt x="0" y="7874"/>
                </a:lnTo>
                <a:lnTo>
                  <a:pt x="449326" y="858545"/>
                </a:lnTo>
                <a:lnTo>
                  <a:pt x="421259" y="873379"/>
                </a:lnTo>
                <a:lnTo>
                  <a:pt x="490474" y="922909"/>
                </a:lnTo>
                <a:lnTo>
                  <a:pt x="489280" y="869823"/>
                </a:lnTo>
                <a:lnTo>
                  <a:pt x="488569" y="837819"/>
                </a:lnTo>
                <a:lnTo>
                  <a:pt x="460527" y="852627"/>
                </a:lnTo>
                <a:lnTo>
                  <a:pt x="25501" y="29171"/>
                </a:lnTo>
                <a:lnTo>
                  <a:pt x="427253" y="353479"/>
                </a:lnTo>
                <a:lnTo>
                  <a:pt x="407289" y="378206"/>
                </a:lnTo>
                <a:lnTo>
                  <a:pt x="490474" y="3963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524001" y="4038601"/>
            <a:ext cx="1167765" cy="337913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31445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&lt;START&gt;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308859" y="3107436"/>
            <a:ext cx="571500" cy="337913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he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308859" y="4971289"/>
            <a:ext cx="571500" cy="337271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103158" y="3543300"/>
            <a:ext cx="491490" cy="500380"/>
          </a:xfrm>
          <a:custGeom>
            <a:avLst/>
            <a:gdLst/>
            <a:ahLst/>
            <a:cxnLst/>
            <a:rect l="l" t="t" r="r" b="b"/>
            <a:pathLst>
              <a:path w="491490" h="500379">
                <a:moveTo>
                  <a:pt x="433491" y="49928"/>
                </a:moveTo>
                <a:lnTo>
                  <a:pt x="0" y="491236"/>
                </a:lnTo>
                <a:lnTo>
                  <a:pt x="9067" y="500125"/>
                </a:lnTo>
                <a:lnTo>
                  <a:pt x="442556" y="58822"/>
                </a:lnTo>
                <a:lnTo>
                  <a:pt x="433491" y="49928"/>
                </a:lnTo>
                <a:close/>
              </a:path>
              <a:path w="491490" h="500379">
                <a:moveTo>
                  <a:pt x="478171" y="40894"/>
                </a:moveTo>
                <a:lnTo>
                  <a:pt x="442366" y="40894"/>
                </a:lnTo>
                <a:lnTo>
                  <a:pt x="451434" y="49784"/>
                </a:lnTo>
                <a:lnTo>
                  <a:pt x="442556" y="58822"/>
                </a:lnTo>
                <a:lnTo>
                  <a:pt x="465188" y="81025"/>
                </a:lnTo>
                <a:lnTo>
                  <a:pt x="478171" y="40894"/>
                </a:lnTo>
                <a:close/>
              </a:path>
              <a:path w="491490" h="500379">
                <a:moveTo>
                  <a:pt x="442366" y="40894"/>
                </a:moveTo>
                <a:lnTo>
                  <a:pt x="433491" y="49928"/>
                </a:lnTo>
                <a:lnTo>
                  <a:pt x="442556" y="58822"/>
                </a:lnTo>
                <a:lnTo>
                  <a:pt x="451434" y="49784"/>
                </a:lnTo>
                <a:lnTo>
                  <a:pt x="442366" y="40894"/>
                </a:lnTo>
                <a:close/>
              </a:path>
              <a:path w="491490" h="500379">
                <a:moveTo>
                  <a:pt x="491401" y="0"/>
                </a:moveTo>
                <a:lnTo>
                  <a:pt x="410819" y="27686"/>
                </a:lnTo>
                <a:lnTo>
                  <a:pt x="433491" y="49928"/>
                </a:lnTo>
                <a:lnTo>
                  <a:pt x="442366" y="40894"/>
                </a:lnTo>
                <a:lnTo>
                  <a:pt x="478171" y="40894"/>
                </a:lnTo>
                <a:lnTo>
                  <a:pt x="4914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2103158" y="4470020"/>
            <a:ext cx="491490" cy="501015"/>
          </a:xfrm>
          <a:custGeom>
            <a:avLst/>
            <a:gdLst/>
            <a:ahLst/>
            <a:cxnLst/>
            <a:rect l="l" t="t" r="r" b="b"/>
            <a:pathLst>
              <a:path w="491490" h="501014">
                <a:moveTo>
                  <a:pt x="433458" y="450760"/>
                </a:moveTo>
                <a:lnTo>
                  <a:pt x="410832" y="472947"/>
                </a:lnTo>
                <a:lnTo>
                  <a:pt x="491401" y="500760"/>
                </a:lnTo>
                <a:lnTo>
                  <a:pt x="478211" y="459866"/>
                </a:lnTo>
                <a:lnTo>
                  <a:pt x="442391" y="459866"/>
                </a:lnTo>
                <a:lnTo>
                  <a:pt x="433458" y="450760"/>
                </a:lnTo>
                <a:close/>
              </a:path>
              <a:path w="491490" h="501014">
                <a:moveTo>
                  <a:pt x="442525" y="441869"/>
                </a:moveTo>
                <a:lnTo>
                  <a:pt x="433458" y="450760"/>
                </a:lnTo>
                <a:lnTo>
                  <a:pt x="442391" y="459866"/>
                </a:lnTo>
                <a:lnTo>
                  <a:pt x="451459" y="450976"/>
                </a:lnTo>
                <a:lnTo>
                  <a:pt x="442525" y="441869"/>
                </a:lnTo>
                <a:close/>
              </a:path>
              <a:path w="491490" h="501014">
                <a:moveTo>
                  <a:pt x="465226" y="419607"/>
                </a:moveTo>
                <a:lnTo>
                  <a:pt x="442525" y="441869"/>
                </a:lnTo>
                <a:lnTo>
                  <a:pt x="451459" y="450976"/>
                </a:lnTo>
                <a:lnTo>
                  <a:pt x="442391" y="459866"/>
                </a:lnTo>
                <a:lnTo>
                  <a:pt x="478211" y="459866"/>
                </a:lnTo>
                <a:lnTo>
                  <a:pt x="465226" y="419607"/>
                </a:lnTo>
                <a:close/>
              </a:path>
              <a:path w="491490" h="501014">
                <a:moveTo>
                  <a:pt x="9067" y="0"/>
                </a:moveTo>
                <a:lnTo>
                  <a:pt x="0" y="8889"/>
                </a:lnTo>
                <a:lnTo>
                  <a:pt x="433458" y="450760"/>
                </a:lnTo>
                <a:lnTo>
                  <a:pt x="442525" y="441869"/>
                </a:lnTo>
                <a:lnTo>
                  <a:pt x="90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384857" y="2785617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-0.7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384857" y="5439562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-0.9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626612" y="4340479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-1.6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626612" y="5683708"/>
            <a:ext cx="3854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-1.8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626612" y="2481198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-1.7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626612" y="3800602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-2.9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081779" y="3525392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-2.5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081779" y="2184272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-2.8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081779" y="5406949"/>
            <a:ext cx="3854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-3.8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081779" y="4079494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-2.9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609716" y="4482210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-3.5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609716" y="3208146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-3.3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609716" y="1455801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-4.0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609715" y="2762200"/>
            <a:ext cx="3860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-3.4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8197723" y="3201670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-3.7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8197723" y="4484878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-4.3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8197723" y="2775330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-4.5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8197723" y="1436623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-4.8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9757410" y="2290064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-4.3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9757410" y="3586430"/>
            <a:ext cx="3854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-4.6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9757410" y="4112767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-5.0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9757410" y="5398414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-5.3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7169658" y="6294882"/>
            <a:ext cx="3360420" cy="308418"/>
          </a:xfrm>
          <a:prstGeom prst="rect">
            <a:avLst/>
          </a:prstGeom>
          <a:ln w="19811">
            <a:solidFill>
              <a:srgbClr val="BA56BD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97790" marR="0" lvl="0" indent="0" algn="l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This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is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the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top-scoring hypothesis!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A14DEAE5-FFA2-BEE6-AD97-CFB2403D6B0C}"/>
              </a:ext>
            </a:extLst>
          </p:cNvPr>
          <p:cNvGrpSpPr/>
          <p:nvPr/>
        </p:nvGrpSpPr>
        <p:grpSpPr>
          <a:xfrm>
            <a:off x="1875934" y="646192"/>
            <a:ext cx="8356238" cy="736600"/>
            <a:chOff x="1875934" y="646192"/>
            <a:chExt cx="8356238" cy="736600"/>
          </a:xfrm>
        </p:grpSpPr>
        <p:sp>
          <p:nvSpPr>
            <p:cNvPr id="66" name="object 3">
              <a:extLst>
                <a:ext uri="{FF2B5EF4-FFF2-40B4-BE49-F238E27FC236}">
                  <a16:creationId xmlns:a16="http://schemas.microsoft.com/office/drawing/2014/main" id="{51442787-5B5A-B9C1-26EA-BAE9A6256D0C}"/>
                </a:ext>
              </a:extLst>
            </p:cNvPr>
            <p:cNvSpPr txBox="1"/>
            <p:nvPr/>
          </p:nvSpPr>
          <p:spPr>
            <a:xfrm>
              <a:off x="1875934" y="840487"/>
              <a:ext cx="3557126" cy="321242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0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Beam</a:t>
              </a:r>
              <a:r>
                <a:rPr kumimoji="0" sz="2000" b="1" i="0" u="none" strike="noStrike" kern="1200" cap="none" spc="-1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1" i="0" u="none" strike="noStrike" kern="1200" cap="none" spc="-5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size</a:t>
              </a:r>
              <a:r>
                <a:rPr kumimoji="0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=</a:t>
              </a:r>
              <a:r>
                <a:rPr kumimoji="0" sz="2000" b="1" i="0" u="none" strike="noStrike" kern="1200" cap="none" spc="-15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k</a:t>
              </a:r>
              <a:r>
                <a:rPr kumimoji="0" sz="2000" b="1" i="0" u="none" strike="noStrike" kern="1200" cap="none" spc="-1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=</a:t>
              </a:r>
              <a:r>
                <a:rPr kumimoji="0" sz="2000" b="1" i="0" u="none" strike="noStrike" kern="1200" cap="none" spc="-5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2</a:t>
              </a:r>
              <a:r>
                <a:rPr kumimoji="0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.</a:t>
              </a:r>
              <a:r>
                <a:rPr kumimoji="0" sz="2000" b="0" i="0" u="none" strike="noStrike" kern="1200" cap="none" spc="-25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285F4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Blue</a:t>
              </a:r>
              <a:r>
                <a:rPr kumimoji="0" sz="2000" b="0" i="0" u="none" strike="noStrike" kern="1200" cap="none" spc="-10" normalizeH="0" baseline="0" noProof="0" dirty="0">
                  <a:ln>
                    <a:noFill/>
                  </a:ln>
                  <a:solidFill>
                    <a:srgbClr val="4285F4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285F4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numbers</a:t>
              </a:r>
              <a:r>
                <a:rPr kumimoji="0" sz="2000" b="0" i="0" u="none" strike="noStrike" kern="1200" cap="none" spc="-5" normalizeH="0" baseline="0" noProof="0" dirty="0">
                  <a:ln>
                    <a:noFill/>
                  </a:ln>
                  <a:solidFill>
                    <a:srgbClr val="4285F4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285F4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=</a:t>
              </a:r>
              <a:endPara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endParaRPr>
            </a:p>
          </p:txBody>
        </p:sp>
        <p:pic>
          <p:nvPicPr>
            <p:cNvPr id="67" name="object 50">
              <a:extLst>
                <a:ext uri="{FF2B5EF4-FFF2-40B4-BE49-F238E27FC236}">
                  <a16:creationId xmlns:a16="http://schemas.microsoft.com/office/drawing/2014/main" id="{967A86D7-3195-5301-6C4A-B265349E2B6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5822" y="646192"/>
              <a:ext cx="4816350" cy="7366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273551" y="2842260"/>
            <a:ext cx="1117600" cy="337912"/>
          </a:xfrm>
          <a:prstGeom prst="rect">
            <a:avLst/>
          </a:prstGeom>
          <a:ln w="9144">
            <a:solidFill>
              <a:srgbClr val="00AF50"/>
            </a:solidFill>
          </a:ln>
        </p:spPr>
        <p:txBody>
          <a:bodyPr vert="horz" wrap="square" lIns="0" tIns="29844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hit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73551" y="3368040"/>
            <a:ext cx="1117600" cy="33855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247015" marR="0" lvl="0" indent="0" algn="l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struck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73551" y="4698491"/>
            <a:ext cx="1117600" cy="33855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352425" marR="0" lvl="0" indent="0" algn="l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was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73551" y="5224272"/>
            <a:ext cx="1117600" cy="33919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got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876804" y="3060192"/>
            <a:ext cx="397510" cy="526415"/>
          </a:xfrm>
          <a:custGeom>
            <a:avLst/>
            <a:gdLst/>
            <a:ahLst/>
            <a:cxnLst/>
            <a:rect l="l" t="t" r="r" b="b"/>
            <a:pathLst>
              <a:path w="397510" h="526414">
                <a:moveTo>
                  <a:pt x="397383" y="0"/>
                </a:moveTo>
                <a:lnTo>
                  <a:pt x="312801" y="11049"/>
                </a:lnTo>
                <a:lnTo>
                  <a:pt x="330568" y="37338"/>
                </a:lnTo>
                <a:lnTo>
                  <a:pt x="0" y="260223"/>
                </a:lnTo>
                <a:lnTo>
                  <a:pt x="3441" y="265341"/>
                </a:lnTo>
                <a:lnTo>
                  <a:pt x="0" y="270510"/>
                </a:lnTo>
                <a:lnTo>
                  <a:pt x="330288" y="489445"/>
                </a:lnTo>
                <a:lnTo>
                  <a:pt x="312801" y="515874"/>
                </a:lnTo>
                <a:lnTo>
                  <a:pt x="397383" y="526161"/>
                </a:lnTo>
                <a:lnTo>
                  <a:pt x="380238" y="496443"/>
                </a:lnTo>
                <a:lnTo>
                  <a:pt x="354838" y="452374"/>
                </a:lnTo>
                <a:lnTo>
                  <a:pt x="337337" y="478815"/>
                </a:lnTo>
                <a:lnTo>
                  <a:pt x="15278" y="265264"/>
                </a:lnTo>
                <a:lnTo>
                  <a:pt x="337693" y="47879"/>
                </a:lnTo>
                <a:lnTo>
                  <a:pt x="355473" y="74168"/>
                </a:lnTo>
                <a:lnTo>
                  <a:pt x="380301" y="30226"/>
                </a:lnTo>
                <a:lnTo>
                  <a:pt x="3973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876804" y="4916423"/>
            <a:ext cx="397510" cy="527050"/>
          </a:xfrm>
          <a:custGeom>
            <a:avLst/>
            <a:gdLst/>
            <a:ahLst/>
            <a:cxnLst/>
            <a:rect l="l" t="t" r="r" b="b"/>
            <a:pathLst>
              <a:path w="397510" h="527050">
                <a:moveTo>
                  <a:pt x="397383" y="0"/>
                </a:moveTo>
                <a:lnTo>
                  <a:pt x="312928" y="11938"/>
                </a:lnTo>
                <a:lnTo>
                  <a:pt x="331038" y="38100"/>
                </a:lnTo>
                <a:lnTo>
                  <a:pt x="0" y="267081"/>
                </a:lnTo>
                <a:lnTo>
                  <a:pt x="3721" y="272542"/>
                </a:lnTo>
                <a:lnTo>
                  <a:pt x="127" y="278142"/>
                </a:lnTo>
                <a:lnTo>
                  <a:pt x="329869" y="491121"/>
                </a:lnTo>
                <a:lnTo>
                  <a:pt x="312674" y="517779"/>
                </a:lnTo>
                <a:lnTo>
                  <a:pt x="397383" y="527050"/>
                </a:lnTo>
                <a:lnTo>
                  <a:pt x="380136" y="497967"/>
                </a:lnTo>
                <a:lnTo>
                  <a:pt x="353949" y="453771"/>
                </a:lnTo>
                <a:lnTo>
                  <a:pt x="336778" y="480402"/>
                </a:lnTo>
                <a:lnTo>
                  <a:pt x="14541" y="272351"/>
                </a:lnTo>
                <a:lnTo>
                  <a:pt x="338251" y="48526"/>
                </a:lnTo>
                <a:lnTo>
                  <a:pt x="356362" y="74676"/>
                </a:lnTo>
                <a:lnTo>
                  <a:pt x="380428" y="30861"/>
                </a:lnTo>
                <a:lnTo>
                  <a:pt x="3973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28972" y="2546604"/>
            <a:ext cx="1117600" cy="33855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28972" y="3073908"/>
            <a:ext cx="1117600" cy="337913"/>
          </a:xfrm>
          <a:prstGeom prst="rect">
            <a:avLst/>
          </a:prstGeom>
          <a:ln w="9144">
            <a:solidFill>
              <a:srgbClr val="00AF5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28972" y="4430268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hit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28972" y="4956048"/>
            <a:ext cx="1117600" cy="33919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247015" marR="0" lvl="0" indent="0" algn="l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struck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386454" y="2764536"/>
            <a:ext cx="342265" cy="527685"/>
          </a:xfrm>
          <a:custGeom>
            <a:avLst/>
            <a:gdLst/>
            <a:ahLst/>
            <a:cxnLst/>
            <a:rect l="l" t="t" r="r" b="b"/>
            <a:pathLst>
              <a:path w="342264" h="527685">
                <a:moveTo>
                  <a:pt x="342265" y="0"/>
                </a:moveTo>
                <a:lnTo>
                  <a:pt x="259842" y="21336"/>
                </a:lnTo>
                <a:lnTo>
                  <a:pt x="280670" y="45250"/>
                </a:lnTo>
                <a:lnTo>
                  <a:pt x="0" y="289687"/>
                </a:lnTo>
                <a:lnTo>
                  <a:pt x="4622" y="295021"/>
                </a:lnTo>
                <a:lnTo>
                  <a:pt x="635" y="300863"/>
                </a:lnTo>
                <a:lnTo>
                  <a:pt x="275856" y="489826"/>
                </a:lnTo>
                <a:lnTo>
                  <a:pt x="257937" y="516001"/>
                </a:lnTo>
                <a:lnTo>
                  <a:pt x="342265" y="527685"/>
                </a:lnTo>
                <a:lnTo>
                  <a:pt x="325247" y="496951"/>
                </a:lnTo>
                <a:lnTo>
                  <a:pt x="300990" y="453136"/>
                </a:lnTo>
                <a:lnTo>
                  <a:pt x="283032" y="479361"/>
                </a:lnTo>
                <a:lnTo>
                  <a:pt x="13804" y="294614"/>
                </a:lnTo>
                <a:lnTo>
                  <a:pt x="289013" y="54813"/>
                </a:lnTo>
                <a:lnTo>
                  <a:pt x="309880" y="78740"/>
                </a:lnTo>
                <a:lnTo>
                  <a:pt x="327063" y="36957"/>
                </a:lnTo>
                <a:lnTo>
                  <a:pt x="3422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386708" y="4648200"/>
            <a:ext cx="342265" cy="527050"/>
          </a:xfrm>
          <a:custGeom>
            <a:avLst/>
            <a:gdLst/>
            <a:ahLst/>
            <a:cxnLst/>
            <a:rect l="l" t="t" r="r" b="b"/>
            <a:pathLst>
              <a:path w="342264" h="527050">
                <a:moveTo>
                  <a:pt x="342011" y="0"/>
                </a:moveTo>
                <a:lnTo>
                  <a:pt x="258572" y="17526"/>
                </a:lnTo>
                <a:lnTo>
                  <a:pt x="278333" y="42443"/>
                </a:lnTo>
                <a:lnTo>
                  <a:pt x="0" y="263271"/>
                </a:lnTo>
                <a:lnTo>
                  <a:pt x="3937" y="268224"/>
                </a:lnTo>
                <a:lnTo>
                  <a:pt x="127" y="273304"/>
                </a:lnTo>
                <a:lnTo>
                  <a:pt x="277596" y="485330"/>
                </a:lnTo>
                <a:lnTo>
                  <a:pt x="258318" y="510540"/>
                </a:lnTo>
                <a:lnTo>
                  <a:pt x="342011" y="526542"/>
                </a:lnTo>
                <a:lnTo>
                  <a:pt x="325577" y="493014"/>
                </a:lnTo>
                <a:lnTo>
                  <a:pt x="304546" y="450088"/>
                </a:lnTo>
                <a:lnTo>
                  <a:pt x="285292" y="475259"/>
                </a:lnTo>
                <a:lnTo>
                  <a:pt x="14249" y="268122"/>
                </a:lnTo>
                <a:lnTo>
                  <a:pt x="286207" y="52349"/>
                </a:lnTo>
                <a:lnTo>
                  <a:pt x="305943" y="77216"/>
                </a:lnTo>
                <a:lnTo>
                  <a:pt x="325869" y="34544"/>
                </a:lnTo>
                <a:lnTo>
                  <a:pt x="3420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256020" y="1816608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365125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tart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56020" y="2343912"/>
            <a:ext cx="1117600" cy="337271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1270" marR="0" lvl="0" indent="0" algn="ctr" defTabSz="914400" rtl="0" eaLnBrk="1" fontAlgn="auto" latinLnBrk="0" hangingPunct="1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pie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256020" y="3512820"/>
            <a:ext cx="1117600" cy="337912"/>
          </a:xfrm>
          <a:prstGeom prst="rect">
            <a:avLst/>
          </a:prstGeom>
          <a:ln w="9144">
            <a:solidFill>
              <a:srgbClr val="00AF50"/>
            </a:solidFill>
          </a:ln>
        </p:spPr>
        <p:txBody>
          <a:bodyPr vert="horz" wrap="square" lIns="0" tIns="29844" rIns="0" bIns="0" rtlCol="0">
            <a:spAutoFit/>
          </a:bodyPr>
          <a:lstStyle/>
          <a:p>
            <a:pPr marL="332105" marR="0" lvl="0" indent="0" algn="l" defTabSz="914400" rtl="0" eaLnBrk="1" fontAlgn="auto" latinLnBrk="0" hangingPunct="1">
              <a:lnSpc>
                <a:spcPct val="100000"/>
              </a:lnSpc>
              <a:spcBef>
                <a:spcPts val="2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256020" y="4038601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270" marR="0" lvl="0" indent="0" algn="ctr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840223" y="3287521"/>
            <a:ext cx="422275" cy="969644"/>
          </a:xfrm>
          <a:custGeom>
            <a:avLst/>
            <a:gdLst/>
            <a:ahLst/>
            <a:cxnLst/>
            <a:rect l="l" t="t" r="r" b="b"/>
            <a:pathLst>
              <a:path w="422275" h="969645">
                <a:moveTo>
                  <a:pt x="422021" y="884174"/>
                </a:moveTo>
                <a:lnTo>
                  <a:pt x="392785" y="896620"/>
                </a:lnTo>
                <a:lnTo>
                  <a:pt x="25704" y="34709"/>
                </a:lnTo>
                <a:lnTo>
                  <a:pt x="360121" y="391426"/>
                </a:lnTo>
                <a:lnTo>
                  <a:pt x="336931" y="413131"/>
                </a:lnTo>
                <a:lnTo>
                  <a:pt x="416814" y="442722"/>
                </a:lnTo>
                <a:lnTo>
                  <a:pt x="404317" y="400685"/>
                </a:lnTo>
                <a:lnTo>
                  <a:pt x="392557" y="361061"/>
                </a:lnTo>
                <a:lnTo>
                  <a:pt x="369366" y="382765"/>
                </a:lnTo>
                <a:lnTo>
                  <a:pt x="10414" y="0"/>
                </a:lnTo>
                <a:lnTo>
                  <a:pt x="5842" y="4318"/>
                </a:lnTo>
                <a:lnTo>
                  <a:pt x="0" y="6858"/>
                </a:lnTo>
                <a:lnTo>
                  <a:pt x="381101" y="901598"/>
                </a:lnTo>
                <a:lnTo>
                  <a:pt x="351917" y="914019"/>
                </a:lnTo>
                <a:lnTo>
                  <a:pt x="416814" y="969137"/>
                </a:lnTo>
                <a:lnTo>
                  <a:pt x="420230" y="913257"/>
                </a:lnTo>
                <a:lnTo>
                  <a:pt x="422021" y="8841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840477" y="2034539"/>
            <a:ext cx="416559" cy="736600"/>
          </a:xfrm>
          <a:custGeom>
            <a:avLst/>
            <a:gdLst/>
            <a:ahLst/>
            <a:cxnLst/>
            <a:rect l="l" t="t" r="r" b="b"/>
            <a:pathLst>
              <a:path w="416560" h="736600">
                <a:moveTo>
                  <a:pt x="416560" y="0"/>
                </a:moveTo>
                <a:lnTo>
                  <a:pt x="346075" y="47752"/>
                </a:lnTo>
                <a:lnTo>
                  <a:pt x="373722" y="63309"/>
                </a:lnTo>
                <a:lnTo>
                  <a:pt x="0" y="726948"/>
                </a:lnTo>
                <a:lnTo>
                  <a:pt x="5067" y="729830"/>
                </a:lnTo>
                <a:lnTo>
                  <a:pt x="8382" y="736600"/>
                </a:lnTo>
                <a:lnTo>
                  <a:pt x="351205" y="566851"/>
                </a:lnTo>
                <a:lnTo>
                  <a:pt x="365252" y="595249"/>
                </a:lnTo>
                <a:lnTo>
                  <a:pt x="399580" y="549783"/>
                </a:lnTo>
                <a:lnTo>
                  <a:pt x="416560" y="527304"/>
                </a:lnTo>
                <a:lnTo>
                  <a:pt x="331470" y="526923"/>
                </a:lnTo>
                <a:lnTo>
                  <a:pt x="345541" y="555396"/>
                </a:lnTo>
                <a:lnTo>
                  <a:pt x="20751" y="716280"/>
                </a:lnTo>
                <a:lnTo>
                  <a:pt x="384784" y="69519"/>
                </a:lnTo>
                <a:lnTo>
                  <a:pt x="412496" y="85090"/>
                </a:lnTo>
                <a:lnTo>
                  <a:pt x="414058" y="52197"/>
                </a:lnTo>
                <a:lnTo>
                  <a:pt x="4165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810500" y="1810511"/>
            <a:ext cx="1117600" cy="33855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810500" y="2337816"/>
            <a:ext cx="1117600" cy="337912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4" rIns="0" bIns="0" rtlCol="0">
            <a:spAutoFit/>
          </a:bodyPr>
          <a:lstStyle/>
          <a:p>
            <a:pPr marL="331470" marR="0" lvl="0" indent="0" algn="l" defTabSz="914400" rtl="0" eaLnBrk="1" fontAlgn="auto" latinLnBrk="0" hangingPunct="1">
              <a:lnSpc>
                <a:spcPct val="100000"/>
              </a:lnSpc>
              <a:spcBef>
                <a:spcPts val="2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810500" y="3512820"/>
            <a:ext cx="1117600" cy="337912"/>
          </a:xfrm>
          <a:prstGeom prst="rect">
            <a:avLst/>
          </a:prstGeom>
          <a:ln w="9144">
            <a:solidFill>
              <a:srgbClr val="00AF50"/>
            </a:solidFill>
          </a:ln>
        </p:spPr>
        <p:txBody>
          <a:bodyPr vert="horz" wrap="square" lIns="0" tIns="29844" rIns="0" bIns="0" rtlCol="0">
            <a:spAutoFit/>
          </a:bodyPr>
          <a:lstStyle/>
          <a:p>
            <a:pPr marL="635" marR="0" lvl="0" indent="0" algn="ctr" defTabSz="914400" rtl="0" eaLnBrk="1" fontAlgn="auto" latinLnBrk="0" hangingPunct="1">
              <a:lnSpc>
                <a:spcPct val="100000"/>
              </a:lnSpc>
              <a:spcBef>
                <a:spcPts val="2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810500" y="4038601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366395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one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368160" y="2028443"/>
            <a:ext cx="441959" cy="566420"/>
          </a:xfrm>
          <a:custGeom>
            <a:avLst/>
            <a:gdLst/>
            <a:ahLst/>
            <a:cxnLst/>
            <a:rect l="l" t="t" r="r" b="b"/>
            <a:pathLst>
              <a:path w="441960" h="566419">
                <a:moveTo>
                  <a:pt x="441833" y="0"/>
                </a:moveTo>
                <a:lnTo>
                  <a:pt x="363982" y="34798"/>
                </a:lnTo>
                <a:lnTo>
                  <a:pt x="388543" y="54927"/>
                </a:lnTo>
                <a:lnTo>
                  <a:pt x="0" y="528701"/>
                </a:lnTo>
                <a:lnTo>
                  <a:pt x="4927" y="532701"/>
                </a:lnTo>
                <a:lnTo>
                  <a:pt x="5080" y="539750"/>
                </a:lnTo>
                <a:lnTo>
                  <a:pt x="365658" y="534720"/>
                </a:lnTo>
                <a:lnTo>
                  <a:pt x="366141" y="566420"/>
                </a:lnTo>
                <a:lnTo>
                  <a:pt x="441833" y="527304"/>
                </a:lnTo>
                <a:lnTo>
                  <a:pt x="430517" y="521843"/>
                </a:lnTo>
                <a:lnTo>
                  <a:pt x="364998" y="490220"/>
                </a:lnTo>
                <a:lnTo>
                  <a:pt x="365467" y="522020"/>
                </a:lnTo>
                <a:lnTo>
                  <a:pt x="17957" y="526872"/>
                </a:lnTo>
                <a:lnTo>
                  <a:pt x="398322" y="62928"/>
                </a:lnTo>
                <a:lnTo>
                  <a:pt x="422910" y="83058"/>
                </a:lnTo>
                <a:lnTo>
                  <a:pt x="431558" y="45085"/>
                </a:lnTo>
                <a:lnTo>
                  <a:pt x="4418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368287" y="3692651"/>
            <a:ext cx="441959" cy="565150"/>
          </a:xfrm>
          <a:custGeom>
            <a:avLst/>
            <a:gdLst/>
            <a:ahLst/>
            <a:cxnLst/>
            <a:rect l="l" t="t" r="r" b="b"/>
            <a:pathLst>
              <a:path w="441960" h="565150">
                <a:moveTo>
                  <a:pt x="441706" y="38100"/>
                </a:moveTo>
                <a:lnTo>
                  <a:pt x="429006" y="31750"/>
                </a:lnTo>
                <a:lnTo>
                  <a:pt x="365506" y="0"/>
                </a:lnTo>
                <a:lnTo>
                  <a:pt x="365506" y="31750"/>
                </a:lnTo>
                <a:lnTo>
                  <a:pt x="4826" y="31750"/>
                </a:lnTo>
                <a:lnTo>
                  <a:pt x="4826" y="38100"/>
                </a:lnTo>
                <a:lnTo>
                  <a:pt x="0" y="42164"/>
                </a:lnTo>
                <a:lnTo>
                  <a:pt x="388150" y="510070"/>
                </a:lnTo>
                <a:lnTo>
                  <a:pt x="363728" y="530352"/>
                </a:lnTo>
                <a:lnTo>
                  <a:pt x="441706" y="564642"/>
                </a:lnTo>
                <a:lnTo>
                  <a:pt x="431190" y="519811"/>
                </a:lnTo>
                <a:lnTo>
                  <a:pt x="422275" y="481711"/>
                </a:lnTo>
                <a:lnTo>
                  <a:pt x="397929" y="501942"/>
                </a:lnTo>
                <a:lnTo>
                  <a:pt x="18288" y="44450"/>
                </a:lnTo>
                <a:lnTo>
                  <a:pt x="365506" y="44450"/>
                </a:lnTo>
                <a:lnTo>
                  <a:pt x="365506" y="76200"/>
                </a:lnTo>
                <a:lnTo>
                  <a:pt x="429006" y="44450"/>
                </a:lnTo>
                <a:lnTo>
                  <a:pt x="441706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412223" y="2613661"/>
            <a:ext cx="1117600" cy="337913"/>
          </a:xfrm>
          <a:prstGeom prst="rect">
            <a:avLst/>
          </a:prstGeom>
          <a:ln w="9144">
            <a:solidFill>
              <a:srgbClr val="00AF5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270" marR="0" lvl="0" indent="0" algn="ctr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pie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412223" y="3140965"/>
            <a:ext cx="1117600" cy="337271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365125" marR="0" lvl="0" indent="0" algn="l" defTabSz="914400" rtl="0" eaLnBrk="1" fontAlgn="auto" latinLnBrk="0" hangingPunct="1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tart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412223" y="4430268"/>
            <a:ext cx="1117600" cy="337913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270" marR="0" lvl="0" indent="0" algn="ctr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pie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412223" y="4956048"/>
            <a:ext cx="1117600" cy="33919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365125" marR="0" lvl="0" indent="0" algn="l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tart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922005" y="2831592"/>
            <a:ext cx="490855" cy="902969"/>
          </a:xfrm>
          <a:custGeom>
            <a:avLst/>
            <a:gdLst/>
            <a:ahLst/>
            <a:cxnLst/>
            <a:rect l="l" t="t" r="r" b="b"/>
            <a:pathLst>
              <a:path w="490854" h="902970">
                <a:moveTo>
                  <a:pt x="490474" y="0"/>
                </a:moveTo>
                <a:lnTo>
                  <a:pt x="420751" y="49022"/>
                </a:lnTo>
                <a:lnTo>
                  <a:pt x="448716" y="64071"/>
                </a:lnTo>
                <a:lnTo>
                  <a:pt x="0" y="895477"/>
                </a:lnTo>
                <a:lnTo>
                  <a:pt x="6654" y="899109"/>
                </a:lnTo>
                <a:lnTo>
                  <a:pt x="9398" y="902716"/>
                </a:lnTo>
                <a:lnTo>
                  <a:pt x="10998" y="901484"/>
                </a:lnTo>
                <a:lnTo>
                  <a:pt x="11176" y="901573"/>
                </a:lnTo>
                <a:lnTo>
                  <a:pt x="11366" y="901204"/>
                </a:lnTo>
                <a:lnTo>
                  <a:pt x="433946" y="577176"/>
                </a:lnTo>
                <a:lnTo>
                  <a:pt x="453263" y="602361"/>
                </a:lnTo>
                <a:lnTo>
                  <a:pt x="474116" y="559435"/>
                </a:lnTo>
                <a:lnTo>
                  <a:pt x="490474" y="525780"/>
                </a:lnTo>
                <a:lnTo>
                  <a:pt x="406908" y="541909"/>
                </a:lnTo>
                <a:lnTo>
                  <a:pt x="426224" y="567118"/>
                </a:lnTo>
                <a:lnTo>
                  <a:pt x="25996" y="874102"/>
                </a:lnTo>
                <a:lnTo>
                  <a:pt x="459930" y="70104"/>
                </a:lnTo>
                <a:lnTo>
                  <a:pt x="487807" y="85090"/>
                </a:lnTo>
                <a:lnTo>
                  <a:pt x="488810" y="52832"/>
                </a:lnTo>
                <a:lnTo>
                  <a:pt x="49047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8922005" y="4251578"/>
            <a:ext cx="490855" cy="923290"/>
          </a:xfrm>
          <a:custGeom>
            <a:avLst/>
            <a:gdLst/>
            <a:ahLst/>
            <a:cxnLst/>
            <a:rect l="l" t="t" r="r" b="b"/>
            <a:pathLst>
              <a:path w="490854" h="923289">
                <a:moveTo>
                  <a:pt x="490474" y="396367"/>
                </a:moveTo>
                <a:lnTo>
                  <a:pt x="474548" y="361442"/>
                </a:lnTo>
                <a:lnTo>
                  <a:pt x="455168" y="318897"/>
                </a:lnTo>
                <a:lnTo>
                  <a:pt x="435254" y="343573"/>
                </a:lnTo>
                <a:lnTo>
                  <a:pt x="9525" y="0"/>
                </a:lnTo>
                <a:lnTo>
                  <a:pt x="5588" y="4953"/>
                </a:lnTo>
                <a:lnTo>
                  <a:pt x="0" y="7874"/>
                </a:lnTo>
                <a:lnTo>
                  <a:pt x="449326" y="858545"/>
                </a:lnTo>
                <a:lnTo>
                  <a:pt x="421259" y="873379"/>
                </a:lnTo>
                <a:lnTo>
                  <a:pt x="490474" y="922909"/>
                </a:lnTo>
                <a:lnTo>
                  <a:pt x="489280" y="869823"/>
                </a:lnTo>
                <a:lnTo>
                  <a:pt x="488569" y="837819"/>
                </a:lnTo>
                <a:lnTo>
                  <a:pt x="460527" y="852627"/>
                </a:lnTo>
                <a:lnTo>
                  <a:pt x="25501" y="29171"/>
                </a:lnTo>
                <a:lnTo>
                  <a:pt x="427253" y="353479"/>
                </a:lnTo>
                <a:lnTo>
                  <a:pt x="407289" y="378206"/>
                </a:lnTo>
                <a:lnTo>
                  <a:pt x="490474" y="3963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524001" y="4038601"/>
            <a:ext cx="1167765" cy="337913"/>
          </a:xfrm>
          <a:prstGeom prst="rect">
            <a:avLst/>
          </a:prstGeom>
          <a:ln w="9143">
            <a:solidFill>
              <a:srgbClr val="00AF5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31445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-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&lt;START&gt;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308859" y="3107436"/>
            <a:ext cx="571500" cy="337913"/>
          </a:xfrm>
          <a:prstGeom prst="rect">
            <a:avLst/>
          </a:prstGeom>
          <a:ln w="9143">
            <a:solidFill>
              <a:srgbClr val="00AF5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he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308859" y="4971289"/>
            <a:ext cx="571500" cy="337271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103158" y="3543300"/>
            <a:ext cx="491490" cy="500380"/>
          </a:xfrm>
          <a:custGeom>
            <a:avLst/>
            <a:gdLst/>
            <a:ahLst/>
            <a:cxnLst/>
            <a:rect l="l" t="t" r="r" b="b"/>
            <a:pathLst>
              <a:path w="491490" h="500379">
                <a:moveTo>
                  <a:pt x="433491" y="49928"/>
                </a:moveTo>
                <a:lnTo>
                  <a:pt x="0" y="491236"/>
                </a:lnTo>
                <a:lnTo>
                  <a:pt x="9067" y="500125"/>
                </a:lnTo>
                <a:lnTo>
                  <a:pt x="442556" y="58822"/>
                </a:lnTo>
                <a:lnTo>
                  <a:pt x="433491" y="49928"/>
                </a:lnTo>
                <a:close/>
              </a:path>
              <a:path w="491490" h="500379">
                <a:moveTo>
                  <a:pt x="478171" y="40894"/>
                </a:moveTo>
                <a:lnTo>
                  <a:pt x="442366" y="40894"/>
                </a:lnTo>
                <a:lnTo>
                  <a:pt x="451434" y="49784"/>
                </a:lnTo>
                <a:lnTo>
                  <a:pt x="442556" y="58822"/>
                </a:lnTo>
                <a:lnTo>
                  <a:pt x="465188" y="81025"/>
                </a:lnTo>
                <a:lnTo>
                  <a:pt x="478171" y="40894"/>
                </a:lnTo>
                <a:close/>
              </a:path>
              <a:path w="491490" h="500379">
                <a:moveTo>
                  <a:pt x="442366" y="40894"/>
                </a:moveTo>
                <a:lnTo>
                  <a:pt x="433491" y="49928"/>
                </a:lnTo>
                <a:lnTo>
                  <a:pt x="442556" y="58822"/>
                </a:lnTo>
                <a:lnTo>
                  <a:pt x="451434" y="49784"/>
                </a:lnTo>
                <a:lnTo>
                  <a:pt x="442366" y="40894"/>
                </a:lnTo>
                <a:close/>
              </a:path>
              <a:path w="491490" h="500379">
                <a:moveTo>
                  <a:pt x="491401" y="0"/>
                </a:moveTo>
                <a:lnTo>
                  <a:pt x="410819" y="27686"/>
                </a:lnTo>
                <a:lnTo>
                  <a:pt x="433491" y="49928"/>
                </a:lnTo>
                <a:lnTo>
                  <a:pt x="442366" y="40894"/>
                </a:lnTo>
                <a:lnTo>
                  <a:pt x="478171" y="40894"/>
                </a:lnTo>
                <a:lnTo>
                  <a:pt x="4914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2103158" y="4470020"/>
            <a:ext cx="491490" cy="501015"/>
          </a:xfrm>
          <a:custGeom>
            <a:avLst/>
            <a:gdLst/>
            <a:ahLst/>
            <a:cxnLst/>
            <a:rect l="l" t="t" r="r" b="b"/>
            <a:pathLst>
              <a:path w="491490" h="501014">
                <a:moveTo>
                  <a:pt x="433458" y="450760"/>
                </a:moveTo>
                <a:lnTo>
                  <a:pt x="410832" y="472947"/>
                </a:lnTo>
                <a:lnTo>
                  <a:pt x="491401" y="500760"/>
                </a:lnTo>
                <a:lnTo>
                  <a:pt x="478211" y="459866"/>
                </a:lnTo>
                <a:lnTo>
                  <a:pt x="442391" y="459866"/>
                </a:lnTo>
                <a:lnTo>
                  <a:pt x="433458" y="450760"/>
                </a:lnTo>
                <a:close/>
              </a:path>
              <a:path w="491490" h="501014">
                <a:moveTo>
                  <a:pt x="442525" y="441869"/>
                </a:moveTo>
                <a:lnTo>
                  <a:pt x="433458" y="450760"/>
                </a:lnTo>
                <a:lnTo>
                  <a:pt x="442391" y="459866"/>
                </a:lnTo>
                <a:lnTo>
                  <a:pt x="451459" y="450976"/>
                </a:lnTo>
                <a:lnTo>
                  <a:pt x="442525" y="441869"/>
                </a:lnTo>
                <a:close/>
              </a:path>
              <a:path w="491490" h="501014">
                <a:moveTo>
                  <a:pt x="465226" y="419607"/>
                </a:moveTo>
                <a:lnTo>
                  <a:pt x="442525" y="441869"/>
                </a:lnTo>
                <a:lnTo>
                  <a:pt x="451459" y="450976"/>
                </a:lnTo>
                <a:lnTo>
                  <a:pt x="442391" y="459866"/>
                </a:lnTo>
                <a:lnTo>
                  <a:pt x="478211" y="459866"/>
                </a:lnTo>
                <a:lnTo>
                  <a:pt x="465226" y="419607"/>
                </a:lnTo>
                <a:close/>
              </a:path>
              <a:path w="491490" h="501014">
                <a:moveTo>
                  <a:pt x="9067" y="0"/>
                </a:moveTo>
                <a:lnTo>
                  <a:pt x="0" y="8889"/>
                </a:lnTo>
                <a:lnTo>
                  <a:pt x="433458" y="450760"/>
                </a:lnTo>
                <a:lnTo>
                  <a:pt x="442525" y="441869"/>
                </a:lnTo>
                <a:lnTo>
                  <a:pt x="90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384857" y="2785617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-0.7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384857" y="5439562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-0.9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626612" y="4340479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-1.6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626612" y="5683708"/>
            <a:ext cx="3854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-1.8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626612" y="2481198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-1.7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626612" y="3800602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-2.9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081779" y="3525392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-2.5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081779" y="2184272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-2.8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081779" y="5406949"/>
            <a:ext cx="3854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-3.8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081779" y="4079494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-2.9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AE4D5CE5-5D3F-A10F-AFC4-3DAB476261E4}"/>
              </a:ext>
            </a:extLst>
          </p:cNvPr>
          <p:cNvGrpSpPr/>
          <p:nvPr/>
        </p:nvGrpSpPr>
        <p:grpSpPr>
          <a:xfrm>
            <a:off x="1875934" y="646192"/>
            <a:ext cx="8356238" cy="736600"/>
            <a:chOff x="1875934" y="646192"/>
            <a:chExt cx="8356238" cy="736600"/>
          </a:xfrm>
        </p:grpSpPr>
        <p:sp>
          <p:nvSpPr>
            <p:cNvPr id="3" name="object 3"/>
            <p:cNvSpPr txBox="1"/>
            <p:nvPr/>
          </p:nvSpPr>
          <p:spPr>
            <a:xfrm>
              <a:off x="1875934" y="840487"/>
              <a:ext cx="3557126" cy="321242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0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Beam</a:t>
              </a:r>
              <a:r>
                <a:rPr kumimoji="0" sz="2000" b="1" i="0" u="none" strike="noStrike" kern="1200" cap="none" spc="-1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1" i="0" u="none" strike="noStrike" kern="1200" cap="none" spc="-5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size</a:t>
              </a:r>
              <a:r>
                <a:rPr kumimoji="0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=</a:t>
              </a:r>
              <a:r>
                <a:rPr kumimoji="0" sz="2000" b="1" i="0" u="none" strike="noStrike" kern="1200" cap="none" spc="-15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k</a:t>
              </a:r>
              <a:r>
                <a:rPr kumimoji="0" sz="2000" b="1" i="0" u="none" strike="noStrike" kern="1200" cap="none" spc="-1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=</a:t>
              </a:r>
              <a:r>
                <a:rPr kumimoji="0" sz="2000" b="1" i="0" u="none" strike="noStrike" kern="1200" cap="none" spc="-5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2</a:t>
              </a:r>
              <a:r>
                <a:rPr kumimoji="0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.</a:t>
              </a:r>
              <a:r>
                <a:rPr kumimoji="0" sz="2000" b="0" i="0" u="none" strike="noStrike" kern="1200" cap="none" spc="-25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285F4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Blue</a:t>
              </a:r>
              <a:r>
                <a:rPr kumimoji="0" sz="2000" b="0" i="0" u="none" strike="noStrike" kern="1200" cap="none" spc="-10" normalizeH="0" baseline="0" noProof="0" dirty="0">
                  <a:ln>
                    <a:noFill/>
                  </a:ln>
                  <a:solidFill>
                    <a:srgbClr val="4285F4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285F4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numbers</a:t>
              </a:r>
              <a:r>
                <a:rPr kumimoji="0" sz="2000" b="0" i="0" u="none" strike="noStrike" kern="1200" cap="none" spc="-5" normalizeH="0" baseline="0" noProof="0" dirty="0">
                  <a:ln>
                    <a:noFill/>
                  </a:ln>
                  <a:solidFill>
                    <a:srgbClr val="4285F4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 </a:t>
              </a:r>
              <a:r>
                <a:rPr kumimoji="0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285F4"/>
                  </a:solidFill>
                  <a:effectLst/>
                  <a:uLnTx/>
                  <a:uFillTx/>
                  <a:latin typeface="Aptos Display"/>
                  <a:ea typeface="+mn-ea"/>
                  <a:cs typeface="Calibri"/>
                </a:rPr>
                <a:t>=</a:t>
              </a:r>
              <a:endPara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endParaRPr>
            </a:p>
          </p:txBody>
        </p:sp>
        <p:pic>
          <p:nvPicPr>
            <p:cNvPr id="50" name="object 5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5822" y="646192"/>
              <a:ext cx="4816350" cy="736600"/>
            </a:xfrm>
            <a:prstGeom prst="rect">
              <a:avLst/>
            </a:prstGeom>
          </p:spPr>
        </p:pic>
      </p:grpSp>
      <p:sp>
        <p:nvSpPr>
          <p:cNvPr id="51" name="object 51"/>
          <p:cNvSpPr txBox="1"/>
          <p:nvPr/>
        </p:nvSpPr>
        <p:spPr>
          <a:xfrm>
            <a:off x="6609716" y="4482210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-3.5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609716" y="3208146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-3.3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609716" y="1455801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-4.0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609715" y="2762200"/>
            <a:ext cx="3860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-3.4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8197723" y="3201670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-3.7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8197723" y="4484878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-4.3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8197723" y="2775330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-4.5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8197723" y="1436623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-4.8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9757410" y="2290064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-4.3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9757410" y="3586430"/>
            <a:ext cx="3854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-4.6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9757410" y="4112767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-5.0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9757410" y="5398414"/>
            <a:ext cx="385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-5.3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6717029" y="6294882"/>
            <a:ext cx="3773804" cy="308418"/>
          </a:xfrm>
          <a:prstGeom prst="rect">
            <a:avLst/>
          </a:prstGeom>
          <a:ln w="19811">
            <a:solidFill>
              <a:srgbClr val="BA56BD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108585" marR="0" lvl="0" indent="0" algn="l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Backtrack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to obtain</a:t>
            </a:r>
            <a:r>
              <a:rPr kumimoji="0" sz="1800" b="0" i="0" u="none" strike="noStrike" kern="1200" cap="none" spc="1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the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full</a:t>
            </a:r>
            <a:r>
              <a:rPr kumimoji="0" sz="1800" b="0" i="0" u="none" strike="noStrike" kern="1200" cap="none" spc="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hypothesis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1325" y="955307"/>
            <a:ext cx="11307763" cy="629018"/>
          </a:xfrm>
          <a:prstGeom prst="rect">
            <a:avLst/>
          </a:prstGeom>
        </p:spPr>
        <p:txBody>
          <a:bodyPr vert="horz" wrap="square" lIns="0" tIns="13335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Beam</a:t>
            </a:r>
            <a:r>
              <a:rPr spc="-15" dirty="0"/>
              <a:t> </a:t>
            </a:r>
            <a:r>
              <a:rPr lang="en-US" dirty="0"/>
              <a:t>S</a:t>
            </a:r>
            <a:r>
              <a:rPr dirty="0"/>
              <a:t>earch</a:t>
            </a:r>
            <a:r>
              <a:rPr spc="-30" dirty="0"/>
              <a:t> </a:t>
            </a:r>
            <a:r>
              <a:rPr lang="en-US" spc="-5" dirty="0"/>
              <a:t>D</a:t>
            </a:r>
            <a:r>
              <a:rPr spc="-5" dirty="0"/>
              <a:t>ecoding:</a:t>
            </a:r>
            <a:r>
              <a:rPr spc="-25" dirty="0"/>
              <a:t> </a:t>
            </a:r>
            <a:r>
              <a:rPr lang="en-US" dirty="0"/>
              <a:t>S</a:t>
            </a:r>
            <a:r>
              <a:rPr dirty="0"/>
              <a:t>topping</a:t>
            </a:r>
            <a:r>
              <a:rPr spc="-10" dirty="0"/>
              <a:t> </a:t>
            </a:r>
            <a:r>
              <a:rPr lang="en-US" spc="-5" dirty="0"/>
              <a:t>C</a:t>
            </a:r>
            <a:r>
              <a:rPr spc="-5" dirty="0"/>
              <a:t>riterion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06F1D5-FAAA-D975-8B92-86CB1218CF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In </a:t>
            </a:r>
            <a:r>
              <a:rPr lang="en-US" dirty="0">
                <a:solidFill>
                  <a:schemeClr val="accent5"/>
                </a:solidFill>
              </a:rPr>
              <a:t>greedy decoding</a:t>
            </a:r>
            <a:r>
              <a:rPr lang="en-US" dirty="0"/>
              <a:t>, usually we decode until the model produces  a </a:t>
            </a:r>
            <a:r>
              <a:rPr lang="en-US" dirty="0">
                <a:solidFill>
                  <a:schemeClr val="accent5"/>
                </a:solidFill>
              </a:rPr>
              <a:t>&lt;END&gt; token</a:t>
            </a:r>
          </a:p>
          <a:p>
            <a:pPr lvl="1">
              <a:lnSpc>
                <a:spcPct val="100000"/>
              </a:lnSpc>
            </a:pPr>
            <a:r>
              <a:rPr lang="en-US" b="1" dirty="0"/>
              <a:t>For example: </a:t>
            </a:r>
            <a:r>
              <a:rPr lang="en-US" dirty="0"/>
              <a:t>&lt;START&gt; he hit me with a pie &lt;END&gt;</a:t>
            </a:r>
          </a:p>
          <a:p>
            <a:pPr>
              <a:lnSpc>
                <a:spcPct val="100000"/>
              </a:lnSpc>
            </a:pPr>
            <a:r>
              <a:rPr lang="en-US" dirty="0"/>
              <a:t>In </a:t>
            </a:r>
            <a:r>
              <a:rPr lang="en-US" dirty="0">
                <a:solidFill>
                  <a:schemeClr val="accent1"/>
                </a:solidFill>
              </a:rPr>
              <a:t>beam search decoding</a:t>
            </a:r>
            <a:r>
              <a:rPr lang="en-US" dirty="0"/>
              <a:t>, different hypotheses may produce </a:t>
            </a:r>
            <a:r>
              <a:rPr lang="en-US" dirty="0">
                <a:solidFill>
                  <a:schemeClr val="accent5"/>
                </a:solidFill>
              </a:rPr>
              <a:t>&lt;END&gt; tokens </a:t>
            </a:r>
            <a:r>
              <a:rPr lang="en-US" dirty="0"/>
              <a:t>on</a:t>
            </a:r>
            <a:r>
              <a:rPr lang="en-US" dirty="0">
                <a:solidFill>
                  <a:schemeClr val="accent5"/>
                </a:solidFill>
              </a:rPr>
              <a:t> different timesteps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When a hypothesis produces &lt;END&gt;, that hypothesis is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complete</a:t>
            </a:r>
            <a:r>
              <a:rPr lang="en-US" dirty="0"/>
              <a:t>.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Place it aside </a:t>
            </a:r>
            <a:r>
              <a:rPr lang="en-US" dirty="0"/>
              <a:t>and continue exploring other hypotheses via beam search.</a:t>
            </a:r>
          </a:p>
          <a:p>
            <a:pPr>
              <a:lnSpc>
                <a:spcPct val="100000"/>
              </a:lnSpc>
            </a:pPr>
            <a:r>
              <a:rPr lang="en-US" dirty="0"/>
              <a:t>Usually we continue beam search until: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We reach timestep </a:t>
            </a:r>
            <a:r>
              <a:rPr lang="en-US" i="1" dirty="0"/>
              <a:t>T</a:t>
            </a:r>
            <a:r>
              <a:rPr lang="en-US" dirty="0"/>
              <a:t> (where </a:t>
            </a:r>
            <a:r>
              <a:rPr lang="en-US" i="1" dirty="0"/>
              <a:t>T</a:t>
            </a:r>
            <a:r>
              <a:rPr lang="en-US" dirty="0"/>
              <a:t> is some pre-defined cutoff), or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We have at least </a:t>
            </a:r>
            <a:r>
              <a:rPr lang="en-US" i="1" dirty="0"/>
              <a:t>n</a:t>
            </a:r>
            <a:r>
              <a:rPr lang="en-US" dirty="0"/>
              <a:t> completed hypotheses (where </a:t>
            </a:r>
            <a:r>
              <a:rPr lang="en-US" i="1" dirty="0"/>
              <a:t>n</a:t>
            </a:r>
            <a:r>
              <a:rPr lang="en-US" dirty="0"/>
              <a:t> is pre-defined cutoff)</a:t>
            </a:r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1325" y="955307"/>
            <a:ext cx="11307763" cy="629018"/>
          </a:xfrm>
          <a:prstGeom prst="rect">
            <a:avLst/>
          </a:prstGeom>
        </p:spPr>
        <p:txBody>
          <a:bodyPr vert="horz" wrap="square" lIns="0" tIns="13335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Beam</a:t>
            </a:r>
            <a:r>
              <a:rPr spc="-15" dirty="0"/>
              <a:t> </a:t>
            </a:r>
            <a:r>
              <a:rPr lang="en-US" dirty="0"/>
              <a:t>S</a:t>
            </a:r>
            <a:r>
              <a:rPr dirty="0"/>
              <a:t>earch</a:t>
            </a:r>
            <a:r>
              <a:rPr spc="-30" dirty="0"/>
              <a:t> </a:t>
            </a:r>
            <a:r>
              <a:rPr lang="en-US" spc="-5" dirty="0"/>
              <a:t>D</a:t>
            </a:r>
            <a:r>
              <a:rPr spc="-5" dirty="0"/>
              <a:t>ecoding:</a:t>
            </a:r>
            <a:r>
              <a:rPr spc="-25" dirty="0"/>
              <a:t> </a:t>
            </a:r>
            <a:r>
              <a:rPr lang="en-US" spc="-5" dirty="0"/>
              <a:t>F</a:t>
            </a:r>
            <a:r>
              <a:rPr spc="-5" dirty="0"/>
              <a:t>inishing</a:t>
            </a:r>
            <a:r>
              <a:rPr spc="-20" dirty="0"/>
              <a:t> </a:t>
            </a:r>
            <a:r>
              <a:rPr lang="en-US" spc="-5" dirty="0"/>
              <a:t>U</a:t>
            </a:r>
            <a:r>
              <a:rPr spc="-5" dirty="0"/>
              <a:t>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7EDF84B3-8797-5056-3B6D-61C9180823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en-US" dirty="0"/>
                  <a:t>We have our list of completed hypotheses.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How to select top one with highest score?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Each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on our list has a score</a:t>
                </a:r>
              </a:p>
              <a:p>
                <a:pPr>
                  <a:lnSpc>
                    <a:spcPct val="100000"/>
                  </a:lnSpc>
                </a:pPr>
                <a:endParaRPr lang="en-US" dirty="0"/>
              </a:p>
              <a:p>
                <a:pPr>
                  <a:lnSpc>
                    <a:spcPct val="100000"/>
                  </a:lnSpc>
                </a:pPr>
                <a:endParaRPr lang="en-US" dirty="0"/>
              </a:p>
              <a:p>
                <a:pPr>
                  <a:lnSpc>
                    <a:spcPct val="100000"/>
                  </a:lnSpc>
                </a:pPr>
                <a:r>
                  <a:rPr lang="en-US" b="1" dirty="0">
                    <a:solidFill>
                      <a:srgbClr val="FF0000"/>
                    </a:solidFill>
                  </a:rPr>
                  <a:t>Problem: </a:t>
                </a:r>
                <a:r>
                  <a:rPr lang="en-US" dirty="0">
                    <a:solidFill>
                      <a:srgbClr val="FF0000"/>
                    </a:solidFill>
                  </a:rPr>
                  <a:t>longer hypotheses have lower scores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b="1" dirty="0">
                    <a:solidFill>
                      <a:srgbClr val="00B050"/>
                    </a:solidFill>
                  </a:rPr>
                  <a:t>Fix: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rgbClr val="00B050"/>
                    </a:solidFill>
                  </a:rPr>
                  <a:t>Normalize by length</a:t>
                </a:r>
                <a:r>
                  <a:rPr lang="en-US" dirty="0"/>
                  <a:t>. Use this to select the top one instead:</a:t>
                </a:r>
              </a:p>
              <a:p>
                <a:endParaRPr lang="en-US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7EDF84B3-8797-5056-3B6D-61C9180823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01" t="-11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73488" y="3339121"/>
            <a:ext cx="8245024" cy="8128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39287" y="5135076"/>
            <a:ext cx="3913425" cy="883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010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1325" y="955307"/>
            <a:ext cx="11307763" cy="629018"/>
          </a:xfrm>
          <a:prstGeom prst="rect">
            <a:avLst/>
          </a:prstGeom>
        </p:spPr>
        <p:txBody>
          <a:bodyPr vert="horz" wrap="square" lIns="0" tIns="13335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Issues With RNN</a:t>
            </a:r>
            <a:endParaRPr spc="-5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563234E-B704-94D7-5377-D2FF291DCE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Linear interaction distance</a:t>
            </a:r>
          </a:p>
          <a:p>
            <a:r>
              <a:rPr lang="en-US" dirty="0"/>
              <a:t>Bottleneck problem</a:t>
            </a:r>
          </a:p>
          <a:p>
            <a:r>
              <a:rPr lang="en-US" dirty="0"/>
              <a:t>Lack of parallelizability</a:t>
            </a:r>
          </a:p>
          <a:p>
            <a:endParaRPr lang="en-IN" dirty="0"/>
          </a:p>
        </p:txBody>
      </p:sp>
      <p:sp>
        <p:nvSpPr>
          <p:cNvPr id="4" name="object 4"/>
          <p:cNvSpPr txBox="1"/>
          <p:nvPr/>
        </p:nvSpPr>
        <p:spPr>
          <a:xfrm>
            <a:off x="4350617" y="4553350"/>
            <a:ext cx="3563792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400" b="1" i="0" u="none" strike="noStrike" kern="1200" cap="none" spc="0" normalizeH="0" baseline="0" noProof="0" dirty="0">
                <a:ln>
                  <a:noFill/>
                </a:ln>
                <a:solidFill>
                  <a:srgbClr val="C21717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ATTENTION</a:t>
            </a:r>
          </a:p>
        </p:txBody>
      </p:sp>
    </p:spTree>
    <p:extLst>
      <p:ext uri="{BB962C8B-B14F-4D97-AF65-F5344CB8AC3E}">
        <p14:creationId xmlns:p14="http://schemas.microsoft.com/office/powerpoint/2010/main" val="1436445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2F0CDFC-075A-4D3F-5EB1-A592F4BF52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093252"/>
            <a:ext cx="12192000" cy="814371"/>
          </a:xfrm>
        </p:spPr>
        <p:txBody>
          <a:bodyPr/>
          <a:lstStyle/>
          <a:p>
            <a:pPr algn="ctr"/>
            <a:r>
              <a:rPr lang="en-US" dirty="0"/>
              <a:t>Attention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997316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E1759-6C16-6D75-F8AC-91232ABF9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pc="-5" dirty="0"/>
              <a:t>Sequence-to-Sequence:</a:t>
            </a:r>
            <a:r>
              <a:rPr lang="en-IN" spc="-20" dirty="0"/>
              <a:t> T</a:t>
            </a:r>
            <a:r>
              <a:rPr lang="en-IN" dirty="0"/>
              <a:t>he Bottleneck</a:t>
            </a:r>
            <a:r>
              <a:rPr lang="en-IN" spc="-15" dirty="0"/>
              <a:t> P</a:t>
            </a:r>
            <a:r>
              <a:rPr lang="en-IN" dirty="0"/>
              <a:t>roblem</a:t>
            </a:r>
          </a:p>
        </p:txBody>
      </p:sp>
      <p:grpSp>
        <p:nvGrpSpPr>
          <p:cNvPr id="64" name="object 3">
            <a:extLst>
              <a:ext uri="{FF2B5EF4-FFF2-40B4-BE49-F238E27FC236}">
                <a16:creationId xmlns:a16="http://schemas.microsoft.com/office/drawing/2014/main" id="{38530717-46F7-66FE-C424-12D00AA345E2}"/>
              </a:ext>
            </a:extLst>
          </p:cNvPr>
          <p:cNvGrpSpPr/>
          <p:nvPr/>
        </p:nvGrpSpPr>
        <p:grpSpPr>
          <a:xfrm>
            <a:off x="2693535" y="2857176"/>
            <a:ext cx="7053580" cy="2060575"/>
            <a:chOff x="982725" y="2611373"/>
            <a:chExt cx="7053580" cy="2060575"/>
          </a:xfrm>
        </p:grpSpPr>
        <p:pic>
          <p:nvPicPr>
            <p:cNvPr id="65" name="object 4">
              <a:extLst>
                <a:ext uri="{FF2B5EF4-FFF2-40B4-BE49-F238E27FC236}">
                  <a16:creationId xmlns:a16="http://schemas.microsoft.com/office/drawing/2014/main" id="{AA4019CB-22B2-4940-3BBA-5A33F876829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6799" y="3348227"/>
              <a:ext cx="126492" cy="132587"/>
            </a:xfrm>
            <a:prstGeom prst="rect">
              <a:avLst/>
            </a:prstGeom>
          </p:spPr>
        </p:pic>
        <p:pic>
          <p:nvPicPr>
            <p:cNvPr id="66" name="object 5">
              <a:extLst>
                <a:ext uri="{FF2B5EF4-FFF2-40B4-BE49-F238E27FC236}">
                  <a16:creationId xmlns:a16="http://schemas.microsoft.com/office/drawing/2014/main" id="{EC782D93-3AA7-F7E9-D4A8-26FDB2B6AF5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6799" y="3517391"/>
              <a:ext cx="126492" cy="132587"/>
            </a:xfrm>
            <a:prstGeom prst="rect">
              <a:avLst/>
            </a:prstGeom>
          </p:spPr>
        </p:pic>
        <p:pic>
          <p:nvPicPr>
            <p:cNvPr id="67" name="object 6">
              <a:extLst>
                <a:ext uri="{FF2B5EF4-FFF2-40B4-BE49-F238E27FC236}">
                  <a16:creationId xmlns:a16="http://schemas.microsoft.com/office/drawing/2014/main" id="{CFD32105-9329-16FA-5087-D8B12452BB3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6799" y="3686555"/>
              <a:ext cx="126492" cy="132587"/>
            </a:xfrm>
            <a:prstGeom prst="rect">
              <a:avLst/>
            </a:prstGeom>
          </p:spPr>
        </p:pic>
        <p:pic>
          <p:nvPicPr>
            <p:cNvPr id="68" name="object 7">
              <a:extLst>
                <a:ext uri="{FF2B5EF4-FFF2-40B4-BE49-F238E27FC236}">
                  <a16:creationId xmlns:a16="http://schemas.microsoft.com/office/drawing/2014/main" id="{9EE79A76-00A7-1DA5-8B83-167D8713662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6799" y="3855719"/>
              <a:ext cx="126492" cy="131063"/>
            </a:xfrm>
            <a:prstGeom prst="rect">
              <a:avLst/>
            </a:prstGeom>
          </p:spPr>
        </p:pic>
        <p:sp>
          <p:nvSpPr>
            <p:cNvPr id="69" name="object 8">
              <a:extLst>
                <a:ext uri="{FF2B5EF4-FFF2-40B4-BE49-F238E27FC236}">
                  <a16:creationId xmlns:a16="http://schemas.microsoft.com/office/drawing/2014/main" id="{E3FF78E6-41EC-93EB-E82A-D22999E20279}"/>
                </a:ext>
              </a:extLst>
            </p:cNvPr>
            <p:cNvSpPr/>
            <p:nvPr/>
          </p:nvSpPr>
          <p:spPr>
            <a:xfrm>
              <a:off x="992885" y="3283457"/>
              <a:ext cx="266700" cy="779145"/>
            </a:xfrm>
            <a:custGeom>
              <a:avLst/>
              <a:gdLst/>
              <a:ahLst/>
              <a:cxnLst/>
              <a:rect l="l" t="t" r="r" b="b"/>
              <a:pathLst>
                <a:path w="266700" h="779145">
                  <a:moveTo>
                    <a:pt x="222250" y="0"/>
                  </a:moveTo>
                  <a:lnTo>
                    <a:pt x="239551" y="3498"/>
                  </a:lnTo>
                  <a:lnTo>
                    <a:pt x="253680" y="13033"/>
                  </a:lnTo>
                  <a:lnTo>
                    <a:pt x="263206" y="27164"/>
                  </a:lnTo>
                  <a:lnTo>
                    <a:pt x="266700" y="44450"/>
                  </a:lnTo>
                  <a:lnTo>
                    <a:pt x="266700" y="734313"/>
                  </a:lnTo>
                  <a:lnTo>
                    <a:pt x="263206" y="751599"/>
                  </a:lnTo>
                  <a:lnTo>
                    <a:pt x="253680" y="765730"/>
                  </a:lnTo>
                  <a:lnTo>
                    <a:pt x="239551" y="775265"/>
                  </a:lnTo>
                  <a:lnTo>
                    <a:pt x="222250" y="778763"/>
                  </a:lnTo>
                  <a:lnTo>
                    <a:pt x="44450" y="778763"/>
                  </a:lnTo>
                  <a:lnTo>
                    <a:pt x="27148" y="775265"/>
                  </a:lnTo>
                  <a:lnTo>
                    <a:pt x="13019" y="765730"/>
                  </a:lnTo>
                  <a:lnTo>
                    <a:pt x="3493" y="751599"/>
                  </a:lnTo>
                  <a:lnTo>
                    <a:pt x="0" y="734313"/>
                  </a:lnTo>
                  <a:lnTo>
                    <a:pt x="0" y="44450"/>
                  </a:lnTo>
                  <a:lnTo>
                    <a:pt x="3493" y="27164"/>
                  </a:lnTo>
                  <a:lnTo>
                    <a:pt x="13019" y="13033"/>
                  </a:lnTo>
                  <a:lnTo>
                    <a:pt x="27148" y="3498"/>
                  </a:lnTo>
                  <a:lnTo>
                    <a:pt x="44450" y="0"/>
                  </a:lnTo>
                  <a:lnTo>
                    <a:pt x="22225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70" name="object 9">
              <a:extLst>
                <a:ext uri="{FF2B5EF4-FFF2-40B4-BE49-F238E27FC236}">
                  <a16:creationId xmlns:a16="http://schemas.microsoft.com/office/drawing/2014/main" id="{A8AEA84F-5744-1DEE-A528-ED466E19691C}"/>
                </a:ext>
              </a:extLst>
            </p:cNvPr>
            <p:cNvSpPr/>
            <p:nvPr/>
          </p:nvSpPr>
          <p:spPr>
            <a:xfrm>
              <a:off x="1071232" y="3617848"/>
              <a:ext cx="533400" cy="1054100"/>
            </a:xfrm>
            <a:custGeom>
              <a:avLst/>
              <a:gdLst/>
              <a:ahLst/>
              <a:cxnLst/>
              <a:rect l="l" t="t" r="r" b="b"/>
              <a:pathLst>
                <a:path w="533400" h="1054100">
                  <a:moveTo>
                    <a:pt x="111531" y="539877"/>
                  </a:moveTo>
                  <a:lnTo>
                    <a:pt x="67183" y="463931"/>
                  </a:lnTo>
                  <a:lnTo>
                    <a:pt x="55765" y="444373"/>
                  </a:lnTo>
                  <a:lnTo>
                    <a:pt x="0" y="539877"/>
                  </a:lnTo>
                  <a:lnTo>
                    <a:pt x="1600" y="545973"/>
                  </a:lnTo>
                  <a:lnTo>
                    <a:pt x="11049" y="551561"/>
                  </a:lnTo>
                  <a:lnTo>
                    <a:pt x="17119" y="549910"/>
                  </a:lnTo>
                  <a:lnTo>
                    <a:pt x="45859" y="500659"/>
                  </a:lnTo>
                  <a:lnTo>
                    <a:pt x="45859" y="1053973"/>
                  </a:lnTo>
                  <a:lnTo>
                    <a:pt x="65671" y="1053973"/>
                  </a:lnTo>
                  <a:lnTo>
                    <a:pt x="65671" y="500659"/>
                  </a:lnTo>
                  <a:lnTo>
                    <a:pt x="94411" y="549910"/>
                  </a:lnTo>
                  <a:lnTo>
                    <a:pt x="100482" y="551561"/>
                  </a:lnTo>
                  <a:lnTo>
                    <a:pt x="109931" y="545973"/>
                  </a:lnTo>
                  <a:lnTo>
                    <a:pt x="111531" y="539877"/>
                  </a:lnTo>
                  <a:close/>
                </a:path>
                <a:path w="533400" h="1054100">
                  <a:moveTo>
                    <a:pt x="533031" y="55753"/>
                  </a:moveTo>
                  <a:lnTo>
                    <a:pt x="516039" y="45847"/>
                  </a:lnTo>
                  <a:lnTo>
                    <a:pt x="442226" y="2794"/>
                  </a:lnTo>
                  <a:lnTo>
                    <a:pt x="437527" y="0"/>
                  </a:lnTo>
                  <a:lnTo>
                    <a:pt x="431431" y="1524"/>
                  </a:lnTo>
                  <a:lnTo>
                    <a:pt x="428637" y="6350"/>
                  </a:lnTo>
                  <a:lnTo>
                    <a:pt x="425970" y="11049"/>
                  </a:lnTo>
                  <a:lnTo>
                    <a:pt x="427494" y="17145"/>
                  </a:lnTo>
                  <a:lnTo>
                    <a:pt x="432193" y="19812"/>
                  </a:lnTo>
                  <a:lnTo>
                    <a:pt x="476808" y="45847"/>
                  </a:lnTo>
                  <a:lnTo>
                    <a:pt x="188353" y="45847"/>
                  </a:lnTo>
                  <a:lnTo>
                    <a:pt x="188353" y="65659"/>
                  </a:lnTo>
                  <a:lnTo>
                    <a:pt x="476808" y="65659"/>
                  </a:lnTo>
                  <a:lnTo>
                    <a:pt x="432193" y="91694"/>
                  </a:lnTo>
                  <a:lnTo>
                    <a:pt x="427494" y="94361"/>
                  </a:lnTo>
                  <a:lnTo>
                    <a:pt x="425970" y="100457"/>
                  </a:lnTo>
                  <a:lnTo>
                    <a:pt x="428637" y="105156"/>
                  </a:lnTo>
                  <a:lnTo>
                    <a:pt x="431431" y="109982"/>
                  </a:lnTo>
                  <a:lnTo>
                    <a:pt x="437527" y="111506"/>
                  </a:lnTo>
                  <a:lnTo>
                    <a:pt x="442226" y="108712"/>
                  </a:lnTo>
                  <a:lnTo>
                    <a:pt x="516039" y="65659"/>
                  </a:lnTo>
                  <a:lnTo>
                    <a:pt x="533031" y="55753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pic>
          <p:nvPicPr>
            <p:cNvPr id="71" name="object 10">
              <a:extLst>
                <a:ext uri="{FF2B5EF4-FFF2-40B4-BE49-F238E27FC236}">
                  <a16:creationId xmlns:a16="http://schemas.microsoft.com/office/drawing/2014/main" id="{DEE92133-0C43-7DA9-FFD7-CCBE67EF8055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91055" y="2611373"/>
              <a:ext cx="6444996" cy="2060448"/>
            </a:xfrm>
            <a:prstGeom prst="rect">
              <a:avLst/>
            </a:prstGeom>
          </p:spPr>
        </p:pic>
        <p:sp>
          <p:nvSpPr>
            <p:cNvPr id="72" name="object 11">
              <a:extLst>
                <a:ext uri="{FF2B5EF4-FFF2-40B4-BE49-F238E27FC236}">
                  <a16:creationId xmlns:a16="http://schemas.microsoft.com/office/drawing/2014/main" id="{CE3A4036-7AA2-365E-71C0-BDE3AE1BFF55}"/>
                </a:ext>
              </a:extLst>
            </p:cNvPr>
            <p:cNvSpPr/>
            <p:nvPr/>
          </p:nvSpPr>
          <p:spPr>
            <a:xfrm>
              <a:off x="2625090" y="3105149"/>
              <a:ext cx="645160" cy="1077595"/>
            </a:xfrm>
            <a:custGeom>
              <a:avLst/>
              <a:gdLst/>
              <a:ahLst/>
              <a:cxnLst/>
              <a:rect l="l" t="t" r="r" b="b"/>
              <a:pathLst>
                <a:path w="645160" h="1077595">
                  <a:moveTo>
                    <a:pt x="0" y="1077468"/>
                  </a:moveTo>
                  <a:lnTo>
                    <a:pt x="644651" y="1077468"/>
                  </a:lnTo>
                  <a:lnTo>
                    <a:pt x="644651" y="0"/>
                  </a:lnTo>
                  <a:lnTo>
                    <a:pt x="0" y="0"/>
                  </a:lnTo>
                  <a:lnTo>
                    <a:pt x="0" y="1077468"/>
                  </a:lnTo>
                  <a:close/>
                </a:path>
              </a:pathLst>
            </a:custGeom>
            <a:ln w="28956">
              <a:solidFill>
                <a:srgbClr val="FF86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</p:grpSp>
      <p:sp>
        <p:nvSpPr>
          <p:cNvPr id="73" name="object 12">
            <a:extLst>
              <a:ext uri="{FF2B5EF4-FFF2-40B4-BE49-F238E27FC236}">
                <a16:creationId xmlns:a16="http://schemas.microsoft.com/office/drawing/2014/main" id="{86EC8351-4BF6-0C30-12CB-B236E6FF054C}"/>
              </a:ext>
            </a:extLst>
          </p:cNvPr>
          <p:cNvSpPr txBox="1"/>
          <p:nvPr/>
        </p:nvSpPr>
        <p:spPr>
          <a:xfrm>
            <a:off x="1844731" y="3018504"/>
            <a:ext cx="237053" cy="1530378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Encoder</a:t>
            </a: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RNN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76" name="object 15">
            <a:extLst>
              <a:ext uri="{FF2B5EF4-FFF2-40B4-BE49-F238E27FC236}">
                <a16:creationId xmlns:a16="http://schemas.microsoft.com/office/drawing/2014/main" id="{87C366E5-3296-FAD4-5456-FB982F64C2B5}"/>
              </a:ext>
            </a:extLst>
          </p:cNvPr>
          <p:cNvSpPr/>
          <p:nvPr/>
        </p:nvSpPr>
        <p:spPr>
          <a:xfrm>
            <a:off x="2133276" y="3529261"/>
            <a:ext cx="187960" cy="779145"/>
          </a:xfrm>
          <a:custGeom>
            <a:avLst/>
            <a:gdLst/>
            <a:ahLst/>
            <a:cxnLst/>
            <a:rect l="l" t="t" r="r" b="b"/>
            <a:pathLst>
              <a:path w="187959" h="779145">
                <a:moveTo>
                  <a:pt x="187452" y="778763"/>
                </a:moveTo>
                <a:lnTo>
                  <a:pt x="150968" y="772991"/>
                </a:lnTo>
                <a:lnTo>
                  <a:pt x="121177" y="757253"/>
                </a:lnTo>
                <a:lnTo>
                  <a:pt x="101091" y="733919"/>
                </a:lnTo>
                <a:lnTo>
                  <a:pt x="93725" y="705357"/>
                </a:lnTo>
                <a:lnTo>
                  <a:pt x="93725" y="462787"/>
                </a:lnTo>
                <a:lnTo>
                  <a:pt x="86360" y="434226"/>
                </a:lnTo>
                <a:lnTo>
                  <a:pt x="66274" y="410892"/>
                </a:lnTo>
                <a:lnTo>
                  <a:pt x="36483" y="395154"/>
                </a:lnTo>
                <a:lnTo>
                  <a:pt x="0" y="389381"/>
                </a:lnTo>
                <a:lnTo>
                  <a:pt x="36483" y="383609"/>
                </a:lnTo>
                <a:lnTo>
                  <a:pt x="66274" y="367871"/>
                </a:lnTo>
                <a:lnTo>
                  <a:pt x="86360" y="344537"/>
                </a:lnTo>
                <a:lnTo>
                  <a:pt x="93725" y="315975"/>
                </a:lnTo>
                <a:lnTo>
                  <a:pt x="93725" y="73405"/>
                </a:lnTo>
                <a:lnTo>
                  <a:pt x="101091" y="44844"/>
                </a:lnTo>
                <a:lnTo>
                  <a:pt x="121177" y="21510"/>
                </a:lnTo>
                <a:lnTo>
                  <a:pt x="150968" y="5772"/>
                </a:lnTo>
                <a:lnTo>
                  <a:pt x="187452" y="0"/>
                </a:lnTo>
              </a:path>
            </a:pathLst>
          </a:custGeom>
          <a:ln w="1981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77" name="object 16">
            <a:extLst>
              <a:ext uri="{FF2B5EF4-FFF2-40B4-BE49-F238E27FC236}">
                <a16:creationId xmlns:a16="http://schemas.microsoft.com/office/drawing/2014/main" id="{CDE55EEC-AC89-EE9A-71C1-20EDE655B937}"/>
              </a:ext>
            </a:extLst>
          </p:cNvPr>
          <p:cNvSpPr txBox="1"/>
          <p:nvPr/>
        </p:nvSpPr>
        <p:spPr>
          <a:xfrm>
            <a:off x="5576436" y="4941373"/>
            <a:ext cx="1197588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>
                <a:tab pos="895985" algn="l"/>
              </a:tabLst>
              <a:defRPr/>
            </a:pPr>
            <a:r>
              <a:rPr kumimoji="0" sz="1600" b="0" i="1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&lt;</a:t>
            </a:r>
            <a:r>
              <a:rPr kumimoji="0" sz="1600" b="0" i="1" u="none" strike="noStrike" kern="120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</a:t>
            </a:r>
            <a:r>
              <a:rPr kumimoji="0" sz="1600" b="0" i="1" u="none" strike="noStrike" kern="1200" cap="none" spc="-1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</a:t>
            </a:r>
            <a:r>
              <a:rPr kumimoji="0" sz="16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</a:t>
            </a:r>
            <a:r>
              <a:rPr kumimoji="0" sz="1600" b="0" i="1" u="none" strike="noStrike" kern="1200" cap="none" spc="-4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R</a:t>
            </a:r>
            <a:r>
              <a:rPr kumimoji="0" sz="1600" b="0" i="1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</a:t>
            </a:r>
            <a:r>
              <a:rPr kumimoji="0" sz="16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&gt;</a:t>
            </a:r>
            <a:r>
              <a:rPr kumimoji="0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	</a:t>
            </a:r>
            <a:r>
              <a:rPr kumimoji="0" lang="en-US" sz="1600" b="0" i="1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we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78" name="object 17">
            <a:extLst>
              <a:ext uri="{FF2B5EF4-FFF2-40B4-BE49-F238E27FC236}">
                <a16:creationId xmlns:a16="http://schemas.microsoft.com/office/drawing/2014/main" id="{65B8E4B0-CF0A-116E-E8F5-9F22C02CEE24}"/>
              </a:ext>
            </a:extLst>
          </p:cNvPr>
          <p:cNvSpPr txBox="1"/>
          <p:nvPr/>
        </p:nvSpPr>
        <p:spPr>
          <a:xfrm>
            <a:off x="7029453" y="4941373"/>
            <a:ext cx="388752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had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79" name="object 18">
            <a:extLst>
              <a:ext uri="{FF2B5EF4-FFF2-40B4-BE49-F238E27FC236}">
                <a16:creationId xmlns:a16="http://schemas.microsoft.com/office/drawing/2014/main" id="{59A02D7D-7FCD-9588-9E19-11C0BB58A706}"/>
              </a:ext>
            </a:extLst>
          </p:cNvPr>
          <p:cNvSpPr txBox="1"/>
          <p:nvPr/>
        </p:nvSpPr>
        <p:spPr>
          <a:xfrm>
            <a:off x="7615866" y="4941373"/>
            <a:ext cx="96901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>
                <a:tab pos="591185" algn="l"/>
              </a:tabLst>
              <a:defRPr/>
            </a:pPr>
            <a:r>
              <a:rPr kumimoji="0" lang="en-US" sz="16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gone</a:t>
            </a:r>
            <a:r>
              <a:rPr kumimoji="0" sz="16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	</a:t>
            </a:r>
            <a:r>
              <a:rPr kumimoji="0" lang="en-US" sz="16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   to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80" name="object 19">
            <a:extLst>
              <a:ext uri="{FF2B5EF4-FFF2-40B4-BE49-F238E27FC236}">
                <a16:creationId xmlns:a16="http://schemas.microsoft.com/office/drawing/2014/main" id="{B3AFF95E-30B6-176A-E429-D884FE10D611}"/>
              </a:ext>
            </a:extLst>
          </p:cNvPr>
          <p:cNvSpPr txBox="1"/>
          <p:nvPr/>
        </p:nvSpPr>
        <p:spPr>
          <a:xfrm>
            <a:off x="8829192" y="4941373"/>
            <a:ext cx="388752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the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81" name="object 20">
            <a:extLst>
              <a:ext uri="{FF2B5EF4-FFF2-40B4-BE49-F238E27FC236}">
                <a16:creationId xmlns:a16="http://schemas.microsoft.com/office/drawing/2014/main" id="{993AAF4D-CCFF-C66B-6238-ADA0FC396F24}"/>
              </a:ext>
            </a:extLst>
          </p:cNvPr>
          <p:cNvSpPr txBox="1"/>
          <p:nvPr/>
        </p:nvSpPr>
        <p:spPr>
          <a:xfrm>
            <a:off x="9292327" y="4941373"/>
            <a:ext cx="663431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market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85" name="object 24">
            <a:extLst>
              <a:ext uri="{FF2B5EF4-FFF2-40B4-BE49-F238E27FC236}">
                <a16:creationId xmlns:a16="http://schemas.microsoft.com/office/drawing/2014/main" id="{8B25B691-1C27-8F16-7134-92C143C86BC9}"/>
              </a:ext>
            </a:extLst>
          </p:cNvPr>
          <p:cNvSpPr txBox="1"/>
          <p:nvPr/>
        </p:nvSpPr>
        <p:spPr>
          <a:xfrm>
            <a:off x="5795892" y="2513006"/>
            <a:ext cx="293371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we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86" name="object 25">
            <a:extLst>
              <a:ext uri="{FF2B5EF4-FFF2-40B4-BE49-F238E27FC236}">
                <a16:creationId xmlns:a16="http://schemas.microsoft.com/office/drawing/2014/main" id="{F1C3345B-A21A-084B-327F-746023203293}"/>
              </a:ext>
            </a:extLst>
          </p:cNvPr>
          <p:cNvSpPr txBox="1"/>
          <p:nvPr/>
        </p:nvSpPr>
        <p:spPr>
          <a:xfrm>
            <a:off x="6432614" y="2513006"/>
            <a:ext cx="34141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had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87" name="object 26">
            <a:extLst>
              <a:ext uri="{FF2B5EF4-FFF2-40B4-BE49-F238E27FC236}">
                <a16:creationId xmlns:a16="http://schemas.microsoft.com/office/drawing/2014/main" id="{A20911F7-96B5-1941-FE53-8006D6B75B10}"/>
              </a:ext>
            </a:extLst>
          </p:cNvPr>
          <p:cNvSpPr txBox="1"/>
          <p:nvPr/>
        </p:nvSpPr>
        <p:spPr>
          <a:xfrm>
            <a:off x="7020244" y="2513006"/>
            <a:ext cx="969644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>
                <a:tab pos="591820" algn="l"/>
              </a:tabLst>
              <a:defRPr/>
            </a:pPr>
            <a:r>
              <a:rPr kumimoji="0" lang="en-US" sz="16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gone</a:t>
            </a:r>
            <a:r>
              <a:rPr kumimoji="0" sz="16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	</a:t>
            </a:r>
            <a:r>
              <a:rPr kumimoji="0" lang="en-US" sz="16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 to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88" name="object 27">
            <a:extLst>
              <a:ext uri="{FF2B5EF4-FFF2-40B4-BE49-F238E27FC236}">
                <a16:creationId xmlns:a16="http://schemas.microsoft.com/office/drawing/2014/main" id="{383BA5A5-004C-ED9A-3D9F-10998206A488}"/>
              </a:ext>
            </a:extLst>
          </p:cNvPr>
          <p:cNvSpPr txBox="1"/>
          <p:nvPr/>
        </p:nvSpPr>
        <p:spPr>
          <a:xfrm>
            <a:off x="8262792" y="2513006"/>
            <a:ext cx="293371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the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89" name="object 28">
            <a:extLst>
              <a:ext uri="{FF2B5EF4-FFF2-40B4-BE49-F238E27FC236}">
                <a16:creationId xmlns:a16="http://schemas.microsoft.com/office/drawing/2014/main" id="{0679F7AC-40A6-45C1-24D1-C44113F098CE}"/>
              </a:ext>
            </a:extLst>
          </p:cNvPr>
          <p:cNvSpPr txBox="1"/>
          <p:nvPr/>
        </p:nvSpPr>
        <p:spPr>
          <a:xfrm>
            <a:off x="8742786" y="2513006"/>
            <a:ext cx="1579884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>
                <a:tab pos="443865" algn="l"/>
              </a:tabLst>
              <a:defRPr/>
            </a:pPr>
            <a:r>
              <a:rPr kumimoji="0" lang="en-US" sz="1600" b="0" i="1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market    </a:t>
            </a:r>
            <a:r>
              <a:rPr kumimoji="0" sz="1600" b="0" i="1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&lt;E</a:t>
            </a:r>
            <a:r>
              <a:rPr kumimoji="0" sz="16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N</a:t>
            </a:r>
            <a:r>
              <a:rPr kumimoji="0" lang="en-IN" sz="16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D</a:t>
            </a:r>
            <a:r>
              <a:rPr kumimoji="0" sz="16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&gt;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90" name="object 29">
            <a:extLst>
              <a:ext uri="{FF2B5EF4-FFF2-40B4-BE49-F238E27FC236}">
                <a16:creationId xmlns:a16="http://schemas.microsoft.com/office/drawing/2014/main" id="{C0AB07CD-33C1-80F1-0A35-066773EE6D60}"/>
              </a:ext>
            </a:extLst>
          </p:cNvPr>
          <p:cNvSpPr txBox="1"/>
          <p:nvPr/>
        </p:nvSpPr>
        <p:spPr>
          <a:xfrm>
            <a:off x="10416573" y="3290192"/>
            <a:ext cx="237053" cy="1527613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Decoder</a:t>
            </a:r>
            <a:r>
              <a:rPr kumimoji="0" sz="1800" b="0" i="0" u="none" strike="noStrike" kern="1200" cap="none" spc="-3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RNN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91" name="object 30">
            <a:extLst>
              <a:ext uri="{FF2B5EF4-FFF2-40B4-BE49-F238E27FC236}">
                <a16:creationId xmlns:a16="http://schemas.microsoft.com/office/drawing/2014/main" id="{5BF8BDE9-11EE-2E2F-2B09-90048C0FE9F2}"/>
              </a:ext>
            </a:extLst>
          </p:cNvPr>
          <p:cNvSpPr/>
          <p:nvPr/>
        </p:nvSpPr>
        <p:spPr>
          <a:xfrm>
            <a:off x="5795892" y="2169852"/>
            <a:ext cx="4098290" cy="271780"/>
          </a:xfrm>
          <a:custGeom>
            <a:avLst/>
            <a:gdLst/>
            <a:ahLst/>
            <a:cxnLst/>
            <a:rect l="l" t="t" r="r" b="b"/>
            <a:pathLst>
              <a:path w="4098290" h="271780">
                <a:moveTo>
                  <a:pt x="0" y="271272"/>
                </a:moveTo>
                <a:lnTo>
                  <a:pt x="8338" y="218467"/>
                </a:lnTo>
                <a:lnTo>
                  <a:pt x="31083" y="175355"/>
                </a:lnTo>
                <a:lnTo>
                  <a:pt x="64829" y="146292"/>
                </a:lnTo>
                <a:lnTo>
                  <a:pt x="106171" y="135636"/>
                </a:lnTo>
                <a:lnTo>
                  <a:pt x="1942845" y="135636"/>
                </a:lnTo>
                <a:lnTo>
                  <a:pt x="1984188" y="124979"/>
                </a:lnTo>
                <a:lnTo>
                  <a:pt x="2017934" y="95916"/>
                </a:lnTo>
                <a:lnTo>
                  <a:pt x="2040679" y="52804"/>
                </a:lnTo>
                <a:lnTo>
                  <a:pt x="2049017" y="0"/>
                </a:lnTo>
                <a:lnTo>
                  <a:pt x="2057356" y="52804"/>
                </a:lnTo>
                <a:lnTo>
                  <a:pt x="2080101" y="95916"/>
                </a:lnTo>
                <a:lnTo>
                  <a:pt x="2113847" y="124979"/>
                </a:lnTo>
                <a:lnTo>
                  <a:pt x="2155190" y="135636"/>
                </a:lnTo>
                <a:lnTo>
                  <a:pt x="3991864" y="135636"/>
                </a:lnTo>
                <a:lnTo>
                  <a:pt x="4033206" y="146292"/>
                </a:lnTo>
                <a:lnTo>
                  <a:pt x="4066952" y="175355"/>
                </a:lnTo>
                <a:lnTo>
                  <a:pt x="4089697" y="218467"/>
                </a:lnTo>
                <a:lnTo>
                  <a:pt x="4098036" y="271272"/>
                </a:lnTo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93" name="object 32">
            <a:extLst>
              <a:ext uri="{FF2B5EF4-FFF2-40B4-BE49-F238E27FC236}">
                <a16:creationId xmlns:a16="http://schemas.microsoft.com/office/drawing/2014/main" id="{77B249AD-372B-7A3B-2F74-9B1A1BD8DBA0}"/>
              </a:ext>
            </a:extLst>
          </p:cNvPr>
          <p:cNvSpPr/>
          <p:nvPr/>
        </p:nvSpPr>
        <p:spPr>
          <a:xfrm>
            <a:off x="10156547" y="3542288"/>
            <a:ext cx="189230" cy="779145"/>
          </a:xfrm>
          <a:custGeom>
            <a:avLst/>
            <a:gdLst/>
            <a:ahLst/>
            <a:cxnLst/>
            <a:rect l="l" t="t" r="r" b="b"/>
            <a:pathLst>
              <a:path w="189229" h="779145">
                <a:moveTo>
                  <a:pt x="0" y="0"/>
                </a:moveTo>
                <a:lnTo>
                  <a:pt x="36784" y="5816"/>
                </a:lnTo>
                <a:lnTo>
                  <a:pt x="66817" y="21669"/>
                </a:lnTo>
                <a:lnTo>
                  <a:pt x="87064" y="45166"/>
                </a:lnTo>
                <a:lnTo>
                  <a:pt x="94488" y="73914"/>
                </a:lnTo>
                <a:lnTo>
                  <a:pt x="94488" y="315468"/>
                </a:lnTo>
                <a:lnTo>
                  <a:pt x="101911" y="344215"/>
                </a:lnTo>
                <a:lnTo>
                  <a:pt x="122158" y="367712"/>
                </a:lnTo>
                <a:lnTo>
                  <a:pt x="152191" y="383565"/>
                </a:lnTo>
                <a:lnTo>
                  <a:pt x="188975" y="389382"/>
                </a:lnTo>
                <a:lnTo>
                  <a:pt x="152191" y="395198"/>
                </a:lnTo>
                <a:lnTo>
                  <a:pt x="122158" y="411051"/>
                </a:lnTo>
                <a:lnTo>
                  <a:pt x="101911" y="434548"/>
                </a:lnTo>
                <a:lnTo>
                  <a:pt x="94488" y="463296"/>
                </a:lnTo>
                <a:lnTo>
                  <a:pt x="94488" y="704850"/>
                </a:lnTo>
                <a:lnTo>
                  <a:pt x="87064" y="733597"/>
                </a:lnTo>
                <a:lnTo>
                  <a:pt x="66817" y="757094"/>
                </a:lnTo>
                <a:lnTo>
                  <a:pt x="36784" y="772947"/>
                </a:lnTo>
                <a:lnTo>
                  <a:pt x="0" y="778764"/>
                </a:lnTo>
              </a:path>
            </a:pathLst>
          </a:custGeom>
          <a:ln w="19812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94" name="object 34">
            <a:extLst>
              <a:ext uri="{FF2B5EF4-FFF2-40B4-BE49-F238E27FC236}">
                <a16:creationId xmlns:a16="http://schemas.microsoft.com/office/drawing/2014/main" id="{47A91643-EB59-E244-3672-BEB8EDE14084}"/>
              </a:ext>
            </a:extLst>
          </p:cNvPr>
          <p:cNvSpPr/>
          <p:nvPr/>
        </p:nvSpPr>
        <p:spPr>
          <a:xfrm>
            <a:off x="3383781" y="1856918"/>
            <a:ext cx="892175" cy="1493520"/>
          </a:xfrm>
          <a:custGeom>
            <a:avLst/>
            <a:gdLst/>
            <a:ahLst/>
            <a:cxnLst/>
            <a:rect l="l" t="t" r="r" b="b"/>
            <a:pathLst>
              <a:path w="892175" h="1493520">
                <a:moveTo>
                  <a:pt x="817445" y="1404178"/>
                </a:moveTo>
                <a:lnTo>
                  <a:pt x="784606" y="1423542"/>
                </a:lnTo>
                <a:lnTo>
                  <a:pt x="891921" y="1493012"/>
                </a:lnTo>
                <a:lnTo>
                  <a:pt x="886873" y="1420622"/>
                </a:lnTo>
                <a:lnTo>
                  <a:pt x="827151" y="1420622"/>
                </a:lnTo>
                <a:lnTo>
                  <a:pt x="817445" y="1404178"/>
                </a:lnTo>
                <a:close/>
              </a:path>
              <a:path w="892175" h="1493520">
                <a:moveTo>
                  <a:pt x="850258" y="1384829"/>
                </a:moveTo>
                <a:lnTo>
                  <a:pt x="817445" y="1404178"/>
                </a:lnTo>
                <a:lnTo>
                  <a:pt x="827151" y="1420622"/>
                </a:lnTo>
                <a:lnTo>
                  <a:pt x="859917" y="1401190"/>
                </a:lnTo>
                <a:lnTo>
                  <a:pt x="850258" y="1384829"/>
                </a:lnTo>
                <a:close/>
              </a:path>
              <a:path w="892175" h="1493520">
                <a:moveTo>
                  <a:pt x="883031" y="1365503"/>
                </a:moveTo>
                <a:lnTo>
                  <a:pt x="850258" y="1384829"/>
                </a:lnTo>
                <a:lnTo>
                  <a:pt x="859917" y="1401190"/>
                </a:lnTo>
                <a:lnTo>
                  <a:pt x="827151" y="1420622"/>
                </a:lnTo>
                <a:lnTo>
                  <a:pt x="886873" y="1420622"/>
                </a:lnTo>
                <a:lnTo>
                  <a:pt x="883031" y="1365503"/>
                </a:lnTo>
                <a:close/>
              </a:path>
              <a:path w="892175" h="1493520">
                <a:moveTo>
                  <a:pt x="32766" y="0"/>
                </a:moveTo>
                <a:lnTo>
                  <a:pt x="0" y="19303"/>
                </a:lnTo>
                <a:lnTo>
                  <a:pt x="817445" y="1404178"/>
                </a:lnTo>
                <a:lnTo>
                  <a:pt x="850258" y="1384829"/>
                </a:lnTo>
                <a:lnTo>
                  <a:pt x="32766" y="0"/>
                </a:lnTo>
                <a:close/>
              </a:path>
            </a:pathLst>
          </a:custGeom>
          <a:solidFill>
            <a:srgbClr val="FF86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EE8C07D5-F3C1-2789-F8D4-B529CB6E9633}"/>
              </a:ext>
            </a:extLst>
          </p:cNvPr>
          <p:cNvSpPr/>
          <p:nvPr/>
        </p:nvSpPr>
        <p:spPr>
          <a:xfrm>
            <a:off x="5690308" y="5493297"/>
            <a:ext cx="4056553" cy="437466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accent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Any problems with this architecture?</a:t>
            </a:r>
          </a:p>
        </p:txBody>
      </p:sp>
      <p:sp>
        <p:nvSpPr>
          <p:cNvPr id="97" name="object 31">
            <a:extLst>
              <a:ext uri="{FF2B5EF4-FFF2-40B4-BE49-F238E27FC236}">
                <a16:creationId xmlns:a16="http://schemas.microsoft.com/office/drawing/2014/main" id="{12E2F695-25D6-18C7-3C62-1667C76B282B}"/>
              </a:ext>
            </a:extLst>
          </p:cNvPr>
          <p:cNvSpPr txBox="1"/>
          <p:nvPr/>
        </p:nvSpPr>
        <p:spPr>
          <a:xfrm>
            <a:off x="923103" y="1572045"/>
            <a:ext cx="8659436" cy="5796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858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Encoding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of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the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source</a:t>
            </a:r>
            <a:r>
              <a:rPr kumimoji="0" sz="1800" b="0" i="0" u="none" strike="noStrike" kern="1200" cap="none" spc="-35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sentence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  <a:p>
            <a:pPr marL="4095115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3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		          </a:t>
            </a:r>
            <a:r>
              <a:rPr kumimoji="0" sz="1800" b="0" i="0" u="none" strike="noStrike" kern="1200" cap="none" spc="-3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Target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sentence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(output)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FDDFC86B-EA72-856B-569E-B5DA5BA18F1B}"/>
              </a:ext>
            </a:extLst>
          </p:cNvPr>
          <p:cNvSpPr txBox="1"/>
          <p:nvPr/>
        </p:nvSpPr>
        <p:spPr>
          <a:xfrm>
            <a:off x="2619945" y="5599998"/>
            <a:ext cx="2230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Source sentence</a:t>
            </a:r>
            <a:r>
              <a:rPr kumimoji="0" sz="1800" b="0" i="0" u="none" strike="noStrike" kern="120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(input)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D9FE7885-3347-9021-1D9B-F15594D2A6CB}"/>
              </a:ext>
            </a:extLst>
          </p:cNvPr>
          <p:cNvSpPr/>
          <p:nvPr/>
        </p:nvSpPr>
        <p:spPr>
          <a:xfrm>
            <a:off x="2544322" y="5425450"/>
            <a:ext cx="2343455" cy="197550"/>
          </a:xfrm>
          <a:custGeom>
            <a:avLst/>
            <a:gdLst/>
            <a:ahLst/>
            <a:cxnLst/>
            <a:rect l="l" t="t" r="r" b="b"/>
            <a:pathLst>
              <a:path w="2435860" h="271779">
                <a:moveTo>
                  <a:pt x="2435352" y="0"/>
                </a:moveTo>
                <a:lnTo>
                  <a:pt x="2427013" y="52804"/>
                </a:lnTo>
                <a:lnTo>
                  <a:pt x="2404268" y="95916"/>
                </a:lnTo>
                <a:lnTo>
                  <a:pt x="2370522" y="124979"/>
                </a:lnTo>
                <a:lnTo>
                  <a:pt x="2329180" y="135636"/>
                </a:lnTo>
                <a:lnTo>
                  <a:pt x="1323848" y="135636"/>
                </a:lnTo>
                <a:lnTo>
                  <a:pt x="1282505" y="146292"/>
                </a:lnTo>
                <a:lnTo>
                  <a:pt x="1248759" y="175355"/>
                </a:lnTo>
                <a:lnTo>
                  <a:pt x="1226014" y="218467"/>
                </a:lnTo>
                <a:lnTo>
                  <a:pt x="1217676" y="271272"/>
                </a:lnTo>
                <a:lnTo>
                  <a:pt x="1209337" y="218467"/>
                </a:lnTo>
                <a:lnTo>
                  <a:pt x="1186592" y="175355"/>
                </a:lnTo>
                <a:lnTo>
                  <a:pt x="1152846" y="146292"/>
                </a:lnTo>
                <a:lnTo>
                  <a:pt x="1111504" y="135636"/>
                </a:lnTo>
                <a:lnTo>
                  <a:pt x="106146" y="135636"/>
                </a:lnTo>
                <a:lnTo>
                  <a:pt x="64829" y="124979"/>
                </a:lnTo>
                <a:lnTo>
                  <a:pt x="31089" y="95916"/>
                </a:lnTo>
                <a:lnTo>
                  <a:pt x="8341" y="52804"/>
                </a:lnTo>
                <a:lnTo>
                  <a:pt x="0" y="0"/>
                </a:lnTo>
              </a:path>
            </a:pathLst>
          </a:custGeom>
          <a:ln w="198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5" name="object 21">
            <a:extLst>
              <a:ext uri="{FF2B5EF4-FFF2-40B4-BE49-F238E27FC236}">
                <a16:creationId xmlns:a16="http://schemas.microsoft.com/office/drawing/2014/main" id="{66E85CCF-39F6-A33B-AAF2-36E8C518804F}"/>
              </a:ext>
            </a:extLst>
          </p:cNvPr>
          <p:cNvSpPr txBox="1"/>
          <p:nvPr/>
        </p:nvSpPr>
        <p:spPr>
          <a:xfrm>
            <a:off x="2612948" y="4959076"/>
            <a:ext cx="40980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i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हम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16" name="object 22">
            <a:extLst>
              <a:ext uri="{FF2B5EF4-FFF2-40B4-BE49-F238E27FC236}">
                <a16:creationId xmlns:a16="http://schemas.microsoft.com/office/drawing/2014/main" id="{576A470A-3B82-9E12-4E62-F310CF9AE8CD}"/>
              </a:ext>
            </a:extLst>
          </p:cNvPr>
          <p:cNvSpPr txBox="1"/>
          <p:nvPr/>
        </p:nvSpPr>
        <p:spPr>
          <a:xfrm>
            <a:off x="3189235" y="4959076"/>
            <a:ext cx="53340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i-IN" sz="16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बाजार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17" name="object 21">
            <a:extLst>
              <a:ext uri="{FF2B5EF4-FFF2-40B4-BE49-F238E27FC236}">
                <a16:creationId xmlns:a16="http://schemas.microsoft.com/office/drawing/2014/main" id="{3436B891-2527-3AE8-5B4D-998D6FDEC6E5}"/>
              </a:ext>
            </a:extLst>
          </p:cNvPr>
          <p:cNvSpPr txBox="1"/>
          <p:nvPr/>
        </p:nvSpPr>
        <p:spPr>
          <a:xfrm>
            <a:off x="3845123" y="4962561"/>
            <a:ext cx="40980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i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गये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18" name="object 21">
            <a:extLst>
              <a:ext uri="{FF2B5EF4-FFF2-40B4-BE49-F238E27FC236}">
                <a16:creationId xmlns:a16="http://schemas.microsoft.com/office/drawing/2014/main" id="{B8EA8093-F996-4CB7-46F6-6A7545CEAE51}"/>
              </a:ext>
            </a:extLst>
          </p:cNvPr>
          <p:cNvSpPr txBox="1"/>
          <p:nvPr/>
        </p:nvSpPr>
        <p:spPr>
          <a:xfrm>
            <a:off x="4454717" y="4956339"/>
            <a:ext cx="40980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i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थे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8BE707-9C8B-16DC-7764-27EF9D0F017C}"/>
              </a:ext>
            </a:extLst>
          </p:cNvPr>
          <p:cNvSpPr txBox="1"/>
          <p:nvPr/>
        </p:nvSpPr>
        <p:spPr>
          <a:xfrm>
            <a:off x="2598976" y="5185505"/>
            <a:ext cx="2321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ham      baajaar     gaye         the</a:t>
            </a:r>
          </a:p>
        </p:txBody>
      </p:sp>
    </p:spTree>
    <p:extLst>
      <p:ext uri="{BB962C8B-B14F-4D97-AF65-F5344CB8AC3E}">
        <p14:creationId xmlns:p14="http://schemas.microsoft.com/office/powerpoint/2010/main" val="83224955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E1759-6C16-6D75-F8AC-91232ABF9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pc="-5" dirty="0"/>
              <a:t>Sequence-to-Sequence:</a:t>
            </a:r>
            <a:r>
              <a:rPr lang="en-IN" spc="-20" dirty="0"/>
              <a:t> T</a:t>
            </a:r>
            <a:r>
              <a:rPr lang="en-IN" dirty="0"/>
              <a:t>he Bottleneck</a:t>
            </a:r>
            <a:r>
              <a:rPr lang="en-IN" spc="-15" dirty="0"/>
              <a:t> P</a:t>
            </a:r>
            <a:r>
              <a:rPr lang="en-IN" dirty="0"/>
              <a:t>roblem</a:t>
            </a:r>
          </a:p>
        </p:txBody>
      </p:sp>
      <p:grpSp>
        <p:nvGrpSpPr>
          <p:cNvPr id="64" name="object 3">
            <a:extLst>
              <a:ext uri="{FF2B5EF4-FFF2-40B4-BE49-F238E27FC236}">
                <a16:creationId xmlns:a16="http://schemas.microsoft.com/office/drawing/2014/main" id="{38530717-46F7-66FE-C424-12D00AA345E2}"/>
              </a:ext>
            </a:extLst>
          </p:cNvPr>
          <p:cNvGrpSpPr/>
          <p:nvPr/>
        </p:nvGrpSpPr>
        <p:grpSpPr>
          <a:xfrm>
            <a:off x="2693535" y="2857176"/>
            <a:ext cx="7053580" cy="2060575"/>
            <a:chOff x="982725" y="2611373"/>
            <a:chExt cx="7053580" cy="2060575"/>
          </a:xfrm>
        </p:grpSpPr>
        <p:pic>
          <p:nvPicPr>
            <p:cNvPr id="65" name="object 4">
              <a:extLst>
                <a:ext uri="{FF2B5EF4-FFF2-40B4-BE49-F238E27FC236}">
                  <a16:creationId xmlns:a16="http://schemas.microsoft.com/office/drawing/2014/main" id="{AA4019CB-22B2-4940-3BBA-5A33F876829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6799" y="3348227"/>
              <a:ext cx="126492" cy="132587"/>
            </a:xfrm>
            <a:prstGeom prst="rect">
              <a:avLst/>
            </a:prstGeom>
          </p:spPr>
        </p:pic>
        <p:pic>
          <p:nvPicPr>
            <p:cNvPr id="66" name="object 5">
              <a:extLst>
                <a:ext uri="{FF2B5EF4-FFF2-40B4-BE49-F238E27FC236}">
                  <a16:creationId xmlns:a16="http://schemas.microsoft.com/office/drawing/2014/main" id="{EC782D93-3AA7-F7E9-D4A8-26FDB2B6AF5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6799" y="3517391"/>
              <a:ext cx="126492" cy="132587"/>
            </a:xfrm>
            <a:prstGeom prst="rect">
              <a:avLst/>
            </a:prstGeom>
          </p:spPr>
        </p:pic>
        <p:pic>
          <p:nvPicPr>
            <p:cNvPr id="67" name="object 6">
              <a:extLst>
                <a:ext uri="{FF2B5EF4-FFF2-40B4-BE49-F238E27FC236}">
                  <a16:creationId xmlns:a16="http://schemas.microsoft.com/office/drawing/2014/main" id="{CFD32105-9329-16FA-5087-D8B12452BB3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6799" y="3686555"/>
              <a:ext cx="126492" cy="132587"/>
            </a:xfrm>
            <a:prstGeom prst="rect">
              <a:avLst/>
            </a:prstGeom>
          </p:spPr>
        </p:pic>
        <p:pic>
          <p:nvPicPr>
            <p:cNvPr id="68" name="object 7">
              <a:extLst>
                <a:ext uri="{FF2B5EF4-FFF2-40B4-BE49-F238E27FC236}">
                  <a16:creationId xmlns:a16="http://schemas.microsoft.com/office/drawing/2014/main" id="{9EE79A76-00A7-1DA5-8B83-167D8713662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6799" y="3855719"/>
              <a:ext cx="126492" cy="131063"/>
            </a:xfrm>
            <a:prstGeom prst="rect">
              <a:avLst/>
            </a:prstGeom>
          </p:spPr>
        </p:pic>
        <p:sp>
          <p:nvSpPr>
            <p:cNvPr id="69" name="object 8">
              <a:extLst>
                <a:ext uri="{FF2B5EF4-FFF2-40B4-BE49-F238E27FC236}">
                  <a16:creationId xmlns:a16="http://schemas.microsoft.com/office/drawing/2014/main" id="{E3FF78E6-41EC-93EB-E82A-D22999E20279}"/>
                </a:ext>
              </a:extLst>
            </p:cNvPr>
            <p:cNvSpPr/>
            <p:nvPr/>
          </p:nvSpPr>
          <p:spPr>
            <a:xfrm>
              <a:off x="992885" y="3283457"/>
              <a:ext cx="266700" cy="779145"/>
            </a:xfrm>
            <a:custGeom>
              <a:avLst/>
              <a:gdLst/>
              <a:ahLst/>
              <a:cxnLst/>
              <a:rect l="l" t="t" r="r" b="b"/>
              <a:pathLst>
                <a:path w="266700" h="779145">
                  <a:moveTo>
                    <a:pt x="222250" y="0"/>
                  </a:moveTo>
                  <a:lnTo>
                    <a:pt x="239551" y="3498"/>
                  </a:lnTo>
                  <a:lnTo>
                    <a:pt x="253680" y="13033"/>
                  </a:lnTo>
                  <a:lnTo>
                    <a:pt x="263206" y="27164"/>
                  </a:lnTo>
                  <a:lnTo>
                    <a:pt x="266700" y="44450"/>
                  </a:lnTo>
                  <a:lnTo>
                    <a:pt x="266700" y="734313"/>
                  </a:lnTo>
                  <a:lnTo>
                    <a:pt x="263206" y="751599"/>
                  </a:lnTo>
                  <a:lnTo>
                    <a:pt x="253680" y="765730"/>
                  </a:lnTo>
                  <a:lnTo>
                    <a:pt x="239551" y="775265"/>
                  </a:lnTo>
                  <a:lnTo>
                    <a:pt x="222250" y="778763"/>
                  </a:lnTo>
                  <a:lnTo>
                    <a:pt x="44450" y="778763"/>
                  </a:lnTo>
                  <a:lnTo>
                    <a:pt x="27148" y="775265"/>
                  </a:lnTo>
                  <a:lnTo>
                    <a:pt x="13019" y="765730"/>
                  </a:lnTo>
                  <a:lnTo>
                    <a:pt x="3493" y="751599"/>
                  </a:lnTo>
                  <a:lnTo>
                    <a:pt x="0" y="734313"/>
                  </a:lnTo>
                  <a:lnTo>
                    <a:pt x="0" y="44450"/>
                  </a:lnTo>
                  <a:lnTo>
                    <a:pt x="3493" y="27164"/>
                  </a:lnTo>
                  <a:lnTo>
                    <a:pt x="13019" y="13033"/>
                  </a:lnTo>
                  <a:lnTo>
                    <a:pt x="27148" y="3498"/>
                  </a:lnTo>
                  <a:lnTo>
                    <a:pt x="44450" y="0"/>
                  </a:lnTo>
                  <a:lnTo>
                    <a:pt x="22225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70" name="object 9">
              <a:extLst>
                <a:ext uri="{FF2B5EF4-FFF2-40B4-BE49-F238E27FC236}">
                  <a16:creationId xmlns:a16="http://schemas.microsoft.com/office/drawing/2014/main" id="{A8AEA84F-5744-1DEE-A528-ED466E19691C}"/>
                </a:ext>
              </a:extLst>
            </p:cNvPr>
            <p:cNvSpPr/>
            <p:nvPr/>
          </p:nvSpPr>
          <p:spPr>
            <a:xfrm>
              <a:off x="1071232" y="3617848"/>
              <a:ext cx="533400" cy="1054100"/>
            </a:xfrm>
            <a:custGeom>
              <a:avLst/>
              <a:gdLst/>
              <a:ahLst/>
              <a:cxnLst/>
              <a:rect l="l" t="t" r="r" b="b"/>
              <a:pathLst>
                <a:path w="533400" h="1054100">
                  <a:moveTo>
                    <a:pt x="111531" y="539877"/>
                  </a:moveTo>
                  <a:lnTo>
                    <a:pt x="67183" y="463931"/>
                  </a:lnTo>
                  <a:lnTo>
                    <a:pt x="55765" y="444373"/>
                  </a:lnTo>
                  <a:lnTo>
                    <a:pt x="0" y="539877"/>
                  </a:lnTo>
                  <a:lnTo>
                    <a:pt x="1600" y="545973"/>
                  </a:lnTo>
                  <a:lnTo>
                    <a:pt x="11049" y="551561"/>
                  </a:lnTo>
                  <a:lnTo>
                    <a:pt x="17119" y="549910"/>
                  </a:lnTo>
                  <a:lnTo>
                    <a:pt x="45859" y="500659"/>
                  </a:lnTo>
                  <a:lnTo>
                    <a:pt x="45859" y="1053973"/>
                  </a:lnTo>
                  <a:lnTo>
                    <a:pt x="65671" y="1053973"/>
                  </a:lnTo>
                  <a:lnTo>
                    <a:pt x="65671" y="500659"/>
                  </a:lnTo>
                  <a:lnTo>
                    <a:pt x="94411" y="549910"/>
                  </a:lnTo>
                  <a:lnTo>
                    <a:pt x="100482" y="551561"/>
                  </a:lnTo>
                  <a:lnTo>
                    <a:pt x="109931" y="545973"/>
                  </a:lnTo>
                  <a:lnTo>
                    <a:pt x="111531" y="539877"/>
                  </a:lnTo>
                  <a:close/>
                </a:path>
                <a:path w="533400" h="1054100">
                  <a:moveTo>
                    <a:pt x="533031" y="55753"/>
                  </a:moveTo>
                  <a:lnTo>
                    <a:pt x="516039" y="45847"/>
                  </a:lnTo>
                  <a:lnTo>
                    <a:pt x="442226" y="2794"/>
                  </a:lnTo>
                  <a:lnTo>
                    <a:pt x="437527" y="0"/>
                  </a:lnTo>
                  <a:lnTo>
                    <a:pt x="431431" y="1524"/>
                  </a:lnTo>
                  <a:lnTo>
                    <a:pt x="428637" y="6350"/>
                  </a:lnTo>
                  <a:lnTo>
                    <a:pt x="425970" y="11049"/>
                  </a:lnTo>
                  <a:lnTo>
                    <a:pt x="427494" y="17145"/>
                  </a:lnTo>
                  <a:lnTo>
                    <a:pt x="432193" y="19812"/>
                  </a:lnTo>
                  <a:lnTo>
                    <a:pt x="476808" y="45847"/>
                  </a:lnTo>
                  <a:lnTo>
                    <a:pt x="188353" y="45847"/>
                  </a:lnTo>
                  <a:lnTo>
                    <a:pt x="188353" y="65659"/>
                  </a:lnTo>
                  <a:lnTo>
                    <a:pt x="476808" y="65659"/>
                  </a:lnTo>
                  <a:lnTo>
                    <a:pt x="432193" y="91694"/>
                  </a:lnTo>
                  <a:lnTo>
                    <a:pt x="427494" y="94361"/>
                  </a:lnTo>
                  <a:lnTo>
                    <a:pt x="425970" y="100457"/>
                  </a:lnTo>
                  <a:lnTo>
                    <a:pt x="428637" y="105156"/>
                  </a:lnTo>
                  <a:lnTo>
                    <a:pt x="431431" y="109982"/>
                  </a:lnTo>
                  <a:lnTo>
                    <a:pt x="437527" y="111506"/>
                  </a:lnTo>
                  <a:lnTo>
                    <a:pt x="442226" y="108712"/>
                  </a:lnTo>
                  <a:lnTo>
                    <a:pt x="516039" y="65659"/>
                  </a:lnTo>
                  <a:lnTo>
                    <a:pt x="533031" y="55753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pic>
          <p:nvPicPr>
            <p:cNvPr id="71" name="object 10">
              <a:extLst>
                <a:ext uri="{FF2B5EF4-FFF2-40B4-BE49-F238E27FC236}">
                  <a16:creationId xmlns:a16="http://schemas.microsoft.com/office/drawing/2014/main" id="{DEE92133-0C43-7DA9-FFD7-CCBE67EF8055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91055" y="2611373"/>
              <a:ext cx="6444996" cy="2060448"/>
            </a:xfrm>
            <a:prstGeom prst="rect">
              <a:avLst/>
            </a:prstGeom>
          </p:spPr>
        </p:pic>
        <p:sp>
          <p:nvSpPr>
            <p:cNvPr id="72" name="object 11">
              <a:extLst>
                <a:ext uri="{FF2B5EF4-FFF2-40B4-BE49-F238E27FC236}">
                  <a16:creationId xmlns:a16="http://schemas.microsoft.com/office/drawing/2014/main" id="{CE3A4036-7AA2-365E-71C0-BDE3AE1BFF55}"/>
                </a:ext>
              </a:extLst>
            </p:cNvPr>
            <p:cNvSpPr/>
            <p:nvPr/>
          </p:nvSpPr>
          <p:spPr>
            <a:xfrm>
              <a:off x="2625090" y="3105149"/>
              <a:ext cx="645160" cy="1077595"/>
            </a:xfrm>
            <a:custGeom>
              <a:avLst/>
              <a:gdLst/>
              <a:ahLst/>
              <a:cxnLst/>
              <a:rect l="l" t="t" r="r" b="b"/>
              <a:pathLst>
                <a:path w="645160" h="1077595">
                  <a:moveTo>
                    <a:pt x="0" y="1077468"/>
                  </a:moveTo>
                  <a:lnTo>
                    <a:pt x="644651" y="1077468"/>
                  </a:lnTo>
                  <a:lnTo>
                    <a:pt x="644651" y="0"/>
                  </a:lnTo>
                  <a:lnTo>
                    <a:pt x="0" y="0"/>
                  </a:lnTo>
                  <a:lnTo>
                    <a:pt x="0" y="1077468"/>
                  </a:lnTo>
                  <a:close/>
                </a:path>
              </a:pathLst>
            </a:custGeom>
            <a:ln w="28956">
              <a:solidFill>
                <a:srgbClr val="FF86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</p:grpSp>
      <p:sp>
        <p:nvSpPr>
          <p:cNvPr id="73" name="object 12">
            <a:extLst>
              <a:ext uri="{FF2B5EF4-FFF2-40B4-BE49-F238E27FC236}">
                <a16:creationId xmlns:a16="http://schemas.microsoft.com/office/drawing/2014/main" id="{86EC8351-4BF6-0C30-12CB-B236E6FF054C}"/>
              </a:ext>
            </a:extLst>
          </p:cNvPr>
          <p:cNvSpPr txBox="1"/>
          <p:nvPr/>
        </p:nvSpPr>
        <p:spPr>
          <a:xfrm>
            <a:off x="1844731" y="3018504"/>
            <a:ext cx="237053" cy="1530378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Encoder</a:t>
            </a: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RNN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76" name="object 15">
            <a:extLst>
              <a:ext uri="{FF2B5EF4-FFF2-40B4-BE49-F238E27FC236}">
                <a16:creationId xmlns:a16="http://schemas.microsoft.com/office/drawing/2014/main" id="{87C366E5-3296-FAD4-5456-FB982F64C2B5}"/>
              </a:ext>
            </a:extLst>
          </p:cNvPr>
          <p:cNvSpPr/>
          <p:nvPr/>
        </p:nvSpPr>
        <p:spPr>
          <a:xfrm>
            <a:off x="2133276" y="3529261"/>
            <a:ext cx="187960" cy="779145"/>
          </a:xfrm>
          <a:custGeom>
            <a:avLst/>
            <a:gdLst/>
            <a:ahLst/>
            <a:cxnLst/>
            <a:rect l="l" t="t" r="r" b="b"/>
            <a:pathLst>
              <a:path w="187959" h="779145">
                <a:moveTo>
                  <a:pt x="187452" y="778763"/>
                </a:moveTo>
                <a:lnTo>
                  <a:pt x="150968" y="772991"/>
                </a:lnTo>
                <a:lnTo>
                  <a:pt x="121177" y="757253"/>
                </a:lnTo>
                <a:lnTo>
                  <a:pt x="101091" y="733919"/>
                </a:lnTo>
                <a:lnTo>
                  <a:pt x="93725" y="705357"/>
                </a:lnTo>
                <a:lnTo>
                  <a:pt x="93725" y="462787"/>
                </a:lnTo>
                <a:lnTo>
                  <a:pt x="86360" y="434226"/>
                </a:lnTo>
                <a:lnTo>
                  <a:pt x="66274" y="410892"/>
                </a:lnTo>
                <a:lnTo>
                  <a:pt x="36483" y="395154"/>
                </a:lnTo>
                <a:lnTo>
                  <a:pt x="0" y="389381"/>
                </a:lnTo>
                <a:lnTo>
                  <a:pt x="36483" y="383609"/>
                </a:lnTo>
                <a:lnTo>
                  <a:pt x="66274" y="367871"/>
                </a:lnTo>
                <a:lnTo>
                  <a:pt x="86360" y="344537"/>
                </a:lnTo>
                <a:lnTo>
                  <a:pt x="93725" y="315975"/>
                </a:lnTo>
                <a:lnTo>
                  <a:pt x="93725" y="73405"/>
                </a:lnTo>
                <a:lnTo>
                  <a:pt x="101091" y="44844"/>
                </a:lnTo>
                <a:lnTo>
                  <a:pt x="121177" y="21510"/>
                </a:lnTo>
                <a:lnTo>
                  <a:pt x="150968" y="5772"/>
                </a:lnTo>
                <a:lnTo>
                  <a:pt x="187452" y="0"/>
                </a:lnTo>
              </a:path>
            </a:pathLst>
          </a:custGeom>
          <a:ln w="1981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77" name="object 16">
            <a:extLst>
              <a:ext uri="{FF2B5EF4-FFF2-40B4-BE49-F238E27FC236}">
                <a16:creationId xmlns:a16="http://schemas.microsoft.com/office/drawing/2014/main" id="{CDE55EEC-AC89-EE9A-71C1-20EDE655B937}"/>
              </a:ext>
            </a:extLst>
          </p:cNvPr>
          <p:cNvSpPr txBox="1"/>
          <p:nvPr/>
        </p:nvSpPr>
        <p:spPr>
          <a:xfrm>
            <a:off x="5576436" y="4941373"/>
            <a:ext cx="1197588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>
                <a:tab pos="895985" algn="l"/>
              </a:tabLst>
              <a:defRPr/>
            </a:pPr>
            <a:r>
              <a:rPr kumimoji="0" sz="1600" b="0" i="1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&lt;</a:t>
            </a:r>
            <a:r>
              <a:rPr kumimoji="0" sz="1600" b="0" i="1" u="none" strike="noStrike" kern="120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</a:t>
            </a:r>
            <a:r>
              <a:rPr kumimoji="0" sz="1600" b="0" i="1" u="none" strike="noStrike" kern="1200" cap="none" spc="-1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</a:t>
            </a:r>
            <a:r>
              <a:rPr kumimoji="0" sz="16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</a:t>
            </a:r>
            <a:r>
              <a:rPr kumimoji="0" sz="1600" b="0" i="1" u="none" strike="noStrike" kern="1200" cap="none" spc="-4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R</a:t>
            </a:r>
            <a:r>
              <a:rPr kumimoji="0" sz="1600" b="0" i="1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</a:t>
            </a:r>
            <a:r>
              <a:rPr kumimoji="0" sz="16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&gt;</a:t>
            </a:r>
            <a:r>
              <a:rPr kumimoji="0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	</a:t>
            </a:r>
            <a:r>
              <a:rPr kumimoji="0" lang="en-US" sz="1600" b="0" i="1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we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78" name="object 17">
            <a:extLst>
              <a:ext uri="{FF2B5EF4-FFF2-40B4-BE49-F238E27FC236}">
                <a16:creationId xmlns:a16="http://schemas.microsoft.com/office/drawing/2014/main" id="{65B8E4B0-CF0A-116E-E8F5-9F22C02CEE24}"/>
              </a:ext>
            </a:extLst>
          </p:cNvPr>
          <p:cNvSpPr txBox="1"/>
          <p:nvPr/>
        </p:nvSpPr>
        <p:spPr>
          <a:xfrm>
            <a:off x="7029453" y="4941373"/>
            <a:ext cx="388752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had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79" name="object 18">
            <a:extLst>
              <a:ext uri="{FF2B5EF4-FFF2-40B4-BE49-F238E27FC236}">
                <a16:creationId xmlns:a16="http://schemas.microsoft.com/office/drawing/2014/main" id="{59A02D7D-7FCD-9588-9E19-11C0BB58A706}"/>
              </a:ext>
            </a:extLst>
          </p:cNvPr>
          <p:cNvSpPr txBox="1"/>
          <p:nvPr/>
        </p:nvSpPr>
        <p:spPr>
          <a:xfrm>
            <a:off x="7615866" y="4941373"/>
            <a:ext cx="96901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>
                <a:tab pos="591185" algn="l"/>
              </a:tabLst>
              <a:defRPr/>
            </a:pPr>
            <a:r>
              <a:rPr kumimoji="0" lang="en-US" sz="16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gone</a:t>
            </a:r>
            <a:r>
              <a:rPr kumimoji="0" sz="16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	</a:t>
            </a:r>
            <a:r>
              <a:rPr kumimoji="0" lang="en-US" sz="16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   to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80" name="object 19">
            <a:extLst>
              <a:ext uri="{FF2B5EF4-FFF2-40B4-BE49-F238E27FC236}">
                <a16:creationId xmlns:a16="http://schemas.microsoft.com/office/drawing/2014/main" id="{B3AFF95E-30B6-176A-E429-D884FE10D611}"/>
              </a:ext>
            </a:extLst>
          </p:cNvPr>
          <p:cNvSpPr txBox="1"/>
          <p:nvPr/>
        </p:nvSpPr>
        <p:spPr>
          <a:xfrm>
            <a:off x="8829192" y="4941373"/>
            <a:ext cx="388752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the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81" name="object 20">
            <a:extLst>
              <a:ext uri="{FF2B5EF4-FFF2-40B4-BE49-F238E27FC236}">
                <a16:creationId xmlns:a16="http://schemas.microsoft.com/office/drawing/2014/main" id="{993AAF4D-CCFF-C66B-6238-ADA0FC396F24}"/>
              </a:ext>
            </a:extLst>
          </p:cNvPr>
          <p:cNvSpPr txBox="1"/>
          <p:nvPr/>
        </p:nvSpPr>
        <p:spPr>
          <a:xfrm>
            <a:off x="9292327" y="4941373"/>
            <a:ext cx="663431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market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85" name="object 24">
            <a:extLst>
              <a:ext uri="{FF2B5EF4-FFF2-40B4-BE49-F238E27FC236}">
                <a16:creationId xmlns:a16="http://schemas.microsoft.com/office/drawing/2014/main" id="{8B25B691-1C27-8F16-7134-92C143C86BC9}"/>
              </a:ext>
            </a:extLst>
          </p:cNvPr>
          <p:cNvSpPr txBox="1"/>
          <p:nvPr/>
        </p:nvSpPr>
        <p:spPr>
          <a:xfrm>
            <a:off x="5795892" y="2513006"/>
            <a:ext cx="293371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we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86" name="object 25">
            <a:extLst>
              <a:ext uri="{FF2B5EF4-FFF2-40B4-BE49-F238E27FC236}">
                <a16:creationId xmlns:a16="http://schemas.microsoft.com/office/drawing/2014/main" id="{F1C3345B-A21A-084B-327F-746023203293}"/>
              </a:ext>
            </a:extLst>
          </p:cNvPr>
          <p:cNvSpPr txBox="1"/>
          <p:nvPr/>
        </p:nvSpPr>
        <p:spPr>
          <a:xfrm>
            <a:off x="6432614" y="2513006"/>
            <a:ext cx="34141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had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87" name="object 26">
            <a:extLst>
              <a:ext uri="{FF2B5EF4-FFF2-40B4-BE49-F238E27FC236}">
                <a16:creationId xmlns:a16="http://schemas.microsoft.com/office/drawing/2014/main" id="{A20911F7-96B5-1941-FE53-8006D6B75B10}"/>
              </a:ext>
            </a:extLst>
          </p:cNvPr>
          <p:cNvSpPr txBox="1"/>
          <p:nvPr/>
        </p:nvSpPr>
        <p:spPr>
          <a:xfrm>
            <a:off x="7020244" y="2513006"/>
            <a:ext cx="969644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>
                <a:tab pos="591820" algn="l"/>
              </a:tabLst>
              <a:defRPr/>
            </a:pPr>
            <a:r>
              <a:rPr kumimoji="0" lang="en-US" sz="16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gone</a:t>
            </a:r>
            <a:r>
              <a:rPr kumimoji="0" sz="16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	</a:t>
            </a:r>
            <a:r>
              <a:rPr kumimoji="0" lang="en-US" sz="16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 to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88" name="object 27">
            <a:extLst>
              <a:ext uri="{FF2B5EF4-FFF2-40B4-BE49-F238E27FC236}">
                <a16:creationId xmlns:a16="http://schemas.microsoft.com/office/drawing/2014/main" id="{383BA5A5-004C-ED9A-3D9F-10998206A488}"/>
              </a:ext>
            </a:extLst>
          </p:cNvPr>
          <p:cNvSpPr txBox="1"/>
          <p:nvPr/>
        </p:nvSpPr>
        <p:spPr>
          <a:xfrm>
            <a:off x="8262792" y="2513006"/>
            <a:ext cx="293371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the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89" name="object 28">
            <a:extLst>
              <a:ext uri="{FF2B5EF4-FFF2-40B4-BE49-F238E27FC236}">
                <a16:creationId xmlns:a16="http://schemas.microsoft.com/office/drawing/2014/main" id="{0679F7AC-40A6-45C1-24D1-C44113F098CE}"/>
              </a:ext>
            </a:extLst>
          </p:cNvPr>
          <p:cNvSpPr txBox="1"/>
          <p:nvPr/>
        </p:nvSpPr>
        <p:spPr>
          <a:xfrm>
            <a:off x="8742786" y="2513006"/>
            <a:ext cx="1579884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>
                <a:tab pos="443865" algn="l"/>
              </a:tabLst>
              <a:defRPr/>
            </a:pPr>
            <a:r>
              <a:rPr kumimoji="0" lang="en-US" sz="1600" b="0" i="1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market    </a:t>
            </a:r>
            <a:r>
              <a:rPr kumimoji="0" sz="1600" b="0" i="1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&lt;E</a:t>
            </a:r>
            <a:r>
              <a:rPr kumimoji="0" sz="16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N</a:t>
            </a:r>
            <a:r>
              <a:rPr kumimoji="0" lang="en-IN" sz="16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D</a:t>
            </a:r>
            <a:r>
              <a:rPr kumimoji="0" sz="16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&gt;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90" name="object 29">
            <a:extLst>
              <a:ext uri="{FF2B5EF4-FFF2-40B4-BE49-F238E27FC236}">
                <a16:creationId xmlns:a16="http://schemas.microsoft.com/office/drawing/2014/main" id="{C0AB07CD-33C1-80F1-0A35-066773EE6D60}"/>
              </a:ext>
            </a:extLst>
          </p:cNvPr>
          <p:cNvSpPr txBox="1"/>
          <p:nvPr/>
        </p:nvSpPr>
        <p:spPr>
          <a:xfrm>
            <a:off x="10416573" y="3290192"/>
            <a:ext cx="237053" cy="1527613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Decoder</a:t>
            </a:r>
            <a:r>
              <a:rPr kumimoji="0" sz="1800" b="0" i="0" u="none" strike="noStrike" kern="1200" cap="none" spc="-3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RNN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91" name="object 30">
            <a:extLst>
              <a:ext uri="{FF2B5EF4-FFF2-40B4-BE49-F238E27FC236}">
                <a16:creationId xmlns:a16="http://schemas.microsoft.com/office/drawing/2014/main" id="{5BF8BDE9-11EE-2E2F-2B09-90048C0FE9F2}"/>
              </a:ext>
            </a:extLst>
          </p:cNvPr>
          <p:cNvSpPr/>
          <p:nvPr/>
        </p:nvSpPr>
        <p:spPr>
          <a:xfrm>
            <a:off x="5795892" y="2169852"/>
            <a:ext cx="4098290" cy="271780"/>
          </a:xfrm>
          <a:custGeom>
            <a:avLst/>
            <a:gdLst/>
            <a:ahLst/>
            <a:cxnLst/>
            <a:rect l="l" t="t" r="r" b="b"/>
            <a:pathLst>
              <a:path w="4098290" h="271780">
                <a:moveTo>
                  <a:pt x="0" y="271272"/>
                </a:moveTo>
                <a:lnTo>
                  <a:pt x="8338" y="218467"/>
                </a:lnTo>
                <a:lnTo>
                  <a:pt x="31083" y="175355"/>
                </a:lnTo>
                <a:lnTo>
                  <a:pt x="64829" y="146292"/>
                </a:lnTo>
                <a:lnTo>
                  <a:pt x="106171" y="135636"/>
                </a:lnTo>
                <a:lnTo>
                  <a:pt x="1942845" y="135636"/>
                </a:lnTo>
                <a:lnTo>
                  <a:pt x="1984188" y="124979"/>
                </a:lnTo>
                <a:lnTo>
                  <a:pt x="2017934" y="95916"/>
                </a:lnTo>
                <a:lnTo>
                  <a:pt x="2040679" y="52804"/>
                </a:lnTo>
                <a:lnTo>
                  <a:pt x="2049017" y="0"/>
                </a:lnTo>
                <a:lnTo>
                  <a:pt x="2057356" y="52804"/>
                </a:lnTo>
                <a:lnTo>
                  <a:pt x="2080101" y="95916"/>
                </a:lnTo>
                <a:lnTo>
                  <a:pt x="2113847" y="124979"/>
                </a:lnTo>
                <a:lnTo>
                  <a:pt x="2155190" y="135636"/>
                </a:lnTo>
                <a:lnTo>
                  <a:pt x="3991864" y="135636"/>
                </a:lnTo>
                <a:lnTo>
                  <a:pt x="4033206" y="146292"/>
                </a:lnTo>
                <a:lnTo>
                  <a:pt x="4066952" y="175355"/>
                </a:lnTo>
                <a:lnTo>
                  <a:pt x="4089697" y="218467"/>
                </a:lnTo>
                <a:lnTo>
                  <a:pt x="4098036" y="271272"/>
                </a:lnTo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93" name="object 32">
            <a:extLst>
              <a:ext uri="{FF2B5EF4-FFF2-40B4-BE49-F238E27FC236}">
                <a16:creationId xmlns:a16="http://schemas.microsoft.com/office/drawing/2014/main" id="{77B249AD-372B-7A3B-2F74-9B1A1BD8DBA0}"/>
              </a:ext>
            </a:extLst>
          </p:cNvPr>
          <p:cNvSpPr/>
          <p:nvPr/>
        </p:nvSpPr>
        <p:spPr>
          <a:xfrm>
            <a:off x="10156547" y="3542288"/>
            <a:ext cx="189230" cy="779145"/>
          </a:xfrm>
          <a:custGeom>
            <a:avLst/>
            <a:gdLst/>
            <a:ahLst/>
            <a:cxnLst/>
            <a:rect l="l" t="t" r="r" b="b"/>
            <a:pathLst>
              <a:path w="189229" h="779145">
                <a:moveTo>
                  <a:pt x="0" y="0"/>
                </a:moveTo>
                <a:lnTo>
                  <a:pt x="36784" y="5816"/>
                </a:lnTo>
                <a:lnTo>
                  <a:pt x="66817" y="21669"/>
                </a:lnTo>
                <a:lnTo>
                  <a:pt x="87064" y="45166"/>
                </a:lnTo>
                <a:lnTo>
                  <a:pt x="94488" y="73914"/>
                </a:lnTo>
                <a:lnTo>
                  <a:pt x="94488" y="315468"/>
                </a:lnTo>
                <a:lnTo>
                  <a:pt x="101911" y="344215"/>
                </a:lnTo>
                <a:lnTo>
                  <a:pt x="122158" y="367712"/>
                </a:lnTo>
                <a:lnTo>
                  <a:pt x="152191" y="383565"/>
                </a:lnTo>
                <a:lnTo>
                  <a:pt x="188975" y="389382"/>
                </a:lnTo>
                <a:lnTo>
                  <a:pt x="152191" y="395198"/>
                </a:lnTo>
                <a:lnTo>
                  <a:pt x="122158" y="411051"/>
                </a:lnTo>
                <a:lnTo>
                  <a:pt x="101911" y="434548"/>
                </a:lnTo>
                <a:lnTo>
                  <a:pt x="94488" y="463296"/>
                </a:lnTo>
                <a:lnTo>
                  <a:pt x="94488" y="704850"/>
                </a:lnTo>
                <a:lnTo>
                  <a:pt x="87064" y="733597"/>
                </a:lnTo>
                <a:lnTo>
                  <a:pt x="66817" y="757094"/>
                </a:lnTo>
                <a:lnTo>
                  <a:pt x="36784" y="772947"/>
                </a:lnTo>
                <a:lnTo>
                  <a:pt x="0" y="778764"/>
                </a:lnTo>
              </a:path>
            </a:pathLst>
          </a:custGeom>
          <a:ln w="19812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94" name="object 34">
            <a:extLst>
              <a:ext uri="{FF2B5EF4-FFF2-40B4-BE49-F238E27FC236}">
                <a16:creationId xmlns:a16="http://schemas.microsoft.com/office/drawing/2014/main" id="{47A91643-EB59-E244-3672-BEB8EDE14084}"/>
              </a:ext>
            </a:extLst>
          </p:cNvPr>
          <p:cNvSpPr/>
          <p:nvPr/>
        </p:nvSpPr>
        <p:spPr>
          <a:xfrm>
            <a:off x="3383781" y="1856918"/>
            <a:ext cx="892175" cy="1493520"/>
          </a:xfrm>
          <a:custGeom>
            <a:avLst/>
            <a:gdLst/>
            <a:ahLst/>
            <a:cxnLst/>
            <a:rect l="l" t="t" r="r" b="b"/>
            <a:pathLst>
              <a:path w="892175" h="1493520">
                <a:moveTo>
                  <a:pt x="817445" y="1404178"/>
                </a:moveTo>
                <a:lnTo>
                  <a:pt x="784606" y="1423542"/>
                </a:lnTo>
                <a:lnTo>
                  <a:pt x="891921" y="1493012"/>
                </a:lnTo>
                <a:lnTo>
                  <a:pt x="886873" y="1420622"/>
                </a:lnTo>
                <a:lnTo>
                  <a:pt x="827151" y="1420622"/>
                </a:lnTo>
                <a:lnTo>
                  <a:pt x="817445" y="1404178"/>
                </a:lnTo>
                <a:close/>
              </a:path>
              <a:path w="892175" h="1493520">
                <a:moveTo>
                  <a:pt x="850258" y="1384829"/>
                </a:moveTo>
                <a:lnTo>
                  <a:pt x="817445" y="1404178"/>
                </a:lnTo>
                <a:lnTo>
                  <a:pt x="827151" y="1420622"/>
                </a:lnTo>
                <a:lnTo>
                  <a:pt x="859917" y="1401190"/>
                </a:lnTo>
                <a:lnTo>
                  <a:pt x="850258" y="1384829"/>
                </a:lnTo>
                <a:close/>
              </a:path>
              <a:path w="892175" h="1493520">
                <a:moveTo>
                  <a:pt x="883031" y="1365503"/>
                </a:moveTo>
                <a:lnTo>
                  <a:pt x="850258" y="1384829"/>
                </a:lnTo>
                <a:lnTo>
                  <a:pt x="859917" y="1401190"/>
                </a:lnTo>
                <a:lnTo>
                  <a:pt x="827151" y="1420622"/>
                </a:lnTo>
                <a:lnTo>
                  <a:pt x="886873" y="1420622"/>
                </a:lnTo>
                <a:lnTo>
                  <a:pt x="883031" y="1365503"/>
                </a:lnTo>
                <a:close/>
              </a:path>
              <a:path w="892175" h="1493520">
                <a:moveTo>
                  <a:pt x="32766" y="0"/>
                </a:moveTo>
                <a:lnTo>
                  <a:pt x="0" y="19303"/>
                </a:lnTo>
                <a:lnTo>
                  <a:pt x="817445" y="1404178"/>
                </a:lnTo>
                <a:lnTo>
                  <a:pt x="850258" y="1384829"/>
                </a:lnTo>
                <a:lnTo>
                  <a:pt x="32766" y="0"/>
                </a:lnTo>
                <a:close/>
              </a:path>
            </a:pathLst>
          </a:custGeom>
          <a:solidFill>
            <a:srgbClr val="FF86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97" name="object 31">
            <a:extLst>
              <a:ext uri="{FF2B5EF4-FFF2-40B4-BE49-F238E27FC236}">
                <a16:creationId xmlns:a16="http://schemas.microsoft.com/office/drawing/2014/main" id="{12E2F695-25D6-18C7-3C62-1667C76B282B}"/>
              </a:ext>
            </a:extLst>
          </p:cNvPr>
          <p:cNvSpPr txBox="1"/>
          <p:nvPr/>
        </p:nvSpPr>
        <p:spPr>
          <a:xfrm>
            <a:off x="923103" y="1572045"/>
            <a:ext cx="8659436" cy="5796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858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Encoding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of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the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source</a:t>
            </a:r>
            <a:r>
              <a:rPr kumimoji="0" sz="1800" b="0" i="0" u="none" strike="noStrike" kern="1200" cap="none" spc="-35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sentence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  <a:p>
            <a:pPr marL="4095115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3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		          </a:t>
            </a:r>
            <a:r>
              <a:rPr kumimoji="0" sz="1800" b="0" i="0" u="none" strike="noStrike" kern="1200" cap="none" spc="-3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Target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sentence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(output)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3" name="object 34">
            <a:extLst>
              <a:ext uri="{FF2B5EF4-FFF2-40B4-BE49-F238E27FC236}">
                <a16:creationId xmlns:a16="http://schemas.microsoft.com/office/drawing/2014/main" id="{1C2F5404-09BC-E7D1-7E1A-C8E7DF3CE5FF}"/>
              </a:ext>
            </a:extLst>
          </p:cNvPr>
          <p:cNvSpPr/>
          <p:nvPr/>
        </p:nvSpPr>
        <p:spPr>
          <a:xfrm>
            <a:off x="3383781" y="1856918"/>
            <a:ext cx="892175" cy="1493520"/>
          </a:xfrm>
          <a:custGeom>
            <a:avLst/>
            <a:gdLst/>
            <a:ahLst/>
            <a:cxnLst/>
            <a:rect l="l" t="t" r="r" b="b"/>
            <a:pathLst>
              <a:path w="892175" h="1493520">
                <a:moveTo>
                  <a:pt x="817445" y="1404178"/>
                </a:moveTo>
                <a:lnTo>
                  <a:pt x="784606" y="1423542"/>
                </a:lnTo>
                <a:lnTo>
                  <a:pt x="891921" y="1493012"/>
                </a:lnTo>
                <a:lnTo>
                  <a:pt x="886873" y="1420622"/>
                </a:lnTo>
                <a:lnTo>
                  <a:pt x="827151" y="1420622"/>
                </a:lnTo>
                <a:lnTo>
                  <a:pt x="817445" y="1404178"/>
                </a:lnTo>
                <a:close/>
              </a:path>
              <a:path w="892175" h="1493520">
                <a:moveTo>
                  <a:pt x="850258" y="1384829"/>
                </a:moveTo>
                <a:lnTo>
                  <a:pt x="817445" y="1404178"/>
                </a:lnTo>
                <a:lnTo>
                  <a:pt x="827151" y="1420622"/>
                </a:lnTo>
                <a:lnTo>
                  <a:pt x="859917" y="1401190"/>
                </a:lnTo>
                <a:lnTo>
                  <a:pt x="850258" y="1384829"/>
                </a:lnTo>
                <a:close/>
              </a:path>
              <a:path w="892175" h="1493520">
                <a:moveTo>
                  <a:pt x="883031" y="1365503"/>
                </a:moveTo>
                <a:lnTo>
                  <a:pt x="850258" y="1384829"/>
                </a:lnTo>
                <a:lnTo>
                  <a:pt x="859917" y="1401190"/>
                </a:lnTo>
                <a:lnTo>
                  <a:pt x="827151" y="1420622"/>
                </a:lnTo>
                <a:lnTo>
                  <a:pt x="886873" y="1420622"/>
                </a:lnTo>
                <a:lnTo>
                  <a:pt x="883031" y="1365503"/>
                </a:lnTo>
                <a:close/>
              </a:path>
              <a:path w="892175" h="1493520">
                <a:moveTo>
                  <a:pt x="32766" y="0"/>
                </a:moveTo>
                <a:lnTo>
                  <a:pt x="0" y="19303"/>
                </a:lnTo>
                <a:lnTo>
                  <a:pt x="817445" y="1404178"/>
                </a:lnTo>
                <a:lnTo>
                  <a:pt x="850258" y="1384829"/>
                </a:lnTo>
                <a:lnTo>
                  <a:pt x="32766" y="0"/>
                </a:lnTo>
                <a:close/>
              </a:path>
            </a:pathLst>
          </a:custGeom>
          <a:solidFill>
            <a:srgbClr val="FF86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E65612-4157-3651-00F4-EE4F15C28743}"/>
              </a:ext>
            </a:extLst>
          </p:cNvPr>
          <p:cNvSpPr/>
          <p:nvPr/>
        </p:nvSpPr>
        <p:spPr>
          <a:xfrm>
            <a:off x="3131765" y="2530065"/>
            <a:ext cx="1864039" cy="568457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accent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Information bottleneck!</a:t>
            </a:r>
          </a:p>
        </p:txBody>
      </p:sp>
      <p:sp>
        <p:nvSpPr>
          <p:cNvPr id="7" name="object 34">
            <a:extLst>
              <a:ext uri="{FF2B5EF4-FFF2-40B4-BE49-F238E27FC236}">
                <a16:creationId xmlns:a16="http://schemas.microsoft.com/office/drawing/2014/main" id="{F341A6B9-34C5-A694-2A7B-8E90D61A8DC6}"/>
              </a:ext>
            </a:extLst>
          </p:cNvPr>
          <p:cNvSpPr txBox="1"/>
          <p:nvPr/>
        </p:nvSpPr>
        <p:spPr>
          <a:xfrm>
            <a:off x="994234" y="1846552"/>
            <a:ext cx="2295525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5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This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needs </a:t>
            </a:r>
            <a:r>
              <a:rPr kumimoji="0" lang="en-US" sz="1800" b="0" i="0" u="none" strike="noStrike" kern="1200" cap="none" spc="-10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to capture </a:t>
            </a:r>
            <a:r>
              <a:rPr kumimoji="0" lang="en-US" sz="1800" b="0" i="1" u="none" strike="noStrike" kern="1200" cap="none" spc="-5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all </a:t>
            </a:r>
            <a:r>
              <a:rPr kumimoji="0" lang="en-US" sz="1800" b="0" i="1" u="none" strike="noStrike" kern="1200" cap="none" spc="-395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lang="en-US" sz="1800" b="0" i="1" u="none" strike="noStrike" kern="1200" cap="none" spc="-10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information</a:t>
            </a:r>
            <a:r>
              <a:rPr kumimoji="0" lang="en-US" sz="1800" b="0" i="1" u="none" strike="noStrike" kern="1200" cap="none" spc="-5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about the </a:t>
            </a:r>
            <a:r>
              <a:rPr kumimoji="0" lang="en-US" sz="1800" b="0" i="0" u="none" strike="noStrike" kern="1200" cap="none" spc="5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lang="en-US" sz="1800" b="0" i="0" u="none" strike="noStrike" kern="1200" cap="none" spc="-10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source </a:t>
            </a:r>
            <a:r>
              <a:rPr kumimoji="0" lang="en-US" sz="1800" b="0" i="0" u="none" strike="noStrike" kern="1200" cap="none" spc="-5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sentence.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8" name="object 13">
            <a:extLst>
              <a:ext uri="{FF2B5EF4-FFF2-40B4-BE49-F238E27FC236}">
                <a16:creationId xmlns:a16="http://schemas.microsoft.com/office/drawing/2014/main" id="{A7970175-35C8-A4F5-D405-636F42F479E4}"/>
              </a:ext>
            </a:extLst>
          </p:cNvPr>
          <p:cNvSpPr txBox="1"/>
          <p:nvPr/>
        </p:nvSpPr>
        <p:spPr>
          <a:xfrm>
            <a:off x="2619945" y="5599998"/>
            <a:ext cx="2230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Source sentence</a:t>
            </a:r>
            <a:r>
              <a:rPr kumimoji="0" sz="1800" b="0" i="0" u="none" strike="noStrike" kern="120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(input)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9" name="object 14">
            <a:extLst>
              <a:ext uri="{FF2B5EF4-FFF2-40B4-BE49-F238E27FC236}">
                <a16:creationId xmlns:a16="http://schemas.microsoft.com/office/drawing/2014/main" id="{EC507C76-AD8E-5907-4A61-281DDC9BB504}"/>
              </a:ext>
            </a:extLst>
          </p:cNvPr>
          <p:cNvSpPr/>
          <p:nvPr/>
        </p:nvSpPr>
        <p:spPr>
          <a:xfrm>
            <a:off x="2544322" y="5425450"/>
            <a:ext cx="2343455" cy="197550"/>
          </a:xfrm>
          <a:custGeom>
            <a:avLst/>
            <a:gdLst/>
            <a:ahLst/>
            <a:cxnLst/>
            <a:rect l="l" t="t" r="r" b="b"/>
            <a:pathLst>
              <a:path w="2435860" h="271779">
                <a:moveTo>
                  <a:pt x="2435352" y="0"/>
                </a:moveTo>
                <a:lnTo>
                  <a:pt x="2427013" y="52804"/>
                </a:lnTo>
                <a:lnTo>
                  <a:pt x="2404268" y="95916"/>
                </a:lnTo>
                <a:lnTo>
                  <a:pt x="2370522" y="124979"/>
                </a:lnTo>
                <a:lnTo>
                  <a:pt x="2329180" y="135636"/>
                </a:lnTo>
                <a:lnTo>
                  <a:pt x="1323848" y="135636"/>
                </a:lnTo>
                <a:lnTo>
                  <a:pt x="1282505" y="146292"/>
                </a:lnTo>
                <a:lnTo>
                  <a:pt x="1248759" y="175355"/>
                </a:lnTo>
                <a:lnTo>
                  <a:pt x="1226014" y="218467"/>
                </a:lnTo>
                <a:lnTo>
                  <a:pt x="1217676" y="271272"/>
                </a:lnTo>
                <a:lnTo>
                  <a:pt x="1209337" y="218467"/>
                </a:lnTo>
                <a:lnTo>
                  <a:pt x="1186592" y="175355"/>
                </a:lnTo>
                <a:lnTo>
                  <a:pt x="1152846" y="146292"/>
                </a:lnTo>
                <a:lnTo>
                  <a:pt x="1111504" y="135636"/>
                </a:lnTo>
                <a:lnTo>
                  <a:pt x="106146" y="135636"/>
                </a:lnTo>
                <a:lnTo>
                  <a:pt x="64829" y="124979"/>
                </a:lnTo>
                <a:lnTo>
                  <a:pt x="31089" y="95916"/>
                </a:lnTo>
                <a:lnTo>
                  <a:pt x="8341" y="52804"/>
                </a:lnTo>
                <a:lnTo>
                  <a:pt x="0" y="0"/>
                </a:lnTo>
              </a:path>
            </a:pathLst>
          </a:custGeom>
          <a:ln w="198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0" name="object 21">
            <a:extLst>
              <a:ext uri="{FF2B5EF4-FFF2-40B4-BE49-F238E27FC236}">
                <a16:creationId xmlns:a16="http://schemas.microsoft.com/office/drawing/2014/main" id="{15EC13B1-6A39-CCFC-17B7-D71855793E69}"/>
              </a:ext>
            </a:extLst>
          </p:cNvPr>
          <p:cNvSpPr txBox="1"/>
          <p:nvPr/>
        </p:nvSpPr>
        <p:spPr>
          <a:xfrm>
            <a:off x="2612948" y="4959076"/>
            <a:ext cx="40980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i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हम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11" name="object 22">
            <a:extLst>
              <a:ext uri="{FF2B5EF4-FFF2-40B4-BE49-F238E27FC236}">
                <a16:creationId xmlns:a16="http://schemas.microsoft.com/office/drawing/2014/main" id="{17D6A537-AA37-B884-E8F2-BF684701702C}"/>
              </a:ext>
            </a:extLst>
          </p:cNvPr>
          <p:cNvSpPr txBox="1"/>
          <p:nvPr/>
        </p:nvSpPr>
        <p:spPr>
          <a:xfrm>
            <a:off x="3189235" y="4959076"/>
            <a:ext cx="53340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i-IN" sz="16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बाजार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12" name="object 21">
            <a:extLst>
              <a:ext uri="{FF2B5EF4-FFF2-40B4-BE49-F238E27FC236}">
                <a16:creationId xmlns:a16="http://schemas.microsoft.com/office/drawing/2014/main" id="{6E5503D7-88DE-3979-1812-B29EF4C9EB51}"/>
              </a:ext>
            </a:extLst>
          </p:cNvPr>
          <p:cNvSpPr txBox="1"/>
          <p:nvPr/>
        </p:nvSpPr>
        <p:spPr>
          <a:xfrm>
            <a:off x="3845123" y="4962561"/>
            <a:ext cx="40980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i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गये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13" name="object 21">
            <a:extLst>
              <a:ext uri="{FF2B5EF4-FFF2-40B4-BE49-F238E27FC236}">
                <a16:creationId xmlns:a16="http://schemas.microsoft.com/office/drawing/2014/main" id="{A122B00F-3C3A-0FF0-2971-2CB65B01C88F}"/>
              </a:ext>
            </a:extLst>
          </p:cNvPr>
          <p:cNvSpPr txBox="1"/>
          <p:nvPr/>
        </p:nvSpPr>
        <p:spPr>
          <a:xfrm>
            <a:off x="4454717" y="4956339"/>
            <a:ext cx="40980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i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थे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7868FD-E510-FF9A-23F5-AC2FC706DA51}"/>
              </a:ext>
            </a:extLst>
          </p:cNvPr>
          <p:cNvSpPr txBox="1"/>
          <p:nvPr/>
        </p:nvSpPr>
        <p:spPr>
          <a:xfrm>
            <a:off x="2598976" y="5185505"/>
            <a:ext cx="2321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ham      baajaar     gaye         the</a:t>
            </a:r>
          </a:p>
        </p:txBody>
      </p:sp>
    </p:spTree>
    <p:extLst>
      <p:ext uri="{BB962C8B-B14F-4D97-AF65-F5344CB8AC3E}">
        <p14:creationId xmlns:p14="http://schemas.microsoft.com/office/powerpoint/2010/main" val="186105452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1A09E-D16C-1B15-6C5F-D33AB2DB4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Attention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E778E-3AA0-B099-4CEA-5870467B5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Attention</a:t>
            </a:r>
            <a:r>
              <a:rPr lang="en-US" dirty="0"/>
              <a:t> provides a solution to the bottleneck problem.</a:t>
            </a:r>
          </a:p>
          <a:p>
            <a:endParaRPr lang="en-US" dirty="0"/>
          </a:p>
          <a:p>
            <a:r>
              <a:rPr lang="en-US" b="1" dirty="0"/>
              <a:t>Core idea</a:t>
            </a:r>
            <a:r>
              <a:rPr lang="en-US" dirty="0"/>
              <a:t>: on each step of the decoder, use </a:t>
            </a:r>
            <a:r>
              <a:rPr lang="en-US" dirty="0">
                <a:solidFill>
                  <a:schemeClr val="accent1"/>
                </a:solidFill>
              </a:rPr>
              <a:t>direct connection to  the encoder</a:t>
            </a:r>
            <a:r>
              <a:rPr lang="en-US" dirty="0"/>
              <a:t> to </a:t>
            </a:r>
            <a:r>
              <a:rPr lang="en-US" dirty="0">
                <a:solidFill>
                  <a:schemeClr val="accent1"/>
                </a:solidFill>
              </a:rPr>
              <a:t>focus on a particular part of the source sequence</a:t>
            </a:r>
          </a:p>
          <a:p>
            <a:endParaRPr lang="en-US" dirty="0"/>
          </a:p>
          <a:p>
            <a:r>
              <a:rPr lang="en-US" dirty="0"/>
              <a:t>Let’s start with the visualization of the attention mechanism.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578991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1325" y="607035"/>
            <a:ext cx="11307763" cy="629018"/>
          </a:xfrm>
          <a:prstGeom prst="rect">
            <a:avLst/>
          </a:prstGeom>
        </p:spPr>
        <p:txBody>
          <a:bodyPr vert="horz" wrap="square" lIns="0" tIns="1333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Sequence-</a:t>
            </a:r>
            <a:r>
              <a:rPr lang="en-US" spc="-5" dirty="0"/>
              <a:t>t</a:t>
            </a:r>
            <a:r>
              <a:rPr spc="-5" dirty="0"/>
              <a:t>o-</a:t>
            </a:r>
            <a:r>
              <a:rPr lang="en-US" spc="-5" dirty="0"/>
              <a:t>S</a:t>
            </a:r>
            <a:r>
              <a:rPr spc="-5" dirty="0"/>
              <a:t>equence</a:t>
            </a:r>
            <a:r>
              <a:rPr spc="-40" dirty="0"/>
              <a:t> </a:t>
            </a:r>
            <a:r>
              <a:rPr lang="en-US" spc="-5" dirty="0"/>
              <a:t>W</a:t>
            </a:r>
            <a:r>
              <a:rPr spc="-5" dirty="0"/>
              <a:t>ith</a:t>
            </a:r>
            <a:r>
              <a:rPr spc="15" dirty="0"/>
              <a:t> </a:t>
            </a:r>
            <a:r>
              <a:rPr lang="en-US" spc="15" dirty="0"/>
              <a:t>A</a:t>
            </a:r>
            <a:r>
              <a:rPr dirty="0"/>
              <a:t>ttention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506980" y="1641608"/>
            <a:ext cx="3404870" cy="3677920"/>
            <a:chOff x="982980" y="2015235"/>
            <a:chExt cx="3404870" cy="36779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6800" y="4367783"/>
              <a:ext cx="126492" cy="13258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6800" y="4536947"/>
              <a:ext cx="126492" cy="13258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6800" y="4706111"/>
              <a:ext cx="126492" cy="13258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6800" y="4875275"/>
              <a:ext cx="126492" cy="13106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992886" y="4303013"/>
              <a:ext cx="266700" cy="780415"/>
            </a:xfrm>
            <a:custGeom>
              <a:avLst/>
              <a:gdLst/>
              <a:ahLst/>
              <a:cxnLst/>
              <a:rect l="l" t="t" r="r" b="b"/>
              <a:pathLst>
                <a:path w="266700" h="780414">
                  <a:moveTo>
                    <a:pt x="222250" y="0"/>
                  </a:moveTo>
                  <a:lnTo>
                    <a:pt x="239551" y="3498"/>
                  </a:lnTo>
                  <a:lnTo>
                    <a:pt x="253680" y="13033"/>
                  </a:lnTo>
                  <a:lnTo>
                    <a:pt x="263206" y="27164"/>
                  </a:lnTo>
                  <a:lnTo>
                    <a:pt x="266700" y="44450"/>
                  </a:lnTo>
                  <a:lnTo>
                    <a:pt x="266700" y="735838"/>
                  </a:lnTo>
                  <a:lnTo>
                    <a:pt x="263206" y="753123"/>
                  </a:lnTo>
                  <a:lnTo>
                    <a:pt x="253680" y="767254"/>
                  </a:lnTo>
                  <a:lnTo>
                    <a:pt x="239551" y="776789"/>
                  </a:lnTo>
                  <a:lnTo>
                    <a:pt x="222250" y="780288"/>
                  </a:lnTo>
                  <a:lnTo>
                    <a:pt x="44450" y="780288"/>
                  </a:lnTo>
                  <a:lnTo>
                    <a:pt x="27148" y="776789"/>
                  </a:lnTo>
                  <a:lnTo>
                    <a:pt x="13019" y="767254"/>
                  </a:lnTo>
                  <a:lnTo>
                    <a:pt x="3493" y="753123"/>
                  </a:lnTo>
                  <a:lnTo>
                    <a:pt x="0" y="735838"/>
                  </a:lnTo>
                  <a:lnTo>
                    <a:pt x="0" y="44450"/>
                  </a:lnTo>
                  <a:lnTo>
                    <a:pt x="3493" y="27164"/>
                  </a:lnTo>
                  <a:lnTo>
                    <a:pt x="13019" y="13033"/>
                  </a:lnTo>
                  <a:lnTo>
                    <a:pt x="27148" y="3498"/>
                  </a:lnTo>
                  <a:lnTo>
                    <a:pt x="44450" y="0"/>
                  </a:lnTo>
                  <a:lnTo>
                    <a:pt x="22225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71232" y="4637404"/>
              <a:ext cx="533400" cy="1056005"/>
            </a:xfrm>
            <a:custGeom>
              <a:avLst/>
              <a:gdLst/>
              <a:ahLst/>
              <a:cxnLst/>
              <a:rect l="l" t="t" r="r" b="b"/>
              <a:pathLst>
                <a:path w="533400" h="1056004">
                  <a:moveTo>
                    <a:pt x="111531" y="541401"/>
                  </a:moveTo>
                  <a:lnTo>
                    <a:pt x="67183" y="465455"/>
                  </a:lnTo>
                  <a:lnTo>
                    <a:pt x="55765" y="445897"/>
                  </a:lnTo>
                  <a:lnTo>
                    <a:pt x="0" y="541401"/>
                  </a:lnTo>
                  <a:lnTo>
                    <a:pt x="1600" y="547497"/>
                  </a:lnTo>
                  <a:lnTo>
                    <a:pt x="11049" y="553085"/>
                  </a:lnTo>
                  <a:lnTo>
                    <a:pt x="17119" y="551434"/>
                  </a:lnTo>
                  <a:lnTo>
                    <a:pt x="45859" y="502183"/>
                  </a:lnTo>
                  <a:lnTo>
                    <a:pt x="45859" y="1055497"/>
                  </a:lnTo>
                  <a:lnTo>
                    <a:pt x="65671" y="1055497"/>
                  </a:lnTo>
                  <a:lnTo>
                    <a:pt x="65671" y="502183"/>
                  </a:lnTo>
                  <a:lnTo>
                    <a:pt x="94411" y="551434"/>
                  </a:lnTo>
                  <a:lnTo>
                    <a:pt x="100482" y="553085"/>
                  </a:lnTo>
                  <a:lnTo>
                    <a:pt x="109931" y="547497"/>
                  </a:lnTo>
                  <a:lnTo>
                    <a:pt x="111531" y="541401"/>
                  </a:lnTo>
                  <a:close/>
                </a:path>
                <a:path w="533400" h="1056004">
                  <a:moveTo>
                    <a:pt x="533019" y="55765"/>
                  </a:moveTo>
                  <a:lnTo>
                    <a:pt x="516039" y="45847"/>
                  </a:lnTo>
                  <a:lnTo>
                    <a:pt x="442226" y="2794"/>
                  </a:lnTo>
                  <a:lnTo>
                    <a:pt x="437527" y="0"/>
                  </a:lnTo>
                  <a:lnTo>
                    <a:pt x="431431" y="1524"/>
                  </a:lnTo>
                  <a:lnTo>
                    <a:pt x="428637" y="6350"/>
                  </a:lnTo>
                  <a:lnTo>
                    <a:pt x="425970" y="11049"/>
                  </a:lnTo>
                  <a:lnTo>
                    <a:pt x="427494" y="17145"/>
                  </a:lnTo>
                  <a:lnTo>
                    <a:pt x="432193" y="19812"/>
                  </a:lnTo>
                  <a:lnTo>
                    <a:pt x="476796" y="45847"/>
                  </a:lnTo>
                  <a:lnTo>
                    <a:pt x="188353" y="45847"/>
                  </a:lnTo>
                  <a:lnTo>
                    <a:pt x="188353" y="65659"/>
                  </a:lnTo>
                  <a:lnTo>
                    <a:pt x="476821" y="65659"/>
                  </a:lnTo>
                  <a:lnTo>
                    <a:pt x="493801" y="55765"/>
                  </a:lnTo>
                  <a:lnTo>
                    <a:pt x="432193" y="91694"/>
                  </a:lnTo>
                  <a:lnTo>
                    <a:pt x="427494" y="94361"/>
                  </a:lnTo>
                  <a:lnTo>
                    <a:pt x="425970" y="100457"/>
                  </a:lnTo>
                  <a:lnTo>
                    <a:pt x="428637" y="105156"/>
                  </a:lnTo>
                  <a:lnTo>
                    <a:pt x="431431" y="109982"/>
                  </a:lnTo>
                  <a:lnTo>
                    <a:pt x="437527" y="111506"/>
                  </a:lnTo>
                  <a:lnTo>
                    <a:pt x="442226" y="108712"/>
                  </a:lnTo>
                  <a:lnTo>
                    <a:pt x="516039" y="65659"/>
                  </a:lnTo>
                  <a:lnTo>
                    <a:pt x="533019" y="55765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91056" y="4283963"/>
              <a:ext cx="2796539" cy="140284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077252" y="3627881"/>
              <a:ext cx="111760" cy="675005"/>
            </a:xfrm>
            <a:custGeom>
              <a:avLst/>
              <a:gdLst/>
              <a:ahLst/>
              <a:cxnLst/>
              <a:rect l="l" t="t" r="r" b="b"/>
              <a:pathLst>
                <a:path w="111759" h="675004">
                  <a:moveTo>
                    <a:pt x="56337" y="39259"/>
                  </a:moveTo>
                  <a:lnTo>
                    <a:pt x="46267" y="56136"/>
                  </a:lnTo>
                  <a:lnTo>
                    <a:pt x="39839" y="674751"/>
                  </a:lnTo>
                  <a:lnTo>
                    <a:pt x="59651" y="675005"/>
                  </a:lnTo>
                  <a:lnTo>
                    <a:pt x="66078" y="56372"/>
                  </a:lnTo>
                  <a:lnTo>
                    <a:pt x="56337" y="39259"/>
                  </a:lnTo>
                  <a:close/>
                </a:path>
                <a:path w="111759" h="675004">
                  <a:moveTo>
                    <a:pt x="67906" y="19558"/>
                  </a:moveTo>
                  <a:lnTo>
                    <a:pt x="46647" y="19558"/>
                  </a:lnTo>
                  <a:lnTo>
                    <a:pt x="66459" y="19685"/>
                  </a:lnTo>
                  <a:lnTo>
                    <a:pt x="66078" y="56372"/>
                  </a:lnTo>
                  <a:lnTo>
                    <a:pt x="91605" y="101219"/>
                  </a:lnTo>
                  <a:lnTo>
                    <a:pt x="94310" y="105918"/>
                  </a:lnTo>
                  <a:lnTo>
                    <a:pt x="100355" y="107569"/>
                  </a:lnTo>
                  <a:lnTo>
                    <a:pt x="105117" y="104902"/>
                  </a:lnTo>
                  <a:lnTo>
                    <a:pt x="109867" y="102108"/>
                  </a:lnTo>
                  <a:lnTo>
                    <a:pt x="111531" y="96139"/>
                  </a:lnTo>
                  <a:lnTo>
                    <a:pt x="108813" y="91313"/>
                  </a:lnTo>
                  <a:lnTo>
                    <a:pt x="67906" y="19558"/>
                  </a:lnTo>
                  <a:close/>
                </a:path>
                <a:path w="111759" h="675004">
                  <a:moveTo>
                    <a:pt x="56756" y="0"/>
                  </a:moveTo>
                  <a:lnTo>
                    <a:pt x="0" y="94996"/>
                  </a:lnTo>
                  <a:lnTo>
                    <a:pt x="1536" y="101092"/>
                  </a:lnTo>
                  <a:lnTo>
                    <a:pt x="10934" y="106680"/>
                  </a:lnTo>
                  <a:lnTo>
                    <a:pt x="17018" y="105156"/>
                  </a:lnTo>
                  <a:lnTo>
                    <a:pt x="46267" y="56136"/>
                  </a:lnTo>
                  <a:lnTo>
                    <a:pt x="46647" y="19558"/>
                  </a:lnTo>
                  <a:lnTo>
                    <a:pt x="67906" y="19558"/>
                  </a:lnTo>
                  <a:lnTo>
                    <a:pt x="56756" y="0"/>
                  </a:lnTo>
                  <a:close/>
                </a:path>
                <a:path w="111759" h="675004">
                  <a:moveTo>
                    <a:pt x="66408" y="24511"/>
                  </a:moveTo>
                  <a:lnTo>
                    <a:pt x="47942" y="24511"/>
                  </a:lnTo>
                  <a:lnTo>
                    <a:pt x="65062" y="24638"/>
                  </a:lnTo>
                  <a:lnTo>
                    <a:pt x="56337" y="39259"/>
                  </a:lnTo>
                  <a:lnTo>
                    <a:pt x="66078" y="56372"/>
                  </a:lnTo>
                  <a:lnTo>
                    <a:pt x="66408" y="24511"/>
                  </a:lnTo>
                  <a:close/>
                </a:path>
                <a:path w="111759" h="675004">
                  <a:moveTo>
                    <a:pt x="46647" y="19558"/>
                  </a:moveTo>
                  <a:lnTo>
                    <a:pt x="46267" y="56136"/>
                  </a:lnTo>
                  <a:lnTo>
                    <a:pt x="56337" y="39259"/>
                  </a:lnTo>
                  <a:lnTo>
                    <a:pt x="47942" y="24511"/>
                  </a:lnTo>
                  <a:lnTo>
                    <a:pt x="66408" y="24511"/>
                  </a:lnTo>
                  <a:lnTo>
                    <a:pt x="66459" y="19685"/>
                  </a:lnTo>
                  <a:lnTo>
                    <a:pt x="46647" y="19558"/>
                  </a:lnTo>
                  <a:close/>
                </a:path>
                <a:path w="111759" h="675004">
                  <a:moveTo>
                    <a:pt x="47942" y="24511"/>
                  </a:moveTo>
                  <a:lnTo>
                    <a:pt x="56337" y="39259"/>
                  </a:lnTo>
                  <a:lnTo>
                    <a:pt x="65062" y="24638"/>
                  </a:lnTo>
                  <a:lnTo>
                    <a:pt x="47942" y="24511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66800" y="3511295"/>
              <a:ext cx="132587" cy="12649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172667" y="3578859"/>
              <a:ext cx="3074035" cy="725170"/>
            </a:xfrm>
            <a:custGeom>
              <a:avLst/>
              <a:gdLst/>
              <a:ahLst/>
              <a:cxnLst/>
              <a:rect l="l" t="t" r="r" b="b"/>
              <a:pathLst>
                <a:path w="3074035" h="725170">
                  <a:moveTo>
                    <a:pt x="57207" y="36282"/>
                  </a:moveTo>
                  <a:lnTo>
                    <a:pt x="38419" y="42303"/>
                  </a:lnTo>
                  <a:lnTo>
                    <a:pt x="52903" y="55710"/>
                  </a:lnTo>
                  <a:lnTo>
                    <a:pt x="3069259" y="725169"/>
                  </a:lnTo>
                  <a:lnTo>
                    <a:pt x="3073577" y="705738"/>
                  </a:lnTo>
                  <a:lnTo>
                    <a:pt x="57207" y="36282"/>
                  </a:lnTo>
                  <a:close/>
                </a:path>
                <a:path w="3074035" h="725170">
                  <a:moveTo>
                    <a:pt x="105460" y="0"/>
                  </a:moveTo>
                  <a:lnTo>
                    <a:pt x="0" y="33781"/>
                  </a:lnTo>
                  <a:lnTo>
                    <a:pt x="77228" y="105156"/>
                  </a:lnTo>
                  <a:lnTo>
                    <a:pt x="81241" y="108965"/>
                  </a:lnTo>
                  <a:lnTo>
                    <a:pt x="87515" y="108712"/>
                  </a:lnTo>
                  <a:lnTo>
                    <a:pt x="94945" y="100583"/>
                  </a:lnTo>
                  <a:lnTo>
                    <a:pt x="94703" y="94360"/>
                  </a:lnTo>
                  <a:lnTo>
                    <a:pt x="90678" y="90677"/>
                  </a:lnTo>
                  <a:lnTo>
                    <a:pt x="52903" y="55710"/>
                  </a:lnTo>
                  <a:lnTo>
                    <a:pt x="17043" y="47751"/>
                  </a:lnTo>
                  <a:lnTo>
                    <a:pt x="21336" y="28320"/>
                  </a:lnTo>
                  <a:lnTo>
                    <a:pt x="82049" y="28320"/>
                  </a:lnTo>
                  <a:lnTo>
                    <a:pt x="111429" y="18923"/>
                  </a:lnTo>
                  <a:lnTo>
                    <a:pt x="114350" y="13335"/>
                  </a:lnTo>
                  <a:lnTo>
                    <a:pt x="111048" y="2920"/>
                  </a:lnTo>
                  <a:lnTo>
                    <a:pt x="105460" y="0"/>
                  </a:lnTo>
                  <a:close/>
                </a:path>
                <a:path w="3074035" h="725170">
                  <a:moveTo>
                    <a:pt x="21336" y="28320"/>
                  </a:moveTo>
                  <a:lnTo>
                    <a:pt x="17043" y="47751"/>
                  </a:lnTo>
                  <a:lnTo>
                    <a:pt x="52903" y="55710"/>
                  </a:lnTo>
                  <a:lnTo>
                    <a:pt x="44030" y="47497"/>
                  </a:lnTo>
                  <a:lnTo>
                    <a:pt x="22212" y="47497"/>
                  </a:lnTo>
                  <a:lnTo>
                    <a:pt x="25920" y="30733"/>
                  </a:lnTo>
                  <a:lnTo>
                    <a:pt x="32208" y="30733"/>
                  </a:lnTo>
                  <a:lnTo>
                    <a:pt x="21336" y="28320"/>
                  </a:lnTo>
                  <a:close/>
                </a:path>
                <a:path w="3074035" h="725170">
                  <a:moveTo>
                    <a:pt x="25920" y="30733"/>
                  </a:moveTo>
                  <a:lnTo>
                    <a:pt x="22212" y="47497"/>
                  </a:lnTo>
                  <a:lnTo>
                    <a:pt x="38419" y="42303"/>
                  </a:lnTo>
                  <a:lnTo>
                    <a:pt x="25920" y="30733"/>
                  </a:lnTo>
                  <a:close/>
                </a:path>
                <a:path w="3074035" h="725170">
                  <a:moveTo>
                    <a:pt x="38419" y="42303"/>
                  </a:moveTo>
                  <a:lnTo>
                    <a:pt x="22212" y="47497"/>
                  </a:lnTo>
                  <a:lnTo>
                    <a:pt x="44030" y="47497"/>
                  </a:lnTo>
                  <a:lnTo>
                    <a:pt x="38419" y="42303"/>
                  </a:lnTo>
                  <a:close/>
                </a:path>
                <a:path w="3074035" h="725170">
                  <a:moveTo>
                    <a:pt x="32208" y="30733"/>
                  </a:moveTo>
                  <a:lnTo>
                    <a:pt x="25920" y="30733"/>
                  </a:lnTo>
                  <a:lnTo>
                    <a:pt x="38419" y="42303"/>
                  </a:lnTo>
                  <a:lnTo>
                    <a:pt x="57207" y="36282"/>
                  </a:lnTo>
                  <a:lnTo>
                    <a:pt x="32208" y="30733"/>
                  </a:lnTo>
                  <a:close/>
                </a:path>
                <a:path w="3074035" h="725170">
                  <a:moveTo>
                    <a:pt x="82049" y="28320"/>
                  </a:moveTo>
                  <a:lnTo>
                    <a:pt x="21336" y="28320"/>
                  </a:lnTo>
                  <a:lnTo>
                    <a:pt x="57207" y="36282"/>
                  </a:lnTo>
                  <a:lnTo>
                    <a:pt x="82049" y="2832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1133094" y="2015235"/>
              <a:ext cx="1242060" cy="1506220"/>
            </a:xfrm>
            <a:custGeom>
              <a:avLst/>
              <a:gdLst/>
              <a:ahLst/>
              <a:cxnLst/>
              <a:rect l="l" t="t" r="r" b="b"/>
              <a:pathLst>
                <a:path w="1242060" h="1506220">
                  <a:moveTo>
                    <a:pt x="18999" y="1423162"/>
                  </a:moveTo>
                  <a:lnTo>
                    <a:pt x="0" y="1506219"/>
                  </a:lnTo>
                  <a:lnTo>
                    <a:pt x="77838" y="1471549"/>
                  </a:lnTo>
                  <a:lnTo>
                    <a:pt x="67954" y="1463421"/>
                  </a:lnTo>
                  <a:lnTo>
                    <a:pt x="47993" y="1463421"/>
                  </a:lnTo>
                  <a:lnTo>
                    <a:pt x="32702" y="1450848"/>
                  </a:lnTo>
                  <a:lnTo>
                    <a:pt x="40759" y="1441056"/>
                  </a:lnTo>
                  <a:lnTo>
                    <a:pt x="18999" y="1423162"/>
                  </a:lnTo>
                  <a:close/>
                </a:path>
                <a:path w="1242060" h="1506220">
                  <a:moveTo>
                    <a:pt x="40759" y="1441056"/>
                  </a:moveTo>
                  <a:lnTo>
                    <a:pt x="32702" y="1450848"/>
                  </a:lnTo>
                  <a:lnTo>
                    <a:pt x="47993" y="1463421"/>
                  </a:lnTo>
                  <a:lnTo>
                    <a:pt x="56050" y="1453631"/>
                  </a:lnTo>
                  <a:lnTo>
                    <a:pt x="40759" y="1441056"/>
                  </a:lnTo>
                  <a:close/>
                </a:path>
                <a:path w="1242060" h="1506220">
                  <a:moveTo>
                    <a:pt x="56050" y="1453631"/>
                  </a:moveTo>
                  <a:lnTo>
                    <a:pt x="47993" y="1463421"/>
                  </a:lnTo>
                  <a:lnTo>
                    <a:pt x="67954" y="1463421"/>
                  </a:lnTo>
                  <a:lnTo>
                    <a:pt x="56050" y="1453631"/>
                  </a:lnTo>
                  <a:close/>
                </a:path>
                <a:path w="1242060" h="1506220">
                  <a:moveTo>
                    <a:pt x="1226566" y="0"/>
                  </a:moveTo>
                  <a:lnTo>
                    <a:pt x="40759" y="1441056"/>
                  </a:lnTo>
                  <a:lnTo>
                    <a:pt x="56050" y="1453631"/>
                  </a:lnTo>
                  <a:lnTo>
                    <a:pt x="1241933" y="12700"/>
                  </a:lnTo>
                  <a:lnTo>
                    <a:pt x="1226566" y="0"/>
                  </a:lnTo>
                  <a:close/>
                </a:path>
              </a:pathLst>
            </a:custGeom>
            <a:solidFill>
              <a:srgbClr val="BA56BD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571194" y="3918740"/>
            <a:ext cx="507831" cy="78613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Encoder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RNN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141981" y="3929388"/>
            <a:ext cx="187960" cy="780415"/>
          </a:xfrm>
          <a:custGeom>
            <a:avLst/>
            <a:gdLst/>
            <a:ahLst/>
            <a:cxnLst/>
            <a:rect l="l" t="t" r="r" b="b"/>
            <a:pathLst>
              <a:path w="187959" h="780414">
                <a:moveTo>
                  <a:pt x="187452" y="780288"/>
                </a:moveTo>
                <a:lnTo>
                  <a:pt x="150968" y="774515"/>
                </a:lnTo>
                <a:lnTo>
                  <a:pt x="121177" y="758777"/>
                </a:lnTo>
                <a:lnTo>
                  <a:pt x="101091" y="735443"/>
                </a:lnTo>
                <a:lnTo>
                  <a:pt x="93726" y="706882"/>
                </a:lnTo>
                <a:lnTo>
                  <a:pt x="93726" y="463550"/>
                </a:lnTo>
                <a:lnTo>
                  <a:pt x="86360" y="434988"/>
                </a:lnTo>
                <a:lnTo>
                  <a:pt x="66274" y="411654"/>
                </a:lnTo>
                <a:lnTo>
                  <a:pt x="36483" y="395916"/>
                </a:lnTo>
                <a:lnTo>
                  <a:pt x="0" y="390144"/>
                </a:lnTo>
                <a:lnTo>
                  <a:pt x="36483" y="384371"/>
                </a:lnTo>
                <a:lnTo>
                  <a:pt x="66274" y="368633"/>
                </a:lnTo>
                <a:lnTo>
                  <a:pt x="86360" y="345299"/>
                </a:lnTo>
                <a:lnTo>
                  <a:pt x="93726" y="316738"/>
                </a:lnTo>
                <a:lnTo>
                  <a:pt x="93726" y="73406"/>
                </a:lnTo>
                <a:lnTo>
                  <a:pt x="101091" y="44844"/>
                </a:lnTo>
                <a:lnTo>
                  <a:pt x="121177" y="21510"/>
                </a:lnTo>
                <a:lnTo>
                  <a:pt x="150968" y="5772"/>
                </a:lnTo>
                <a:lnTo>
                  <a:pt x="187452" y="0"/>
                </a:lnTo>
              </a:path>
            </a:pathLst>
          </a:custGeom>
          <a:ln w="1981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389626" y="5341169"/>
            <a:ext cx="72263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&lt;</a:t>
            </a:r>
            <a:r>
              <a:rPr kumimoji="0" sz="1600" b="0" i="1" u="none" strike="noStrike" kern="120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</a:t>
            </a:r>
            <a:r>
              <a:rPr kumimoji="0" sz="1600" b="0" i="1" u="none" strike="noStrike" kern="1200" cap="none" spc="-1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</a:t>
            </a:r>
            <a:r>
              <a:rPr kumimoji="0" sz="16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</a:t>
            </a:r>
            <a:r>
              <a:rPr kumimoji="0" sz="1600" b="0" i="1" u="none" strike="noStrike" kern="120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R</a:t>
            </a:r>
            <a:r>
              <a:rPr kumimoji="0" sz="1600" b="0" i="1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T&gt;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372554" y="3700406"/>
            <a:ext cx="467885" cy="128270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Decoder</a:t>
            </a:r>
            <a:r>
              <a:rPr kumimoji="0" sz="1800" b="0" i="0" u="none" strike="noStrike" kern="1200" cap="none" spc="-3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RNN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0136885" y="3952247"/>
            <a:ext cx="189230" cy="779145"/>
          </a:xfrm>
          <a:custGeom>
            <a:avLst/>
            <a:gdLst/>
            <a:ahLst/>
            <a:cxnLst/>
            <a:rect l="l" t="t" r="r" b="b"/>
            <a:pathLst>
              <a:path w="189229" h="779145">
                <a:moveTo>
                  <a:pt x="0" y="0"/>
                </a:moveTo>
                <a:lnTo>
                  <a:pt x="36784" y="5816"/>
                </a:lnTo>
                <a:lnTo>
                  <a:pt x="66817" y="21669"/>
                </a:lnTo>
                <a:lnTo>
                  <a:pt x="87064" y="45166"/>
                </a:lnTo>
                <a:lnTo>
                  <a:pt x="94488" y="73913"/>
                </a:lnTo>
                <a:lnTo>
                  <a:pt x="94488" y="315468"/>
                </a:lnTo>
                <a:lnTo>
                  <a:pt x="101911" y="344215"/>
                </a:lnTo>
                <a:lnTo>
                  <a:pt x="122158" y="367712"/>
                </a:lnTo>
                <a:lnTo>
                  <a:pt x="152191" y="383565"/>
                </a:lnTo>
                <a:lnTo>
                  <a:pt x="188975" y="389381"/>
                </a:lnTo>
                <a:lnTo>
                  <a:pt x="152191" y="395198"/>
                </a:lnTo>
                <a:lnTo>
                  <a:pt x="122158" y="411051"/>
                </a:lnTo>
                <a:lnTo>
                  <a:pt x="101911" y="434548"/>
                </a:lnTo>
                <a:lnTo>
                  <a:pt x="94488" y="463295"/>
                </a:lnTo>
                <a:lnTo>
                  <a:pt x="94488" y="704850"/>
                </a:lnTo>
                <a:lnTo>
                  <a:pt x="87064" y="733597"/>
                </a:lnTo>
                <a:lnTo>
                  <a:pt x="66817" y="757094"/>
                </a:lnTo>
                <a:lnTo>
                  <a:pt x="36784" y="772947"/>
                </a:lnTo>
                <a:lnTo>
                  <a:pt x="0" y="778763"/>
                </a:lnTo>
              </a:path>
            </a:pathLst>
          </a:custGeom>
          <a:ln w="19812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571194" y="2794070"/>
            <a:ext cx="507831" cy="899794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Attention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scores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137409" y="2902211"/>
            <a:ext cx="189230" cy="624840"/>
          </a:xfrm>
          <a:custGeom>
            <a:avLst/>
            <a:gdLst/>
            <a:ahLst/>
            <a:cxnLst/>
            <a:rect l="l" t="t" r="r" b="b"/>
            <a:pathLst>
              <a:path w="189229" h="624839">
                <a:moveTo>
                  <a:pt x="188976" y="624839"/>
                </a:moveTo>
                <a:lnTo>
                  <a:pt x="152196" y="619023"/>
                </a:lnTo>
                <a:lnTo>
                  <a:pt x="122162" y="603170"/>
                </a:lnTo>
                <a:lnTo>
                  <a:pt x="101913" y="579673"/>
                </a:lnTo>
                <a:lnTo>
                  <a:pt x="94488" y="550926"/>
                </a:lnTo>
                <a:lnTo>
                  <a:pt x="94488" y="386334"/>
                </a:lnTo>
                <a:lnTo>
                  <a:pt x="87062" y="357586"/>
                </a:lnTo>
                <a:lnTo>
                  <a:pt x="66813" y="334089"/>
                </a:lnTo>
                <a:lnTo>
                  <a:pt x="36779" y="318236"/>
                </a:lnTo>
                <a:lnTo>
                  <a:pt x="0" y="312420"/>
                </a:lnTo>
                <a:lnTo>
                  <a:pt x="36779" y="306603"/>
                </a:lnTo>
                <a:lnTo>
                  <a:pt x="66813" y="290750"/>
                </a:lnTo>
                <a:lnTo>
                  <a:pt x="87062" y="267253"/>
                </a:lnTo>
                <a:lnTo>
                  <a:pt x="94488" y="238506"/>
                </a:lnTo>
                <a:lnTo>
                  <a:pt x="94488" y="73913"/>
                </a:lnTo>
                <a:lnTo>
                  <a:pt x="101913" y="45166"/>
                </a:lnTo>
                <a:lnTo>
                  <a:pt x="122162" y="21669"/>
                </a:lnTo>
                <a:lnTo>
                  <a:pt x="152196" y="5816"/>
                </a:lnTo>
                <a:lnTo>
                  <a:pt x="188976" y="0"/>
                </a:lnTo>
              </a:path>
            </a:pathLst>
          </a:custGeom>
          <a:ln w="19812">
            <a:solidFill>
              <a:srgbClr val="3986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327273" y="1365247"/>
            <a:ext cx="11252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dot</a:t>
            </a:r>
            <a:r>
              <a:rPr kumimoji="0" sz="1800" b="0" i="0" u="none" strike="noStrike" kern="1200" cap="none" spc="-6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product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40" name="object 13">
            <a:extLst>
              <a:ext uri="{FF2B5EF4-FFF2-40B4-BE49-F238E27FC236}">
                <a16:creationId xmlns:a16="http://schemas.microsoft.com/office/drawing/2014/main" id="{D8F795B4-4151-D623-C1D8-249CE8B22AC5}"/>
              </a:ext>
            </a:extLst>
          </p:cNvPr>
          <p:cNvSpPr txBox="1"/>
          <p:nvPr/>
        </p:nvSpPr>
        <p:spPr>
          <a:xfrm>
            <a:off x="2433333" y="5954560"/>
            <a:ext cx="2230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Source sentence</a:t>
            </a:r>
            <a:r>
              <a:rPr kumimoji="0" sz="1800" b="0" i="0" u="none" strike="noStrike" kern="120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(input)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41" name="object 14">
            <a:extLst>
              <a:ext uri="{FF2B5EF4-FFF2-40B4-BE49-F238E27FC236}">
                <a16:creationId xmlns:a16="http://schemas.microsoft.com/office/drawing/2014/main" id="{83D5A540-C14C-3D08-1520-FE5CC4DCDD95}"/>
              </a:ext>
            </a:extLst>
          </p:cNvPr>
          <p:cNvSpPr/>
          <p:nvPr/>
        </p:nvSpPr>
        <p:spPr>
          <a:xfrm>
            <a:off x="2357710" y="5780012"/>
            <a:ext cx="2343455" cy="197550"/>
          </a:xfrm>
          <a:custGeom>
            <a:avLst/>
            <a:gdLst/>
            <a:ahLst/>
            <a:cxnLst/>
            <a:rect l="l" t="t" r="r" b="b"/>
            <a:pathLst>
              <a:path w="2435860" h="271779">
                <a:moveTo>
                  <a:pt x="2435352" y="0"/>
                </a:moveTo>
                <a:lnTo>
                  <a:pt x="2427013" y="52804"/>
                </a:lnTo>
                <a:lnTo>
                  <a:pt x="2404268" y="95916"/>
                </a:lnTo>
                <a:lnTo>
                  <a:pt x="2370522" y="124979"/>
                </a:lnTo>
                <a:lnTo>
                  <a:pt x="2329180" y="135636"/>
                </a:lnTo>
                <a:lnTo>
                  <a:pt x="1323848" y="135636"/>
                </a:lnTo>
                <a:lnTo>
                  <a:pt x="1282505" y="146292"/>
                </a:lnTo>
                <a:lnTo>
                  <a:pt x="1248759" y="175355"/>
                </a:lnTo>
                <a:lnTo>
                  <a:pt x="1226014" y="218467"/>
                </a:lnTo>
                <a:lnTo>
                  <a:pt x="1217676" y="271272"/>
                </a:lnTo>
                <a:lnTo>
                  <a:pt x="1209337" y="218467"/>
                </a:lnTo>
                <a:lnTo>
                  <a:pt x="1186592" y="175355"/>
                </a:lnTo>
                <a:lnTo>
                  <a:pt x="1152846" y="146292"/>
                </a:lnTo>
                <a:lnTo>
                  <a:pt x="1111504" y="135636"/>
                </a:lnTo>
                <a:lnTo>
                  <a:pt x="106146" y="135636"/>
                </a:lnTo>
                <a:lnTo>
                  <a:pt x="64829" y="124979"/>
                </a:lnTo>
                <a:lnTo>
                  <a:pt x="31089" y="95916"/>
                </a:lnTo>
                <a:lnTo>
                  <a:pt x="8341" y="52804"/>
                </a:lnTo>
                <a:lnTo>
                  <a:pt x="0" y="0"/>
                </a:lnTo>
              </a:path>
            </a:pathLst>
          </a:custGeom>
          <a:ln w="198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42" name="object 21">
            <a:extLst>
              <a:ext uri="{FF2B5EF4-FFF2-40B4-BE49-F238E27FC236}">
                <a16:creationId xmlns:a16="http://schemas.microsoft.com/office/drawing/2014/main" id="{C4A5A301-CC13-5559-0422-B32D4FE81EBC}"/>
              </a:ext>
            </a:extLst>
          </p:cNvPr>
          <p:cNvSpPr txBox="1"/>
          <p:nvPr/>
        </p:nvSpPr>
        <p:spPr>
          <a:xfrm>
            <a:off x="2426336" y="5313638"/>
            <a:ext cx="40980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i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हम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43" name="object 22">
            <a:extLst>
              <a:ext uri="{FF2B5EF4-FFF2-40B4-BE49-F238E27FC236}">
                <a16:creationId xmlns:a16="http://schemas.microsoft.com/office/drawing/2014/main" id="{8612FE12-1336-CD2C-EDC5-5054912C9594}"/>
              </a:ext>
            </a:extLst>
          </p:cNvPr>
          <p:cNvSpPr txBox="1"/>
          <p:nvPr/>
        </p:nvSpPr>
        <p:spPr>
          <a:xfrm>
            <a:off x="3002623" y="5313638"/>
            <a:ext cx="53340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i-IN" sz="16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बाजार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44" name="object 21">
            <a:extLst>
              <a:ext uri="{FF2B5EF4-FFF2-40B4-BE49-F238E27FC236}">
                <a16:creationId xmlns:a16="http://schemas.microsoft.com/office/drawing/2014/main" id="{90EF281F-F52D-0215-1542-AA59EE77B1C2}"/>
              </a:ext>
            </a:extLst>
          </p:cNvPr>
          <p:cNvSpPr txBox="1"/>
          <p:nvPr/>
        </p:nvSpPr>
        <p:spPr>
          <a:xfrm>
            <a:off x="3658511" y="5317123"/>
            <a:ext cx="40980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i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गये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45" name="object 21">
            <a:extLst>
              <a:ext uri="{FF2B5EF4-FFF2-40B4-BE49-F238E27FC236}">
                <a16:creationId xmlns:a16="http://schemas.microsoft.com/office/drawing/2014/main" id="{B1B0045A-DE82-C1F8-0BC4-75F7E4924061}"/>
              </a:ext>
            </a:extLst>
          </p:cNvPr>
          <p:cNvSpPr txBox="1"/>
          <p:nvPr/>
        </p:nvSpPr>
        <p:spPr>
          <a:xfrm>
            <a:off x="4268105" y="5310901"/>
            <a:ext cx="40980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i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थे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91BD431-1876-79E0-487D-D39984FFE2BA}"/>
              </a:ext>
            </a:extLst>
          </p:cNvPr>
          <p:cNvSpPr txBox="1"/>
          <p:nvPr/>
        </p:nvSpPr>
        <p:spPr>
          <a:xfrm>
            <a:off x="2412364" y="5540067"/>
            <a:ext cx="2321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ham      baajaar     gaye         the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1325" y="607035"/>
            <a:ext cx="11307763" cy="629018"/>
          </a:xfrm>
          <a:prstGeom prst="rect">
            <a:avLst/>
          </a:prstGeom>
        </p:spPr>
        <p:txBody>
          <a:bodyPr vert="horz" wrap="square" lIns="0" tIns="1333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pc="-5" dirty="0"/>
              <a:t>Sequence-to-Sequence</a:t>
            </a:r>
            <a:r>
              <a:rPr lang="en-IN" spc="-40" dirty="0"/>
              <a:t> </a:t>
            </a:r>
            <a:r>
              <a:rPr lang="en-IN" spc="-5" dirty="0"/>
              <a:t>With</a:t>
            </a:r>
            <a:r>
              <a:rPr lang="en-IN" spc="15" dirty="0"/>
              <a:t> A</a:t>
            </a:r>
            <a:r>
              <a:rPr lang="en-IN" dirty="0"/>
              <a:t>ttention</a:t>
            </a:r>
            <a:endParaRPr dirty="0">
              <a:latin typeface="+mn-l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506980" y="1644151"/>
            <a:ext cx="3404870" cy="3675379"/>
            <a:chOff x="982980" y="2017776"/>
            <a:chExt cx="3404870" cy="367537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6800" y="4367783"/>
              <a:ext cx="126492" cy="13258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6800" y="4536948"/>
              <a:ext cx="126492" cy="13258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6800" y="4706111"/>
              <a:ext cx="126492" cy="13258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6800" y="4875276"/>
              <a:ext cx="126492" cy="13106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992886" y="4303014"/>
              <a:ext cx="266700" cy="780415"/>
            </a:xfrm>
            <a:custGeom>
              <a:avLst/>
              <a:gdLst/>
              <a:ahLst/>
              <a:cxnLst/>
              <a:rect l="l" t="t" r="r" b="b"/>
              <a:pathLst>
                <a:path w="266700" h="780414">
                  <a:moveTo>
                    <a:pt x="222250" y="0"/>
                  </a:moveTo>
                  <a:lnTo>
                    <a:pt x="239551" y="3498"/>
                  </a:lnTo>
                  <a:lnTo>
                    <a:pt x="253680" y="13033"/>
                  </a:lnTo>
                  <a:lnTo>
                    <a:pt x="263206" y="27164"/>
                  </a:lnTo>
                  <a:lnTo>
                    <a:pt x="266700" y="44450"/>
                  </a:lnTo>
                  <a:lnTo>
                    <a:pt x="266700" y="735838"/>
                  </a:lnTo>
                  <a:lnTo>
                    <a:pt x="263206" y="753123"/>
                  </a:lnTo>
                  <a:lnTo>
                    <a:pt x="253680" y="767254"/>
                  </a:lnTo>
                  <a:lnTo>
                    <a:pt x="239551" y="776789"/>
                  </a:lnTo>
                  <a:lnTo>
                    <a:pt x="222250" y="780288"/>
                  </a:lnTo>
                  <a:lnTo>
                    <a:pt x="44450" y="780288"/>
                  </a:lnTo>
                  <a:lnTo>
                    <a:pt x="27148" y="776789"/>
                  </a:lnTo>
                  <a:lnTo>
                    <a:pt x="13019" y="767254"/>
                  </a:lnTo>
                  <a:lnTo>
                    <a:pt x="3493" y="753123"/>
                  </a:lnTo>
                  <a:lnTo>
                    <a:pt x="0" y="735838"/>
                  </a:lnTo>
                  <a:lnTo>
                    <a:pt x="0" y="44450"/>
                  </a:lnTo>
                  <a:lnTo>
                    <a:pt x="3493" y="27164"/>
                  </a:lnTo>
                  <a:lnTo>
                    <a:pt x="13019" y="13033"/>
                  </a:lnTo>
                  <a:lnTo>
                    <a:pt x="27148" y="3498"/>
                  </a:lnTo>
                  <a:lnTo>
                    <a:pt x="44450" y="0"/>
                  </a:lnTo>
                  <a:lnTo>
                    <a:pt x="22225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71232" y="4637404"/>
              <a:ext cx="533400" cy="1056005"/>
            </a:xfrm>
            <a:custGeom>
              <a:avLst/>
              <a:gdLst/>
              <a:ahLst/>
              <a:cxnLst/>
              <a:rect l="l" t="t" r="r" b="b"/>
              <a:pathLst>
                <a:path w="533400" h="1056004">
                  <a:moveTo>
                    <a:pt x="111531" y="541401"/>
                  </a:moveTo>
                  <a:lnTo>
                    <a:pt x="67183" y="465455"/>
                  </a:lnTo>
                  <a:lnTo>
                    <a:pt x="55765" y="445897"/>
                  </a:lnTo>
                  <a:lnTo>
                    <a:pt x="0" y="541401"/>
                  </a:lnTo>
                  <a:lnTo>
                    <a:pt x="1600" y="547497"/>
                  </a:lnTo>
                  <a:lnTo>
                    <a:pt x="11049" y="553085"/>
                  </a:lnTo>
                  <a:lnTo>
                    <a:pt x="17119" y="551434"/>
                  </a:lnTo>
                  <a:lnTo>
                    <a:pt x="45859" y="502183"/>
                  </a:lnTo>
                  <a:lnTo>
                    <a:pt x="45859" y="1055497"/>
                  </a:lnTo>
                  <a:lnTo>
                    <a:pt x="65671" y="1055497"/>
                  </a:lnTo>
                  <a:lnTo>
                    <a:pt x="65671" y="502183"/>
                  </a:lnTo>
                  <a:lnTo>
                    <a:pt x="94411" y="551434"/>
                  </a:lnTo>
                  <a:lnTo>
                    <a:pt x="100482" y="553085"/>
                  </a:lnTo>
                  <a:lnTo>
                    <a:pt x="109931" y="547497"/>
                  </a:lnTo>
                  <a:lnTo>
                    <a:pt x="111531" y="541401"/>
                  </a:lnTo>
                  <a:close/>
                </a:path>
                <a:path w="533400" h="1056004">
                  <a:moveTo>
                    <a:pt x="533019" y="55765"/>
                  </a:moveTo>
                  <a:lnTo>
                    <a:pt x="516039" y="45847"/>
                  </a:lnTo>
                  <a:lnTo>
                    <a:pt x="442226" y="2794"/>
                  </a:lnTo>
                  <a:lnTo>
                    <a:pt x="437527" y="0"/>
                  </a:lnTo>
                  <a:lnTo>
                    <a:pt x="431431" y="1524"/>
                  </a:lnTo>
                  <a:lnTo>
                    <a:pt x="428637" y="6350"/>
                  </a:lnTo>
                  <a:lnTo>
                    <a:pt x="425970" y="11049"/>
                  </a:lnTo>
                  <a:lnTo>
                    <a:pt x="427494" y="17145"/>
                  </a:lnTo>
                  <a:lnTo>
                    <a:pt x="432193" y="19812"/>
                  </a:lnTo>
                  <a:lnTo>
                    <a:pt x="476796" y="45847"/>
                  </a:lnTo>
                  <a:lnTo>
                    <a:pt x="188353" y="45847"/>
                  </a:lnTo>
                  <a:lnTo>
                    <a:pt x="188353" y="65659"/>
                  </a:lnTo>
                  <a:lnTo>
                    <a:pt x="476821" y="65659"/>
                  </a:lnTo>
                  <a:lnTo>
                    <a:pt x="493801" y="55765"/>
                  </a:lnTo>
                  <a:lnTo>
                    <a:pt x="432193" y="91694"/>
                  </a:lnTo>
                  <a:lnTo>
                    <a:pt x="427494" y="94361"/>
                  </a:lnTo>
                  <a:lnTo>
                    <a:pt x="425970" y="100457"/>
                  </a:lnTo>
                  <a:lnTo>
                    <a:pt x="428637" y="105156"/>
                  </a:lnTo>
                  <a:lnTo>
                    <a:pt x="431431" y="109982"/>
                  </a:lnTo>
                  <a:lnTo>
                    <a:pt x="437527" y="111506"/>
                  </a:lnTo>
                  <a:lnTo>
                    <a:pt x="442226" y="108712"/>
                  </a:lnTo>
                  <a:lnTo>
                    <a:pt x="516039" y="65659"/>
                  </a:lnTo>
                  <a:lnTo>
                    <a:pt x="533019" y="55765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91056" y="3511296"/>
              <a:ext cx="2796539" cy="217551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077252" y="3584333"/>
              <a:ext cx="3170555" cy="720090"/>
            </a:xfrm>
            <a:custGeom>
              <a:avLst/>
              <a:gdLst/>
              <a:ahLst/>
              <a:cxnLst/>
              <a:rect l="l" t="t" r="r" b="b"/>
              <a:pathLst>
                <a:path w="3170554" h="720089">
                  <a:moveTo>
                    <a:pt x="111531" y="139687"/>
                  </a:moveTo>
                  <a:lnTo>
                    <a:pt x="108813" y="134861"/>
                  </a:lnTo>
                  <a:lnTo>
                    <a:pt x="67894" y="63106"/>
                  </a:lnTo>
                  <a:lnTo>
                    <a:pt x="56756" y="43548"/>
                  </a:lnTo>
                  <a:lnTo>
                    <a:pt x="0" y="138544"/>
                  </a:lnTo>
                  <a:lnTo>
                    <a:pt x="1536" y="144640"/>
                  </a:lnTo>
                  <a:lnTo>
                    <a:pt x="10934" y="150228"/>
                  </a:lnTo>
                  <a:lnTo>
                    <a:pt x="17018" y="148704"/>
                  </a:lnTo>
                  <a:lnTo>
                    <a:pt x="46266" y="99695"/>
                  </a:lnTo>
                  <a:lnTo>
                    <a:pt x="39839" y="718299"/>
                  </a:lnTo>
                  <a:lnTo>
                    <a:pt x="59651" y="718553"/>
                  </a:lnTo>
                  <a:lnTo>
                    <a:pt x="66065" y="99923"/>
                  </a:lnTo>
                  <a:lnTo>
                    <a:pt x="91605" y="144767"/>
                  </a:lnTo>
                  <a:lnTo>
                    <a:pt x="94310" y="149466"/>
                  </a:lnTo>
                  <a:lnTo>
                    <a:pt x="100355" y="151117"/>
                  </a:lnTo>
                  <a:lnTo>
                    <a:pt x="105117" y="148450"/>
                  </a:lnTo>
                  <a:lnTo>
                    <a:pt x="109867" y="145656"/>
                  </a:lnTo>
                  <a:lnTo>
                    <a:pt x="111531" y="139687"/>
                  </a:lnTo>
                  <a:close/>
                </a:path>
                <a:path w="3170554" h="720089">
                  <a:moveTo>
                    <a:pt x="3170136" y="700392"/>
                  </a:moveTo>
                  <a:lnTo>
                    <a:pt x="757364" y="33782"/>
                  </a:lnTo>
                  <a:lnTo>
                    <a:pt x="794245" y="23990"/>
                  </a:lnTo>
                  <a:lnTo>
                    <a:pt x="812507" y="19164"/>
                  </a:lnTo>
                  <a:lnTo>
                    <a:pt x="815682" y="13703"/>
                  </a:lnTo>
                  <a:lnTo>
                    <a:pt x="814285" y="8496"/>
                  </a:lnTo>
                  <a:lnTo>
                    <a:pt x="812888" y="3175"/>
                  </a:lnTo>
                  <a:lnTo>
                    <a:pt x="807427" y="0"/>
                  </a:lnTo>
                  <a:lnTo>
                    <a:pt x="700493" y="28308"/>
                  </a:lnTo>
                  <a:lnTo>
                    <a:pt x="774014" y="103746"/>
                  </a:lnTo>
                  <a:lnTo>
                    <a:pt x="777709" y="107556"/>
                  </a:lnTo>
                  <a:lnTo>
                    <a:pt x="784059" y="107556"/>
                  </a:lnTo>
                  <a:lnTo>
                    <a:pt x="787869" y="103746"/>
                  </a:lnTo>
                  <a:lnTo>
                    <a:pt x="791806" y="99936"/>
                  </a:lnTo>
                  <a:lnTo>
                    <a:pt x="791933" y="93713"/>
                  </a:lnTo>
                  <a:lnTo>
                    <a:pt x="752030" y="52793"/>
                  </a:lnTo>
                  <a:lnTo>
                    <a:pt x="3164802" y="719569"/>
                  </a:lnTo>
                  <a:lnTo>
                    <a:pt x="3170136" y="700392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66800" y="3511296"/>
              <a:ext cx="132587" cy="12649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172667" y="3578860"/>
              <a:ext cx="3074035" cy="725170"/>
            </a:xfrm>
            <a:custGeom>
              <a:avLst/>
              <a:gdLst/>
              <a:ahLst/>
              <a:cxnLst/>
              <a:rect l="l" t="t" r="r" b="b"/>
              <a:pathLst>
                <a:path w="3074035" h="725170">
                  <a:moveTo>
                    <a:pt x="57207" y="36282"/>
                  </a:moveTo>
                  <a:lnTo>
                    <a:pt x="38419" y="42303"/>
                  </a:lnTo>
                  <a:lnTo>
                    <a:pt x="52903" y="55710"/>
                  </a:lnTo>
                  <a:lnTo>
                    <a:pt x="3069259" y="725169"/>
                  </a:lnTo>
                  <a:lnTo>
                    <a:pt x="3073577" y="705738"/>
                  </a:lnTo>
                  <a:lnTo>
                    <a:pt x="57207" y="36282"/>
                  </a:lnTo>
                  <a:close/>
                </a:path>
                <a:path w="3074035" h="725170">
                  <a:moveTo>
                    <a:pt x="105460" y="0"/>
                  </a:moveTo>
                  <a:lnTo>
                    <a:pt x="0" y="33781"/>
                  </a:lnTo>
                  <a:lnTo>
                    <a:pt x="77228" y="105156"/>
                  </a:lnTo>
                  <a:lnTo>
                    <a:pt x="81241" y="108965"/>
                  </a:lnTo>
                  <a:lnTo>
                    <a:pt x="87515" y="108712"/>
                  </a:lnTo>
                  <a:lnTo>
                    <a:pt x="94945" y="100583"/>
                  </a:lnTo>
                  <a:lnTo>
                    <a:pt x="94703" y="94360"/>
                  </a:lnTo>
                  <a:lnTo>
                    <a:pt x="90678" y="90677"/>
                  </a:lnTo>
                  <a:lnTo>
                    <a:pt x="52903" y="55710"/>
                  </a:lnTo>
                  <a:lnTo>
                    <a:pt x="17043" y="47751"/>
                  </a:lnTo>
                  <a:lnTo>
                    <a:pt x="21336" y="28320"/>
                  </a:lnTo>
                  <a:lnTo>
                    <a:pt x="82049" y="28320"/>
                  </a:lnTo>
                  <a:lnTo>
                    <a:pt x="111429" y="18923"/>
                  </a:lnTo>
                  <a:lnTo>
                    <a:pt x="114350" y="13335"/>
                  </a:lnTo>
                  <a:lnTo>
                    <a:pt x="111048" y="2920"/>
                  </a:lnTo>
                  <a:lnTo>
                    <a:pt x="105460" y="0"/>
                  </a:lnTo>
                  <a:close/>
                </a:path>
                <a:path w="3074035" h="725170">
                  <a:moveTo>
                    <a:pt x="21336" y="28320"/>
                  </a:moveTo>
                  <a:lnTo>
                    <a:pt x="17043" y="47751"/>
                  </a:lnTo>
                  <a:lnTo>
                    <a:pt x="52903" y="55710"/>
                  </a:lnTo>
                  <a:lnTo>
                    <a:pt x="44030" y="47497"/>
                  </a:lnTo>
                  <a:lnTo>
                    <a:pt x="22212" y="47497"/>
                  </a:lnTo>
                  <a:lnTo>
                    <a:pt x="25920" y="30733"/>
                  </a:lnTo>
                  <a:lnTo>
                    <a:pt x="32208" y="30733"/>
                  </a:lnTo>
                  <a:lnTo>
                    <a:pt x="21336" y="28320"/>
                  </a:lnTo>
                  <a:close/>
                </a:path>
                <a:path w="3074035" h="725170">
                  <a:moveTo>
                    <a:pt x="25920" y="30733"/>
                  </a:moveTo>
                  <a:lnTo>
                    <a:pt x="22212" y="47497"/>
                  </a:lnTo>
                  <a:lnTo>
                    <a:pt x="38419" y="42303"/>
                  </a:lnTo>
                  <a:lnTo>
                    <a:pt x="25920" y="30733"/>
                  </a:lnTo>
                  <a:close/>
                </a:path>
                <a:path w="3074035" h="725170">
                  <a:moveTo>
                    <a:pt x="38419" y="42303"/>
                  </a:moveTo>
                  <a:lnTo>
                    <a:pt x="22212" y="47497"/>
                  </a:lnTo>
                  <a:lnTo>
                    <a:pt x="44030" y="47497"/>
                  </a:lnTo>
                  <a:lnTo>
                    <a:pt x="38419" y="42303"/>
                  </a:lnTo>
                  <a:close/>
                </a:path>
                <a:path w="3074035" h="725170">
                  <a:moveTo>
                    <a:pt x="32208" y="30733"/>
                  </a:moveTo>
                  <a:lnTo>
                    <a:pt x="25920" y="30733"/>
                  </a:lnTo>
                  <a:lnTo>
                    <a:pt x="38419" y="42303"/>
                  </a:lnTo>
                  <a:lnTo>
                    <a:pt x="57207" y="36282"/>
                  </a:lnTo>
                  <a:lnTo>
                    <a:pt x="32208" y="30733"/>
                  </a:lnTo>
                  <a:close/>
                </a:path>
                <a:path w="3074035" h="725170">
                  <a:moveTo>
                    <a:pt x="82049" y="28320"/>
                  </a:moveTo>
                  <a:lnTo>
                    <a:pt x="21336" y="28320"/>
                  </a:lnTo>
                  <a:lnTo>
                    <a:pt x="57207" y="36282"/>
                  </a:lnTo>
                  <a:lnTo>
                    <a:pt x="82049" y="2832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1732534" y="2017776"/>
              <a:ext cx="645160" cy="1503680"/>
            </a:xfrm>
            <a:custGeom>
              <a:avLst/>
              <a:gdLst/>
              <a:ahLst/>
              <a:cxnLst/>
              <a:rect l="l" t="t" r="r" b="b"/>
              <a:pathLst>
                <a:path w="645160" h="1503679">
                  <a:moveTo>
                    <a:pt x="0" y="1418716"/>
                  </a:moveTo>
                  <a:lnTo>
                    <a:pt x="5588" y="1503679"/>
                  </a:lnTo>
                  <a:lnTo>
                    <a:pt x="69343" y="1448943"/>
                  </a:lnTo>
                  <a:lnTo>
                    <a:pt x="39370" y="1448943"/>
                  </a:lnTo>
                  <a:lnTo>
                    <a:pt x="21082" y="1441323"/>
                  </a:lnTo>
                  <a:lnTo>
                    <a:pt x="25995" y="1429622"/>
                  </a:lnTo>
                  <a:lnTo>
                    <a:pt x="0" y="1418716"/>
                  </a:lnTo>
                  <a:close/>
                </a:path>
                <a:path w="645160" h="1503679">
                  <a:moveTo>
                    <a:pt x="25995" y="1429622"/>
                  </a:moveTo>
                  <a:lnTo>
                    <a:pt x="21082" y="1441323"/>
                  </a:lnTo>
                  <a:lnTo>
                    <a:pt x="39370" y="1448943"/>
                  </a:lnTo>
                  <a:lnTo>
                    <a:pt x="44264" y="1437287"/>
                  </a:lnTo>
                  <a:lnTo>
                    <a:pt x="25995" y="1429622"/>
                  </a:lnTo>
                  <a:close/>
                </a:path>
                <a:path w="645160" h="1503679">
                  <a:moveTo>
                    <a:pt x="44264" y="1437287"/>
                  </a:moveTo>
                  <a:lnTo>
                    <a:pt x="39370" y="1448943"/>
                  </a:lnTo>
                  <a:lnTo>
                    <a:pt x="69343" y="1448943"/>
                  </a:lnTo>
                  <a:lnTo>
                    <a:pt x="70231" y="1448181"/>
                  </a:lnTo>
                  <a:lnTo>
                    <a:pt x="44264" y="1437287"/>
                  </a:lnTo>
                  <a:close/>
                </a:path>
                <a:path w="645160" h="1503679">
                  <a:moveTo>
                    <a:pt x="626364" y="0"/>
                  </a:moveTo>
                  <a:lnTo>
                    <a:pt x="25995" y="1429622"/>
                  </a:lnTo>
                  <a:lnTo>
                    <a:pt x="44264" y="1437287"/>
                  </a:lnTo>
                  <a:lnTo>
                    <a:pt x="644652" y="7620"/>
                  </a:lnTo>
                  <a:lnTo>
                    <a:pt x="626364" y="0"/>
                  </a:lnTo>
                  <a:close/>
                </a:path>
              </a:pathLst>
            </a:custGeom>
            <a:solidFill>
              <a:srgbClr val="BA56BD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571194" y="3918741"/>
            <a:ext cx="507831" cy="78613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Encoder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RNN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141981" y="3929389"/>
            <a:ext cx="187960" cy="780415"/>
          </a:xfrm>
          <a:custGeom>
            <a:avLst/>
            <a:gdLst/>
            <a:ahLst/>
            <a:cxnLst/>
            <a:rect l="l" t="t" r="r" b="b"/>
            <a:pathLst>
              <a:path w="187959" h="780414">
                <a:moveTo>
                  <a:pt x="187452" y="780288"/>
                </a:moveTo>
                <a:lnTo>
                  <a:pt x="150968" y="774515"/>
                </a:lnTo>
                <a:lnTo>
                  <a:pt x="121177" y="758777"/>
                </a:lnTo>
                <a:lnTo>
                  <a:pt x="101091" y="735443"/>
                </a:lnTo>
                <a:lnTo>
                  <a:pt x="93726" y="706882"/>
                </a:lnTo>
                <a:lnTo>
                  <a:pt x="93726" y="463550"/>
                </a:lnTo>
                <a:lnTo>
                  <a:pt x="86360" y="434988"/>
                </a:lnTo>
                <a:lnTo>
                  <a:pt x="66274" y="411654"/>
                </a:lnTo>
                <a:lnTo>
                  <a:pt x="36483" y="395916"/>
                </a:lnTo>
                <a:lnTo>
                  <a:pt x="0" y="390144"/>
                </a:lnTo>
                <a:lnTo>
                  <a:pt x="36483" y="384371"/>
                </a:lnTo>
                <a:lnTo>
                  <a:pt x="66274" y="368633"/>
                </a:lnTo>
                <a:lnTo>
                  <a:pt x="86360" y="345299"/>
                </a:lnTo>
                <a:lnTo>
                  <a:pt x="93726" y="316738"/>
                </a:lnTo>
                <a:lnTo>
                  <a:pt x="93726" y="73406"/>
                </a:lnTo>
                <a:lnTo>
                  <a:pt x="101091" y="44844"/>
                </a:lnTo>
                <a:lnTo>
                  <a:pt x="121177" y="21510"/>
                </a:lnTo>
                <a:lnTo>
                  <a:pt x="150968" y="5772"/>
                </a:lnTo>
                <a:lnTo>
                  <a:pt x="187452" y="0"/>
                </a:lnTo>
              </a:path>
            </a:pathLst>
          </a:custGeom>
          <a:ln w="1981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389626" y="5341170"/>
            <a:ext cx="72263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&lt;</a:t>
            </a:r>
            <a:r>
              <a:rPr kumimoji="0" sz="1600" b="0" i="1" u="none" strike="noStrike" kern="120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</a:t>
            </a:r>
            <a:r>
              <a:rPr kumimoji="0" sz="1600" b="0" i="1" u="none" strike="noStrike" kern="1200" cap="none" spc="-1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</a:t>
            </a:r>
            <a:r>
              <a:rPr kumimoji="0" sz="16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</a:t>
            </a:r>
            <a:r>
              <a:rPr kumimoji="0" sz="1600" b="0" i="1" u="none" strike="noStrike" kern="120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R</a:t>
            </a:r>
            <a:r>
              <a:rPr kumimoji="0" sz="1600" b="0" i="1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T&gt;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0136885" y="3952248"/>
            <a:ext cx="189230" cy="779145"/>
          </a:xfrm>
          <a:custGeom>
            <a:avLst/>
            <a:gdLst/>
            <a:ahLst/>
            <a:cxnLst/>
            <a:rect l="l" t="t" r="r" b="b"/>
            <a:pathLst>
              <a:path w="189229" h="779145">
                <a:moveTo>
                  <a:pt x="0" y="0"/>
                </a:moveTo>
                <a:lnTo>
                  <a:pt x="36784" y="5816"/>
                </a:lnTo>
                <a:lnTo>
                  <a:pt x="66817" y="21669"/>
                </a:lnTo>
                <a:lnTo>
                  <a:pt x="87064" y="45166"/>
                </a:lnTo>
                <a:lnTo>
                  <a:pt x="94488" y="73913"/>
                </a:lnTo>
                <a:lnTo>
                  <a:pt x="94488" y="315468"/>
                </a:lnTo>
                <a:lnTo>
                  <a:pt x="101911" y="344215"/>
                </a:lnTo>
                <a:lnTo>
                  <a:pt x="122158" y="367712"/>
                </a:lnTo>
                <a:lnTo>
                  <a:pt x="152191" y="383565"/>
                </a:lnTo>
                <a:lnTo>
                  <a:pt x="188975" y="389381"/>
                </a:lnTo>
                <a:lnTo>
                  <a:pt x="152191" y="395198"/>
                </a:lnTo>
                <a:lnTo>
                  <a:pt x="122158" y="411051"/>
                </a:lnTo>
                <a:lnTo>
                  <a:pt x="101911" y="434548"/>
                </a:lnTo>
                <a:lnTo>
                  <a:pt x="94488" y="463295"/>
                </a:lnTo>
                <a:lnTo>
                  <a:pt x="94488" y="704850"/>
                </a:lnTo>
                <a:lnTo>
                  <a:pt x="87064" y="733597"/>
                </a:lnTo>
                <a:lnTo>
                  <a:pt x="66817" y="757094"/>
                </a:lnTo>
                <a:lnTo>
                  <a:pt x="36784" y="772947"/>
                </a:lnTo>
                <a:lnTo>
                  <a:pt x="0" y="778763"/>
                </a:lnTo>
              </a:path>
            </a:pathLst>
          </a:custGeom>
          <a:ln w="19812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571194" y="2794071"/>
            <a:ext cx="507831" cy="899794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Attention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scores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137409" y="2902212"/>
            <a:ext cx="189230" cy="624840"/>
          </a:xfrm>
          <a:custGeom>
            <a:avLst/>
            <a:gdLst/>
            <a:ahLst/>
            <a:cxnLst/>
            <a:rect l="l" t="t" r="r" b="b"/>
            <a:pathLst>
              <a:path w="189229" h="624839">
                <a:moveTo>
                  <a:pt x="188976" y="624839"/>
                </a:moveTo>
                <a:lnTo>
                  <a:pt x="152196" y="619023"/>
                </a:lnTo>
                <a:lnTo>
                  <a:pt x="122162" y="603170"/>
                </a:lnTo>
                <a:lnTo>
                  <a:pt x="101913" y="579673"/>
                </a:lnTo>
                <a:lnTo>
                  <a:pt x="94488" y="550926"/>
                </a:lnTo>
                <a:lnTo>
                  <a:pt x="94488" y="386334"/>
                </a:lnTo>
                <a:lnTo>
                  <a:pt x="87062" y="357586"/>
                </a:lnTo>
                <a:lnTo>
                  <a:pt x="66813" y="334089"/>
                </a:lnTo>
                <a:lnTo>
                  <a:pt x="36779" y="318236"/>
                </a:lnTo>
                <a:lnTo>
                  <a:pt x="0" y="312420"/>
                </a:lnTo>
                <a:lnTo>
                  <a:pt x="36779" y="306603"/>
                </a:lnTo>
                <a:lnTo>
                  <a:pt x="66813" y="290750"/>
                </a:lnTo>
                <a:lnTo>
                  <a:pt x="87062" y="267253"/>
                </a:lnTo>
                <a:lnTo>
                  <a:pt x="94488" y="238506"/>
                </a:lnTo>
                <a:lnTo>
                  <a:pt x="94488" y="73913"/>
                </a:lnTo>
                <a:lnTo>
                  <a:pt x="101913" y="45166"/>
                </a:lnTo>
                <a:lnTo>
                  <a:pt x="122162" y="21669"/>
                </a:lnTo>
                <a:lnTo>
                  <a:pt x="152196" y="5816"/>
                </a:lnTo>
                <a:lnTo>
                  <a:pt x="188976" y="0"/>
                </a:lnTo>
              </a:path>
            </a:pathLst>
          </a:custGeom>
          <a:ln w="19812">
            <a:solidFill>
              <a:srgbClr val="3986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327273" y="1296424"/>
            <a:ext cx="11252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dot</a:t>
            </a:r>
            <a:r>
              <a:rPr kumimoji="0" sz="1800" b="0" i="0" u="none" strike="noStrike" kern="1200" cap="none" spc="-6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product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29" name="object 22">
            <a:extLst>
              <a:ext uri="{FF2B5EF4-FFF2-40B4-BE49-F238E27FC236}">
                <a16:creationId xmlns:a16="http://schemas.microsoft.com/office/drawing/2014/main" id="{42C6BC4F-7726-0CE2-F477-1E36A47A6DC8}"/>
              </a:ext>
            </a:extLst>
          </p:cNvPr>
          <p:cNvSpPr txBox="1"/>
          <p:nvPr/>
        </p:nvSpPr>
        <p:spPr>
          <a:xfrm>
            <a:off x="10372554" y="3700406"/>
            <a:ext cx="467885" cy="128270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Decoder</a:t>
            </a:r>
            <a:r>
              <a:rPr kumimoji="0" sz="1800" b="0" i="0" u="none" strike="noStrike" kern="1200" cap="none" spc="-3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RNN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34" name="object 13">
            <a:extLst>
              <a:ext uri="{FF2B5EF4-FFF2-40B4-BE49-F238E27FC236}">
                <a16:creationId xmlns:a16="http://schemas.microsoft.com/office/drawing/2014/main" id="{014ACF76-B84E-C8FC-ACE3-875BE398D4BE}"/>
              </a:ext>
            </a:extLst>
          </p:cNvPr>
          <p:cNvSpPr txBox="1"/>
          <p:nvPr/>
        </p:nvSpPr>
        <p:spPr>
          <a:xfrm>
            <a:off x="2433333" y="5954560"/>
            <a:ext cx="2230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Source sentence</a:t>
            </a:r>
            <a:r>
              <a:rPr kumimoji="0" sz="1800" b="0" i="0" u="none" strike="noStrike" kern="120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(input)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35" name="object 14">
            <a:extLst>
              <a:ext uri="{FF2B5EF4-FFF2-40B4-BE49-F238E27FC236}">
                <a16:creationId xmlns:a16="http://schemas.microsoft.com/office/drawing/2014/main" id="{17F736C7-5665-B8C7-60AE-B8D5D1186820}"/>
              </a:ext>
            </a:extLst>
          </p:cNvPr>
          <p:cNvSpPr/>
          <p:nvPr/>
        </p:nvSpPr>
        <p:spPr>
          <a:xfrm>
            <a:off x="2357710" y="5780012"/>
            <a:ext cx="2343455" cy="197550"/>
          </a:xfrm>
          <a:custGeom>
            <a:avLst/>
            <a:gdLst/>
            <a:ahLst/>
            <a:cxnLst/>
            <a:rect l="l" t="t" r="r" b="b"/>
            <a:pathLst>
              <a:path w="2435860" h="271779">
                <a:moveTo>
                  <a:pt x="2435352" y="0"/>
                </a:moveTo>
                <a:lnTo>
                  <a:pt x="2427013" y="52804"/>
                </a:lnTo>
                <a:lnTo>
                  <a:pt x="2404268" y="95916"/>
                </a:lnTo>
                <a:lnTo>
                  <a:pt x="2370522" y="124979"/>
                </a:lnTo>
                <a:lnTo>
                  <a:pt x="2329180" y="135636"/>
                </a:lnTo>
                <a:lnTo>
                  <a:pt x="1323848" y="135636"/>
                </a:lnTo>
                <a:lnTo>
                  <a:pt x="1282505" y="146292"/>
                </a:lnTo>
                <a:lnTo>
                  <a:pt x="1248759" y="175355"/>
                </a:lnTo>
                <a:lnTo>
                  <a:pt x="1226014" y="218467"/>
                </a:lnTo>
                <a:lnTo>
                  <a:pt x="1217676" y="271272"/>
                </a:lnTo>
                <a:lnTo>
                  <a:pt x="1209337" y="218467"/>
                </a:lnTo>
                <a:lnTo>
                  <a:pt x="1186592" y="175355"/>
                </a:lnTo>
                <a:lnTo>
                  <a:pt x="1152846" y="146292"/>
                </a:lnTo>
                <a:lnTo>
                  <a:pt x="1111504" y="135636"/>
                </a:lnTo>
                <a:lnTo>
                  <a:pt x="106146" y="135636"/>
                </a:lnTo>
                <a:lnTo>
                  <a:pt x="64829" y="124979"/>
                </a:lnTo>
                <a:lnTo>
                  <a:pt x="31089" y="95916"/>
                </a:lnTo>
                <a:lnTo>
                  <a:pt x="8341" y="52804"/>
                </a:lnTo>
                <a:lnTo>
                  <a:pt x="0" y="0"/>
                </a:lnTo>
              </a:path>
            </a:pathLst>
          </a:custGeom>
          <a:ln w="198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6" name="object 21">
            <a:extLst>
              <a:ext uri="{FF2B5EF4-FFF2-40B4-BE49-F238E27FC236}">
                <a16:creationId xmlns:a16="http://schemas.microsoft.com/office/drawing/2014/main" id="{63775579-2DCA-3F58-1DA7-1969F30AF05E}"/>
              </a:ext>
            </a:extLst>
          </p:cNvPr>
          <p:cNvSpPr txBox="1"/>
          <p:nvPr/>
        </p:nvSpPr>
        <p:spPr>
          <a:xfrm>
            <a:off x="2426336" y="5313638"/>
            <a:ext cx="40980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i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हम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37" name="object 22">
            <a:extLst>
              <a:ext uri="{FF2B5EF4-FFF2-40B4-BE49-F238E27FC236}">
                <a16:creationId xmlns:a16="http://schemas.microsoft.com/office/drawing/2014/main" id="{AF965521-B374-C82F-4F04-72FB2F8BEF91}"/>
              </a:ext>
            </a:extLst>
          </p:cNvPr>
          <p:cNvSpPr txBox="1"/>
          <p:nvPr/>
        </p:nvSpPr>
        <p:spPr>
          <a:xfrm>
            <a:off x="3002623" y="5313638"/>
            <a:ext cx="53340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i-IN" sz="16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बाजार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38" name="object 21">
            <a:extLst>
              <a:ext uri="{FF2B5EF4-FFF2-40B4-BE49-F238E27FC236}">
                <a16:creationId xmlns:a16="http://schemas.microsoft.com/office/drawing/2014/main" id="{E2D4B5EB-F366-89AD-76C5-CF217F1CB1A5}"/>
              </a:ext>
            </a:extLst>
          </p:cNvPr>
          <p:cNvSpPr txBox="1"/>
          <p:nvPr/>
        </p:nvSpPr>
        <p:spPr>
          <a:xfrm>
            <a:off x="3658511" y="5317123"/>
            <a:ext cx="40980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i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गये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39" name="object 21">
            <a:extLst>
              <a:ext uri="{FF2B5EF4-FFF2-40B4-BE49-F238E27FC236}">
                <a16:creationId xmlns:a16="http://schemas.microsoft.com/office/drawing/2014/main" id="{C51B01D7-FFFB-1F67-CFE6-711F1FDD3EE0}"/>
              </a:ext>
            </a:extLst>
          </p:cNvPr>
          <p:cNvSpPr txBox="1"/>
          <p:nvPr/>
        </p:nvSpPr>
        <p:spPr>
          <a:xfrm>
            <a:off x="4268105" y="5310901"/>
            <a:ext cx="40980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i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थे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DDD724-D40F-283E-15AD-B38F8307E022}"/>
              </a:ext>
            </a:extLst>
          </p:cNvPr>
          <p:cNvSpPr txBox="1"/>
          <p:nvPr/>
        </p:nvSpPr>
        <p:spPr>
          <a:xfrm>
            <a:off x="2412364" y="5540067"/>
            <a:ext cx="2321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ham      baajaar     gaye         the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1325" y="607035"/>
            <a:ext cx="11307763" cy="629018"/>
          </a:xfrm>
          <a:prstGeom prst="rect">
            <a:avLst/>
          </a:prstGeom>
        </p:spPr>
        <p:txBody>
          <a:bodyPr vert="horz" wrap="square" lIns="0" tIns="1333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pc="-5" dirty="0"/>
              <a:t>Sequence-to-Sequence</a:t>
            </a:r>
            <a:r>
              <a:rPr lang="en-IN" spc="-40" dirty="0"/>
              <a:t> </a:t>
            </a:r>
            <a:r>
              <a:rPr lang="en-IN" spc="-5" dirty="0"/>
              <a:t>With</a:t>
            </a:r>
            <a:r>
              <a:rPr lang="en-IN" spc="15" dirty="0"/>
              <a:t> A</a:t>
            </a:r>
            <a:r>
              <a:rPr lang="en-IN" dirty="0"/>
              <a:t>ttention</a:t>
            </a:r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2506980" y="1647834"/>
            <a:ext cx="3404870" cy="3671570"/>
            <a:chOff x="982980" y="2021458"/>
            <a:chExt cx="3404870" cy="36715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6800" y="4367783"/>
              <a:ext cx="126492" cy="13258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6800" y="4536948"/>
              <a:ext cx="126492" cy="13258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6800" y="4706111"/>
              <a:ext cx="126492" cy="13258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6800" y="4875276"/>
              <a:ext cx="126492" cy="13106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992886" y="4303013"/>
              <a:ext cx="266700" cy="780415"/>
            </a:xfrm>
            <a:custGeom>
              <a:avLst/>
              <a:gdLst/>
              <a:ahLst/>
              <a:cxnLst/>
              <a:rect l="l" t="t" r="r" b="b"/>
              <a:pathLst>
                <a:path w="266700" h="780414">
                  <a:moveTo>
                    <a:pt x="222250" y="0"/>
                  </a:moveTo>
                  <a:lnTo>
                    <a:pt x="239551" y="3498"/>
                  </a:lnTo>
                  <a:lnTo>
                    <a:pt x="253680" y="13033"/>
                  </a:lnTo>
                  <a:lnTo>
                    <a:pt x="263206" y="27164"/>
                  </a:lnTo>
                  <a:lnTo>
                    <a:pt x="266700" y="44450"/>
                  </a:lnTo>
                  <a:lnTo>
                    <a:pt x="266700" y="735838"/>
                  </a:lnTo>
                  <a:lnTo>
                    <a:pt x="263206" y="753123"/>
                  </a:lnTo>
                  <a:lnTo>
                    <a:pt x="253680" y="767254"/>
                  </a:lnTo>
                  <a:lnTo>
                    <a:pt x="239551" y="776789"/>
                  </a:lnTo>
                  <a:lnTo>
                    <a:pt x="222250" y="780288"/>
                  </a:lnTo>
                  <a:lnTo>
                    <a:pt x="44450" y="780288"/>
                  </a:lnTo>
                  <a:lnTo>
                    <a:pt x="27148" y="776789"/>
                  </a:lnTo>
                  <a:lnTo>
                    <a:pt x="13019" y="767254"/>
                  </a:lnTo>
                  <a:lnTo>
                    <a:pt x="3493" y="753123"/>
                  </a:lnTo>
                  <a:lnTo>
                    <a:pt x="0" y="735838"/>
                  </a:lnTo>
                  <a:lnTo>
                    <a:pt x="0" y="44450"/>
                  </a:lnTo>
                  <a:lnTo>
                    <a:pt x="3493" y="27164"/>
                  </a:lnTo>
                  <a:lnTo>
                    <a:pt x="13019" y="13033"/>
                  </a:lnTo>
                  <a:lnTo>
                    <a:pt x="27148" y="3498"/>
                  </a:lnTo>
                  <a:lnTo>
                    <a:pt x="44450" y="0"/>
                  </a:lnTo>
                  <a:lnTo>
                    <a:pt x="22225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71232" y="4637404"/>
              <a:ext cx="533400" cy="1056005"/>
            </a:xfrm>
            <a:custGeom>
              <a:avLst/>
              <a:gdLst/>
              <a:ahLst/>
              <a:cxnLst/>
              <a:rect l="l" t="t" r="r" b="b"/>
              <a:pathLst>
                <a:path w="533400" h="1056004">
                  <a:moveTo>
                    <a:pt x="111531" y="541401"/>
                  </a:moveTo>
                  <a:lnTo>
                    <a:pt x="67183" y="465455"/>
                  </a:lnTo>
                  <a:lnTo>
                    <a:pt x="55765" y="445897"/>
                  </a:lnTo>
                  <a:lnTo>
                    <a:pt x="0" y="541401"/>
                  </a:lnTo>
                  <a:lnTo>
                    <a:pt x="1600" y="547497"/>
                  </a:lnTo>
                  <a:lnTo>
                    <a:pt x="11049" y="553085"/>
                  </a:lnTo>
                  <a:lnTo>
                    <a:pt x="17119" y="551434"/>
                  </a:lnTo>
                  <a:lnTo>
                    <a:pt x="45859" y="502183"/>
                  </a:lnTo>
                  <a:lnTo>
                    <a:pt x="45859" y="1055497"/>
                  </a:lnTo>
                  <a:lnTo>
                    <a:pt x="65671" y="1055497"/>
                  </a:lnTo>
                  <a:lnTo>
                    <a:pt x="65671" y="502183"/>
                  </a:lnTo>
                  <a:lnTo>
                    <a:pt x="94411" y="551434"/>
                  </a:lnTo>
                  <a:lnTo>
                    <a:pt x="100482" y="553085"/>
                  </a:lnTo>
                  <a:lnTo>
                    <a:pt x="109931" y="547497"/>
                  </a:lnTo>
                  <a:lnTo>
                    <a:pt x="111531" y="541401"/>
                  </a:lnTo>
                  <a:close/>
                </a:path>
                <a:path w="533400" h="1056004">
                  <a:moveTo>
                    <a:pt x="533019" y="55765"/>
                  </a:moveTo>
                  <a:lnTo>
                    <a:pt x="516039" y="45847"/>
                  </a:lnTo>
                  <a:lnTo>
                    <a:pt x="442226" y="2794"/>
                  </a:lnTo>
                  <a:lnTo>
                    <a:pt x="437527" y="0"/>
                  </a:lnTo>
                  <a:lnTo>
                    <a:pt x="431431" y="1524"/>
                  </a:lnTo>
                  <a:lnTo>
                    <a:pt x="428637" y="6350"/>
                  </a:lnTo>
                  <a:lnTo>
                    <a:pt x="425970" y="11049"/>
                  </a:lnTo>
                  <a:lnTo>
                    <a:pt x="427494" y="17145"/>
                  </a:lnTo>
                  <a:lnTo>
                    <a:pt x="432193" y="19812"/>
                  </a:lnTo>
                  <a:lnTo>
                    <a:pt x="476796" y="45847"/>
                  </a:lnTo>
                  <a:lnTo>
                    <a:pt x="188353" y="45847"/>
                  </a:lnTo>
                  <a:lnTo>
                    <a:pt x="188353" y="65659"/>
                  </a:lnTo>
                  <a:lnTo>
                    <a:pt x="476821" y="65659"/>
                  </a:lnTo>
                  <a:lnTo>
                    <a:pt x="493801" y="55765"/>
                  </a:lnTo>
                  <a:lnTo>
                    <a:pt x="432193" y="91694"/>
                  </a:lnTo>
                  <a:lnTo>
                    <a:pt x="427494" y="94361"/>
                  </a:lnTo>
                  <a:lnTo>
                    <a:pt x="425970" y="100457"/>
                  </a:lnTo>
                  <a:lnTo>
                    <a:pt x="428637" y="105156"/>
                  </a:lnTo>
                  <a:lnTo>
                    <a:pt x="431431" y="109982"/>
                  </a:lnTo>
                  <a:lnTo>
                    <a:pt x="437527" y="111506"/>
                  </a:lnTo>
                  <a:lnTo>
                    <a:pt x="442226" y="108712"/>
                  </a:lnTo>
                  <a:lnTo>
                    <a:pt x="516039" y="65659"/>
                  </a:lnTo>
                  <a:lnTo>
                    <a:pt x="533019" y="55765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91056" y="3511295"/>
              <a:ext cx="2796539" cy="217551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077252" y="3584333"/>
              <a:ext cx="3170555" cy="720090"/>
            </a:xfrm>
            <a:custGeom>
              <a:avLst/>
              <a:gdLst/>
              <a:ahLst/>
              <a:cxnLst/>
              <a:rect l="l" t="t" r="r" b="b"/>
              <a:pathLst>
                <a:path w="3170554" h="720089">
                  <a:moveTo>
                    <a:pt x="111531" y="139687"/>
                  </a:moveTo>
                  <a:lnTo>
                    <a:pt x="108813" y="134861"/>
                  </a:lnTo>
                  <a:lnTo>
                    <a:pt x="67894" y="63106"/>
                  </a:lnTo>
                  <a:lnTo>
                    <a:pt x="56756" y="43548"/>
                  </a:lnTo>
                  <a:lnTo>
                    <a:pt x="0" y="138544"/>
                  </a:lnTo>
                  <a:lnTo>
                    <a:pt x="1536" y="144640"/>
                  </a:lnTo>
                  <a:lnTo>
                    <a:pt x="10934" y="150228"/>
                  </a:lnTo>
                  <a:lnTo>
                    <a:pt x="17018" y="148704"/>
                  </a:lnTo>
                  <a:lnTo>
                    <a:pt x="46266" y="99695"/>
                  </a:lnTo>
                  <a:lnTo>
                    <a:pt x="39839" y="718299"/>
                  </a:lnTo>
                  <a:lnTo>
                    <a:pt x="59651" y="718553"/>
                  </a:lnTo>
                  <a:lnTo>
                    <a:pt x="66065" y="99923"/>
                  </a:lnTo>
                  <a:lnTo>
                    <a:pt x="91605" y="144767"/>
                  </a:lnTo>
                  <a:lnTo>
                    <a:pt x="94310" y="149466"/>
                  </a:lnTo>
                  <a:lnTo>
                    <a:pt x="100355" y="151117"/>
                  </a:lnTo>
                  <a:lnTo>
                    <a:pt x="105117" y="148450"/>
                  </a:lnTo>
                  <a:lnTo>
                    <a:pt x="109867" y="145656"/>
                  </a:lnTo>
                  <a:lnTo>
                    <a:pt x="111531" y="139687"/>
                  </a:lnTo>
                  <a:close/>
                </a:path>
                <a:path w="3170554" h="720089">
                  <a:moveTo>
                    <a:pt x="3170136" y="700392"/>
                  </a:moveTo>
                  <a:lnTo>
                    <a:pt x="757364" y="33782"/>
                  </a:lnTo>
                  <a:lnTo>
                    <a:pt x="794245" y="23990"/>
                  </a:lnTo>
                  <a:lnTo>
                    <a:pt x="812507" y="19164"/>
                  </a:lnTo>
                  <a:lnTo>
                    <a:pt x="815682" y="13703"/>
                  </a:lnTo>
                  <a:lnTo>
                    <a:pt x="814285" y="8496"/>
                  </a:lnTo>
                  <a:lnTo>
                    <a:pt x="812888" y="3175"/>
                  </a:lnTo>
                  <a:lnTo>
                    <a:pt x="807427" y="0"/>
                  </a:lnTo>
                  <a:lnTo>
                    <a:pt x="700493" y="28308"/>
                  </a:lnTo>
                  <a:lnTo>
                    <a:pt x="774014" y="103746"/>
                  </a:lnTo>
                  <a:lnTo>
                    <a:pt x="777709" y="107556"/>
                  </a:lnTo>
                  <a:lnTo>
                    <a:pt x="784059" y="107556"/>
                  </a:lnTo>
                  <a:lnTo>
                    <a:pt x="787869" y="103746"/>
                  </a:lnTo>
                  <a:lnTo>
                    <a:pt x="791806" y="99936"/>
                  </a:lnTo>
                  <a:lnTo>
                    <a:pt x="791933" y="93713"/>
                  </a:lnTo>
                  <a:lnTo>
                    <a:pt x="752030" y="52793"/>
                  </a:lnTo>
                  <a:lnTo>
                    <a:pt x="3164802" y="719569"/>
                  </a:lnTo>
                  <a:lnTo>
                    <a:pt x="3170136" y="700392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66800" y="3511295"/>
              <a:ext cx="132587" cy="12649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172667" y="3578859"/>
              <a:ext cx="3074035" cy="725170"/>
            </a:xfrm>
            <a:custGeom>
              <a:avLst/>
              <a:gdLst/>
              <a:ahLst/>
              <a:cxnLst/>
              <a:rect l="l" t="t" r="r" b="b"/>
              <a:pathLst>
                <a:path w="3074035" h="725170">
                  <a:moveTo>
                    <a:pt x="57207" y="36282"/>
                  </a:moveTo>
                  <a:lnTo>
                    <a:pt x="38419" y="42303"/>
                  </a:lnTo>
                  <a:lnTo>
                    <a:pt x="52903" y="55710"/>
                  </a:lnTo>
                  <a:lnTo>
                    <a:pt x="3069259" y="725169"/>
                  </a:lnTo>
                  <a:lnTo>
                    <a:pt x="3073577" y="705738"/>
                  </a:lnTo>
                  <a:lnTo>
                    <a:pt x="57207" y="36282"/>
                  </a:lnTo>
                  <a:close/>
                </a:path>
                <a:path w="3074035" h="725170">
                  <a:moveTo>
                    <a:pt x="105460" y="0"/>
                  </a:moveTo>
                  <a:lnTo>
                    <a:pt x="0" y="33781"/>
                  </a:lnTo>
                  <a:lnTo>
                    <a:pt x="77228" y="105156"/>
                  </a:lnTo>
                  <a:lnTo>
                    <a:pt x="81241" y="108965"/>
                  </a:lnTo>
                  <a:lnTo>
                    <a:pt x="87515" y="108712"/>
                  </a:lnTo>
                  <a:lnTo>
                    <a:pt x="94945" y="100583"/>
                  </a:lnTo>
                  <a:lnTo>
                    <a:pt x="94703" y="94360"/>
                  </a:lnTo>
                  <a:lnTo>
                    <a:pt x="90678" y="90677"/>
                  </a:lnTo>
                  <a:lnTo>
                    <a:pt x="52903" y="55710"/>
                  </a:lnTo>
                  <a:lnTo>
                    <a:pt x="17043" y="47751"/>
                  </a:lnTo>
                  <a:lnTo>
                    <a:pt x="21336" y="28320"/>
                  </a:lnTo>
                  <a:lnTo>
                    <a:pt x="82049" y="28320"/>
                  </a:lnTo>
                  <a:lnTo>
                    <a:pt x="111429" y="18923"/>
                  </a:lnTo>
                  <a:lnTo>
                    <a:pt x="114350" y="13335"/>
                  </a:lnTo>
                  <a:lnTo>
                    <a:pt x="111048" y="2920"/>
                  </a:lnTo>
                  <a:lnTo>
                    <a:pt x="105460" y="0"/>
                  </a:lnTo>
                  <a:close/>
                </a:path>
                <a:path w="3074035" h="725170">
                  <a:moveTo>
                    <a:pt x="21336" y="28320"/>
                  </a:moveTo>
                  <a:lnTo>
                    <a:pt x="17043" y="47751"/>
                  </a:lnTo>
                  <a:lnTo>
                    <a:pt x="52903" y="55710"/>
                  </a:lnTo>
                  <a:lnTo>
                    <a:pt x="44030" y="47497"/>
                  </a:lnTo>
                  <a:lnTo>
                    <a:pt x="22212" y="47497"/>
                  </a:lnTo>
                  <a:lnTo>
                    <a:pt x="25920" y="30733"/>
                  </a:lnTo>
                  <a:lnTo>
                    <a:pt x="32208" y="30733"/>
                  </a:lnTo>
                  <a:lnTo>
                    <a:pt x="21336" y="28320"/>
                  </a:lnTo>
                  <a:close/>
                </a:path>
                <a:path w="3074035" h="725170">
                  <a:moveTo>
                    <a:pt x="25920" y="30733"/>
                  </a:moveTo>
                  <a:lnTo>
                    <a:pt x="22212" y="47497"/>
                  </a:lnTo>
                  <a:lnTo>
                    <a:pt x="38419" y="42303"/>
                  </a:lnTo>
                  <a:lnTo>
                    <a:pt x="25920" y="30733"/>
                  </a:lnTo>
                  <a:close/>
                </a:path>
                <a:path w="3074035" h="725170">
                  <a:moveTo>
                    <a:pt x="38419" y="42303"/>
                  </a:moveTo>
                  <a:lnTo>
                    <a:pt x="22212" y="47497"/>
                  </a:lnTo>
                  <a:lnTo>
                    <a:pt x="44030" y="47497"/>
                  </a:lnTo>
                  <a:lnTo>
                    <a:pt x="38419" y="42303"/>
                  </a:lnTo>
                  <a:close/>
                </a:path>
                <a:path w="3074035" h="725170">
                  <a:moveTo>
                    <a:pt x="32208" y="30733"/>
                  </a:moveTo>
                  <a:lnTo>
                    <a:pt x="25920" y="30733"/>
                  </a:lnTo>
                  <a:lnTo>
                    <a:pt x="38419" y="42303"/>
                  </a:lnTo>
                  <a:lnTo>
                    <a:pt x="57207" y="36282"/>
                  </a:lnTo>
                  <a:lnTo>
                    <a:pt x="32208" y="30733"/>
                  </a:lnTo>
                  <a:close/>
                </a:path>
                <a:path w="3074035" h="725170">
                  <a:moveTo>
                    <a:pt x="82049" y="28320"/>
                  </a:moveTo>
                  <a:lnTo>
                    <a:pt x="21336" y="28320"/>
                  </a:lnTo>
                  <a:lnTo>
                    <a:pt x="57207" y="36282"/>
                  </a:lnTo>
                  <a:lnTo>
                    <a:pt x="82049" y="2832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2304796" y="2021458"/>
              <a:ext cx="76200" cy="1500505"/>
            </a:xfrm>
            <a:custGeom>
              <a:avLst/>
              <a:gdLst/>
              <a:ahLst/>
              <a:cxnLst/>
              <a:rect l="l" t="t" r="r" b="b"/>
              <a:pathLst>
                <a:path w="76200" h="1500504">
                  <a:moveTo>
                    <a:pt x="0" y="1423162"/>
                  </a:moveTo>
                  <a:lnTo>
                    <a:pt x="36830" y="1499996"/>
                  </a:lnTo>
                  <a:lnTo>
                    <a:pt x="69847" y="1436624"/>
                  </a:lnTo>
                  <a:lnTo>
                    <a:pt x="47879" y="1436624"/>
                  </a:lnTo>
                  <a:lnTo>
                    <a:pt x="28067" y="1436369"/>
                  </a:lnTo>
                  <a:lnTo>
                    <a:pt x="28283" y="1423633"/>
                  </a:lnTo>
                  <a:lnTo>
                    <a:pt x="0" y="1423162"/>
                  </a:lnTo>
                  <a:close/>
                </a:path>
                <a:path w="76200" h="1500504">
                  <a:moveTo>
                    <a:pt x="28283" y="1423633"/>
                  </a:moveTo>
                  <a:lnTo>
                    <a:pt x="28067" y="1436369"/>
                  </a:lnTo>
                  <a:lnTo>
                    <a:pt x="47879" y="1436624"/>
                  </a:lnTo>
                  <a:lnTo>
                    <a:pt x="48093" y="1423963"/>
                  </a:lnTo>
                  <a:lnTo>
                    <a:pt x="28283" y="1423633"/>
                  </a:lnTo>
                  <a:close/>
                </a:path>
                <a:path w="76200" h="1500504">
                  <a:moveTo>
                    <a:pt x="48093" y="1423963"/>
                  </a:moveTo>
                  <a:lnTo>
                    <a:pt x="47879" y="1436624"/>
                  </a:lnTo>
                  <a:lnTo>
                    <a:pt x="69847" y="1436624"/>
                  </a:lnTo>
                  <a:lnTo>
                    <a:pt x="76200" y="1424431"/>
                  </a:lnTo>
                  <a:lnTo>
                    <a:pt x="48093" y="1423963"/>
                  </a:lnTo>
                  <a:close/>
                </a:path>
                <a:path w="76200" h="1500504">
                  <a:moveTo>
                    <a:pt x="52451" y="0"/>
                  </a:moveTo>
                  <a:lnTo>
                    <a:pt x="28283" y="1423633"/>
                  </a:lnTo>
                  <a:lnTo>
                    <a:pt x="48093" y="1423963"/>
                  </a:lnTo>
                  <a:lnTo>
                    <a:pt x="72262" y="253"/>
                  </a:lnTo>
                  <a:lnTo>
                    <a:pt x="52451" y="0"/>
                  </a:lnTo>
                  <a:close/>
                </a:path>
              </a:pathLst>
            </a:custGeom>
            <a:solidFill>
              <a:srgbClr val="BA56BD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571194" y="3918743"/>
            <a:ext cx="507831" cy="78613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Encoder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RNN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141981" y="3929391"/>
            <a:ext cx="187960" cy="780415"/>
          </a:xfrm>
          <a:custGeom>
            <a:avLst/>
            <a:gdLst/>
            <a:ahLst/>
            <a:cxnLst/>
            <a:rect l="l" t="t" r="r" b="b"/>
            <a:pathLst>
              <a:path w="187959" h="780414">
                <a:moveTo>
                  <a:pt x="187452" y="780288"/>
                </a:moveTo>
                <a:lnTo>
                  <a:pt x="150968" y="774515"/>
                </a:lnTo>
                <a:lnTo>
                  <a:pt x="121177" y="758777"/>
                </a:lnTo>
                <a:lnTo>
                  <a:pt x="101091" y="735443"/>
                </a:lnTo>
                <a:lnTo>
                  <a:pt x="93726" y="706882"/>
                </a:lnTo>
                <a:lnTo>
                  <a:pt x="93726" y="463550"/>
                </a:lnTo>
                <a:lnTo>
                  <a:pt x="86360" y="434988"/>
                </a:lnTo>
                <a:lnTo>
                  <a:pt x="66274" y="411654"/>
                </a:lnTo>
                <a:lnTo>
                  <a:pt x="36483" y="395916"/>
                </a:lnTo>
                <a:lnTo>
                  <a:pt x="0" y="390144"/>
                </a:lnTo>
                <a:lnTo>
                  <a:pt x="36483" y="384371"/>
                </a:lnTo>
                <a:lnTo>
                  <a:pt x="66274" y="368633"/>
                </a:lnTo>
                <a:lnTo>
                  <a:pt x="86360" y="345299"/>
                </a:lnTo>
                <a:lnTo>
                  <a:pt x="93726" y="316738"/>
                </a:lnTo>
                <a:lnTo>
                  <a:pt x="93726" y="73406"/>
                </a:lnTo>
                <a:lnTo>
                  <a:pt x="101091" y="44844"/>
                </a:lnTo>
                <a:lnTo>
                  <a:pt x="121177" y="21510"/>
                </a:lnTo>
                <a:lnTo>
                  <a:pt x="150968" y="5772"/>
                </a:lnTo>
                <a:lnTo>
                  <a:pt x="187452" y="0"/>
                </a:lnTo>
              </a:path>
            </a:pathLst>
          </a:custGeom>
          <a:ln w="1981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389626" y="5341172"/>
            <a:ext cx="72263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&lt;</a:t>
            </a:r>
            <a:r>
              <a:rPr kumimoji="0" sz="1600" b="0" i="1" u="none" strike="noStrike" kern="120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</a:t>
            </a:r>
            <a:r>
              <a:rPr kumimoji="0" sz="1600" b="0" i="1" u="none" strike="noStrike" kern="1200" cap="none" spc="-1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</a:t>
            </a:r>
            <a:r>
              <a:rPr kumimoji="0" sz="16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</a:t>
            </a:r>
            <a:r>
              <a:rPr kumimoji="0" sz="1600" b="0" i="1" u="none" strike="noStrike" kern="120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R</a:t>
            </a:r>
            <a:r>
              <a:rPr kumimoji="0" sz="1600" b="0" i="1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T&gt;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0136885" y="3952250"/>
            <a:ext cx="189230" cy="779145"/>
          </a:xfrm>
          <a:custGeom>
            <a:avLst/>
            <a:gdLst/>
            <a:ahLst/>
            <a:cxnLst/>
            <a:rect l="l" t="t" r="r" b="b"/>
            <a:pathLst>
              <a:path w="189229" h="779145">
                <a:moveTo>
                  <a:pt x="0" y="0"/>
                </a:moveTo>
                <a:lnTo>
                  <a:pt x="36784" y="5816"/>
                </a:lnTo>
                <a:lnTo>
                  <a:pt x="66817" y="21669"/>
                </a:lnTo>
                <a:lnTo>
                  <a:pt x="87064" y="45166"/>
                </a:lnTo>
                <a:lnTo>
                  <a:pt x="94488" y="73913"/>
                </a:lnTo>
                <a:lnTo>
                  <a:pt x="94488" y="315468"/>
                </a:lnTo>
                <a:lnTo>
                  <a:pt x="101911" y="344215"/>
                </a:lnTo>
                <a:lnTo>
                  <a:pt x="122158" y="367712"/>
                </a:lnTo>
                <a:lnTo>
                  <a:pt x="152191" y="383565"/>
                </a:lnTo>
                <a:lnTo>
                  <a:pt x="188975" y="389381"/>
                </a:lnTo>
                <a:lnTo>
                  <a:pt x="152191" y="395198"/>
                </a:lnTo>
                <a:lnTo>
                  <a:pt x="122158" y="411051"/>
                </a:lnTo>
                <a:lnTo>
                  <a:pt x="101911" y="434548"/>
                </a:lnTo>
                <a:lnTo>
                  <a:pt x="94488" y="463295"/>
                </a:lnTo>
                <a:lnTo>
                  <a:pt x="94488" y="704850"/>
                </a:lnTo>
                <a:lnTo>
                  <a:pt x="87064" y="733597"/>
                </a:lnTo>
                <a:lnTo>
                  <a:pt x="66817" y="757094"/>
                </a:lnTo>
                <a:lnTo>
                  <a:pt x="36784" y="772947"/>
                </a:lnTo>
                <a:lnTo>
                  <a:pt x="0" y="778763"/>
                </a:lnTo>
              </a:path>
            </a:pathLst>
          </a:custGeom>
          <a:ln w="19812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571194" y="2794073"/>
            <a:ext cx="507831" cy="899794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Attention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scores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137409" y="2902214"/>
            <a:ext cx="189230" cy="624840"/>
          </a:xfrm>
          <a:custGeom>
            <a:avLst/>
            <a:gdLst/>
            <a:ahLst/>
            <a:cxnLst/>
            <a:rect l="l" t="t" r="r" b="b"/>
            <a:pathLst>
              <a:path w="189229" h="624839">
                <a:moveTo>
                  <a:pt x="188976" y="624839"/>
                </a:moveTo>
                <a:lnTo>
                  <a:pt x="152196" y="619023"/>
                </a:lnTo>
                <a:lnTo>
                  <a:pt x="122162" y="603170"/>
                </a:lnTo>
                <a:lnTo>
                  <a:pt x="101913" y="579673"/>
                </a:lnTo>
                <a:lnTo>
                  <a:pt x="94488" y="550926"/>
                </a:lnTo>
                <a:lnTo>
                  <a:pt x="94488" y="386334"/>
                </a:lnTo>
                <a:lnTo>
                  <a:pt x="87062" y="357586"/>
                </a:lnTo>
                <a:lnTo>
                  <a:pt x="66813" y="334089"/>
                </a:lnTo>
                <a:lnTo>
                  <a:pt x="36779" y="318236"/>
                </a:lnTo>
                <a:lnTo>
                  <a:pt x="0" y="312420"/>
                </a:lnTo>
                <a:lnTo>
                  <a:pt x="36779" y="306603"/>
                </a:lnTo>
                <a:lnTo>
                  <a:pt x="66813" y="290750"/>
                </a:lnTo>
                <a:lnTo>
                  <a:pt x="87062" y="267253"/>
                </a:lnTo>
                <a:lnTo>
                  <a:pt x="94488" y="238506"/>
                </a:lnTo>
                <a:lnTo>
                  <a:pt x="94488" y="73913"/>
                </a:lnTo>
                <a:lnTo>
                  <a:pt x="101913" y="45166"/>
                </a:lnTo>
                <a:lnTo>
                  <a:pt x="122162" y="21669"/>
                </a:lnTo>
                <a:lnTo>
                  <a:pt x="152196" y="5816"/>
                </a:lnTo>
                <a:lnTo>
                  <a:pt x="188976" y="0"/>
                </a:lnTo>
              </a:path>
            </a:pathLst>
          </a:custGeom>
          <a:ln w="19812">
            <a:solidFill>
              <a:srgbClr val="3986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327273" y="1335751"/>
            <a:ext cx="11252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dot</a:t>
            </a:r>
            <a:r>
              <a:rPr kumimoji="0" sz="1800" b="0" i="0" u="none" strike="noStrike" kern="1200" cap="none" spc="-6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product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29" name="object 22">
            <a:extLst>
              <a:ext uri="{FF2B5EF4-FFF2-40B4-BE49-F238E27FC236}">
                <a16:creationId xmlns:a16="http://schemas.microsoft.com/office/drawing/2014/main" id="{97533293-57E9-DD58-2DAD-071B8524B757}"/>
              </a:ext>
            </a:extLst>
          </p:cNvPr>
          <p:cNvSpPr txBox="1"/>
          <p:nvPr/>
        </p:nvSpPr>
        <p:spPr>
          <a:xfrm>
            <a:off x="10372554" y="3700406"/>
            <a:ext cx="467885" cy="128270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Decoder</a:t>
            </a:r>
            <a:r>
              <a:rPr kumimoji="0" sz="1800" b="0" i="0" u="none" strike="noStrike" kern="1200" cap="none" spc="-3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RNN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34" name="object 13">
            <a:extLst>
              <a:ext uri="{FF2B5EF4-FFF2-40B4-BE49-F238E27FC236}">
                <a16:creationId xmlns:a16="http://schemas.microsoft.com/office/drawing/2014/main" id="{58F8783A-F6FE-CEC1-71AB-CB5551F05158}"/>
              </a:ext>
            </a:extLst>
          </p:cNvPr>
          <p:cNvSpPr txBox="1"/>
          <p:nvPr/>
        </p:nvSpPr>
        <p:spPr>
          <a:xfrm>
            <a:off x="2433333" y="5954560"/>
            <a:ext cx="2230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Source sentence</a:t>
            </a:r>
            <a:r>
              <a:rPr kumimoji="0" sz="1800" b="0" i="0" u="none" strike="noStrike" kern="120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(input)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35" name="object 14">
            <a:extLst>
              <a:ext uri="{FF2B5EF4-FFF2-40B4-BE49-F238E27FC236}">
                <a16:creationId xmlns:a16="http://schemas.microsoft.com/office/drawing/2014/main" id="{FF427FCF-1AF0-C9BB-2A1E-9AC011702F1F}"/>
              </a:ext>
            </a:extLst>
          </p:cNvPr>
          <p:cNvSpPr/>
          <p:nvPr/>
        </p:nvSpPr>
        <p:spPr>
          <a:xfrm>
            <a:off x="2357710" y="5780012"/>
            <a:ext cx="2343455" cy="197550"/>
          </a:xfrm>
          <a:custGeom>
            <a:avLst/>
            <a:gdLst/>
            <a:ahLst/>
            <a:cxnLst/>
            <a:rect l="l" t="t" r="r" b="b"/>
            <a:pathLst>
              <a:path w="2435860" h="271779">
                <a:moveTo>
                  <a:pt x="2435352" y="0"/>
                </a:moveTo>
                <a:lnTo>
                  <a:pt x="2427013" y="52804"/>
                </a:lnTo>
                <a:lnTo>
                  <a:pt x="2404268" y="95916"/>
                </a:lnTo>
                <a:lnTo>
                  <a:pt x="2370522" y="124979"/>
                </a:lnTo>
                <a:lnTo>
                  <a:pt x="2329180" y="135636"/>
                </a:lnTo>
                <a:lnTo>
                  <a:pt x="1323848" y="135636"/>
                </a:lnTo>
                <a:lnTo>
                  <a:pt x="1282505" y="146292"/>
                </a:lnTo>
                <a:lnTo>
                  <a:pt x="1248759" y="175355"/>
                </a:lnTo>
                <a:lnTo>
                  <a:pt x="1226014" y="218467"/>
                </a:lnTo>
                <a:lnTo>
                  <a:pt x="1217676" y="271272"/>
                </a:lnTo>
                <a:lnTo>
                  <a:pt x="1209337" y="218467"/>
                </a:lnTo>
                <a:lnTo>
                  <a:pt x="1186592" y="175355"/>
                </a:lnTo>
                <a:lnTo>
                  <a:pt x="1152846" y="146292"/>
                </a:lnTo>
                <a:lnTo>
                  <a:pt x="1111504" y="135636"/>
                </a:lnTo>
                <a:lnTo>
                  <a:pt x="106146" y="135636"/>
                </a:lnTo>
                <a:lnTo>
                  <a:pt x="64829" y="124979"/>
                </a:lnTo>
                <a:lnTo>
                  <a:pt x="31089" y="95916"/>
                </a:lnTo>
                <a:lnTo>
                  <a:pt x="8341" y="52804"/>
                </a:lnTo>
                <a:lnTo>
                  <a:pt x="0" y="0"/>
                </a:lnTo>
              </a:path>
            </a:pathLst>
          </a:custGeom>
          <a:ln w="198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6" name="object 21">
            <a:extLst>
              <a:ext uri="{FF2B5EF4-FFF2-40B4-BE49-F238E27FC236}">
                <a16:creationId xmlns:a16="http://schemas.microsoft.com/office/drawing/2014/main" id="{46963A8F-D0F8-97AC-8C74-37EBD5CA29C5}"/>
              </a:ext>
            </a:extLst>
          </p:cNvPr>
          <p:cNvSpPr txBox="1"/>
          <p:nvPr/>
        </p:nvSpPr>
        <p:spPr>
          <a:xfrm>
            <a:off x="2426336" y="5313638"/>
            <a:ext cx="40980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i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हम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37" name="object 22">
            <a:extLst>
              <a:ext uri="{FF2B5EF4-FFF2-40B4-BE49-F238E27FC236}">
                <a16:creationId xmlns:a16="http://schemas.microsoft.com/office/drawing/2014/main" id="{95C8F35C-DF8C-EF36-EC3B-8BFC082841F0}"/>
              </a:ext>
            </a:extLst>
          </p:cNvPr>
          <p:cNvSpPr txBox="1"/>
          <p:nvPr/>
        </p:nvSpPr>
        <p:spPr>
          <a:xfrm>
            <a:off x="3002623" y="5313638"/>
            <a:ext cx="53340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i-IN" sz="16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बाजार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38" name="object 21">
            <a:extLst>
              <a:ext uri="{FF2B5EF4-FFF2-40B4-BE49-F238E27FC236}">
                <a16:creationId xmlns:a16="http://schemas.microsoft.com/office/drawing/2014/main" id="{0B9E3FE2-1DEE-CE65-0464-24001500FCBE}"/>
              </a:ext>
            </a:extLst>
          </p:cNvPr>
          <p:cNvSpPr txBox="1"/>
          <p:nvPr/>
        </p:nvSpPr>
        <p:spPr>
          <a:xfrm>
            <a:off x="3658511" y="5317123"/>
            <a:ext cx="40980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i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गये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39" name="object 21">
            <a:extLst>
              <a:ext uri="{FF2B5EF4-FFF2-40B4-BE49-F238E27FC236}">
                <a16:creationId xmlns:a16="http://schemas.microsoft.com/office/drawing/2014/main" id="{F74F5A43-4A3C-B3EB-7B3A-AAD8B6117B0A}"/>
              </a:ext>
            </a:extLst>
          </p:cNvPr>
          <p:cNvSpPr txBox="1"/>
          <p:nvPr/>
        </p:nvSpPr>
        <p:spPr>
          <a:xfrm>
            <a:off x="4268105" y="5310901"/>
            <a:ext cx="40980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i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थे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380FF00-43CE-D5B1-38E8-A6A898FD5A7F}"/>
              </a:ext>
            </a:extLst>
          </p:cNvPr>
          <p:cNvSpPr txBox="1"/>
          <p:nvPr/>
        </p:nvSpPr>
        <p:spPr>
          <a:xfrm>
            <a:off x="2412364" y="5540067"/>
            <a:ext cx="2321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ham      baajaar     gaye         the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1325" y="607035"/>
            <a:ext cx="11307763" cy="629018"/>
          </a:xfrm>
          <a:prstGeom prst="rect">
            <a:avLst/>
          </a:prstGeom>
        </p:spPr>
        <p:txBody>
          <a:bodyPr vert="horz" wrap="square" lIns="0" tIns="1333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pc="-5" dirty="0"/>
              <a:t>Sequence-to-Sequence</a:t>
            </a:r>
            <a:r>
              <a:rPr lang="en-IN" spc="-40" dirty="0"/>
              <a:t> </a:t>
            </a:r>
            <a:r>
              <a:rPr lang="en-IN" spc="-5" dirty="0"/>
              <a:t>With</a:t>
            </a:r>
            <a:r>
              <a:rPr lang="en-IN" spc="15" dirty="0"/>
              <a:t> A</a:t>
            </a:r>
            <a:r>
              <a:rPr lang="en-IN" dirty="0"/>
              <a:t>ttention</a:t>
            </a:r>
            <a:endParaRPr dirty="0">
              <a:latin typeface="+mn-l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506980" y="1644405"/>
            <a:ext cx="3404870" cy="3675379"/>
            <a:chOff x="982980" y="2018029"/>
            <a:chExt cx="3404870" cy="367537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6800" y="4367783"/>
              <a:ext cx="126492" cy="13258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6800" y="4536947"/>
              <a:ext cx="126492" cy="13258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6800" y="4706111"/>
              <a:ext cx="126492" cy="13258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6800" y="4875275"/>
              <a:ext cx="126492" cy="13106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992886" y="4303013"/>
              <a:ext cx="266700" cy="780415"/>
            </a:xfrm>
            <a:custGeom>
              <a:avLst/>
              <a:gdLst/>
              <a:ahLst/>
              <a:cxnLst/>
              <a:rect l="l" t="t" r="r" b="b"/>
              <a:pathLst>
                <a:path w="266700" h="780414">
                  <a:moveTo>
                    <a:pt x="222250" y="0"/>
                  </a:moveTo>
                  <a:lnTo>
                    <a:pt x="239551" y="3498"/>
                  </a:lnTo>
                  <a:lnTo>
                    <a:pt x="253680" y="13033"/>
                  </a:lnTo>
                  <a:lnTo>
                    <a:pt x="263206" y="27164"/>
                  </a:lnTo>
                  <a:lnTo>
                    <a:pt x="266700" y="44450"/>
                  </a:lnTo>
                  <a:lnTo>
                    <a:pt x="266700" y="735838"/>
                  </a:lnTo>
                  <a:lnTo>
                    <a:pt x="263206" y="753123"/>
                  </a:lnTo>
                  <a:lnTo>
                    <a:pt x="253680" y="767254"/>
                  </a:lnTo>
                  <a:lnTo>
                    <a:pt x="239551" y="776789"/>
                  </a:lnTo>
                  <a:lnTo>
                    <a:pt x="222250" y="780288"/>
                  </a:lnTo>
                  <a:lnTo>
                    <a:pt x="44450" y="780288"/>
                  </a:lnTo>
                  <a:lnTo>
                    <a:pt x="27148" y="776789"/>
                  </a:lnTo>
                  <a:lnTo>
                    <a:pt x="13019" y="767254"/>
                  </a:lnTo>
                  <a:lnTo>
                    <a:pt x="3493" y="753123"/>
                  </a:lnTo>
                  <a:lnTo>
                    <a:pt x="0" y="735838"/>
                  </a:lnTo>
                  <a:lnTo>
                    <a:pt x="0" y="44450"/>
                  </a:lnTo>
                  <a:lnTo>
                    <a:pt x="3493" y="27164"/>
                  </a:lnTo>
                  <a:lnTo>
                    <a:pt x="13019" y="13033"/>
                  </a:lnTo>
                  <a:lnTo>
                    <a:pt x="27148" y="3498"/>
                  </a:lnTo>
                  <a:lnTo>
                    <a:pt x="44450" y="0"/>
                  </a:lnTo>
                  <a:lnTo>
                    <a:pt x="22225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71232" y="4637404"/>
              <a:ext cx="533400" cy="1056005"/>
            </a:xfrm>
            <a:custGeom>
              <a:avLst/>
              <a:gdLst/>
              <a:ahLst/>
              <a:cxnLst/>
              <a:rect l="l" t="t" r="r" b="b"/>
              <a:pathLst>
                <a:path w="533400" h="1056004">
                  <a:moveTo>
                    <a:pt x="111531" y="541401"/>
                  </a:moveTo>
                  <a:lnTo>
                    <a:pt x="67183" y="465455"/>
                  </a:lnTo>
                  <a:lnTo>
                    <a:pt x="55765" y="445897"/>
                  </a:lnTo>
                  <a:lnTo>
                    <a:pt x="0" y="541401"/>
                  </a:lnTo>
                  <a:lnTo>
                    <a:pt x="1600" y="547497"/>
                  </a:lnTo>
                  <a:lnTo>
                    <a:pt x="11049" y="553085"/>
                  </a:lnTo>
                  <a:lnTo>
                    <a:pt x="17119" y="551434"/>
                  </a:lnTo>
                  <a:lnTo>
                    <a:pt x="45859" y="502183"/>
                  </a:lnTo>
                  <a:lnTo>
                    <a:pt x="45859" y="1055497"/>
                  </a:lnTo>
                  <a:lnTo>
                    <a:pt x="65671" y="1055497"/>
                  </a:lnTo>
                  <a:lnTo>
                    <a:pt x="65671" y="502183"/>
                  </a:lnTo>
                  <a:lnTo>
                    <a:pt x="94411" y="551434"/>
                  </a:lnTo>
                  <a:lnTo>
                    <a:pt x="100482" y="553085"/>
                  </a:lnTo>
                  <a:lnTo>
                    <a:pt x="109931" y="547497"/>
                  </a:lnTo>
                  <a:lnTo>
                    <a:pt x="111531" y="541401"/>
                  </a:lnTo>
                  <a:close/>
                </a:path>
                <a:path w="533400" h="1056004">
                  <a:moveTo>
                    <a:pt x="533019" y="55765"/>
                  </a:moveTo>
                  <a:lnTo>
                    <a:pt x="516039" y="45847"/>
                  </a:lnTo>
                  <a:lnTo>
                    <a:pt x="442226" y="2794"/>
                  </a:lnTo>
                  <a:lnTo>
                    <a:pt x="437527" y="0"/>
                  </a:lnTo>
                  <a:lnTo>
                    <a:pt x="431431" y="1524"/>
                  </a:lnTo>
                  <a:lnTo>
                    <a:pt x="428637" y="6350"/>
                  </a:lnTo>
                  <a:lnTo>
                    <a:pt x="425970" y="11049"/>
                  </a:lnTo>
                  <a:lnTo>
                    <a:pt x="427494" y="17145"/>
                  </a:lnTo>
                  <a:lnTo>
                    <a:pt x="432193" y="19812"/>
                  </a:lnTo>
                  <a:lnTo>
                    <a:pt x="476796" y="45847"/>
                  </a:lnTo>
                  <a:lnTo>
                    <a:pt x="188353" y="45847"/>
                  </a:lnTo>
                  <a:lnTo>
                    <a:pt x="188353" y="65659"/>
                  </a:lnTo>
                  <a:lnTo>
                    <a:pt x="476821" y="65659"/>
                  </a:lnTo>
                  <a:lnTo>
                    <a:pt x="493801" y="55765"/>
                  </a:lnTo>
                  <a:lnTo>
                    <a:pt x="432193" y="91694"/>
                  </a:lnTo>
                  <a:lnTo>
                    <a:pt x="427494" y="94361"/>
                  </a:lnTo>
                  <a:lnTo>
                    <a:pt x="425970" y="100457"/>
                  </a:lnTo>
                  <a:lnTo>
                    <a:pt x="428637" y="105156"/>
                  </a:lnTo>
                  <a:lnTo>
                    <a:pt x="431431" y="109982"/>
                  </a:lnTo>
                  <a:lnTo>
                    <a:pt x="437527" y="111506"/>
                  </a:lnTo>
                  <a:lnTo>
                    <a:pt x="442226" y="108712"/>
                  </a:lnTo>
                  <a:lnTo>
                    <a:pt x="516039" y="65659"/>
                  </a:lnTo>
                  <a:lnTo>
                    <a:pt x="533019" y="55765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91056" y="3511295"/>
              <a:ext cx="2796539" cy="217551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077252" y="3584333"/>
              <a:ext cx="3170555" cy="720090"/>
            </a:xfrm>
            <a:custGeom>
              <a:avLst/>
              <a:gdLst/>
              <a:ahLst/>
              <a:cxnLst/>
              <a:rect l="l" t="t" r="r" b="b"/>
              <a:pathLst>
                <a:path w="3170554" h="720089">
                  <a:moveTo>
                    <a:pt x="111531" y="139687"/>
                  </a:moveTo>
                  <a:lnTo>
                    <a:pt x="108813" y="134861"/>
                  </a:lnTo>
                  <a:lnTo>
                    <a:pt x="67894" y="63106"/>
                  </a:lnTo>
                  <a:lnTo>
                    <a:pt x="56756" y="43548"/>
                  </a:lnTo>
                  <a:lnTo>
                    <a:pt x="0" y="138544"/>
                  </a:lnTo>
                  <a:lnTo>
                    <a:pt x="1536" y="144640"/>
                  </a:lnTo>
                  <a:lnTo>
                    <a:pt x="10934" y="150228"/>
                  </a:lnTo>
                  <a:lnTo>
                    <a:pt x="17018" y="148704"/>
                  </a:lnTo>
                  <a:lnTo>
                    <a:pt x="46266" y="99695"/>
                  </a:lnTo>
                  <a:lnTo>
                    <a:pt x="39839" y="718299"/>
                  </a:lnTo>
                  <a:lnTo>
                    <a:pt x="59651" y="718553"/>
                  </a:lnTo>
                  <a:lnTo>
                    <a:pt x="66065" y="99923"/>
                  </a:lnTo>
                  <a:lnTo>
                    <a:pt x="91605" y="144767"/>
                  </a:lnTo>
                  <a:lnTo>
                    <a:pt x="94310" y="149466"/>
                  </a:lnTo>
                  <a:lnTo>
                    <a:pt x="100355" y="151117"/>
                  </a:lnTo>
                  <a:lnTo>
                    <a:pt x="105117" y="148450"/>
                  </a:lnTo>
                  <a:lnTo>
                    <a:pt x="109867" y="145656"/>
                  </a:lnTo>
                  <a:lnTo>
                    <a:pt x="111531" y="139687"/>
                  </a:lnTo>
                  <a:close/>
                </a:path>
                <a:path w="3170554" h="720089">
                  <a:moveTo>
                    <a:pt x="3170136" y="700392"/>
                  </a:moveTo>
                  <a:lnTo>
                    <a:pt x="757364" y="33782"/>
                  </a:lnTo>
                  <a:lnTo>
                    <a:pt x="794245" y="23990"/>
                  </a:lnTo>
                  <a:lnTo>
                    <a:pt x="812507" y="19164"/>
                  </a:lnTo>
                  <a:lnTo>
                    <a:pt x="815682" y="13703"/>
                  </a:lnTo>
                  <a:lnTo>
                    <a:pt x="814285" y="8496"/>
                  </a:lnTo>
                  <a:lnTo>
                    <a:pt x="812888" y="3175"/>
                  </a:lnTo>
                  <a:lnTo>
                    <a:pt x="807427" y="0"/>
                  </a:lnTo>
                  <a:lnTo>
                    <a:pt x="700493" y="28308"/>
                  </a:lnTo>
                  <a:lnTo>
                    <a:pt x="774014" y="103746"/>
                  </a:lnTo>
                  <a:lnTo>
                    <a:pt x="777709" y="107556"/>
                  </a:lnTo>
                  <a:lnTo>
                    <a:pt x="784059" y="107556"/>
                  </a:lnTo>
                  <a:lnTo>
                    <a:pt x="787869" y="103746"/>
                  </a:lnTo>
                  <a:lnTo>
                    <a:pt x="791806" y="99936"/>
                  </a:lnTo>
                  <a:lnTo>
                    <a:pt x="791933" y="93713"/>
                  </a:lnTo>
                  <a:lnTo>
                    <a:pt x="752030" y="52793"/>
                  </a:lnTo>
                  <a:lnTo>
                    <a:pt x="3164802" y="719569"/>
                  </a:lnTo>
                  <a:lnTo>
                    <a:pt x="3170136" y="700392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66800" y="3511295"/>
              <a:ext cx="132587" cy="12649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172667" y="3578859"/>
              <a:ext cx="3074035" cy="725170"/>
            </a:xfrm>
            <a:custGeom>
              <a:avLst/>
              <a:gdLst/>
              <a:ahLst/>
              <a:cxnLst/>
              <a:rect l="l" t="t" r="r" b="b"/>
              <a:pathLst>
                <a:path w="3074035" h="725170">
                  <a:moveTo>
                    <a:pt x="57207" y="36282"/>
                  </a:moveTo>
                  <a:lnTo>
                    <a:pt x="38419" y="42303"/>
                  </a:lnTo>
                  <a:lnTo>
                    <a:pt x="52903" y="55710"/>
                  </a:lnTo>
                  <a:lnTo>
                    <a:pt x="3069259" y="725169"/>
                  </a:lnTo>
                  <a:lnTo>
                    <a:pt x="3073577" y="705738"/>
                  </a:lnTo>
                  <a:lnTo>
                    <a:pt x="57207" y="36282"/>
                  </a:lnTo>
                  <a:close/>
                </a:path>
                <a:path w="3074035" h="725170">
                  <a:moveTo>
                    <a:pt x="105460" y="0"/>
                  </a:moveTo>
                  <a:lnTo>
                    <a:pt x="0" y="33781"/>
                  </a:lnTo>
                  <a:lnTo>
                    <a:pt x="77228" y="105156"/>
                  </a:lnTo>
                  <a:lnTo>
                    <a:pt x="81241" y="108965"/>
                  </a:lnTo>
                  <a:lnTo>
                    <a:pt x="87515" y="108712"/>
                  </a:lnTo>
                  <a:lnTo>
                    <a:pt x="94945" y="100583"/>
                  </a:lnTo>
                  <a:lnTo>
                    <a:pt x="94703" y="94360"/>
                  </a:lnTo>
                  <a:lnTo>
                    <a:pt x="90678" y="90677"/>
                  </a:lnTo>
                  <a:lnTo>
                    <a:pt x="52903" y="55710"/>
                  </a:lnTo>
                  <a:lnTo>
                    <a:pt x="17043" y="47751"/>
                  </a:lnTo>
                  <a:lnTo>
                    <a:pt x="21336" y="28320"/>
                  </a:lnTo>
                  <a:lnTo>
                    <a:pt x="82049" y="28320"/>
                  </a:lnTo>
                  <a:lnTo>
                    <a:pt x="111429" y="18923"/>
                  </a:lnTo>
                  <a:lnTo>
                    <a:pt x="114350" y="13335"/>
                  </a:lnTo>
                  <a:lnTo>
                    <a:pt x="111048" y="2920"/>
                  </a:lnTo>
                  <a:lnTo>
                    <a:pt x="105460" y="0"/>
                  </a:lnTo>
                  <a:close/>
                </a:path>
                <a:path w="3074035" h="725170">
                  <a:moveTo>
                    <a:pt x="21336" y="28320"/>
                  </a:moveTo>
                  <a:lnTo>
                    <a:pt x="17043" y="47751"/>
                  </a:lnTo>
                  <a:lnTo>
                    <a:pt x="52903" y="55710"/>
                  </a:lnTo>
                  <a:lnTo>
                    <a:pt x="44030" y="47497"/>
                  </a:lnTo>
                  <a:lnTo>
                    <a:pt x="22212" y="47497"/>
                  </a:lnTo>
                  <a:lnTo>
                    <a:pt x="25920" y="30733"/>
                  </a:lnTo>
                  <a:lnTo>
                    <a:pt x="32208" y="30733"/>
                  </a:lnTo>
                  <a:lnTo>
                    <a:pt x="21336" y="28320"/>
                  </a:lnTo>
                  <a:close/>
                </a:path>
                <a:path w="3074035" h="725170">
                  <a:moveTo>
                    <a:pt x="25920" y="30733"/>
                  </a:moveTo>
                  <a:lnTo>
                    <a:pt x="22212" y="47497"/>
                  </a:lnTo>
                  <a:lnTo>
                    <a:pt x="38419" y="42303"/>
                  </a:lnTo>
                  <a:lnTo>
                    <a:pt x="25920" y="30733"/>
                  </a:lnTo>
                  <a:close/>
                </a:path>
                <a:path w="3074035" h="725170">
                  <a:moveTo>
                    <a:pt x="38419" y="42303"/>
                  </a:moveTo>
                  <a:lnTo>
                    <a:pt x="22212" y="47497"/>
                  </a:lnTo>
                  <a:lnTo>
                    <a:pt x="44030" y="47497"/>
                  </a:lnTo>
                  <a:lnTo>
                    <a:pt x="38419" y="42303"/>
                  </a:lnTo>
                  <a:close/>
                </a:path>
                <a:path w="3074035" h="725170">
                  <a:moveTo>
                    <a:pt x="32208" y="30733"/>
                  </a:moveTo>
                  <a:lnTo>
                    <a:pt x="25920" y="30733"/>
                  </a:lnTo>
                  <a:lnTo>
                    <a:pt x="38419" y="42303"/>
                  </a:lnTo>
                  <a:lnTo>
                    <a:pt x="57207" y="36282"/>
                  </a:lnTo>
                  <a:lnTo>
                    <a:pt x="32208" y="30733"/>
                  </a:lnTo>
                  <a:close/>
                </a:path>
                <a:path w="3074035" h="725170">
                  <a:moveTo>
                    <a:pt x="82049" y="28320"/>
                  </a:moveTo>
                  <a:lnTo>
                    <a:pt x="21336" y="28320"/>
                  </a:lnTo>
                  <a:lnTo>
                    <a:pt x="57207" y="36282"/>
                  </a:lnTo>
                  <a:lnTo>
                    <a:pt x="82049" y="2832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2358263" y="2018029"/>
              <a:ext cx="596265" cy="1503680"/>
            </a:xfrm>
            <a:custGeom>
              <a:avLst/>
              <a:gdLst/>
              <a:ahLst/>
              <a:cxnLst/>
              <a:rect l="l" t="t" r="r" b="b"/>
              <a:pathLst>
                <a:path w="596264" h="1503679">
                  <a:moveTo>
                    <a:pt x="551410" y="1435891"/>
                  </a:moveTo>
                  <a:lnTo>
                    <a:pt x="525144" y="1446022"/>
                  </a:lnTo>
                  <a:lnTo>
                    <a:pt x="588137" y="1503426"/>
                  </a:lnTo>
                  <a:lnTo>
                    <a:pt x="593466" y="1447800"/>
                  </a:lnTo>
                  <a:lnTo>
                    <a:pt x="556006" y="1447800"/>
                  </a:lnTo>
                  <a:lnTo>
                    <a:pt x="551410" y="1435891"/>
                  </a:lnTo>
                  <a:close/>
                </a:path>
                <a:path w="596264" h="1503679">
                  <a:moveTo>
                    <a:pt x="569871" y="1428770"/>
                  </a:moveTo>
                  <a:lnTo>
                    <a:pt x="551410" y="1435891"/>
                  </a:lnTo>
                  <a:lnTo>
                    <a:pt x="556006" y="1447800"/>
                  </a:lnTo>
                  <a:lnTo>
                    <a:pt x="574420" y="1440561"/>
                  </a:lnTo>
                  <a:lnTo>
                    <a:pt x="569871" y="1428770"/>
                  </a:lnTo>
                  <a:close/>
                </a:path>
                <a:path w="596264" h="1503679">
                  <a:moveTo>
                    <a:pt x="596264" y="1418590"/>
                  </a:moveTo>
                  <a:lnTo>
                    <a:pt x="569871" y="1428770"/>
                  </a:lnTo>
                  <a:lnTo>
                    <a:pt x="574420" y="1440561"/>
                  </a:lnTo>
                  <a:lnTo>
                    <a:pt x="556006" y="1447800"/>
                  </a:lnTo>
                  <a:lnTo>
                    <a:pt x="593466" y="1447800"/>
                  </a:lnTo>
                  <a:lnTo>
                    <a:pt x="596264" y="1418590"/>
                  </a:lnTo>
                  <a:close/>
                </a:path>
                <a:path w="596264" h="1503679">
                  <a:moveTo>
                    <a:pt x="18542" y="0"/>
                  </a:moveTo>
                  <a:lnTo>
                    <a:pt x="0" y="7112"/>
                  </a:lnTo>
                  <a:lnTo>
                    <a:pt x="551410" y="1435891"/>
                  </a:lnTo>
                  <a:lnTo>
                    <a:pt x="569871" y="1428770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rgbClr val="BA56BD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571194" y="3918742"/>
            <a:ext cx="507831" cy="78613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Encoder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RNN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141981" y="3929390"/>
            <a:ext cx="187960" cy="780415"/>
          </a:xfrm>
          <a:custGeom>
            <a:avLst/>
            <a:gdLst/>
            <a:ahLst/>
            <a:cxnLst/>
            <a:rect l="l" t="t" r="r" b="b"/>
            <a:pathLst>
              <a:path w="187959" h="780414">
                <a:moveTo>
                  <a:pt x="187452" y="780288"/>
                </a:moveTo>
                <a:lnTo>
                  <a:pt x="150968" y="774515"/>
                </a:lnTo>
                <a:lnTo>
                  <a:pt x="121177" y="758777"/>
                </a:lnTo>
                <a:lnTo>
                  <a:pt x="101091" y="735443"/>
                </a:lnTo>
                <a:lnTo>
                  <a:pt x="93726" y="706882"/>
                </a:lnTo>
                <a:lnTo>
                  <a:pt x="93726" y="463550"/>
                </a:lnTo>
                <a:lnTo>
                  <a:pt x="86360" y="434988"/>
                </a:lnTo>
                <a:lnTo>
                  <a:pt x="66274" y="411654"/>
                </a:lnTo>
                <a:lnTo>
                  <a:pt x="36483" y="395916"/>
                </a:lnTo>
                <a:lnTo>
                  <a:pt x="0" y="390144"/>
                </a:lnTo>
                <a:lnTo>
                  <a:pt x="36483" y="384371"/>
                </a:lnTo>
                <a:lnTo>
                  <a:pt x="66274" y="368633"/>
                </a:lnTo>
                <a:lnTo>
                  <a:pt x="86360" y="345299"/>
                </a:lnTo>
                <a:lnTo>
                  <a:pt x="93726" y="316738"/>
                </a:lnTo>
                <a:lnTo>
                  <a:pt x="93726" y="73406"/>
                </a:lnTo>
                <a:lnTo>
                  <a:pt x="101091" y="44844"/>
                </a:lnTo>
                <a:lnTo>
                  <a:pt x="121177" y="21510"/>
                </a:lnTo>
                <a:lnTo>
                  <a:pt x="150968" y="5772"/>
                </a:lnTo>
                <a:lnTo>
                  <a:pt x="187452" y="0"/>
                </a:lnTo>
              </a:path>
            </a:pathLst>
          </a:custGeom>
          <a:ln w="1981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389626" y="5341171"/>
            <a:ext cx="72263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&lt;</a:t>
            </a:r>
            <a:r>
              <a:rPr kumimoji="0" sz="1600" b="0" i="1" u="none" strike="noStrike" kern="120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</a:t>
            </a:r>
            <a:r>
              <a:rPr kumimoji="0" sz="1600" b="0" i="1" u="none" strike="noStrike" kern="1200" cap="none" spc="-1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</a:t>
            </a:r>
            <a:r>
              <a:rPr kumimoji="0" sz="16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</a:t>
            </a:r>
            <a:r>
              <a:rPr kumimoji="0" sz="1600" b="0" i="1" u="none" strike="noStrike" kern="120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R</a:t>
            </a:r>
            <a:r>
              <a:rPr kumimoji="0" sz="1600" b="0" i="1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T&gt;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0136885" y="3952249"/>
            <a:ext cx="189230" cy="779145"/>
          </a:xfrm>
          <a:custGeom>
            <a:avLst/>
            <a:gdLst/>
            <a:ahLst/>
            <a:cxnLst/>
            <a:rect l="l" t="t" r="r" b="b"/>
            <a:pathLst>
              <a:path w="189229" h="779145">
                <a:moveTo>
                  <a:pt x="0" y="0"/>
                </a:moveTo>
                <a:lnTo>
                  <a:pt x="36784" y="5816"/>
                </a:lnTo>
                <a:lnTo>
                  <a:pt x="66817" y="21669"/>
                </a:lnTo>
                <a:lnTo>
                  <a:pt x="87064" y="45166"/>
                </a:lnTo>
                <a:lnTo>
                  <a:pt x="94488" y="73913"/>
                </a:lnTo>
                <a:lnTo>
                  <a:pt x="94488" y="315468"/>
                </a:lnTo>
                <a:lnTo>
                  <a:pt x="101911" y="344215"/>
                </a:lnTo>
                <a:lnTo>
                  <a:pt x="122158" y="367712"/>
                </a:lnTo>
                <a:lnTo>
                  <a:pt x="152191" y="383565"/>
                </a:lnTo>
                <a:lnTo>
                  <a:pt x="188975" y="389381"/>
                </a:lnTo>
                <a:lnTo>
                  <a:pt x="152191" y="395198"/>
                </a:lnTo>
                <a:lnTo>
                  <a:pt x="122158" y="411051"/>
                </a:lnTo>
                <a:lnTo>
                  <a:pt x="101911" y="434548"/>
                </a:lnTo>
                <a:lnTo>
                  <a:pt x="94488" y="463295"/>
                </a:lnTo>
                <a:lnTo>
                  <a:pt x="94488" y="704850"/>
                </a:lnTo>
                <a:lnTo>
                  <a:pt x="87064" y="733597"/>
                </a:lnTo>
                <a:lnTo>
                  <a:pt x="66817" y="757094"/>
                </a:lnTo>
                <a:lnTo>
                  <a:pt x="36784" y="772947"/>
                </a:lnTo>
                <a:lnTo>
                  <a:pt x="0" y="778763"/>
                </a:lnTo>
              </a:path>
            </a:pathLst>
          </a:custGeom>
          <a:ln w="19812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571194" y="2794072"/>
            <a:ext cx="507831" cy="899794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Attention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scores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137409" y="2902213"/>
            <a:ext cx="189230" cy="624840"/>
          </a:xfrm>
          <a:custGeom>
            <a:avLst/>
            <a:gdLst/>
            <a:ahLst/>
            <a:cxnLst/>
            <a:rect l="l" t="t" r="r" b="b"/>
            <a:pathLst>
              <a:path w="189229" h="624839">
                <a:moveTo>
                  <a:pt x="188976" y="624839"/>
                </a:moveTo>
                <a:lnTo>
                  <a:pt x="152196" y="619023"/>
                </a:lnTo>
                <a:lnTo>
                  <a:pt x="122162" y="603170"/>
                </a:lnTo>
                <a:lnTo>
                  <a:pt x="101913" y="579673"/>
                </a:lnTo>
                <a:lnTo>
                  <a:pt x="94488" y="550926"/>
                </a:lnTo>
                <a:lnTo>
                  <a:pt x="94488" y="386334"/>
                </a:lnTo>
                <a:lnTo>
                  <a:pt x="87062" y="357586"/>
                </a:lnTo>
                <a:lnTo>
                  <a:pt x="66813" y="334089"/>
                </a:lnTo>
                <a:lnTo>
                  <a:pt x="36779" y="318236"/>
                </a:lnTo>
                <a:lnTo>
                  <a:pt x="0" y="312420"/>
                </a:lnTo>
                <a:lnTo>
                  <a:pt x="36779" y="306603"/>
                </a:lnTo>
                <a:lnTo>
                  <a:pt x="66813" y="290750"/>
                </a:lnTo>
                <a:lnTo>
                  <a:pt x="87062" y="267253"/>
                </a:lnTo>
                <a:lnTo>
                  <a:pt x="94488" y="238506"/>
                </a:lnTo>
                <a:lnTo>
                  <a:pt x="94488" y="73913"/>
                </a:lnTo>
                <a:lnTo>
                  <a:pt x="101913" y="45166"/>
                </a:lnTo>
                <a:lnTo>
                  <a:pt x="122162" y="21669"/>
                </a:lnTo>
                <a:lnTo>
                  <a:pt x="152196" y="5816"/>
                </a:lnTo>
                <a:lnTo>
                  <a:pt x="188976" y="0"/>
                </a:lnTo>
              </a:path>
            </a:pathLst>
          </a:custGeom>
          <a:ln w="19812">
            <a:solidFill>
              <a:srgbClr val="3986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327273" y="1296425"/>
            <a:ext cx="11252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dot</a:t>
            </a:r>
            <a:r>
              <a:rPr kumimoji="0" sz="1800" b="0" i="0" u="none" strike="noStrike" kern="1200" cap="none" spc="-6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BA56BD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product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29" name="object 22">
            <a:extLst>
              <a:ext uri="{FF2B5EF4-FFF2-40B4-BE49-F238E27FC236}">
                <a16:creationId xmlns:a16="http://schemas.microsoft.com/office/drawing/2014/main" id="{BF781428-D346-AC62-485F-7E7FC571C8F6}"/>
              </a:ext>
            </a:extLst>
          </p:cNvPr>
          <p:cNvSpPr txBox="1"/>
          <p:nvPr/>
        </p:nvSpPr>
        <p:spPr>
          <a:xfrm>
            <a:off x="10372554" y="3700406"/>
            <a:ext cx="467885" cy="128270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Decoder</a:t>
            </a:r>
            <a:r>
              <a:rPr kumimoji="0" sz="1800" b="0" i="0" u="none" strike="noStrike" kern="1200" cap="none" spc="-3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RNN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34" name="object 13">
            <a:extLst>
              <a:ext uri="{FF2B5EF4-FFF2-40B4-BE49-F238E27FC236}">
                <a16:creationId xmlns:a16="http://schemas.microsoft.com/office/drawing/2014/main" id="{ADE9616E-DC35-F9CE-7CCF-D39A88AD47B0}"/>
              </a:ext>
            </a:extLst>
          </p:cNvPr>
          <p:cNvSpPr txBox="1"/>
          <p:nvPr/>
        </p:nvSpPr>
        <p:spPr>
          <a:xfrm>
            <a:off x="2433333" y="5954560"/>
            <a:ext cx="2230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Source sentence</a:t>
            </a:r>
            <a:r>
              <a:rPr kumimoji="0" sz="1800" b="0" i="0" u="none" strike="noStrike" kern="120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(input)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35" name="object 14">
            <a:extLst>
              <a:ext uri="{FF2B5EF4-FFF2-40B4-BE49-F238E27FC236}">
                <a16:creationId xmlns:a16="http://schemas.microsoft.com/office/drawing/2014/main" id="{EC017BEC-3DA2-7E5C-9EFC-10C8D19B82E9}"/>
              </a:ext>
            </a:extLst>
          </p:cNvPr>
          <p:cNvSpPr/>
          <p:nvPr/>
        </p:nvSpPr>
        <p:spPr>
          <a:xfrm>
            <a:off x="2357710" y="5780012"/>
            <a:ext cx="2343455" cy="197550"/>
          </a:xfrm>
          <a:custGeom>
            <a:avLst/>
            <a:gdLst/>
            <a:ahLst/>
            <a:cxnLst/>
            <a:rect l="l" t="t" r="r" b="b"/>
            <a:pathLst>
              <a:path w="2435860" h="271779">
                <a:moveTo>
                  <a:pt x="2435352" y="0"/>
                </a:moveTo>
                <a:lnTo>
                  <a:pt x="2427013" y="52804"/>
                </a:lnTo>
                <a:lnTo>
                  <a:pt x="2404268" y="95916"/>
                </a:lnTo>
                <a:lnTo>
                  <a:pt x="2370522" y="124979"/>
                </a:lnTo>
                <a:lnTo>
                  <a:pt x="2329180" y="135636"/>
                </a:lnTo>
                <a:lnTo>
                  <a:pt x="1323848" y="135636"/>
                </a:lnTo>
                <a:lnTo>
                  <a:pt x="1282505" y="146292"/>
                </a:lnTo>
                <a:lnTo>
                  <a:pt x="1248759" y="175355"/>
                </a:lnTo>
                <a:lnTo>
                  <a:pt x="1226014" y="218467"/>
                </a:lnTo>
                <a:lnTo>
                  <a:pt x="1217676" y="271272"/>
                </a:lnTo>
                <a:lnTo>
                  <a:pt x="1209337" y="218467"/>
                </a:lnTo>
                <a:lnTo>
                  <a:pt x="1186592" y="175355"/>
                </a:lnTo>
                <a:lnTo>
                  <a:pt x="1152846" y="146292"/>
                </a:lnTo>
                <a:lnTo>
                  <a:pt x="1111504" y="135636"/>
                </a:lnTo>
                <a:lnTo>
                  <a:pt x="106146" y="135636"/>
                </a:lnTo>
                <a:lnTo>
                  <a:pt x="64829" y="124979"/>
                </a:lnTo>
                <a:lnTo>
                  <a:pt x="31089" y="95916"/>
                </a:lnTo>
                <a:lnTo>
                  <a:pt x="8341" y="52804"/>
                </a:lnTo>
                <a:lnTo>
                  <a:pt x="0" y="0"/>
                </a:lnTo>
              </a:path>
            </a:pathLst>
          </a:custGeom>
          <a:ln w="198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6" name="object 21">
            <a:extLst>
              <a:ext uri="{FF2B5EF4-FFF2-40B4-BE49-F238E27FC236}">
                <a16:creationId xmlns:a16="http://schemas.microsoft.com/office/drawing/2014/main" id="{C9667006-EAED-BC54-DE2D-8F1494651DDC}"/>
              </a:ext>
            </a:extLst>
          </p:cNvPr>
          <p:cNvSpPr txBox="1"/>
          <p:nvPr/>
        </p:nvSpPr>
        <p:spPr>
          <a:xfrm>
            <a:off x="2426336" y="5313638"/>
            <a:ext cx="40980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i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हम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37" name="object 22">
            <a:extLst>
              <a:ext uri="{FF2B5EF4-FFF2-40B4-BE49-F238E27FC236}">
                <a16:creationId xmlns:a16="http://schemas.microsoft.com/office/drawing/2014/main" id="{E2B2F759-0126-BC0B-5319-067E9211D9D6}"/>
              </a:ext>
            </a:extLst>
          </p:cNvPr>
          <p:cNvSpPr txBox="1"/>
          <p:nvPr/>
        </p:nvSpPr>
        <p:spPr>
          <a:xfrm>
            <a:off x="3002623" y="5313638"/>
            <a:ext cx="53340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i-IN" sz="16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बाजार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38" name="object 21">
            <a:extLst>
              <a:ext uri="{FF2B5EF4-FFF2-40B4-BE49-F238E27FC236}">
                <a16:creationId xmlns:a16="http://schemas.microsoft.com/office/drawing/2014/main" id="{49C4565E-20CB-CA17-8DD2-0A870B8E236D}"/>
              </a:ext>
            </a:extLst>
          </p:cNvPr>
          <p:cNvSpPr txBox="1"/>
          <p:nvPr/>
        </p:nvSpPr>
        <p:spPr>
          <a:xfrm>
            <a:off x="3658511" y="5317123"/>
            <a:ext cx="40980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i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गये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39" name="object 21">
            <a:extLst>
              <a:ext uri="{FF2B5EF4-FFF2-40B4-BE49-F238E27FC236}">
                <a16:creationId xmlns:a16="http://schemas.microsoft.com/office/drawing/2014/main" id="{2128E502-071C-0E95-801C-5BB0D02E379D}"/>
              </a:ext>
            </a:extLst>
          </p:cNvPr>
          <p:cNvSpPr txBox="1"/>
          <p:nvPr/>
        </p:nvSpPr>
        <p:spPr>
          <a:xfrm>
            <a:off x="4268105" y="5310901"/>
            <a:ext cx="40980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i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थे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A2234C4-F98C-0D61-9DDB-1BEC54580962}"/>
              </a:ext>
            </a:extLst>
          </p:cNvPr>
          <p:cNvSpPr txBox="1"/>
          <p:nvPr/>
        </p:nvSpPr>
        <p:spPr>
          <a:xfrm>
            <a:off x="2412364" y="5540067"/>
            <a:ext cx="2321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ham      baajaar     gaye         the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1325" y="607035"/>
            <a:ext cx="11307763" cy="629018"/>
          </a:xfrm>
          <a:prstGeom prst="rect">
            <a:avLst/>
          </a:prstGeom>
        </p:spPr>
        <p:txBody>
          <a:bodyPr vert="horz" wrap="square" lIns="0" tIns="1333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pc="-5" dirty="0"/>
              <a:t>Sequence-to-Sequence</a:t>
            </a:r>
            <a:r>
              <a:rPr lang="en-IN" spc="-40" dirty="0"/>
              <a:t> </a:t>
            </a:r>
            <a:r>
              <a:rPr lang="en-IN" spc="-5" dirty="0"/>
              <a:t>With</a:t>
            </a:r>
            <a:r>
              <a:rPr lang="en-IN" spc="15" dirty="0"/>
              <a:t> A</a:t>
            </a:r>
            <a:r>
              <a:rPr lang="en-IN" dirty="0"/>
              <a:t>ttention</a:t>
            </a:r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2507742" y="1919229"/>
            <a:ext cx="3403853" cy="3400552"/>
            <a:chOff x="983742" y="2292857"/>
            <a:chExt cx="3403853" cy="3400552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6800" y="4367783"/>
              <a:ext cx="126492" cy="13258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6800" y="4536947"/>
              <a:ext cx="126492" cy="13258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6800" y="4706111"/>
              <a:ext cx="126492" cy="13258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6800" y="4875275"/>
              <a:ext cx="126492" cy="13106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992886" y="4303013"/>
              <a:ext cx="266700" cy="780415"/>
            </a:xfrm>
            <a:custGeom>
              <a:avLst/>
              <a:gdLst/>
              <a:ahLst/>
              <a:cxnLst/>
              <a:rect l="l" t="t" r="r" b="b"/>
              <a:pathLst>
                <a:path w="266700" h="780414">
                  <a:moveTo>
                    <a:pt x="222250" y="0"/>
                  </a:moveTo>
                  <a:lnTo>
                    <a:pt x="239551" y="3498"/>
                  </a:lnTo>
                  <a:lnTo>
                    <a:pt x="253680" y="13033"/>
                  </a:lnTo>
                  <a:lnTo>
                    <a:pt x="263206" y="27164"/>
                  </a:lnTo>
                  <a:lnTo>
                    <a:pt x="266700" y="44450"/>
                  </a:lnTo>
                  <a:lnTo>
                    <a:pt x="266700" y="735838"/>
                  </a:lnTo>
                  <a:lnTo>
                    <a:pt x="263206" y="753123"/>
                  </a:lnTo>
                  <a:lnTo>
                    <a:pt x="253680" y="767254"/>
                  </a:lnTo>
                  <a:lnTo>
                    <a:pt x="239551" y="776789"/>
                  </a:lnTo>
                  <a:lnTo>
                    <a:pt x="222250" y="780288"/>
                  </a:lnTo>
                  <a:lnTo>
                    <a:pt x="44450" y="780288"/>
                  </a:lnTo>
                  <a:lnTo>
                    <a:pt x="27148" y="776789"/>
                  </a:lnTo>
                  <a:lnTo>
                    <a:pt x="13019" y="767254"/>
                  </a:lnTo>
                  <a:lnTo>
                    <a:pt x="3493" y="753123"/>
                  </a:lnTo>
                  <a:lnTo>
                    <a:pt x="0" y="735838"/>
                  </a:lnTo>
                  <a:lnTo>
                    <a:pt x="0" y="44450"/>
                  </a:lnTo>
                  <a:lnTo>
                    <a:pt x="3493" y="27164"/>
                  </a:lnTo>
                  <a:lnTo>
                    <a:pt x="13019" y="13033"/>
                  </a:lnTo>
                  <a:lnTo>
                    <a:pt x="27148" y="3498"/>
                  </a:lnTo>
                  <a:lnTo>
                    <a:pt x="44450" y="0"/>
                  </a:lnTo>
                  <a:lnTo>
                    <a:pt x="22225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71232" y="4637404"/>
              <a:ext cx="533400" cy="1056005"/>
            </a:xfrm>
            <a:custGeom>
              <a:avLst/>
              <a:gdLst/>
              <a:ahLst/>
              <a:cxnLst/>
              <a:rect l="l" t="t" r="r" b="b"/>
              <a:pathLst>
                <a:path w="533400" h="1056004">
                  <a:moveTo>
                    <a:pt x="111531" y="541401"/>
                  </a:moveTo>
                  <a:lnTo>
                    <a:pt x="67183" y="465455"/>
                  </a:lnTo>
                  <a:lnTo>
                    <a:pt x="55765" y="445897"/>
                  </a:lnTo>
                  <a:lnTo>
                    <a:pt x="0" y="541401"/>
                  </a:lnTo>
                  <a:lnTo>
                    <a:pt x="1600" y="547497"/>
                  </a:lnTo>
                  <a:lnTo>
                    <a:pt x="11049" y="553085"/>
                  </a:lnTo>
                  <a:lnTo>
                    <a:pt x="17119" y="551434"/>
                  </a:lnTo>
                  <a:lnTo>
                    <a:pt x="45859" y="502183"/>
                  </a:lnTo>
                  <a:lnTo>
                    <a:pt x="45859" y="1055497"/>
                  </a:lnTo>
                  <a:lnTo>
                    <a:pt x="65671" y="1055497"/>
                  </a:lnTo>
                  <a:lnTo>
                    <a:pt x="65671" y="502183"/>
                  </a:lnTo>
                  <a:lnTo>
                    <a:pt x="94411" y="551434"/>
                  </a:lnTo>
                  <a:lnTo>
                    <a:pt x="100482" y="553085"/>
                  </a:lnTo>
                  <a:lnTo>
                    <a:pt x="109931" y="547497"/>
                  </a:lnTo>
                  <a:lnTo>
                    <a:pt x="111531" y="541401"/>
                  </a:lnTo>
                  <a:close/>
                </a:path>
                <a:path w="533400" h="1056004">
                  <a:moveTo>
                    <a:pt x="533019" y="55765"/>
                  </a:moveTo>
                  <a:lnTo>
                    <a:pt x="516039" y="45847"/>
                  </a:lnTo>
                  <a:lnTo>
                    <a:pt x="442226" y="2794"/>
                  </a:lnTo>
                  <a:lnTo>
                    <a:pt x="437527" y="0"/>
                  </a:lnTo>
                  <a:lnTo>
                    <a:pt x="431431" y="1524"/>
                  </a:lnTo>
                  <a:lnTo>
                    <a:pt x="428637" y="6350"/>
                  </a:lnTo>
                  <a:lnTo>
                    <a:pt x="425970" y="11049"/>
                  </a:lnTo>
                  <a:lnTo>
                    <a:pt x="427494" y="17145"/>
                  </a:lnTo>
                  <a:lnTo>
                    <a:pt x="432193" y="19812"/>
                  </a:lnTo>
                  <a:lnTo>
                    <a:pt x="476796" y="45847"/>
                  </a:lnTo>
                  <a:lnTo>
                    <a:pt x="188353" y="45847"/>
                  </a:lnTo>
                  <a:lnTo>
                    <a:pt x="188353" y="65659"/>
                  </a:lnTo>
                  <a:lnTo>
                    <a:pt x="476821" y="65659"/>
                  </a:lnTo>
                  <a:lnTo>
                    <a:pt x="493801" y="55765"/>
                  </a:lnTo>
                  <a:lnTo>
                    <a:pt x="432193" y="91694"/>
                  </a:lnTo>
                  <a:lnTo>
                    <a:pt x="427494" y="94361"/>
                  </a:lnTo>
                  <a:lnTo>
                    <a:pt x="425970" y="100457"/>
                  </a:lnTo>
                  <a:lnTo>
                    <a:pt x="428637" y="105156"/>
                  </a:lnTo>
                  <a:lnTo>
                    <a:pt x="431431" y="109982"/>
                  </a:lnTo>
                  <a:lnTo>
                    <a:pt x="437527" y="111506"/>
                  </a:lnTo>
                  <a:lnTo>
                    <a:pt x="442226" y="108712"/>
                  </a:lnTo>
                  <a:lnTo>
                    <a:pt x="516039" y="65659"/>
                  </a:lnTo>
                  <a:lnTo>
                    <a:pt x="533019" y="55765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91056" y="3511295"/>
              <a:ext cx="2796539" cy="217551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077252" y="3584333"/>
              <a:ext cx="3170555" cy="720090"/>
            </a:xfrm>
            <a:custGeom>
              <a:avLst/>
              <a:gdLst/>
              <a:ahLst/>
              <a:cxnLst/>
              <a:rect l="l" t="t" r="r" b="b"/>
              <a:pathLst>
                <a:path w="3170554" h="720089">
                  <a:moveTo>
                    <a:pt x="111531" y="139687"/>
                  </a:moveTo>
                  <a:lnTo>
                    <a:pt x="108813" y="134861"/>
                  </a:lnTo>
                  <a:lnTo>
                    <a:pt x="67894" y="63106"/>
                  </a:lnTo>
                  <a:lnTo>
                    <a:pt x="56756" y="43548"/>
                  </a:lnTo>
                  <a:lnTo>
                    <a:pt x="0" y="138544"/>
                  </a:lnTo>
                  <a:lnTo>
                    <a:pt x="1536" y="144640"/>
                  </a:lnTo>
                  <a:lnTo>
                    <a:pt x="10934" y="150228"/>
                  </a:lnTo>
                  <a:lnTo>
                    <a:pt x="17018" y="148704"/>
                  </a:lnTo>
                  <a:lnTo>
                    <a:pt x="46266" y="99695"/>
                  </a:lnTo>
                  <a:lnTo>
                    <a:pt x="39839" y="718299"/>
                  </a:lnTo>
                  <a:lnTo>
                    <a:pt x="59651" y="718553"/>
                  </a:lnTo>
                  <a:lnTo>
                    <a:pt x="66065" y="99923"/>
                  </a:lnTo>
                  <a:lnTo>
                    <a:pt x="91605" y="144767"/>
                  </a:lnTo>
                  <a:lnTo>
                    <a:pt x="94310" y="149466"/>
                  </a:lnTo>
                  <a:lnTo>
                    <a:pt x="100355" y="151117"/>
                  </a:lnTo>
                  <a:lnTo>
                    <a:pt x="105117" y="148450"/>
                  </a:lnTo>
                  <a:lnTo>
                    <a:pt x="109867" y="145656"/>
                  </a:lnTo>
                  <a:lnTo>
                    <a:pt x="111531" y="139687"/>
                  </a:lnTo>
                  <a:close/>
                </a:path>
                <a:path w="3170554" h="720089">
                  <a:moveTo>
                    <a:pt x="3170136" y="700392"/>
                  </a:moveTo>
                  <a:lnTo>
                    <a:pt x="757364" y="33782"/>
                  </a:lnTo>
                  <a:lnTo>
                    <a:pt x="794245" y="23990"/>
                  </a:lnTo>
                  <a:lnTo>
                    <a:pt x="812507" y="19164"/>
                  </a:lnTo>
                  <a:lnTo>
                    <a:pt x="815682" y="13703"/>
                  </a:lnTo>
                  <a:lnTo>
                    <a:pt x="814285" y="8496"/>
                  </a:lnTo>
                  <a:lnTo>
                    <a:pt x="812888" y="3175"/>
                  </a:lnTo>
                  <a:lnTo>
                    <a:pt x="807427" y="0"/>
                  </a:lnTo>
                  <a:lnTo>
                    <a:pt x="700493" y="28308"/>
                  </a:lnTo>
                  <a:lnTo>
                    <a:pt x="774014" y="103746"/>
                  </a:lnTo>
                  <a:lnTo>
                    <a:pt x="777709" y="107556"/>
                  </a:lnTo>
                  <a:lnTo>
                    <a:pt x="784059" y="107556"/>
                  </a:lnTo>
                  <a:lnTo>
                    <a:pt x="787869" y="103746"/>
                  </a:lnTo>
                  <a:lnTo>
                    <a:pt x="791806" y="99936"/>
                  </a:lnTo>
                  <a:lnTo>
                    <a:pt x="791933" y="93713"/>
                  </a:lnTo>
                  <a:lnTo>
                    <a:pt x="752030" y="52793"/>
                  </a:lnTo>
                  <a:lnTo>
                    <a:pt x="3164802" y="719569"/>
                  </a:lnTo>
                  <a:lnTo>
                    <a:pt x="3170136" y="700392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66800" y="3511295"/>
              <a:ext cx="132587" cy="12649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172667" y="3578859"/>
              <a:ext cx="3074035" cy="725170"/>
            </a:xfrm>
            <a:custGeom>
              <a:avLst/>
              <a:gdLst/>
              <a:ahLst/>
              <a:cxnLst/>
              <a:rect l="l" t="t" r="r" b="b"/>
              <a:pathLst>
                <a:path w="3074035" h="725170">
                  <a:moveTo>
                    <a:pt x="57207" y="36282"/>
                  </a:moveTo>
                  <a:lnTo>
                    <a:pt x="38419" y="42303"/>
                  </a:lnTo>
                  <a:lnTo>
                    <a:pt x="52903" y="55710"/>
                  </a:lnTo>
                  <a:lnTo>
                    <a:pt x="3069259" y="725169"/>
                  </a:lnTo>
                  <a:lnTo>
                    <a:pt x="3073577" y="705738"/>
                  </a:lnTo>
                  <a:lnTo>
                    <a:pt x="57207" y="36282"/>
                  </a:lnTo>
                  <a:close/>
                </a:path>
                <a:path w="3074035" h="725170">
                  <a:moveTo>
                    <a:pt x="105460" y="0"/>
                  </a:moveTo>
                  <a:lnTo>
                    <a:pt x="0" y="33781"/>
                  </a:lnTo>
                  <a:lnTo>
                    <a:pt x="77228" y="105156"/>
                  </a:lnTo>
                  <a:lnTo>
                    <a:pt x="81241" y="108965"/>
                  </a:lnTo>
                  <a:lnTo>
                    <a:pt x="87515" y="108712"/>
                  </a:lnTo>
                  <a:lnTo>
                    <a:pt x="94945" y="100583"/>
                  </a:lnTo>
                  <a:lnTo>
                    <a:pt x="94703" y="94360"/>
                  </a:lnTo>
                  <a:lnTo>
                    <a:pt x="90678" y="90677"/>
                  </a:lnTo>
                  <a:lnTo>
                    <a:pt x="52903" y="55710"/>
                  </a:lnTo>
                  <a:lnTo>
                    <a:pt x="17043" y="47751"/>
                  </a:lnTo>
                  <a:lnTo>
                    <a:pt x="21336" y="28320"/>
                  </a:lnTo>
                  <a:lnTo>
                    <a:pt x="82049" y="28320"/>
                  </a:lnTo>
                  <a:lnTo>
                    <a:pt x="111429" y="18923"/>
                  </a:lnTo>
                  <a:lnTo>
                    <a:pt x="114350" y="13335"/>
                  </a:lnTo>
                  <a:lnTo>
                    <a:pt x="111048" y="2920"/>
                  </a:lnTo>
                  <a:lnTo>
                    <a:pt x="105460" y="0"/>
                  </a:lnTo>
                  <a:close/>
                </a:path>
                <a:path w="3074035" h="725170">
                  <a:moveTo>
                    <a:pt x="21336" y="28320"/>
                  </a:moveTo>
                  <a:lnTo>
                    <a:pt x="17043" y="47751"/>
                  </a:lnTo>
                  <a:lnTo>
                    <a:pt x="52903" y="55710"/>
                  </a:lnTo>
                  <a:lnTo>
                    <a:pt x="44030" y="47497"/>
                  </a:lnTo>
                  <a:lnTo>
                    <a:pt x="22212" y="47497"/>
                  </a:lnTo>
                  <a:lnTo>
                    <a:pt x="25920" y="30733"/>
                  </a:lnTo>
                  <a:lnTo>
                    <a:pt x="32208" y="30733"/>
                  </a:lnTo>
                  <a:lnTo>
                    <a:pt x="21336" y="28320"/>
                  </a:lnTo>
                  <a:close/>
                </a:path>
                <a:path w="3074035" h="725170">
                  <a:moveTo>
                    <a:pt x="25920" y="30733"/>
                  </a:moveTo>
                  <a:lnTo>
                    <a:pt x="22212" y="47497"/>
                  </a:lnTo>
                  <a:lnTo>
                    <a:pt x="38419" y="42303"/>
                  </a:lnTo>
                  <a:lnTo>
                    <a:pt x="25920" y="30733"/>
                  </a:lnTo>
                  <a:close/>
                </a:path>
                <a:path w="3074035" h="725170">
                  <a:moveTo>
                    <a:pt x="38419" y="42303"/>
                  </a:moveTo>
                  <a:lnTo>
                    <a:pt x="22212" y="47497"/>
                  </a:lnTo>
                  <a:lnTo>
                    <a:pt x="44030" y="47497"/>
                  </a:lnTo>
                  <a:lnTo>
                    <a:pt x="38419" y="42303"/>
                  </a:lnTo>
                  <a:close/>
                </a:path>
                <a:path w="3074035" h="725170">
                  <a:moveTo>
                    <a:pt x="32208" y="30733"/>
                  </a:moveTo>
                  <a:lnTo>
                    <a:pt x="25920" y="30733"/>
                  </a:lnTo>
                  <a:lnTo>
                    <a:pt x="38419" y="42303"/>
                  </a:lnTo>
                  <a:lnTo>
                    <a:pt x="57207" y="36282"/>
                  </a:lnTo>
                  <a:lnTo>
                    <a:pt x="32208" y="30733"/>
                  </a:lnTo>
                  <a:close/>
                </a:path>
                <a:path w="3074035" h="725170">
                  <a:moveTo>
                    <a:pt x="82049" y="28320"/>
                  </a:moveTo>
                  <a:lnTo>
                    <a:pt x="21336" y="28320"/>
                  </a:lnTo>
                  <a:lnTo>
                    <a:pt x="57207" y="36282"/>
                  </a:lnTo>
                  <a:lnTo>
                    <a:pt x="82049" y="2832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983742" y="2763392"/>
              <a:ext cx="2308860" cy="10160"/>
            </a:xfrm>
            <a:custGeom>
              <a:avLst/>
              <a:gdLst/>
              <a:ahLst/>
              <a:cxnLst/>
              <a:rect l="l" t="t" r="r" b="b"/>
              <a:pathLst>
                <a:path w="2308860" h="10160">
                  <a:moveTo>
                    <a:pt x="0" y="0"/>
                  </a:moveTo>
                  <a:lnTo>
                    <a:pt x="2308479" y="0"/>
                  </a:lnTo>
                </a:path>
                <a:path w="2308860" h="10160">
                  <a:moveTo>
                    <a:pt x="0" y="9905"/>
                  </a:moveTo>
                  <a:lnTo>
                    <a:pt x="2308479" y="9905"/>
                  </a:lnTo>
                </a:path>
              </a:pathLst>
            </a:custGeom>
            <a:ln w="9905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1067562" y="2292857"/>
              <a:ext cx="135890" cy="475615"/>
            </a:xfrm>
            <a:custGeom>
              <a:avLst/>
              <a:gdLst/>
              <a:ahLst/>
              <a:cxnLst/>
              <a:rect l="l" t="t" r="r" b="b"/>
              <a:pathLst>
                <a:path w="135890" h="475614">
                  <a:moveTo>
                    <a:pt x="135636" y="0"/>
                  </a:moveTo>
                  <a:lnTo>
                    <a:pt x="0" y="0"/>
                  </a:lnTo>
                  <a:lnTo>
                    <a:pt x="0" y="475488"/>
                  </a:lnTo>
                  <a:lnTo>
                    <a:pt x="135636" y="475488"/>
                  </a:lnTo>
                  <a:lnTo>
                    <a:pt x="135636" y="0"/>
                  </a:lnTo>
                  <a:close/>
                </a:path>
              </a:pathLst>
            </a:custGeom>
            <a:solidFill>
              <a:srgbClr val="BCD6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1067562" y="2292857"/>
              <a:ext cx="135890" cy="475615"/>
            </a:xfrm>
            <a:custGeom>
              <a:avLst/>
              <a:gdLst/>
              <a:ahLst/>
              <a:cxnLst/>
              <a:rect l="l" t="t" r="r" b="b"/>
              <a:pathLst>
                <a:path w="135890" h="475614">
                  <a:moveTo>
                    <a:pt x="0" y="475488"/>
                  </a:moveTo>
                  <a:lnTo>
                    <a:pt x="135636" y="475488"/>
                  </a:lnTo>
                  <a:lnTo>
                    <a:pt x="135636" y="0"/>
                  </a:lnTo>
                  <a:lnTo>
                    <a:pt x="0" y="0"/>
                  </a:lnTo>
                  <a:lnTo>
                    <a:pt x="0" y="475488"/>
                  </a:lnTo>
                  <a:close/>
                </a:path>
              </a:pathLst>
            </a:custGeom>
            <a:ln w="19812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1671066" y="2713481"/>
              <a:ext cx="137160" cy="45720"/>
            </a:xfrm>
            <a:custGeom>
              <a:avLst/>
              <a:gdLst/>
              <a:ahLst/>
              <a:cxnLst/>
              <a:rect l="l" t="t" r="r" b="b"/>
              <a:pathLst>
                <a:path w="137160" h="45719">
                  <a:moveTo>
                    <a:pt x="13716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137160" y="45720"/>
                  </a:lnTo>
                  <a:lnTo>
                    <a:pt x="137160" y="0"/>
                  </a:lnTo>
                  <a:close/>
                </a:path>
              </a:pathLst>
            </a:custGeom>
            <a:solidFill>
              <a:srgbClr val="BCD6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1671066" y="2713481"/>
              <a:ext cx="137160" cy="45720"/>
            </a:xfrm>
            <a:custGeom>
              <a:avLst/>
              <a:gdLst/>
              <a:ahLst/>
              <a:cxnLst/>
              <a:rect l="l" t="t" r="r" b="b"/>
              <a:pathLst>
                <a:path w="137160" h="45719">
                  <a:moveTo>
                    <a:pt x="0" y="45720"/>
                  </a:moveTo>
                  <a:lnTo>
                    <a:pt x="137160" y="45720"/>
                  </a:lnTo>
                  <a:lnTo>
                    <a:pt x="137160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9811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2274569" y="2713481"/>
              <a:ext cx="137160" cy="45720"/>
            </a:xfrm>
            <a:custGeom>
              <a:avLst/>
              <a:gdLst/>
              <a:ahLst/>
              <a:cxnLst/>
              <a:rect l="l" t="t" r="r" b="b"/>
              <a:pathLst>
                <a:path w="137160" h="45719">
                  <a:moveTo>
                    <a:pt x="13716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137160" y="45720"/>
                  </a:lnTo>
                  <a:lnTo>
                    <a:pt x="137160" y="0"/>
                  </a:lnTo>
                  <a:close/>
                </a:path>
              </a:pathLst>
            </a:custGeom>
            <a:solidFill>
              <a:srgbClr val="BCD6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2274569" y="2713481"/>
              <a:ext cx="137160" cy="45720"/>
            </a:xfrm>
            <a:custGeom>
              <a:avLst/>
              <a:gdLst/>
              <a:ahLst/>
              <a:cxnLst/>
              <a:rect l="l" t="t" r="r" b="b"/>
              <a:pathLst>
                <a:path w="137160" h="45719">
                  <a:moveTo>
                    <a:pt x="0" y="45720"/>
                  </a:moveTo>
                  <a:lnTo>
                    <a:pt x="137160" y="45720"/>
                  </a:lnTo>
                  <a:lnTo>
                    <a:pt x="137160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9811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2879597" y="2713481"/>
              <a:ext cx="135890" cy="45720"/>
            </a:xfrm>
            <a:custGeom>
              <a:avLst/>
              <a:gdLst/>
              <a:ahLst/>
              <a:cxnLst/>
              <a:rect l="l" t="t" r="r" b="b"/>
              <a:pathLst>
                <a:path w="135889" h="45719">
                  <a:moveTo>
                    <a:pt x="135636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135636" y="45720"/>
                  </a:lnTo>
                  <a:lnTo>
                    <a:pt x="135636" y="0"/>
                  </a:lnTo>
                  <a:close/>
                </a:path>
              </a:pathLst>
            </a:custGeom>
            <a:solidFill>
              <a:srgbClr val="BCD6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2879597" y="2713481"/>
              <a:ext cx="135890" cy="45720"/>
            </a:xfrm>
            <a:custGeom>
              <a:avLst/>
              <a:gdLst/>
              <a:ahLst/>
              <a:cxnLst/>
              <a:rect l="l" t="t" r="r" b="b"/>
              <a:pathLst>
                <a:path w="135889" h="45719">
                  <a:moveTo>
                    <a:pt x="0" y="45720"/>
                  </a:moveTo>
                  <a:lnTo>
                    <a:pt x="135636" y="45720"/>
                  </a:lnTo>
                  <a:lnTo>
                    <a:pt x="135636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9812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1079309" y="2759201"/>
              <a:ext cx="1924050" cy="762635"/>
            </a:xfrm>
            <a:custGeom>
              <a:avLst/>
              <a:gdLst/>
              <a:ahLst/>
              <a:cxnLst/>
              <a:rect l="l" t="t" r="r" b="b"/>
              <a:pathLst>
                <a:path w="1924050" h="762635">
                  <a:moveTo>
                    <a:pt x="111518" y="104902"/>
                  </a:moveTo>
                  <a:lnTo>
                    <a:pt x="108775" y="100076"/>
                  </a:lnTo>
                  <a:lnTo>
                    <a:pt x="67386" y="28702"/>
                  </a:lnTo>
                  <a:lnTo>
                    <a:pt x="56045" y="9144"/>
                  </a:lnTo>
                  <a:lnTo>
                    <a:pt x="0" y="104521"/>
                  </a:lnTo>
                  <a:lnTo>
                    <a:pt x="1574" y="110617"/>
                  </a:lnTo>
                  <a:lnTo>
                    <a:pt x="6286" y="113411"/>
                  </a:lnTo>
                  <a:lnTo>
                    <a:pt x="11010" y="116078"/>
                  </a:lnTo>
                  <a:lnTo>
                    <a:pt x="17081" y="114554"/>
                  </a:lnTo>
                  <a:lnTo>
                    <a:pt x="45897" y="65481"/>
                  </a:lnTo>
                  <a:lnTo>
                    <a:pt x="46024" y="48450"/>
                  </a:lnTo>
                  <a:lnTo>
                    <a:pt x="45974" y="65366"/>
                  </a:lnTo>
                  <a:lnTo>
                    <a:pt x="43878" y="761873"/>
                  </a:lnTo>
                  <a:lnTo>
                    <a:pt x="63690" y="762000"/>
                  </a:lnTo>
                  <a:lnTo>
                    <a:pt x="65684" y="100076"/>
                  </a:lnTo>
                  <a:lnTo>
                    <a:pt x="65709" y="65366"/>
                  </a:lnTo>
                  <a:lnTo>
                    <a:pt x="94373" y="114808"/>
                  </a:lnTo>
                  <a:lnTo>
                    <a:pt x="100444" y="116459"/>
                  </a:lnTo>
                  <a:lnTo>
                    <a:pt x="109905" y="110871"/>
                  </a:lnTo>
                  <a:lnTo>
                    <a:pt x="111518" y="104902"/>
                  </a:lnTo>
                  <a:close/>
                </a:path>
                <a:path w="1924050" h="762635">
                  <a:moveTo>
                    <a:pt x="716089" y="95631"/>
                  </a:moveTo>
                  <a:lnTo>
                    <a:pt x="713295" y="90932"/>
                  </a:lnTo>
                  <a:lnTo>
                    <a:pt x="671817" y="19558"/>
                  </a:lnTo>
                  <a:lnTo>
                    <a:pt x="660463" y="0"/>
                  </a:lnTo>
                  <a:lnTo>
                    <a:pt x="607250" y="90678"/>
                  </a:lnTo>
                  <a:lnTo>
                    <a:pt x="604583" y="95377"/>
                  </a:lnTo>
                  <a:lnTo>
                    <a:pt x="606107" y="101473"/>
                  </a:lnTo>
                  <a:lnTo>
                    <a:pt x="615505" y="107061"/>
                  </a:lnTo>
                  <a:lnTo>
                    <a:pt x="621601" y="105410"/>
                  </a:lnTo>
                  <a:lnTo>
                    <a:pt x="624395" y="100711"/>
                  </a:lnTo>
                  <a:lnTo>
                    <a:pt x="650443" y="56261"/>
                  </a:lnTo>
                  <a:lnTo>
                    <a:pt x="650557" y="19558"/>
                  </a:lnTo>
                  <a:lnTo>
                    <a:pt x="650468" y="56210"/>
                  </a:lnTo>
                  <a:lnTo>
                    <a:pt x="648906" y="762000"/>
                  </a:lnTo>
                  <a:lnTo>
                    <a:pt x="668718" y="762127"/>
                  </a:lnTo>
                  <a:lnTo>
                    <a:pt x="670166" y="107188"/>
                  </a:lnTo>
                  <a:lnTo>
                    <a:pt x="670242" y="56222"/>
                  </a:lnTo>
                  <a:lnTo>
                    <a:pt x="698944" y="105664"/>
                  </a:lnTo>
                  <a:lnTo>
                    <a:pt x="705040" y="107188"/>
                  </a:lnTo>
                  <a:lnTo>
                    <a:pt x="709739" y="104521"/>
                  </a:lnTo>
                  <a:lnTo>
                    <a:pt x="714438" y="101727"/>
                  </a:lnTo>
                  <a:lnTo>
                    <a:pt x="716089" y="95631"/>
                  </a:lnTo>
                  <a:close/>
                </a:path>
                <a:path w="1924050" h="762635">
                  <a:moveTo>
                    <a:pt x="1319085" y="95631"/>
                  </a:moveTo>
                  <a:lnTo>
                    <a:pt x="1316215" y="90805"/>
                  </a:lnTo>
                  <a:lnTo>
                    <a:pt x="1274813" y="19558"/>
                  </a:lnTo>
                  <a:lnTo>
                    <a:pt x="1263459" y="0"/>
                  </a:lnTo>
                  <a:lnTo>
                    <a:pt x="1210297" y="90932"/>
                  </a:lnTo>
                  <a:lnTo>
                    <a:pt x="1207579" y="95504"/>
                  </a:lnTo>
                  <a:lnTo>
                    <a:pt x="1209103" y="101473"/>
                  </a:lnTo>
                  <a:lnTo>
                    <a:pt x="1213802" y="104267"/>
                  </a:lnTo>
                  <a:lnTo>
                    <a:pt x="1218628" y="107061"/>
                  </a:lnTo>
                  <a:lnTo>
                    <a:pt x="1224597" y="105410"/>
                  </a:lnTo>
                  <a:lnTo>
                    <a:pt x="1227391" y="100711"/>
                  </a:lnTo>
                  <a:lnTo>
                    <a:pt x="1253490" y="56172"/>
                  </a:lnTo>
                  <a:lnTo>
                    <a:pt x="1252410" y="762000"/>
                  </a:lnTo>
                  <a:lnTo>
                    <a:pt x="1272222" y="762127"/>
                  </a:lnTo>
                  <a:lnTo>
                    <a:pt x="1273302" y="56426"/>
                  </a:lnTo>
                  <a:lnTo>
                    <a:pt x="1299146" y="100838"/>
                  </a:lnTo>
                  <a:lnTo>
                    <a:pt x="1301940" y="105537"/>
                  </a:lnTo>
                  <a:lnTo>
                    <a:pt x="1308036" y="107188"/>
                  </a:lnTo>
                  <a:lnTo>
                    <a:pt x="1312735" y="104394"/>
                  </a:lnTo>
                  <a:lnTo>
                    <a:pt x="1317434" y="101727"/>
                  </a:lnTo>
                  <a:lnTo>
                    <a:pt x="1319085" y="95631"/>
                  </a:lnTo>
                  <a:close/>
                </a:path>
                <a:path w="1924050" h="762635">
                  <a:moveTo>
                    <a:pt x="1923605" y="95631"/>
                  </a:moveTo>
                  <a:lnTo>
                    <a:pt x="1879358" y="19558"/>
                  </a:lnTo>
                  <a:lnTo>
                    <a:pt x="1867979" y="0"/>
                  </a:lnTo>
                  <a:lnTo>
                    <a:pt x="1814893" y="90805"/>
                  </a:lnTo>
                  <a:lnTo>
                    <a:pt x="1812099" y="95504"/>
                  </a:lnTo>
                  <a:lnTo>
                    <a:pt x="1813750" y="101600"/>
                  </a:lnTo>
                  <a:lnTo>
                    <a:pt x="1818449" y="104394"/>
                  </a:lnTo>
                  <a:lnTo>
                    <a:pt x="1823148" y="107061"/>
                  </a:lnTo>
                  <a:lnTo>
                    <a:pt x="1829244" y="105537"/>
                  </a:lnTo>
                  <a:lnTo>
                    <a:pt x="1831911" y="100838"/>
                  </a:lnTo>
                  <a:lnTo>
                    <a:pt x="1858035" y="56172"/>
                  </a:lnTo>
                  <a:lnTo>
                    <a:pt x="1857438" y="762000"/>
                  </a:lnTo>
                  <a:lnTo>
                    <a:pt x="1877250" y="762127"/>
                  </a:lnTo>
                  <a:lnTo>
                    <a:pt x="1877809" y="107188"/>
                  </a:lnTo>
                  <a:lnTo>
                    <a:pt x="1877733" y="56184"/>
                  </a:lnTo>
                  <a:lnTo>
                    <a:pt x="1877847" y="56375"/>
                  </a:lnTo>
                  <a:lnTo>
                    <a:pt x="1903793" y="100838"/>
                  </a:lnTo>
                  <a:lnTo>
                    <a:pt x="1906460" y="105537"/>
                  </a:lnTo>
                  <a:lnTo>
                    <a:pt x="1912556" y="107188"/>
                  </a:lnTo>
                  <a:lnTo>
                    <a:pt x="1917255" y="104394"/>
                  </a:lnTo>
                  <a:lnTo>
                    <a:pt x="1922081" y="101600"/>
                  </a:lnTo>
                  <a:lnTo>
                    <a:pt x="1923605" y="95631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571194" y="3918739"/>
            <a:ext cx="507831" cy="78613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Encoder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RNN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141981" y="3929387"/>
            <a:ext cx="187960" cy="780415"/>
          </a:xfrm>
          <a:custGeom>
            <a:avLst/>
            <a:gdLst/>
            <a:ahLst/>
            <a:cxnLst/>
            <a:rect l="l" t="t" r="r" b="b"/>
            <a:pathLst>
              <a:path w="187959" h="780414">
                <a:moveTo>
                  <a:pt x="187452" y="780288"/>
                </a:moveTo>
                <a:lnTo>
                  <a:pt x="150968" y="774515"/>
                </a:lnTo>
                <a:lnTo>
                  <a:pt x="121177" y="758777"/>
                </a:lnTo>
                <a:lnTo>
                  <a:pt x="101091" y="735443"/>
                </a:lnTo>
                <a:lnTo>
                  <a:pt x="93726" y="706882"/>
                </a:lnTo>
                <a:lnTo>
                  <a:pt x="93726" y="463550"/>
                </a:lnTo>
                <a:lnTo>
                  <a:pt x="86360" y="434988"/>
                </a:lnTo>
                <a:lnTo>
                  <a:pt x="66274" y="411654"/>
                </a:lnTo>
                <a:lnTo>
                  <a:pt x="36483" y="395916"/>
                </a:lnTo>
                <a:lnTo>
                  <a:pt x="0" y="390144"/>
                </a:lnTo>
                <a:lnTo>
                  <a:pt x="36483" y="384371"/>
                </a:lnTo>
                <a:lnTo>
                  <a:pt x="66274" y="368633"/>
                </a:lnTo>
                <a:lnTo>
                  <a:pt x="86360" y="345299"/>
                </a:lnTo>
                <a:lnTo>
                  <a:pt x="93726" y="316738"/>
                </a:lnTo>
                <a:lnTo>
                  <a:pt x="93726" y="73406"/>
                </a:lnTo>
                <a:lnTo>
                  <a:pt x="101091" y="44844"/>
                </a:lnTo>
                <a:lnTo>
                  <a:pt x="121177" y="21510"/>
                </a:lnTo>
                <a:lnTo>
                  <a:pt x="150968" y="5772"/>
                </a:lnTo>
                <a:lnTo>
                  <a:pt x="187452" y="0"/>
                </a:lnTo>
              </a:path>
            </a:pathLst>
          </a:custGeom>
          <a:ln w="1981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389626" y="5341168"/>
            <a:ext cx="72263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&lt;</a:t>
            </a:r>
            <a:r>
              <a:rPr kumimoji="0" sz="1600" b="0" i="1" u="none" strike="noStrike" kern="120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</a:t>
            </a:r>
            <a:r>
              <a:rPr kumimoji="0" sz="1600" b="0" i="1" u="none" strike="noStrike" kern="1200" cap="none" spc="-1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</a:t>
            </a:r>
            <a:r>
              <a:rPr kumimoji="0" sz="16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</a:t>
            </a:r>
            <a:r>
              <a:rPr kumimoji="0" sz="1600" b="0" i="1" u="none" strike="noStrike" kern="120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R</a:t>
            </a:r>
            <a:r>
              <a:rPr kumimoji="0" sz="1600" b="0" i="1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T&gt;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0136885" y="3952246"/>
            <a:ext cx="189230" cy="779145"/>
          </a:xfrm>
          <a:custGeom>
            <a:avLst/>
            <a:gdLst/>
            <a:ahLst/>
            <a:cxnLst/>
            <a:rect l="l" t="t" r="r" b="b"/>
            <a:pathLst>
              <a:path w="189229" h="779145">
                <a:moveTo>
                  <a:pt x="0" y="0"/>
                </a:moveTo>
                <a:lnTo>
                  <a:pt x="36784" y="5816"/>
                </a:lnTo>
                <a:lnTo>
                  <a:pt x="66817" y="21669"/>
                </a:lnTo>
                <a:lnTo>
                  <a:pt x="87064" y="45166"/>
                </a:lnTo>
                <a:lnTo>
                  <a:pt x="94488" y="73913"/>
                </a:lnTo>
                <a:lnTo>
                  <a:pt x="94488" y="315468"/>
                </a:lnTo>
                <a:lnTo>
                  <a:pt x="101911" y="344215"/>
                </a:lnTo>
                <a:lnTo>
                  <a:pt x="122158" y="367712"/>
                </a:lnTo>
                <a:lnTo>
                  <a:pt x="152191" y="383565"/>
                </a:lnTo>
                <a:lnTo>
                  <a:pt x="188975" y="389381"/>
                </a:lnTo>
                <a:lnTo>
                  <a:pt x="152191" y="395198"/>
                </a:lnTo>
                <a:lnTo>
                  <a:pt x="122158" y="411051"/>
                </a:lnTo>
                <a:lnTo>
                  <a:pt x="101911" y="434548"/>
                </a:lnTo>
                <a:lnTo>
                  <a:pt x="94488" y="463295"/>
                </a:lnTo>
                <a:lnTo>
                  <a:pt x="94488" y="704850"/>
                </a:lnTo>
                <a:lnTo>
                  <a:pt x="87064" y="733597"/>
                </a:lnTo>
                <a:lnTo>
                  <a:pt x="66817" y="757094"/>
                </a:lnTo>
                <a:lnTo>
                  <a:pt x="36784" y="772947"/>
                </a:lnTo>
                <a:lnTo>
                  <a:pt x="0" y="778763"/>
                </a:lnTo>
              </a:path>
            </a:pathLst>
          </a:custGeom>
          <a:ln w="19812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571194" y="2794069"/>
            <a:ext cx="507831" cy="899794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Attention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scores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2137409" y="2902210"/>
            <a:ext cx="189230" cy="624840"/>
          </a:xfrm>
          <a:custGeom>
            <a:avLst/>
            <a:gdLst/>
            <a:ahLst/>
            <a:cxnLst/>
            <a:rect l="l" t="t" r="r" b="b"/>
            <a:pathLst>
              <a:path w="189229" h="624839">
                <a:moveTo>
                  <a:pt x="188976" y="624839"/>
                </a:moveTo>
                <a:lnTo>
                  <a:pt x="152196" y="619023"/>
                </a:lnTo>
                <a:lnTo>
                  <a:pt x="122162" y="603170"/>
                </a:lnTo>
                <a:lnTo>
                  <a:pt x="101913" y="579673"/>
                </a:lnTo>
                <a:lnTo>
                  <a:pt x="94488" y="550926"/>
                </a:lnTo>
                <a:lnTo>
                  <a:pt x="94488" y="386334"/>
                </a:lnTo>
                <a:lnTo>
                  <a:pt x="87062" y="357586"/>
                </a:lnTo>
                <a:lnTo>
                  <a:pt x="66813" y="334089"/>
                </a:lnTo>
                <a:lnTo>
                  <a:pt x="36779" y="318236"/>
                </a:lnTo>
                <a:lnTo>
                  <a:pt x="0" y="312420"/>
                </a:lnTo>
                <a:lnTo>
                  <a:pt x="36779" y="306603"/>
                </a:lnTo>
                <a:lnTo>
                  <a:pt x="66813" y="290750"/>
                </a:lnTo>
                <a:lnTo>
                  <a:pt x="87062" y="267253"/>
                </a:lnTo>
                <a:lnTo>
                  <a:pt x="94488" y="238506"/>
                </a:lnTo>
                <a:lnTo>
                  <a:pt x="94488" y="73913"/>
                </a:lnTo>
                <a:lnTo>
                  <a:pt x="101913" y="45166"/>
                </a:lnTo>
                <a:lnTo>
                  <a:pt x="122162" y="21669"/>
                </a:lnTo>
                <a:lnTo>
                  <a:pt x="152196" y="5816"/>
                </a:lnTo>
                <a:lnTo>
                  <a:pt x="188976" y="0"/>
                </a:lnTo>
              </a:path>
            </a:pathLst>
          </a:custGeom>
          <a:ln w="19812">
            <a:solidFill>
              <a:srgbClr val="3986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734930" y="1330805"/>
            <a:ext cx="4867894" cy="583492"/>
          </a:xfrm>
          <a:prstGeom prst="rect">
            <a:avLst/>
          </a:prstGeom>
          <a:ln w="28955">
            <a:solidFill>
              <a:srgbClr val="C00000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90170" marR="325755" lvl="0" indent="0" algn="ctr" defTabSz="914400" rtl="0" eaLnBrk="1" fontAlgn="auto" latinLnBrk="0" hangingPunct="1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On this</a:t>
            </a:r>
            <a:r>
              <a:rPr kumimoji="0" sz="18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decoder</a:t>
            </a:r>
            <a:r>
              <a:rPr kumimoji="0" sz="18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timestep,</a:t>
            </a:r>
            <a:r>
              <a:rPr kumimoji="0" sz="18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we</a:t>
            </a:r>
            <a:r>
              <a:rPr kumimoji="0" lang="en-US" sz="18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a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re </a:t>
            </a:r>
            <a:r>
              <a:rPr kumimoji="0" sz="1800" b="0" i="0" u="none" strike="noStrike" kern="1200" cap="none" spc="-39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mostly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focusing</a:t>
            </a:r>
            <a:r>
              <a:rPr kumimoji="0" sz="1800" b="0" i="0" u="none" strike="noStrike" kern="120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on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the</a:t>
            </a:r>
            <a:r>
              <a:rPr kumimoji="0" sz="1800" b="0" i="0" u="none" strike="noStrike" kern="120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first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encoder hidden</a:t>
            </a:r>
            <a:r>
              <a:rPr kumimoji="0" sz="18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state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2783586" y="1602799"/>
            <a:ext cx="958850" cy="483234"/>
          </a:xfrm>
          <a:custGeom>
            <a:avLst/>
            <a:gdLst/>
            <a:ahLst/>
            <a:cxnLst/>
            <a:rect l="l" t="t" r="r" b="b"/>
            <a:pathLst>
              <a:path w="958850" h="483235">
                <a:moveTo>
                  <a:pt x="58673" y="405129"/>
                </a:moveTo>
                <a:lnTo>
                  <a:pt x="0" y="482473"/>
                </a:lnTo>
                <a:lnTo>
                  <a:pt x="97154" y="482980"/>
                </a:lnTo>
                <a:lnTo>
                  <a:pt x="87487" y="463423"/>
                </a:lnTo>
                <a:lnTo>
                  <a:pt x="71373" y="463423"/>
                </a:lnTo>
                <a:lnTo>
                  <a:pt x="58546" y="437514"/>
                </a:lnTo>
                <a:lnTo>
                  <a:pt x="71519" y="431118"/>
                </a:lnTo>
                <a:lnTo>
                  <a:pt x="58673" y="405129"/>
                </a:lnTo>
                <a:close/>
              </a:path>
              <a:path w="958850" h="483235">
                <a:moveTo>
                  <a:pt x="71519" y="431118"/>
                </a:moveTo>
                <a:lnTo>
                  <a:pt x="58546" y="437514"/>
                </a:lnTo>
                <a:lnTo>
                  <a:pt x="71373" y="463423"/>
                </a:lnTo>
                <a:lnTo>
                  <a:pt x="84330" y="457034"/>
                </a:lnTo>
                <a:lnTo>
                  <a:pt x="71519" y="431118"/>
                </a:lnTo>
                <a:close/>
              </a:path>
              <a:path w="958850" h="483235">
                <a:moveTo>
                  <a:pt x="84330" y="457034"/>
                </a:moveTo>
                <a:lnTo>
                  <a:pt x="71373" y="463423"/>
                </a:lnTo>
                <a:lnTo>
                  <a:pt x="87487" y="463423"/>
                </a:lnTo>
                <a:lnTo>
                  <a:pt x="84330" y="457034"/>
                </a:lnTo>
                <a:close/>
              </a:path>
              <a:path w="958850" h="483235">
                <a:moveTo>
                  <a:pt x="945895" y="0"/>
                </a:moveTo>
                <a:lnTo>
                  <a:pt x="71519" y="431118"/>
                </a:lnTo>
                <a:lnTo>
                  <a:pt x="84330" y="457034"/>
                </a:lnTo>
                <a:lnTo>
                  <a:pt x="958722" y="25908"/>
                </a:lnTo>
                <a:lnTo>
                  <a:pt x="945895" y="0"/>
                </a:lnTo>
                <a:close/>
              </a:path>
            </a:pathLst>
          </a:custGeom>
          <a:solidFill>
            <a:srgbClr val="BA56BD"/>
          </a:solidFill>
          <a:ln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571194" y="1532227"/>
            <a:ext cx="507831" cy="110109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13030" marR="0" lvl="0" indent="0" algn="l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Attention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distribution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2149601" y="1769877"/>
            <a:ext cx="189230" cy="624840"/>
          </a:xfrm>
          <a:custGeom>
            <a:avLst/>
            <a:gdLst/>
            <a:ahLst/>
            <a:cxnLst/>
            <a:rect l="l" t="t" r="r" b="b"/>
            <a:pathLst>
              <a:path w="189230" h="624839">
                <a:moveTo>
                  <a:pt x="188976" y="624840"/>
                </a:moveTo>
                <a:lnTo>
                  <a:pt x="152196" y="619023"/>
                </a:lnTo>
                <a:lnTo>
                  <a:pt x="122162" y="603170"/>
                </a:lnTo>
                <a:lnTo>
                  <a:pt x="101913" y="579673"/>
                </a:lnTo>
                <a:lnTo>
                  <a:pt x="94488" y="550926"/>
                </a:lnTo>
                <a:lnTo>
                  <a:pt x="94488" y="386334"/>
                </a:lnTo>
                <a:lnTo>
                  <a:pt x="87062" y="357586"/>
                </a:lnTo>
                <a:lnTo>
                  <a:pt x="66813" y="334089"/>
                </a:lnTo>
                <a:lnTo>
                  <a:pt x="36779" y="318236"/>
                </a:lnTo>
                <a:lnTo>
                  <a:pt x="0" y="312420"/>
                </a:lnTo>
                <a:lnTo>
                  <a:pt x="36779" y="306603"/>
                </a:lnTo>
                <a:lnTo>
                  <a:pt x="66813" y="290750"/>
                </a:lnTo>
                <a:lnTo>
                  <a:pt x="87062" y="267253"/>
                </a:lnTo>
                <a:lnTo>
                  <a:pt x="94488" y="238506"/>
                </a:lnTo>
                <a:lnTo>
                  <a:pt x="94488" y="73914"/>
                </a:lnTo>
                <a:lnTo>
                  <a:pt x="101913" y="45166"/>
                </a:lnTo>
                <a:lnTo>
                  <a:pt x="122162" y="21669"/>
                </a:lnTo>
                <a:lnTo>
                  <a:pt x="152196" y="5816"/>
                </a:lnTo>
                <a:lnTo>
                  <a:pt x="188976" y="0"/>
                </a:lnTo>
              </a:path>
            </a:pathLst>
          </a:custGeom>
          <a:ln w="19812">
            <a:solidFill>
              <a:srgbClr val="3986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720334" y="2385573"/>
            <a:ext cx="3145790" cy="585416"/>
          </a:xfrm>
          <a:prstGeom prst="rect">
            <a:avLst/>
          </a:prstGeom>
          <a:ln w="28955">
            <a:solidFill>
              <a:srgbClr val="C00000"/>
            </a:solidFill>
          </a:ln>
        </p:spPr>
        <p:txBody>
          <a:bodyPr vert="horz" wrap="square" lIns="0" tIns="31114" rIns="0" bIns="0" rtlCol="0">
            <a:spAutoFit/>
          </a:bodyPr>
          <a:lstStyle/>
          <a:p>
            <a:pPr marL="215900" marR="113030" lvl="0" indent="-96520" algn="l" defTabSz="914400" rtl="0" eaLnBrk="1" fontAlgn="auto" latinLnBrk="0" hangingPunct="1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Take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softmax</a:t>
            </a:r>
            <a:r>
              <a:rPr kumimoji="0" sz="1800" b="0" i="0" u="none" strike="noStrike" kern="120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to</a:t>
            </a: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turn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the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scores </a:t>
            </a:r>
            <a:r>
              <a:rPr kumimoji="0" sz="1800" b="0" i="0" u="none" strike="noStrike" kern="1200" cap="none" spc="-39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into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probability</a:t>
            </a:r>
            <a:r>
              <a:rPr kumimoji="0" sz="18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distribution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4949190" y="2666118"/>
            <a:ext cx="772160" cy="86995"/>
          </a:xfrm>
          <a:custGeom>
            <a:avLst/>
            <a:gdLst/>
            <a:ahLst/>
            <a:cxnLst/>
            <a:rect l="l" t="t" r="r" b="b"/>
            <a:pathLst>
              <a:path w="772160" h="86994">
                <a:moveTo>
                  <a:pt x="86868" y="0"/>
                </a:moveTo>
                <a:lnTo>
                  <a:pt x="0" y="43560"/>
                </a:lnTo>
                <a:lnTo>
                  <a:pt x="86868" y="86867"/>
                </a:lnTo>
                <a:lnTo>
                  <a:pt x="86868" y="57912"/>
                </a:lnTo>
                <a:lnTo>
                  <a:pt x="72389" y="57912"/>
                </a:lnTo>
                <a:lnTo>
                  <a:pt x="72389" y="28955"/>
                </a:lnTo>
                <a:lnTo>
                  <a:pt x="86868" y="28937"/>
                </a:lnTo>
                <a:lnTo>
                  <a:pt x="86868" y="0"/>
                </a:lnTo>
                <a:close/>
              </a:path>
              <a:path w="772160" h="86994">
                <a:moveTo>
                  <a:pt x="86868" y="28937"/>
                </a:moveTo>
                <a:lnTo>
                  <a:pt x="72389" y="28955"/>
                </a:lnTo>
                <a:lnTo>
                  <a:pt x="72389" y="57912"/>
                </a:lnTo>
                <a:lnTo>
                  <a:pt x="86868" y="57893"/>
                </a:lnTo>
                <a:lnTo>
                  <a:pt x="86868" y="28937"/>
                </a:lnTo>
                <a:close/>
              </a:path>
              <a:path w="772160" h="86994">
                <a:moveTo>
                  <a:pt x="86868" y="57893"/>
                </a:moveTo>
                <a:lnTo>
                  <a:pt x="72389" y="57912"/>
                </a:lnTo>
                <a:lnTo>
                  <a:pt x="86868" y="57912"/>
                </a:lnTo>
                <a:close/>
              </a:path>
              <a:path w="772160" h="86994">
                <a:moveTo>
                  <a:pt x="772160" y="28066"/>
                </a:moveTo>
                <a:lnTo>
                  <a:pt x="86868" y="28937"/>
                </a:lnTo>
                <a:lnTo>
                  <a:pt x="86868" y="57893"/>
                </a:lnTo>
                <a:lnTo>
                  <a:pt x="772160" y="57022"/>
                </a:lnTo>
                <a:lnTo>
                  <a:pt x="772160" y="28066"/>
                </a:lnTo>
                <a:close/>
              </a:path>
            </a:pathLst>
          </a:custGeom>
          <a:solidFill>
            <a:srgbClr val="BA56BD"/>
          </a:solidFill>
          <a:ln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43" name="object 22">
            <a:extLst>
              <a:ext uri="{FF2B5EF4-FFF2-40B4-BE49-F238E27FC236}">
                <a16:creationId xmlns:a16="http://schemas.microsoft.com/office/drawing/2014/main" id="{BF56057B-7694-D0A5-292E-BF67EDA275A0}"/>
              </a:ext>
            </a:extLst>
          </p:cNvPr>
          <p:cNvSpPr txBox="1"/>
          <p:nvPr/>
        </p:nvSpPr>
        <p:spPr>
          <a:xfrm>
            <a:off x="10372554" y="3700406"/>
            <a:ext cx="467885" cy="128270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Decoder</a:t>
            </a:r>
            <a:r>
              <a:rPr kumimoji="0" sz="1800" b="0" i="0" u="none" strike="noStrike" kern="1200" cap="none" spc="-3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RNN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48" name="object 13">
            <a:extLst>
              <a:ext uri="{FF2B5EF4-FFF2-40B4-BE49-F238E27FC236}">
                <a16:creationId xmlns:a16="http://schemas.microsoft.com/office/drawing/2014/main" id="{662ED9C8-BD03-C78A-166E-2607CAF34819}"/>
              </a:ext>
            </a:extLst>
          </p:cNvPr>
          <p:cNvSpPr txBox="1"/>
          <p:nvPr/>
        </p:nvSpPr>
        <p:spPr>
          <a:xfrm>
            <a:off x="2433333" y="5954560"/>
            <a:ext cx="2230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Source sentence</a:t>
            </a:r>
            <a:r>
              <a:rPr kumimoji="0" sz="1800" b="0" i="0" u="none" strike="noStrike" kern="120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(input)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49" name="object 14">
            <a:extLst>
              <a:ext uri="{FF2B5EF4-FFF2-40B4-BE49-F238E27FC236}">
                <a16:creationId xmlns:a16="http://schemas.microsoft.com/office/drawing/2014/main" id="{ADCD3A94-91BA-7B30-641A-C886675642B0}"/>
              </a:ext>
            </a:extLst>
          </p:cNvPr>
          <p:cNvSpPr/>
          <p:nvPr/>
        </p:nvSpPr>
        <p:spPr>
          <a:xfrm>
            <a:off x="2357710" y="5780012"/>
            <a:ext cx="2343455" cy="197550"/>
          </a:xfrm>
          <a:custGeom>
            <a:avLst/>
            <a:gdLst/>
            <a:ahLst/>
            <a:cxnLst/>
            <a:rect l="l" t="t" r="r" b="b"/>
            <a:pathLst>
              <a:path w="2435860" h="271779">
                <a:moveTo>
                  <a:pt x="2435352" y="0"/>
                </a:moveTo>
                <a:lnTo>
                  <a:pt x="2427013" y="52804"/>
                </a:lnTo>
                <a:lnTo>
                  <a:pt x="2404268" y="95916"/>
                </a:lnTo>
                <a:lnTo>
                  <a:pt x="2370522" y="124979"/>
                </a:lnTo>
                <a:lnTo>
                  <a:pt x="2329180" y="135636"/>
                </a:lnTo>
                <a:lnTo>
                  <a:pt x="1323848" y="135636"/>
                </a:lnTo>
                <a:lnTo>
                  <a:pt x="1282505" y="146292"/>
                </a:lnTo>
                <a:lnTo>
                  <a:pt x="1248759" y="175355"/>
                </a:lnTo>
                <a:lnTo>
                  <a:pt x="1226014" y="218467"/>
                </a:lnTo>
                <a:lnTo>
                  <a:pt x="1217676" y="271272"/>
                </a:lnTo>
                <a:lnTo>
                  <a:pt x="1209337" y="218467"/>
                </a:lnTo>
                <a:lnTo>
                  <a:pt x="1186592" y="175355"/>
                </a:lnTo>
                <a:lnTo>
                  <a:pt x="1152846" y="146292"/>
                </a:lnTo>
                <a:lnTo>
                  <a:pt x="1111504" y="135636"/>
                </a:lnTo>
                <a:lnTo>
                  <a:pt x="106146" y="135636"/>
                </a:lnTo>
                <a:lnTo>
                  <a:pt x="64829" y="124979"/>
                </a:lnTo>
                <a:lnTo>
                  <a:pt x="31089" y="95916"/>
                </a:lnTo>
                <a:lnTo>
                  <a:pt x="8341" y="52804"/>
                </a:lnTo>
                <a:lnTo>
                  <a:pt x="0" y="0"/>
                </a:lnTo>
              </a:path>
            </a:pathLst>
          </a:custGeom>
          <a:ln w="198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50" name="object 21">
            <a:extLst>
              <a:ext uri="{FF2B5EF4-FFF2-40B4-BE49-F238E27FC236}">
                <a16:creationId xmlns:a16="http://schemas.microsoft.com/office/drawing/2014/main" id="{99D736EB-98DB-3614-6616-8B0189759B71}"/>
              </a:ext>
            </a:extLst>
          </p:cNvPr>
          <p:cNvSpPr txBox="1"/>
          <p:nvPr/>
        </p:nvSpPr>
        <p:spPr>
          <a:xfrm>
            <a:off x="2426336" y="5313638"/>
            <a:ext cx="40980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i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हम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51" name="object 22">
            <a:extLst>
              <a:ext uri="{FF2B5EF4-FFF2-40B4-BE49-F238E27FC236}">
                <a16:creationId xmlns:a16="http://schemas.microsoft.com/office/drawing/2014/main" id="{14D7B2B2-354B-A371-E1DE-E1FD80C83715}"/>
              </a:ext>
            </a:extLst>
          </p:cNvPr>
          <p:cNvSpPr txBox="1"/>
          <p:nvPr/>
        </p:nvSpPr>
        <p:spPr>
          <a:xfrm>
            <a:off x="3002623" y="5313638"/>
            <a:ext cx="53340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i-IN" sz="16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बाजार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52" name="object 21">
            <a:extLst>
              <a:ext uri="{FF2B5EF4-FFF2-40B4-BE49-F238E27FC236}">
                <a16:creationId xmlns:a16="http://schemas.microsoft.com/office/drawing/2014/main" id="{E392A53A-001A-ED69-E5B6-7A475439FE90}"/>
              </a:ext>
            </a:extLst>
          </p:cNvPr>
          <p:cNvSpPr txBox="1"/>
          <p:nvPr/>
        </p:nvSpPr>
        <p:spPr>
          <a:xfrm>
            <a:off x="3658511" y="5317123"/>
            <a:ext cx="40980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i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गये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53" name="object 21">
            <a:extLst>
              <a:ext uri="{FF2B5EF4-FFF2-40B4-BE49-F238E27FC236}">
                <a16:creationId xmlns:a16="http://schemas.microsoft.com/office/drawing/2014/main" id="{86D02FEE-CFD7-CBFE-909C-FF766F12FB32}"/>
              </a:ext>
            </a:extLst>
          </p:cNvPr>
          <p:cNvSpPr txBox="1"/>
          <p:nvPr/>
        </p:nvSpPr>
        <p:spPr>
          <a:xfrm>
            <a:off x="4268105" y="5310901"/>
            <a:ext cx="40980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i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थे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EAB2362-0054-E744-0366-71E08FAD6A4C}"/>
              </a:ext>
            </a:extLst>
          </p:cNvPr>
          <p:cNvSpPr txBox="1"/>
          <p:nvPr/>
        </p:nvSpPr>
        <p:spPr>
          <a:xfrm>
            <a:off x="2412364" y="5540067"/>
            <a:ext cx="2321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ham      baajaar     gaye         the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1325" y="46597"/>
            <a:ext cx="11307763" cy="629018"/>
          </a:xfrm>
          <a:prstGeom prst="rect">
            <a:avLst/>
          </a:prstGeom>
        </p:spPr>
        <p:txBody>
          <a:bodyPr vert="horz" wrap="square" lIns="0" tIns="1333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pc="-5" dirty="0"/>
              <a:t>Sequence-to-Sequence</a:t>
            </a:r>
            <a:r>
              <a:rPr lang="en-IN" spc="-40" dirty="0"/>
              <a:t> </a:t>
            </a:r>
            <a:r>
              <a:rPr lang="en-IN" spc="-5" dirty="0"/>
              <a:t>With</a:t>
            </a:r>
            <a:r>
              <a:rPr lang="en-IN" spc="15" dirty="0"/>
              <a:t> A</a:t>
            </a:r>
            <a:r>
              <a:rPr lang="en-IN" dirty="0"/>
              <a:t>ttention</a:t>
            </a:r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2502662" y="722130"/>
            <a:ext cx="3409315" cy="4597400"/>
            <a:chOff x="978661" y="1095755"/>
            <a:chExt cx="3409315" cy="45974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6799" y="4367784"/>
              <a:ext cx="126492" cy="13258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6799" y="4536947"/>
              <a:ext cx="126492" cy="13258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6799" y="4706111"/>
              <a:ext cx="126492" cy="13258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6799" y="4875276"/>
              <a:ext cx="126492" cy="13106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992885" y="4303013"/>
              <a:ext cx="266700" cy="780415"/>
            </a:xfrm>
            <a:custGeom>
              <a:avLst/>
              <a:gdLst/>
              <a:ahLst/>
              <a:cxnLst/>
              <a:rect l="l" t="t" r="r" b="b"/>
              <a:pathLst>
                <a:path w="266700" h="780414">
                  <a:moveTo>
                    <a:pt x="222250" y="0"/>
                  </a:moveTo>
                  <a:lnTo>
                    <a:pt x="239551" y="3498"/>
                  </a:lnTo>
                  <a:lnTo>
                    <a:pt x="253680" y="13033"/>
                  </a:lnTo>
                  <a:lnTo>
                    <a:pt x="263206" y="27164"/>
                  </a:lnTo>
                  <a:lnTo>
                    <a:pt x="266700" y="44450"/>
                  </a:lnTo>
                  <a:lnTo>
                    <a:pt x="266700" y="735838"/>
                  </a:lnTo>
                  <a:lnTo>
                    <a:pt x="263206" y="753123"/>
                  </a:lnTo>
                  <a:lnTo>
                    <a:pt x="253680" y="767254"/>
                  </a:lnTo>
                  <a:lnTo>
                    <a:pt x="239551" y="776789"/>
                  </a:lnTo>
                  <a:lnTo>
                    <a:pt x="222250" y="780288"/>
                  </a:lnTo>
                  <a:lnTo>
                    <a:pt x="44450" y="780288"/>
                  </a:lnTo>
                  <a:lnTo>
                    <a:pt x="27148" y="776789"/>
                  </a:lnTo>
                  <a:lnTo>
                    <a:pt x="13019" y="767254"/>
                  </a:lnTo>
                  <a:lnTo>
                    <a:pt x="3493" y="753123"/>
                  </a:lnTo>
                  <a:lnTo>
                    <a:pt x="0" y="735838"/>
                  </a:lnTo>
                  <a:lnTo>
                    <a:pt x="0" y="44450"/>
                  </a:lnTo>
                  <a:lnTo>
                    <a:pt x="3493" y="27164"/>
                  </a:lnTo>
                  <a:lnTo>
                    <a:pt x="13019" y="13033"/>
                  </a:lnTo>
                  <a:lnTo>
                    <a:pt x="27148" y="3498"/>
                  </a:lnTo>
                  <a:lnTo>
                    <a:pt x="44450" y="0"/>
                  </a:lnTo>
                  <a:lnTo>
                    <a:pt x="22225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71232" y="4637404"/>
              <a:ext cx="533400" cy="1056005"/>
            </a:xfrm>
            <a:custGeom>
              <a:avLst/>
              <a:gdLst/>
              <a:ahLst/>
              <a:cxnLst/>
              <a:rect l="l" t="t" r="r" b="b"/>
              <a:pathLst>
                <a:path w="533400" h="1056004">
                  <a:moveTo>
                    <a:pt x="111531" y="541401"/>
                  </a:moveTo>
                  <a:lnTo>
                    <a:pt x="67183" y="465455"/>
                  </a:lnTo>
                  <a:lnTo>
                    <a:pt x="55765" y="445897"/>
                  </a:lnTo>
                  <a:lnTo>
                    <a:pt x="0" y="541401"/>
                  </a:lnTo>
                  <a:lnTo>
                    <a:pt x="1600" y="547497"/>
                  </a:lnTo>
                  <a:lnTo>
                    <a:pt x="11049" y="553085"/>
                  </a:lnTo>
                  <a:lnTo>
                    <a:pt x="17119" y="551434"/>
                  </a:lnTo>
                  <a:lnTo>
                    <a:pt x="45859" y="502183"/>
                  </a:lnTo>
                  <a:lnTo>
                    <a:pt x="45859" y="1055497"/>
                  </a:lnTo>
                  <a:lnTo>
                    <a:pt x="65671" y="1055497"/>
                  </a:lnTo>
                  <a:lnTo>
                    <a:pt x="65671" y="502183"/>
                  </a:lnTo>
                  <a:lnTo>
                    <a:pt x="94411" y="551434"/>
                  </a:lnTo>
                  <a:lnTo>
                    <a:pt x="100482" y="553085"/>
                  </a:lnTo>
                  <a:lnTo>
                    <a:pt x="109931" y="547497"/>
                  </a:lnTo>
                  <a:lnTo>
                    <a:pt x="111531" y="541401"/>
                  </a:lnTo>
                  <a:close/>
                </a:path>
                <a:path w="533400" h="1056004">
                  <a:moveTo>
                    <a:pt x="533019" y="55765"/>
                  </a:moveTo>
                  <a:lnTo>
                    <a:pt x="516039" y="45847"/>
                  </a:lnTo>
                  <a:lnTo>
                    <a:pt x="442226" y="2794"/>
                  </a:lnTo>
                  <a:lnTo>
                    <a:pt x="437527" y="0"/>
                  </a:lnTo>
                  <a:lnTo>
                    <a:pt x="431431" y="1524"/>
                  </a:lnTo>
                  <a:lnTo>
                    <a:pt x="428637" y="6350"/>
                  </a:lnTo>
                  <a:lnTo>
                    <a:pt x="425970" y="11049"/>
                  </a:lnTo>
                  <a:lnTo>
                    <a:pt x="427494" y="17145"/>
                  </a:lnTo>
                  <a:lnTo>
                    <a:pt x="432193" y="19812"/>
                  </a:lnTo>
                  <a:lnTo>
                    <a:pt x="476796" y="45847"/>
                  </a:lnTo>
                  <a:lnTo>
                    <a:pt x="188353" y="45847"/>
                  </a:lnTo>
                  <a:lnTo>
                    <a:pt x="188353" y="65659"/>
                  </a:lnTo>
                  <a:lnTo>
                    <a:pt x="476821" y="65659"/>
                  </a:lnTo>
                  <a:lnTo>
                    <a:pt x="493801" y="55765"/>
                  </a:lnTo>
                  <a:lnTo>
                    <a:pt x="432193" y="91694"/>
                  </a:lnTo>
                  <a:lnTo>
                    <a:pt x="427494" y="94361"/>
                  </a:lnTo>
                  <a:lnTo>
                    <a:pt x="425970" y="100457"/>
                  </a:lnTo>
                  <a:lnTo>
                    <a:pt x="428637" y="105156"/>
                  </a:lnTo>
                  <a:lnTo>
                    <a:pt x="431431" y="109982"/>
                  </a:lnTo>
                  <a:lnTo>
                    <a:pt x="437527" y="111506"/>
                  </a:lnTo>
                  <a:lnTo>
                    <a:pt x="442226" y="108712"/>
                  </a:lnTo>
                  <a:lnTo>
                    <a:pt x="516039" y="65659"/>
                  </a:lnTo>
                  <a:lnTo>
                    <a:pt x="533019" y="55765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91055" y="4283963"/>
              <a:ext cx="2796539" cy="140284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077252" y="3627881"/>
              <a:ext cx="1924050" cy="675005"/>
            </a:xfrm>
            <a:custGeom>
              <a:avLst/>
              <a:gdLst/>
              <a:ahLst/>
              <a:cxnLst/>
              <a:rect l="l" t="t" r="r" b="b"/>
              <a:pathLst>
                <a:path w="1924050" h="675004">
                  <a:moveTo>
                    <a:pt x="111531" y="96139"/>
                  </a:moveTo>
                  <a:lnTo>
                    <a:pt x="108813" y="91313"/>
                  </a:lnTo>
                  <a:lnTo>
                    <a:pt x="67894" y="19558"/>
                  </a:lnTo>
                  <a:lnTo>
                    <a:pt x="56756" y="0"/>
                  </a:lnTo>
                  <a:lnTo>
                    <a:pt x="0" y="94996"/>
                  </a:lnTo>
                  <a:lnTo>
                    <a:pt x="1536" y="101092"/>
                  </a:lnTo>
                  <a:lnTo>
                    <a:pt x="10934" y="106680"/>
                  </a:lnTo>
                  <a:lnTo>
                    <a:pt x="17018" y="105156"/>
                  </a:lnTo>
                  <a:lnTo>
                    <a:pt x="46266" y="56146"/>
                  </a:lnTo>
                  <a:lnTo>
                    <a:pt x="39839" y="674751"/>
                  </a:lnTo>
                  <a:lnTo>
                    <a:pt x="59651" y="675005"/>
                  </a:lnTo>
                  <a:lnTo>
                    <a:pt x="66065" y="56375"/>
                  </a:lnTo>
                  <a:lnTo>
                    <a:pt x="91605" y="101219"/>
                  </a:lnTo>
                  <a:lnTo>
                    <a:pt x="94310" y="105918"/>
                  </a:lnTo>
                  <a:lnTo>
                    <a:pt x="100355" y="107569"/>
                  </a:lnTo>
                  <a:lnTo>
                    <a:pt x="105117" y="104902"/>
                  </a:lnTo>
                  <a:lnTo>
                    <a:pt x="109867" y="102108"/>
                  </a:lnTo>
                  <a:lnTo>
                    <a:pt x="111531" y="96139"/>
                  </a:lnTo>
                  <a:close/>
                </a:path>
                <a:path w="1924050" h="675004">
                  <a:moveTo>
                    <a:pt x="715225" y="95885"/>
                  </a:moveTo>
                  <a:lnTo>
                    <a:pt x="712558" y="91059"/>
                  </a:lnTo>
                  <a:lnTo>
                    <a:pt x="671372" y="19558"/>
                  </a:lnTo>
                  <a:lnTo>
                    <a:pt x="660107" y="0"/>
                  </a:lnTo>
                  <a:lnTo>
                    <a:pt x="603719" y="95250"/>
                  </a:lnTo>
                  <a:lnTo>
                    <a:pt x="605370" y="101346"/>
                  </a:lnTo>
                  <a:lnTo>
                    <a:pt x="614768" y="106934"/>
                  </a:lnTo>
                  <a:lnTo>
                    <a:pt x="620864" y="105283"/>
                  </a:lnTo>
                  <a:lnTo>
                    <a:pt x="623531" y="100584"/>
                  </a:lnTo>
                  <a:lnTo>
                    <a:pt x="649859" y="56108"/>
                  </a:lnTo>
                  <a:lnTo>
                    <a:pt x="646391" y="668909"/>
                  </a:lnTo>
                  <a:lnTo>
                    <a:pt x="666203" y="669036"/>
                  </a:lnTo>
                  <a:lnTo>
                    <a:pt x="669671" y="56324"/>
                  </a:lnTo>
                  <a:lnTo>
                    <a:pt x="695413" y="100965"/>
                  </a:lnTo>
                  <a:lnTo>
                    <a:pt x="698080" y="105791"/>
                  </a:lnTo>
                  <a:lnTo>
                    <a:pt x="704176" y="107315"/>
                  </a:lnTo>
                  <a:lnTo>
                    <a:pt x="708875" y="104648"/>
                  </a:lnTo>
                  <a:lnTo>
                    <a:pt x="713701" y="101854"/>
                  </a:lnTo>
                  <a:lnTo>
                    <a:pt x="715225" y="95885"/>
                  </a:lnTo>
                  <a:close/>
                </a:path>
                <a:path w="1924050" h="675004">
                  <a:moveTo>
                    <a:pt x="1319237" y="96647"/>
                  </a:moveTo>
                  <a:lnTo>
                    <a:pt x="1316570" y="91821"/>
                  </a:lnTo>
                  <a:lnTo>
                    <a:pt x="1276210" y="19431"/>
                  </a:lnTo>
                  <a:lnTo>
                    <a:pt x="1265389" y="0"/>
                  </a:lnTo>
                  <a:lnTo>
                    <a:pt x="1210525" y="89789"/>
                  </a:lnTo>
                  <a:lnTo>
                    <a:pt x="1207731" y="94488"/>
                  </a:lnTo>
                  <a:lnTo>
                    <a:pt x="1209255" y="100584"/>
                  </a:lnTo>
                  <a:lnTo>
                    <a:pt x="1213827" y="103378"/>
                  </a:lnTo>
                  <a:lnTo>
                    <a:pt x="1218526" y="106172"/>
                  </a:lnTo>
                  <a:lnTo>
                    <a:pt x="1224622" y="104775"/>
                  </a:lnTo>
                  <a:lnTo>
                    <a:pt x="1227543" y="100076"/>
                  </a:lnTo>
                  <a:lnTo>
                    <a:pt x="1254379" y="55994"/>
                  </a:lnTo>
                  <a:lnTo>
                    <a:pt x="1242275" y="668782"/>
                  </a:lnTo>
                  <a:lnTo>
                    <a:pt x="1262087" y="669163"/>
                  </a:lnTo>
                  <a:lnTo>
                    <a:pt x="1274191" y="56388"/>
                  </a:lnTo>
                  <a:lnTo>
                    <a:pt x="1299298" y="101473"/>
                  </a:lnTo>
                  <a:lnTo>
                    <a:pt x="1301965" y="106299"/>
                  </a:lnTo>
                  <a:lnTo>
                    <a:pt x="1307934" y="107950"/>
                  </a:lnTo>
                  <a:lnTo>
                    <a:pt x="1317586" y="102616"/>
                  </a:lnTo>
                  <a:lnTo>
                    <a:pt x="1319237" y="96647"/>
                  </a:lnTo>
                  <a:close/>
                </a:path>
                <a:path w="1924050" h="675004">
                  <a:moveTo>
                    <a:pt x="1923630" y="96139"/>
                  </a:moveTo>
                  <a:lnTo>
                    <a:pt x="1880019" y="19558"/>
                  </a:lnTo>
                  <a:lnTo>
                    <a:pt x="1868893" y="0"/>
                  </a:lnTo>
                  <a:lnTo>
                    <a:pt x="1812124" y="94996"/>
                  </a:lnTo>
                  <a:lnTo>
                    <a:pt x="1813648" y="101092"/>
                  </a:lnTo>
                  <a:lnTo>
                    <a:pt x="1823046" y="106680"/>
                  </a:lnTo>
                  <a:lnTo>
                    <a:pt x="1829142" y="105156"/>
                  </a:lnTo>
                  <a:lnTo>
                    <a:pt x="1858340" y="56184"/>
                  </a:lnTo>
                  <a:lnTo>
                    <a:pt x="1851875" y="665988"/>
                  </a:lnTo>
                  <a:lnTo>
                    <a:pt x="1871687" y="666242"/>
                  </a:lnTo>
                  <a:lnTo>
                    <a:pt x="1878152" y="56261"/>
                  </a:lnTo>
                  <a:lnTo>
                    <a:pt x="1903691" y="101219"/>
                  </a:lnTo>
                  <a:lnTo>
                    <a:pt x="1906485" y="105918"/>
                  </a:lnTo>
                  <a:lnTo>
                    <a:pt x="1912454" y="107569"/>
                  </a:lnTo>
                  <a:lnTo>
                    <a:pt x="1917280" y="104902"/>
                  </a:lnTo>
                  <a:lnTo>
                    <a:pt x="1921979" y="102235"/>
                  </a:lnTo>
                  <a:lnTo>
                    <a:pt x="1923630" y="96139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66799" y="3511295"/>
              <a:ext cx="132587" cy="12649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71827" y="3511295"/>
              <a:ext cx="132588" cy="12649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75331" y="3511295"/>
              <a:ext cx="132587" cy="12649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80360" y="3511295"/>
              <a:ext cx="132587" cy="126491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172667" y="3557282"/>
              <a:ext cx="3077210" cy="746760"/>
            </a:xfrm>
            <a:custGeom>
              <a:avLst/>
              <a:gdLst/>
              <a:ahLst/>
              <a:cxnLst/>
              <a:rect l="l" t="t" r="r" b="b"/>
              <a:pathLst>
                <a:path w="3077210" h="746760">
                  <a:moveTo>
                    <a:pt x="3077133" y="727951"/>
                  </a:moveTo>
                  <a:lnTo>
                    <a:pt x="1883956" y="36842"/>
                  </a:lnTo>
                  <a:lnTo>
                    <a:pt x="1941118" y="36690"/>
                  </a:lnTo>
                  <a:lnTo>
                    <a:pt x="1945436" y="32245"/>
                  </a:lnTo>
                  <a:lnTo>
                    <a:pt x="1945436" y="21323"/>
                  </a:lnTo>
                  <a:lnTo>
                    <a:pt x="1942642" y="18529"/>
                  </a:lnTo>
                  <a:lnTo>
                    <a:pt x="1940991" y="16878"/>
                  </a:lnTo>
                  <a:lnTo>
                    <a:pt x="1935530" y="16878"/>
                  </a:lnTo>
                  <a:lnTo>
                    <a:pt x="1830374" y="17259"/>
                  </a:lnTo>
                  <a:lnTo>
                    <a:pt x="1885111" y="113398"/>
                  </a:lnTo>
                  <a:lnTo>
                    <a:pt x="1891207" y="115049"/>
                  </a:lnTo>
                  <a:lnTo>
                    <a:pt x="1895906" y="112382"/>
                  </a:lnTo>
                  <a:lnTo>
                    <a:pt x="1900605" y="109588"/>
                  </a:lnTo>
                  <a:lnTo>
                    <a:pt x="1902383" y="103619"/>
                  </a:lnTo>
                  <a:lnTo>
                    <a:pt x="1899589" y="98793"/>
                  </a:lnTo>
                  <a:lnTo>
                    <a:pt x="1874012" y="53975"/>
                  </a:lnTo>
                  <a:lnTo>
                    <a:pt x="2957258" y="681405"/>
                  </a:lnTo>
                  <a:lnTo>
                    <a:pt x="1281417" y="28448"/>
                  </a:lnTo>
                  <a:lnTo>
                    <a:pt x="1337741" y="19545"/>
                  </a:lnTo>
                  <a:lnTo>
                    <a:pt x="1340954" y="15113"/>
                  </a:lnTo>
                  <a:lnTo>
                    <a:pt x="1341424" y="14465"/>
                  </a:lnTo>
                  <a:lnTo>
                    <a:pt x="1339646" y="3670"/>
                  </a:lnTo>
                  <a:lnTo>
                    <a:pt x="1334566" y="0"/>
                  </a:lnTo>
                  <a:lnTo>
                    <a:pt x="1225346" y="17259"/>
                  </a:lnTo>
                  <a:lnTo>
                    <a:pt x="1290751" y="99682"/>
                  </a:lnTo>
                  <a:lnTo>
                    <a:pt x="1294180" y="103873"/>
                  </a:lnTo>
                  <a:lnTo>
                    <a:pt x="1300403" y="104635"/>
                  </a:lnTo>
                  <a:lnTo>
                    <a:pt x="1304594" y="101206"/>
                  </a:lnTo>
                  <a:lnTo>
                    <a:pt x="1308912" y="97777"/>
                  </a:lnTo>
                  <a:lnTo>
                    <a:pt x="1309674" y="91554"/>
                  </a:lnTo>
                  <a:lnTo>
                    <a:pt x="1274216" y="47002"/>
                  </a:lnTo>
                  <a:lnTo>
                    <a:pt x="2889681" y="676325"/>
                  </a:lnTo>
                  <a:lnTo>
                    <a:pt x="661949" y="60833"/>
                  </a:lnTo>
                  <a:lnTo>
                    <a:pt x="698830" y="51041"/>
                  </a:lnTo>
                  <a:lnTo>
                    <a:pt x="717092" y="46215"/>
                  </a:lnTo>
                  <a:lnTo>
                    <a:pt x="720267" y="40754"/>
                  </a:lnTo>
                  <a:lnTo>
                    <a:pt x="718870" y="35547"/>
                  </a:lnTo>
                  <a:lnTo>
                    <a:pt x="717473" y="30226"/>
                  </a:lnTo>
                  <a:lnTo>
                    <a:pt x="712012" y="27051"/>
                  </a:lnTo>
                  <a:lnTo>
                    <a:pt x="605078" y="55359"/>
                  </a:lnTo>
                  <a:lnTo>
                    <a:pt x="678599" y="130797"/>
                  </a:lnTo>
                  <a:lnTo>
                    <a:pt x="682294" y="134607"/>
                  </a:lnTo>
                  <a:lnTo>
                    <a:pt x="688644" y="134607"/>
                  </a:lnTo>
                  <a:lnTo>
                    <a:pt x="692454" y="130797"/>
                  </a:lnTo>
                  <a:lnTo>
                    <a:pt x="696391" y="126987"/>
                  </a:lnTo>
                  <a:lnTo>
                    <a:pt x="696518" y="120764"/>
                  </a:lnTo>
                  <a:lnTo>
                    <a:pt x="656615" y="79844"/>
                  </a:lnTo>
                  <a:lnTo>
                    <a:pt x="2697518" y="643864"/>
                  </a:lnTo>
                  <a:lnTo>
                    <a:pt x="57200" y="57861"/>
                  </a:lnTo>
                  <a:lnTo>
                    <a:pt x="82042" y="49898"/>
                  </a:lnTo>
                  <a:lnTo>
                    <a:pt x="111429" y="40513"/>
                  </a:lnTo>
                  <a:lnTo>
                    <a:pt x="114350" y="34925"/>
                  </a:lnTo>
                  <a:lnTo>
                    <a:pt x="111048" y="24498"/>
                  </a:lnTo>
                  <a:lnTo>
                    <a:pt x="105460" y="21577"/>
                  </a:lnTo>
                  <a:lnTo>
                    <a:pt x="0" y="55359"/>
                  </a:lnTo>
                  <a:lnTo>
                    <a:pt x="77228" y="126733"/>
                  </a:lnTo>
                  <a:lnTo>
                    <a:pt x="81241" y="130543"/>
                  </a:lnTo>
                  <a:lnTo>
                    <a:pt x="87515" y="130289"/>
                  </a:lnTo>
                  <a:lnTo>
                    <a:pt x="94945" y="122161"/>
                  </a:lnTo>
                  <a:lnTo>
                    <a:pt x="94703" y="115938"/>
                  </a:lnTo>
                  <a:lnTo>
                    <a:pt x="90678" y="112255"/>
                  </a:lnTo>
                  <a:lnTo>
                    <a:pt x="52895" y="77292"/>
                  </a:lnTo>
                  <a:lnTo>
                    <a:pt x="3069259" y="746747"/>
                  </a:lnTo>
                  <a:lnTo>
                    <a:pt x="3069285" y="746594"/>
                  </a:lnTo>
                  <a:lnTo>
                    <a:pt x="3072206" y="736460"/>
                  </a:lnTo>
                  <a:lnTo>
                    <a:pt x="3077133" y="727951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983741" y="2763392"/>
              <a:ext cx="2308860" cy="10160"/>
            </a:xfrm>
            <a:custGeom>
              <a:avLst/>
              <a:gdLst/>
              <a:ahLst/>
              <a:cxnLst/>
              <a:rect l="l" t="t" r="r" b="b"/>
              <a:pathLst>
                <a:path w="2308860" h="10160">
                  <a:moveTo>
                    <a:pt x="0" y="0"/>
                  </a:moveTo>
                  <a:lnTo>
                    <a:pt x="2308479" y="0"/>
                  </a:lnTo>
                </a:path>
                <a:path w="2308860" h="10160">
                  <a:moveTo>
                    <a:pt x="0" y="9905"/>
                  </a:moveTo>
                  <a:lnTo>
                    <a:pt x="2308479" y="9905"/>
                  </a:lnTo>
                </a:path>
              </a:pathLst>
            </a:custGeom>
            <a:ln w="9905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1067561" y="2292858"/>
              <a:ext cx="135890" cy="475615"/>
            </a:xfrm>
            <a:custGeom>
              <a:avLst/>
              <a:gdLst/>
              <a:ahLst/>
              <a:cxnLst/>
              <a:rect l="l" t="t" r="r" b="b"/>
              <a:pathLst>
                <a:path w="135890" h="475614">
                  <a:moveTo>
                    <a:pt x="135636" y="0"/>
                  </a:moveTo>
                  <a:lnTo>
                    <a:pt x="0" y="0"/>
                  </a:lnTo>
                  <a:lnTo>
                    <a:pt x="0" y="475488"/>
                  </a:lnTo>
                  <a:lnTo>
                    <a:pt x="135636" y="475488"/>
                  </a:lnTo>
                  <a:lnTo>
                    <a:pt x="135636" y="0"/>
                  </a:lnTo>
                  <a:close/>
                </a:path>
              </a:pathLst>
            </a:custGeom>
            <a:solidFill>
              <a:srgbClr val="BCD6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1067561" y="2292858"/>
              <a:ext cx="135890" cy="475615"/>
            </a:xfrm>
            <a:custGeom>
              <a:avLst/>
              <a:gdLst/>
              <a:ahLst/>
              <a:cxnLst/>
              <a:rect l="l" t="t" r="r" b="b"/>
              <a:pathLst>
                <a:path w="135890" h="475614">
                  <a:moveTo>
                    <a:pt x="0" y="475488"/>
                  </a:moveTo>
                  <a:lnTo>
                    <a:pt x="135636" y="475488"/>
                  </a:lnTo>
                  <a:lnTo>
                    <a:pt x="135636" y="0"/>
                  </a:lnTo>
                  <a:lnTo>
                    <a:pt x="0" y="0"/>
                  </a:lnTo>
                  <a:lnTo>
                    <a:pt x="0" y="475488"/>
                  </a:lnTo>
                  <a:close/>
                </a:path>
              </a:pathLst>
            </a:custGeom>
            <a:ln w="19812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1671065" y="2713481"/>
              <a:ext cx="137160" cy="45720"/>
            </a:xfrm>
            <a:custGeom>
              <a:avLst/>
              <a:gdLst/>
              <a:ahLst/>
              <a:cxnLst/>
              <a:rect l="l" t="t" r="r" b="b"/>
              <a:pathLst>
                <a:path w="137160" h="45719">
                  <a:moveTo>
                    <a:pt x="13716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137160" y="45720"/>
                  </a:lnTo>
                  <a:lnTo>
                    <a:pt x="137160" y="0"/>
                  </a:lnTo>
                  <a:close/>
                </a:path>
              </a:pathLst>
            </a:custGeom>
            <a:solidFill>
              <a:srgbClr val="BCD6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1671065" y="2713481"/>
              <a:ext cx="137160" cy="45720"/>
            </a:xfrm>
            <a:custGeom>
              <a:avLst/>
              <a:gdLst/>
              <a:ahLst/>
              <a:cxnLst/>
              <a:rect l="l" t="t" r="r" b="b"/>
              <a:pathLst>
                <a:path w="137160" h="45719">
                  <a:moveTo>
                    <a:pt x="0" y="45720"/>
                  </a:moveTo>
                  <a:lnTo>
                    <a:pt x="137160" y="45720"/>
                  </a:lnTo>
                  <a:lnTo>
                    <a:pt x="137160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9811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2274569" y="2713481"/>
              <a:ext cx="137160" cy="45720"/>
            </a:xfrm>
            <a:custGeom>
              <a:avLst/>
              <a:gdLst/>
              <a:ahLst/>
              <a:cxnLst/>
              <a:rect l="l" t="t" r="r" b="b"/>
              <a:pathLst>
                <a:path w="137160" h="45719">
                  <a:moveTo>
                    <a:pt x="13716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137160" y="45720"/>
                  </a:lnTo>
                  <a:lnTo>
                    <a:pt x="137160" y="0"/>
                  </a:lnTo>
                  <a:close/>
                </a:path>
              </a:pathLst>
            </a:custGeom>
            <a:solidFill>
              <a:srgbClr val="BCD6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2274569" y="2713481"/>
              <a:ext cx="137160" cy="45720"/>
            </a:xfrm>
            <a:custGeom>
              <a:avLst/>
              <a:gdLst/>
              <a:ahLst/>
              <a:cxnLst/>
              <a:rect l="l" t="t" r="r" b="b"/>
              <a:pathLst>
                <a:path w="137160" h="45719">
                  <a:moveTo>
                    <a:pt x="0" y="45720"/>
                  </a:moveTo>
                  <a:lnTo>
                    <a:pt x="137160" y="45720"/>
                  </a:lnTo>
                  <a:lnTo>
                    <a:pt x="137160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9811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2879597" y="2713481"/>
              <a:ext cx="135890" cy="45720"/>
            </a:xfrm>
            <a:custGeom>
              <a:avLst/>
              <a:gdLst/>
              <a:ahLst/>
              <a:cxnLst/>
              <a:rect l="l" t="t" r="r" b="b"/>
              <a:pathLst>
                <a:path w="135889" h="45719">
                  <a:moveTo>
                    <a:pt x="135636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135636" y="45720"/>
                  </a:lnTo>
                  <a:lnTo>
                    <a:pt x="135636" y="0"/>
                  </a:lnTo>
                  <a:close/>
                </a:path>
              </a:pathLst>
            </a:custGeom>
            <a:solidFill>
              <a:srgbClr val="BCD6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2879597" y="2713481"/>
              <a:ext cx="135890" cy="45720"/>
            </a:xfrm>
            <a:custGeom>
              <a:avLst/>
              <a:gdLst/>
              <a:ahLst/>
              <a:cxnLst/>
              <a:rect l="l" t="t" r="r" b="b"/>
              <a:pathLst>
                <a:path w="135889" h="45719">
                  <a:moveTo>
                    <a:pt x="0" y="45720"/>
                  </a:moveTo>
                  <a:lnTo>
                    <a:pt x="135636" y="45720"/>
                  </a:lnTo>
                  <a:lnTo>
                    <a:pt x="135636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9812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1079309" y="2759201"/>
              <a:ext cx="1924050" cy="762635"/>
            </a:xfrm>
            <a:custGeom>
              <a:avLst/>
              <a:gdLst/>
              <a:ahLst/>
              <a:cxnLst/>
              <a:rect l="l" t="t" r="r" b="b"/>
              <a:pathLst>
                <a:path w="1924050" h="762635">
                  <a:moveTo>
                    <a:pt x="111518" y="104902"/>
                  </a:moveTo>
                  <a:lnTo>
                    <a:pt x="108775" y="100076"/>
                  </a:lnTo>
                  <a:lnTo>
                    <a:pt x="67386" y="28702"/>
                  </a:lnTo>
                  <a:lnTo>
                    <a:pt x="56045" y="9144"/>
                  </a:lnTo>
                  <a:lnTo>
                    <a:pt x="0" y="104521"/>
                  </a:lnTo>
                  <a:lnTo>
                    <a:pt x="1574" y="110617"/>
                  </a:lnTo>
                  <a:lnTo>
                    <a:pt x="6286" y="113411"/>
                  </a:lnTo>
                  <a:lnTo>
                    <a:pt x="11010" y="116078"/>
                  </a:lnTo>
                  <a:lnTo>
                    <a:pt x="17081" y="114554"/>
                  </a:lnTo>
                  <a:lnTo>
                    <a:pt x="45897" y="65481"/>
                  </a:lnTo>
                  <a:lnTo>
                    <a:pt x="46024" y="48450"/>
                  </a:lnTo>
                  <a:lnTo>
                    <a:pt x="45974" y="65366"/>
                  </a:lnTo>
                  <a:lnTo>
                    <a:pt x="43878" y="761873"/>
                  </a:lnTo>
                  <a:lnTo>
                    <a:pt x="63690" y="762000"/>
                  </a:lnTo>
                  <a:lnTo>
                    <a:pt x="65684" y="100076"/>
                  </a:lnTo>
                  <a:lnTo>
                    <a:pt x="65709" y="65366"/>
                  </a:lnTo>
                  <a:lnTo>
                    <a:pt x="94373" y="114808"/>
                  </a:lnTo>
                  <a:lnTo>
                    <a:pt x="100444" y="116459"/>
                  </a:lnTo>
                  <a:lnTo>
                    <a:pt x="109905" y="110871"/>
                  </a:lnTo>
                  <a:lnTo>
                    <a:pt x="111518" y="104902"/>
                  </a:lnTo>
                  <a:close/>
                </a:path>
                <a:path w="1924050" h="762635">
                  <a:moveTo>
                    <a:pt x="716089" y="95631"/>
                  </a:moveTo>
                  <a:lnTo>
                    <a:pt x="713295" y="90932"/>
                  </a:lnTo>
                  <a:lnTo>
                    <a:pt x="671817" y="19558"/>
                  </a:lnTo>
                  <a:lnTo>
                    <a:pt x="660463" y="0"/>
                  </a:lnTo>
                  <a:lnTo>
                    <a:pt x="607250" y="90678"/>
                  </a:lnTo>
                  <a:lnTo>
                    <a:pt x="604583" y="95377"/>
                  </a:lnTo>
                  <a:lnTo>
                    <a:pt x="606107" y="101473"/>
                  </a:lnTo>
                  <a:lnTo>
                    <a:pt x="615505" y="107061"/>
                  </a:lnTo>
                  <a:lnTo>
                    <a:pt x="621601" y="105410"/>
                  </a:lnTo>
                  <a:lnTo>
                    <a:pt x="624395" y="100711"/>
                  </a:lnTo>
                  <a:lnTo>
                    <a:pt x="650443" y="56261"/>
                  </a:lnTo>
                  <a:lnTo>
                    <a:pt x="650557" y="19558"/>
                  </a:lnTo>
                  <a:lnTo>
                    <a:pt x="650468" y="56210"/>
                  </a:lnTo>
                  <a:lnTo>
                    <a:pt x="648906" y="762000"/>
                  </a:lnTo>
                  <a:lnTo>
                    <a:pt x="668718" y="762127"/>
                  </a:lnTo>
                  <a:lnTo>
                    <a:pt x="670166" y="107188"/>
                  </a:lnTo>
                  <a:lnTo>
                    <a:pt x="670242" y="56222"/>
                  </a:lnTo>
                  <a:lnTo>
                    <a:pt x="698944" y="105664"/>
                  </a:lnTo>
                  <a:lnTo>
                    <a:pt x="705040" y="107188"/>
                  </a:lnTo>
                  <a:lnTo>
                    <a:pt x="709739" y="104521"/>
                  </a:lnTo>
                  <a:lnTo>
                    <a:pt x="714438" y="101727"/>
                  </a:lnTo>
                  <a:lnTo>
                    <a:pt x="716089" y="95631"/>
                  </a:lnTo>
                  <a:close/>
                </a:path>
                <a:path w="1924050" h="762635">
                  <a:moveTo>
                    <a:pt x="1319085" y="95631"/>
                  </a:moveTo>
                  <a:lnTo>
                    <a:pt x="1316215" y="90805"/>
                  </a:lnTo>
                  <a:lnTo>
                    <a:pt x="1274813" y="19558"/>
                  </a:lnTo>
                  <a:lnTo>
                    <a:pt x="1263459" y="0"/>
                  </a:lnTo>
                  <a:lnTo>
                    <a:pt x="1210297" y="90932"/>
                  </a:lnTo>
                  <a:lnTo>
                    <a:pt x="1207579" y="95504"/>
                  </a:lnTo>
                  <a:lnTo>
                    <a:pt x="1209103" y="101473"/>
                  </a:lnTo>
                  <a:lnTo>
                    <a:pt x="1213802" y="104267"/>
                  </a:lnTo>
                  <a:lnTo>
                    <a:pt x="1218628" y="107061"/>
                  </a:lnTo>
                  <a:lnTo>
                    <a:pt x="1224597" y="105410"/>
                  </a:lnTo>
                  <a:lnTo>
                    <a:pt x="1227391" y="100711"/>
                  </a:lnTo>
                  <a:lnTo>
                    <a:pt x="1253490" y="56172"/>
                  </a:lnTo>
                  <a:lnTo>
                    <a:pt x="1252410" y="762000"/>
                  </a:lnTo>
                  <a:lnTo>
                    <a:pt x="1272222" y="762127"/>
                  </a:lnTo>
                  <a:lnTo>
                    <a:pt x="1273302" y="56426"/>
                  </a:lnTo>
                  <a:lnTo>
                    <a:pt x="1299146" y="100838"/>
                  </a:lnTo>
                  <a:lnTo>
                    <a:pt x="1301940" y="105537"/>
                  </a:lnTo>
                  <a:lnTo>
                    <a:pt x="1308036" y="107188"/>
                  </a:lnTo>
                  <a:lnTo>
                    <a:pt x="1312735" y="104394"/>
                  </a:lnTo>
                  <a:lnTo>
                    <a:pt x="1317434" y="101727"/>
                  </a:lnTo>
                  <a:lnTo>
                    <a:pt x="1319085" y="95631"/>
                  </a:lnTo>
                  <a:close/>
                </a:path>
                <a:path w="1924050" h="762635">
                  <a:moveTo>
                    <a:pt x="1923605" y="95631"/>
                  </a:moveTo>
                  <a:lnTo>
                    <a:pt x="1879358" y="19558"/>
                  </a:lnTo>
                  <a:lnTo>
                    <a:pt x="1867979" y="0"/>
                  </a:lnTo>
                  <a:lnTo>
                    <a:pt x="1814893" y="90805"/>
                  </a:lnTo>
                  <a:lnTo>
                    <a:pt x="1812099" y="95504"/>
                  </a:lnTo>
                  <a:lnTo>
                    <a:pt x="1813750" y="101600"/>
                  </a:lnTo>
                  <a:lnTo>
                    <a:pt x="1818449" y="104394"/>
                  </a:lnTo>
                  <a:lnTo>
                    <a:pt x="1823148" y="107061"/>
                  </a:lnTo>
                  <a:lnTo>
                    <a:pt x="1829244" y="105537"/>
                  </a:lnTo>
                  <a:lnTo>
                    <a:pt x="1831911" y="100838"/>
                  </a:lnTo>
                  <a:lnTo>
                    <a:pt x="1858035" y="56172"/>
                  </a:lnTo>
                  <a:lnTo>
                    <a:pt x="1857438" y="762000"/>
                  </a:lnTo>
                  <a:lnTo>
                    <a:pt x="1877250" y="762127"/>
                  </a:lnTo>
                  <a:lnTo>
                    <a:pt x="1877809" y="107188"/>
                  </a:lnTo>
                  <a:lnTo>
                    <a:pt x="1877733" y="56184"/>
                  </a:lnTo>
                  <a:lnTo>
                    <a:pt x="1877847" y="56375"/>
                  </a:lnTo>
                  <a:lnTo>
                    <a:pt x="1903793" y="100838"/>
                  </a:lnTo>
                  <a:lnTo>
                    <a:pt x="1906460" y="105537"/>
                  </a:lnTo>
                  <a:lnTo>
                    <a:pt x="1912556" y="107188"/>
                  </a:lnTo>
                  <a:lnTo>
                    <a:pt x="1917255" y="104394"/>
                  </a:lnTo>
                  <a:lnTo>
                    <a:pt x="1922081" y="101600"/>
                  </a:lnTo>
                  <a:lnTo>
                    <a:pt x="1923605" y="95631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32471" y="1095755"/>
              <a:ext cx="1821548" cy="1625727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1571194" y="3918742"/>
            <a:ext cx="507831" cy="78613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Encoder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RNN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2141981" y="3929390"/>
            <a:ext cx="187960" cy="780415"/>
          </a:xfrm>
          <a:custGeom>
            <a:avLst/>
            <a:gdLst/>
            <a:ahLst/>
            <a:cxnLst/>
            <a:rect l="l" t="t" r="r" b="b"/>
            <a:pathLst>
              <a:path w="187959" h="780414">
                <a:moveTo>
                  <a:pt x="187452" y="780288"/>
                </a:moveTo>
                <a:lnTo>
                  <a:pt x="150968" y="774515"/>
                </a:lnTo>
                <a:lnTo>
                  <a:pt x="121177" y="758777"/>
                </a:lnTo>
                <a:lnTo>
                  <a:pt x="101091" y="735443"/>
                </a:lnTo>
                <a:lnTo>
                  <a:pt x="93726" y="706882"/>
                </a:lnTo>
                <a:lnTo>
                  <a:pt x="93726" y="463550"/>
                </a:lnTo>
                <a:lnTo>
                  <a:pt x="86360" y="434988"/>
                </a:lnTo>
                <a:lnTo>
                  <a:pt x="66274" y="411654"/>
                </a:lnTo>
                <a:lnTo>
                  <a:pt x="36483" y="395916"/>
                </a:lnTo>
                <a:lnTo>
                  <a:pt x="0" y="390144"/>
                </a:lnTo>
                <a:lnTo>
                  <a:pt x="36483" y="384371"/>
                </a:lnTo>
                <a:lnTo>
                  <a:pt x="66274" y="368633"/>
                </a:lnTo>
                <a:lnTo>
                  <a:pt x="86360" y="345299"/>
                </a:lnTo>
                <a:lnTo>
                  <a:pt x="93726" y="316738"/>
                </a:lnTo>
                <a:lnTo>
                  <a:pt x="93726" y="73406"/>
                </a:lnTo>
                <a:lnTo>
                  <a:pt x="101091" y="44844"/>
                </a:lnTo>
                <a:lnTo>
                  <a:pt x="121177" y="21510"/>
                </a:lnTo>
                <a:lnTo>
                  <a:pt x="150968" y="5772"/>
                </a:lnTo>
                <a:lnTo>
                  <a:pt x="187452" y="0"/>
                </a:lnTo>
              </a:path>
            </a:pathLst>
          </a:custGeom>
          <a:ln w="1981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389626" y="5341171"/>
            <a:ext cx="72263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&lt;</a:t>
            </a:r>
            <a:r>
              <a:rPr kumimoji="0" sz="1600" b="0" i="1" u="none" strike="noStrike" kern="120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</a:t>
            </a:r>
            <a:r>
              <a:rPr kumimoji="0" sz="1600" b="0" i="1" u="none" strike="noStrike" kern="1200" cap="none" spc="-1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</a:t>
            </a:r>
            <a:r>
              <a:rPr kumimoji="0" sz="16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</a:t>
            </a:r>
            <a:r>
              <a:rPr kumimoji="0" sz="1600" b="0" i="1" u="none" strike="noStrike" kern="120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R</a:t>
            </a:r>
            <a:r>
              <a:rPr kumimoji="0" sz="1600" b="0" i="1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T&gt;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0136885" y="3952249"/>
            <a:ext cx="189230" cy="779145"/>
          </a:xfrm>
          <a:custGeom>
            <a:avLst/>
            <a:gdLst/>
            <a:ahLst/>
            <a:cxnLst/>
            <a:rect l="l" t="t" r="r" b="b"/>
            <a:pathLst>
              <a:path w="189229" h="779145">
                <a:moveTo>
                  <a:pt x="0" y="0"/>
                </a:moveTo>
                <a:lnTo>
                  <a:pt x="36784" y="5816"/>
                </a:lnTo>
                <a:lnTo>
                  <a:pt x="66817" y="21669"/>
                </a:lnTo>
                <a:lnTo>
                  <a:pt x="87064" y="45166"/>
                </a:lnTo>
                <a:lnTo>
                  <a:pt x="94488" y="73913"/>
                </a:lnTo>
                <a:lnTo>
                  <a:pt x="94488" y="315468"/>
                </a:lnTo>
                <a:lnTo>
                  <a:pt x="101911" y="344215"/>
                </a:lnTo>
                <a:lnTo>
                  <a:pt x="122158" y="367712"/>
                </a:lnTo>
                <a:lnTo>
                  <a:pt x="152191" y="383565"/>
                </a:lnTo>
                <a:lnTo>
                  <a:pt x="188975" y="389381"/>
                </a:lnTo>
                <a:lnTo>
                  <a:pt x="152191" y="395198"/>
                </a:lnTo>
                <a:lnTo>
                  <a:pt x="122158" y="411051"/>
                </a:lnTo>
                <a:lnTo>
                  <a:pt x="101911" y="434548"/>
                </a:lnTo>
                <a:lnTo>
                  <a:pt x="94488" y="463295"/>
                </a:lnTo>
                <a:lnTo>
                  <a:pt x="94488" y="704850"/>
                </a:lnTo>
                <a:lnTo>
                  <a:pt x="87064" y="733597"/>
                </a:lnTo>
                <a:lnTo>
                  <a:pt x="66817" y="757094"/>
                </a:lnTo>
                <a:lnTo>
                  <a:pt x="36784" y="772947"/>
                </a:lnTo>
                <a:lnTo>
                  <a:pt x="0" y="778763"/>
                </a:lnTo>
              </a:path>
            </a:pathLst>
          </a:custGeom>
          <a:ln w="19812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571194" y="1532230"/>
            <a:ext cx="507831" cy="110109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13030" marR="0" lvl="0" indent="0" algn="l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Attention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distribution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2149601" y="1769880"/>
            <a:ext cx="189230" cy="624840"/>
          </a:xfrm>
          <a:custGeom>
            <a:avLst/>
            <a:gdLst/>
            <a:ahLst/>
            <a:cxnLst/>
            <a:rect l="l" t="t" r="r" b="b"/>
            <a:pathLst>
              <a:path w="189230" h="624839">
                <a:moveTo>
                  <a:pt x="188976" y="624840"/>
                </a:moveTo>
                <a:lnTo>
                  <a:pt x="152196" y="619023"/>
                </a:lnTo>
                <a:lnTo>
                  <a:pt x="122162" y="603170"/>
                </a:lnTo>
                <a:lnTo>
                  <a:pt x="101913" y="579673"/>
                </a:lnTo>
                <a:lnTo>
                  <a:pt x="94488" y="550926"/>
                </a:lnTo>
                <a:lnTo>
                  <a:pt x="94488" y="386334"/>
                </a:lnTo>
                <a:lnTo>
                  <a:pt x="87062" y="357586"/>
                </a:lnTo>
                <a:lnTo>
                  <a:pt x="66813" y="334089"/>
                </a:lnTo>
                <a:lnTo>
                  <a:pt x="36779" y="318236"/>
                </a:lnTo>
                <a:lnTo>
                  <a:pt x="0" y="312420"/>
                </a:lnTo>
                <a:lnTo>
                  <a:pt x="36779" y="306603"/>
                </a:lnTo>
                <a:lnTo>
                  <a:pt x="66813" y="290750"/>
                </a:lnTo>
                <a:lnTo>
                  <a:pt x="87062" y="267253"/>
                </a:lnTo>
                <a:lnTo>
                  <a:pt x="94488" y="238506"/>
                </a:lnTo>
                <a:lnTo>
                  <a:pt x="94488" y="73914"/>
                </a:lnTo>
                <a:lnTo>
                  <a:pt x="101913" y="45166"/>
                </a:lnTo>
                <a:lnTo>
                  <a:pt x="122162" y="21669"/>
                </a:lnTo>
                <a:lnTo>
                  <a:pt x="152196" y="5816"/>
                </a:lnTo>
                <a:lnTo>
                  <a:pt x="188976" y="0"/>
                </a:lnTo>
              </a:path>
            </a:pathLst>
          </a:custGeom>
          <a:ln w="19812">
            <a:solidFill>
              <a:srgbClr val="3986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571194" y="2794072"/>
            <a:ext cx="507831" cy="899794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Attention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scores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2137409" y="2902213"/>
            <a:ext cx="189230" cy="624840"/>
          </a:xfrm>
          <a:custGeom>
            <a:avLst/>
            <a:gdLst/>
            <a:ahLst/>
            <a:cxnLst/>
            <a:rect l="l" t="t" r="r" b="b"/>
            <a:pathLst>
              <a:path w="189229" h="624839">
                <a:moveTo>
                  <a:pt x="188976" y="624839"/>
                </a:moveTo>
                <a:lnTo>
                  <a:pt x="152196" y="619023"/>
                </a:lnTo>
                <a:lnTo>
                  <a:pt x="122162" y="603170"/>
                </a:lnTo>
                <a:lnTo>
                  <a:pt x="101913" y="579673"/>
                </a:lnTo>
                <a:lnTo>
                  <a:pt x="94488" y="550926"/>
                </a:lnTo>
                <a:lnTo>
                  <a:pt x="94488" y="386334"/>
                </a:lnTo>
                <a:lnTo>
                  <a:pt x="87062" y="357586"/>
                </a:lnTo>
                <a:lnTo>
                  <a:pt x="66813" y="334089"/>
                </a:lnTo>
                <a:lnTo>
                  <a:pt x="36779" y="318236"/>
                </a:lnTo>
                <a:lnTo>
                  <a:pt x="0" y="312420"/>
                </a:lnTo>
                <a:lnTo>
                  <a:pt x="36779" y="306603"/>
                </a:lnTo>
                <a:lnTo>
                  <a:pt x="66813" y="290750"/>
                </a:lnTo>
                <a:lnTo>
                  <a:pt x="87062" y="267253"/>
                </a:lnTo>
                <a:lnTo>
                  <a:pt x="94488" y="238506"/>
                </a:lnTo>
                <a:lnTo>
                  <a:pt x="94488" y="73913"/>
                </a:lnTo>
                <a:lnTo>
                  <a:pt x="101913" y="45166"/>
                </a:lnTo>
                <a:lnTo>
                  <a:pt x="122162" y="21669"/>
                </a:lnTo>
                <a:lnTo>
                  <a:pt x="152196" y="5816"/>
                </a:lnTo>
                <a:lnTo>
                  <a:pt x="188976" y="0"/>
                </a:lnTo>
              </a:path>
            </a:pathLst>
          </a:custGeom>
          <a:ln w="19812">
            <a:solidFill>
              <a:srgbClr val="3986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906392" y="799982"/>
            <a:ext cx="89979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2715" marR="5080" lvl="0" indent="-12065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</a:t>
            </a:r>
            <a:r>
              <a:rPr kumimoji="0" sz="1800" b="0" i="0" u="none" strike="noStrike" kern="1200" cap="none" spc="-3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tt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e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n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i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on  output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093714" y="866149"/>
            <a:ext cx="4121150" cy="2032000"/>
          </a:xfrm>
          <a:prstGeom prst="rect">
            <a:avLst/>
          </a:prstGeom>
          <a:ln w="28955">
            <a:solidFill>
              <a:srgbClr val="C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90170" marR="413384" lvl="0" indent="0" algn="ctr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Use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the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attention</a:t>
            </a:r>
            <a:r>
              <a:rPr kumimoji="0" sz="1800" b="0" i="0" u="none" strike="noStrike" kern="120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distribution</a:t>
            </a:r>
            <a:r>
              <a:rPr kumimoji="0" sz="18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to </a:t>
            </a:r>
            <a:r>
              <a:rPr kumimoji="0" sz="1800" b="0" i="0" u="none" strike="noStrike" kern="120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take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 </a:t>
            </a:r>
            <a:r>
              <a:rPr kumimoji="0" sz="1800" b="0" i="0" u="none" strike="noStrike" kern="1200" cap="none" spc="-39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1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weighted </a:t>
            </a: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sum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of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the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C21717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encoder hidden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C21717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srgbClr val="C21717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states</a:t>
            </a: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.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  <a:p>
            <a:pPr marL="90170" marR="328295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The</a:t>
            </a:r>
            <a:r>
              <a:rPr kumimoji="0" sz="18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attention</a:t>
            </a:r>
            <a:r>
              <a:rPr kumimoji="0" sz="1800" b="0" i="0" u="none" strike="noStrike" kern="1200" cap="none" spc="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output</a:t>
            </a:r>
            <a:r>
              <a:rPr kumimoji="0" sz="1800" b="0" i="0" u="none" strike="noStrike" kern="120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mostly</a:t>
            </a:r>
            <a:r>
              <a:rPr kumimoji="0" sz="18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contains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information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from</a:t>
            </a: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the</a:t>
            </a:r>
            <a:r>
              <a:rPr kumimoji="0" sz="18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hidden</a:t>
            </a:r>
            <a:r>
              <a:rPr kumimoji="0" sz="18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states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that </a:t>
            </a:r>
            <a:r>
              <a:rPr kumimoji="0" sz="1800" b="0" i="0" u="none" strike="noStrike" kern="1200" cap="none" spc="-39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received</a:t>
            </a:r>
            <a:r>
              <a:rPr kumimoji="0" sz="1800" b="0" i="0" u="none" strike="noStrike" kern="1200" cap="none" spc="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high</a:t>
            </a:r>
            <a:r>
              <a:rPr kumimoji="0" sz="1800" b="0" i="0" u="none" strike="noStrike" kern="120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attention.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4941571" y="991879"/>
            <a:ext cx="1156335" cy="86995"/>
          </a:xfrm>
          <a:custGeom>
            <a:avLst/>
            <a:gdLst/>
            <a:ahLst/>
            <a:cxnLst/>
            <a:rect l="l" t="t" r="r" b="b"/>
            <a:pathLst>
              <a:path w="1156335" h="86994">
                <a:moveTo>
                  <a:pt x="86867" y="0"/>
                </a:moveTo>
                <a:lnTo>
                  <a:pt x="0" y="43434"/>
                </a:lnTo>
                <a:lnTo>
                  <a:pt x="86867" y="86868"/>
                </a:lnTo>
                <a:lnTo>
                  <a:pt x="86867" y="57912"/>
                </a:lnTo>
                <a:lnTo>
                  <a:pt x="72389" y="57912"/>
                </a:lnTo>
                <a:lnTo>
                  <a:pt x="72389" y="28956"/>
                </a:lnTo>
                <a:lnTo>
                  <a:pt x="86867" y="28956"/>
                </a:lnTo>
                <a:lnTo>
                  <a:pt x="86867" y="0"/>
                </a:lnTo>
                <a:close/>
              </a:path>
              <a:path w="1156335" h="86994">
                <a:moveTo>
                  <a:pt x="86867" y="28956"/>
                </a:moveTo>
                <a:lnTo>
                  <a:pt x="72389" y="28956"/>
                </a:lnTo>
                <a:lnTo>
                  <a:pt x="72389" y="57912"/>
                </a:lnTo>
                <a:lnTo>
                  <a:pt x="86867" y="57912"/>
                </a:lnTo>
                <a:lnTo>
                  <a:pt x="86867" y="28956"/>
                </a:lnTo>
                <a:close/>
              </a:path>
              <a:path w="1156335" h="86994">
                <a:moveTo>
                  <a:pt x="1155827" y="28956"/>
                </a:moveTo>
                <a:lnTo>
                  <a:pt x="86867" y="28956"/>
                </a:lnTo>
                <a:lnTo>
                  <a:pt x="86867" y="57912"/>
                </a:lnTo>
                <a:lnTo>
                  <a:pt x="1155827" y="57912"/>
                </a:lnTo>
                <a:lnTo>
                  <a:pt x="1155827" y="28956"/>
                </a:lnTo>
                <a:close/>
              </a:path>
            </a:pathLst>
          </a:custGeom>
          <a:solidFill>
            <a:srgbClr val="BA56BD"/>
          </a:solidFill>
          <a:ln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46" name="object 22">
            <a:extLst>
              <a:ext uri="{FF2B5EF4-FFF2-40B4-BE49-F238E27FC236}">
                <a16:creationId xmlns:a16="http://schemas.microsoft.com/office/drawing/2014/main" id="{982F0B6D-8802-76CA-F41D-887A337F4663}"/>
              </a:ext>
            </a:extLst>
          </p:cNvPr>
          <p:cNvSpPr txBox="1"/>
          <p:nvPr/>
        </p:nvSpPr>
        <p:spPr>
          <a:xfrm>
            <a:off x="10372554" y="3700406"/>
            <a:ext cx="467885" cy="128270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Decoder</a:t>
            </a:r>
            <a:r>
              <a:rPr kumimoji="0" sz="1800" b="0" i="0" u="none" strike="noStrike" kern="1200" cap="none" spc="-3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RNN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51" name="object 13">
            <a:extLst>
              <a:ext uri="{FF2B5EF4-FFF2-40B4-BE49-F238E27FC236}">
                <a16:creationId xmlns:a16="http://schemas.microsoft.com/office/drawing/2014/main" id="{2E3E97A3-DB78-C747-AECC-0910B1DC55AD}"/>
              </a:ext>
            </a:extLst>
          </p:cNvPr>
          <p:cNvSpPr txBox="1"/>
          <p:nvPr/>
        </p:nvSpPr>
        <p:spPr>
          <a:xfrm>
            <a:off x="2433333" y="5954560"/>
            <a:ext cx="2230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Source sentence</a:t>
            </a:r>
            <a:r>
              <a:rPr kumimoji="0" sz="1800" b="0" i="0" u="none" strike="noStrike" kern="120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(input)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52" name="object 14">
            <a:extLst>
              <a:ext uri="{FF2B5EF4-FFF2-40B4-BE49-F238E27FC236}">
                <a16:creationId xmlns:a16="http://schemas.microsoft.com/office/drawing/2014/main" id="{4885AA31-E55C-DF41-7459-E0F0ABBEA0DF}"/>
              </a:ext>
            </a:extLst>
          </p:cNvPr>
          <p:cNvSpPr/>
          <p:nvPr/>
        </p:nvSpPr>
        <p:spPr>
          <a:xfrm>
            <a:off x="2357710" y="5780012"/>
            <a:ext cx="2343455" cy="197550"/>
          </a:xfrm>
          <a:custGeom>
            <a:avLst/>
            <a:gdLst/>
            <a:ahLst/>
            <a:cxnLst/>
            <a:rect l="l" t="t" r="r" b="b"/>
            <a:pathLst>
              <a:path w="2435860" h="271779">
                <a:moveTo>
                  <a:pt x="2435352" y="0"/>
                </a:moveTo>
                <a:lnTo>
                  <a:pt x="2427013" y="52804"/>
                </a:lnTo>
                <a:lnTo>
                  <a:pt x="2404268" y="95916"/>
                </a:lnTo>
                <a:lnTo>
                  <a:pt x="2370522" y="124979"/>
                </a:lnTo>
                <a:lnTo>
                  <a:pt x="2329180" y="135636"/>
                </a:lnTo>
                <a:lnTo>
                  <a:pt x="1323848" y="135636"/>
                </a:lnTo>
                <a:lnTo>
                  <a:pt x="1282505" y="146292"/>
                </a:lnTo>
                <a:lnTo>
                  <a:pt x="1248759" y="175355"/>
                </a:lnTo>
                <a:lnTo>
                  <a:pt x="1226014" y="218467"/>
                </a:lnTo>
                <a:lnTo>
                  <a:pt x="1217676" y="271272"/>
                </a:lnTo>
                <a:lnTo>
                  <a:pt x="1209337" y="218467"/>
                </a:lnTo>
                <a:lnTo>
                  <a:pt x="1186592" y="175355"/>
                </a:lnTo>
                <a:lnTo>
                  <a:pt x="1152846" y="146292"/>
                </a:lnTo>
                <a:lnTo>
                  <a:pt x="1111504" y="135636"/>
                </a:lnTo>
                <a:lnTo>
                  <a:pt x="106146" y="135636"/>
                </a:lnTo>
                <a:lnTo>
                  <a:pt x="64829" y="124979"/>
                </a:lnTo>
                <a:lnTo>
                  <a:pt x="31089" y="95916"/>
                </a:lnTo>
                <a:lnTo>
                  <a:pt x="8341" y="52804"/>
                </a:lnTo>
                <a:lnTo>
                  <a:pt x="0" y="0"/>
                </a:lnTo>
              </a:path>
            </a:pathLst>
          </a:custGeom>
          <a:ln w="198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53" name="object 21">
            <a:extLst>
              <a:ext uri="{FF2B5EF4-FFF2-40B4-BE49-F238E27FC236}">
                <a16:creationId xmlns:a16="http://schemas.microsoft.com/office/drawing/2014/main" id="{E9619924-B9B9-E923-BF60-674379B8183B}"/>
              </a:ext>
            </a:extLst>
          </p:cNvPr>
          <p:cNvSpPr txBox="1"/>
          <p:nvPr/>
        </p:nvSpPr>
        <p:spPr>
          <a:xfrm>
            <a:off x="2426336" y="5313638"/>
            <a:ext cx="40980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i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हम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54" name="object 22">
            <a:extLst>
              <a:ext uri="{FF2B5EF4-FFF2-40B4-BE49-F238E27FC236}">
                <a16:creationId xmlns:a16="http://schemas.microsoft.com/office/drawing/2014/main" id="{9E48A6D1-C606-76EB-73C3-69CA480886B2}"/>
              </a:ext>
            </a:extLst>
          </p:cNvPr>
          <p:cNvSpPr txBox="1"/>
          <p:nvPr/>
        </p:nvSpPr>
        <p:spPr>
          <a:xfrm>
            <a:off x="3002623" y="5313638"/>
            <a:ext cx="53340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i-IN" sz="16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बाजार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55" name="object 21">
            <a:extLst>
              <a:ext uri="{FF2B5EF4-FFF2-40B4-BE49-F238E27FC236}">
                <a16:creationId xmlns:a16="http://schemas.microsoft.com/office/drawing/2014/main" id="{00C3D2E0-4C2F-3D1D-7316-459B9FAF8095}"/>
              </a:ext>
            </a:extLst>
          </p:cNvPr>
          <p:cNvSpPr txBox="1"/>
          <p:nvPr/>
        </p:nvSpPr>
        <p:spPr>
          <a:xfrm>
            <a:off x="3658511" y="5317123"/>
            <a:ext cx="40980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i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गये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56" name="object 21">
            <a:extLst>
              <a:ext uri="{FF2B5EF4-FFF2-40B4-BE49-F238E27FC236}">
                <a16:creationId xmlns:a16="http://schemas.microsoft.com/office/drawing/2014/main" id="{C5AD0C93-F237-0684-8B09-CBA250CD3FA2}"/>
              </a:ext>
            </a:extLst>
          </p:cNvPr>
          <p:cNvSpPr txBox="1"/>
          <p:nvPr/>
        </p:nvSpPr>
        <p:spPr>
          <a:xfrm>
            <a:off x="4268105" y="5310901"/>
            <a:ext cx="40980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i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थे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BDB50F0-59E3-4D67-6F81-6B1FB4D21BF2}"/>
              </a:ext>
            </a:extLst>
          </p:cNvPr>
          <p:cNvSpPr txBox="1"/>
          <p:nvPr/>
        </p:nvSpPr>
        <p:spPr>
          <a:xfrm>
            <a:off x="2412364" y="5540067"/>
            <a:ext cx="2321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ham      baajaar     gaye         the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502662" y="722132"/>
            <a:ext cx="3409315" cy="4597400"/>
            <a:chOff x="978661" y="1095755"/>
            <a:chExt cx="3409315" cy="45974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6799" y="4367784"/>
              <a:ext cx="126492" cy="13258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6799" y="4536947"/>
              <a:ext cx="126492" cy="13258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6799" y="4706111"/>
              <a:ext cx="126492" cy="13258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6799" y="4875276"/>
              <a:ext cx="126492" cy="13106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992885" y="4303013"/>
              <a:ext cx="266700" cy="780415"/>
            </a:xfrm>
            <a:custGeom>
              <a:avLst/>
              <a:gdLst/>
              <a:ahLst/>
              <a:cxnLst/>
              <a:rect l="l" t="t" r="r" b="b"/>
              <a:pathLst>
                <a:path w="266700" h="780414">
                  <a:moveTo>
                    <a:pt x="222250" y="0"/>
                  </a:moveTo>
                  <a:lnTo>
                    <a:pt x="239551" y="3498"/>
                  </a:lnTo>
                  <a:lnTo>
                    <a:pt x="253680" y="13033"/>
                  </a:lnTo>
                  <a:lnTo>
                    <a:pt x="263206" y="27164"/>
                  </a:lnTo>
                  <a:lnTo>
                    <a:pt x="266700" y="44450"/>
                  </a:lnTo>
                  <a:lnTo>
                    <a:pt x="266700" y="735838"/>
                  </a:lnTo>
                  <a:lnTo>
                    <a:pt x="263206" y="753123"/>
                  </a:lnTo>
                  <a:lnTo>
                    <a:pt x="253680" y="767254"/>
                  </a:lnTo>
                  <a:lnTo>
                    <a:pt x="239551" y="776789"/>
                  </a:lnTo>
                  <a:lnTo>
                    <a:pt x="222250" y="780288"/>
                  </a:lnTo>
                  <a:lnTo>
                    <a:pt x="44450" y="780288"/>
                  </a:lnTo>
                  <a:lnTo>
                    <a:pt x="27148" y="776789"/>
                  </a:lnTo>
                  <a:lnTo>
                    <a:pt x="13019" y="767254"/>
                  </a:lnTo>
                  <a:lnTo>
                    <a:pt x="3493" y="753123"/>
                  </a:lnTo>
                  <a:lnTo>
                    <a:pt x="0" y="735838"/>
                  </a:lnTo>
                  <a:lnTo>
                    <a:pt x="0" y="44450"/>
                  </a:lnTo>
                  <a:lnTo>
                    <a:pt x="3493" y="27164"/>
                  </a:lnTo>
                  <a:lnTo>
                    <a:pt x="13019" y="13033"/>
                  </a:lnTo>
                  <a:lnTo>
                    <a:pt x="27148" y="3498"/>
                  </a:lnTo>
                  <a:lnTo>
                    <a:pt x="44450" y="0"/>
                  </a:lnTo>
                  <a:lnTo>
                    <a:pt x="22225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71232" y="4637404"/>
              <a:ext cx="533400" cy="1056005"/>
            </a:xfrm>
            <a:custGeom>
              <a:avLst/>
              <a:gdLst/>
              <a:ahLst/>
              <a:cxnLst/>
              <a:rect l="l" t="t" r="r" b="b"/>
              <a:pathLst>
                <a:path w="533400" h="1056004">
                  <a:moveTo>
                    <a:pt x="111531" y="541401"/>
                  </a:moveTo>
                  <a:lnTo>
                    <a:pt x="67183" y="465455"/>
                  </a:lnTo>
                  <a:lnTo>
                    <a:pt x="55765" y="445897"/>
                  </a:lnTo>
                  <a:lnTo>
                    <a:pt x="0" y="541401"/>
                  </a:lnTo>
                  <a:lnTo>
                    <a:pt x="1600" y="547497"/>
                  </a:lnTo>
                  <a:lnTo>
                    <a:pt x="11049" y="553085"/>
                  </a:lnTo>
                  <a:lnTo>
                    <a:pt x="17119" y="551434"/>
                  </a:lnTo>
                  <a:lnTo>
                    <a:pt x="45859" y="502183"/>
                  </a:lnTo>
                  <a:lnTo>
                    <a:pt x="45859" y="1055497"/>
                  </a:lnTo>
                  <a:lnTo>
                    <a:pt x="65671" y="1055497"/>
                  </a:lnTo>
                  <a:lnTo>
                    <a:pt x="65671" y="502183"/>
                  </a:lnTo>
                  <a:lnTo>
                    <a:pt x="94411" y="551434"/>
                  </a:lnTo>
                  <a:lnTo>
                    <a:pt x="100482" y="553085"/>
                  </a:lnTo>
                  <a:lnTo>
                    <a:pt x="109931" y="547497"/>
                  </a:lnTo>
                  <a:lnTo>
                    <a:pt x="111531" y="541401"/>
                  </a:lnTo>
                  <a:close/>
                </a:path>
                <a:path w="533400" h="1056004">
                  <a:moveTo>
                    <a:pt x="533019" y="55765"/>
                  </a:moveTo>
                  <a:lnTo>
                    <a:pt x="516039" y="45847"/>
                  </a:lnTo>
                  <a:lnTo>
                    <a:pt x="442226" y="2794"/>
                  </a:lnTo>
                  <a:lnTo>
                    <a:pt x="437527" y="0"/>
                  </a:lnTo>
                  <a:lnTo>
                    <a:pt x="431431" y="1524"/>
                  </a:lnTo>
                  <a:lnTo>
                    <a:pt x="428637" y="6350"/>
                  </a:lnTo>
                  <a:lnTo>
                    <a:pt x="425970" y="11049"/>
                  </a:lnTo>
                  <a:lnTo>
                    <a:pt x="427494" y="17145"/>
                  </a:lnTo>
                  <a:lnTo>
                    <a:pt x="432193" y="19812"/>
                  </a:lnTo>
                  <a:lnTo>
                    <a:pt x="476796" y="45847"/>
                  </a:lnTo>
                  <a:lnTo>
                    <a:pt x="188353" y="45847"/>
                  </a:lnTo>
                  <a:lnTo>
                    <a:pt x="188353" y="65659"/>
                  </a:lnTo>
                  <a:lnTo>
                    <a:pt x="476821" y="65659"/>
                  </a:lnTo>
                  <a:lnTo>
                    <a:pt x="493801" y="55765"/>
                  </a:lnTo>
                  <a:lnTo>
                    <a:pt x="432193" y="91694"/>
                  </a:lnTo>
                  <a:lnTo>
                    <a:pt x="427494" y="94361"/>
                  </a:lnTo>
                  <a:lnTo>
                    <a:pt x="425970" y="100457"/>
                  </a:lnTo>
                  <a:lnTo>
                    <a:pt x="428637" y="105156"/>
                  </a:lnTo>
                  <a:lnTo>
                    <a:pt x="431431" y="109982"/>
                  </a:lnTo>
                  <a:lnTo>
                    <a:pt x="437527" y="111506"/>
                  </a:lnTo>
                  <a:lnTo>
                    <a:pt x="442226" y="108712"/>
                  </a:lnTo>
                  <a:lnTo>
                    <a:pt x="516039" y="65659"/>
                  </a:lnTo>
                  <a:lnTo>
                    <a:pt x="533019" y="55765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91055" y="4283963"/>
              <a:ext cx="2796539" cy="140284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077252" y="3627881"/>
              <a:ext cx="1924050" cy="675005"/>
            </a:xfrm>
            <a:custGeom>
              <a:avLst/>
              <a:gdLst/>
              <a:ahLst/>
              <a:cxnLst/>
              <a:rect l="l" t="t" r="r" b="b"/>
              <a:pathLst>
                <a:path w="1924050" h="675004">
                  <a:moveTo>
                    <a:pt x="111531" y="96139"/>
                  </a:moveTo>
                  <a:lnTo>
                    <a:pt x="108813" y="91313"/>
                  </a:lnTo>
                  <a:lnTo>
                    <a:pt x="67894" y="19558"/>
                  </a:lnTo>
                  <a:lnTo>
                    <a:pt x="56756" y="0"/>
                  </a:lnTo>
                  <a:lnTo>
                    <a:pt x="0" y="94996"/>
                  </a:lnTo>
                  <a:lnTo>
                    <a:pt x="1536" y="101092"/>
                  </a:lnTo>
                  <a:lnTo>
                    <a:pt x="10934" y="106680"/>
                  </a:lnTo>
                  <a:lnTo>
                    <a:pt x="17018" y="105156"/>
                  </a:lnTo>
                  <a:lnTo>
                    <a:pt x="46266" y="56146"/>
                  </a:lnTo>
                  <a:lnTo>
                    <a:pt x="39839" y="674751"/>
                  </a:lnTo>
                  <a:lnTo>
                    <a:pt x="59651" y="675005"/>
                  </a:lnTo>
                  <a:lnTo>
                    <a:pt x="66065" y="56375"/>
                  </a:lnTo>
                  <a:lnTo>
                    <a:pt x="91605" y="101219"/>
                  </a:lnTo>
                  <a:lnTo>
                    <a:pt x="94310" y="105918"/>
                  </a:lnTo>
                  <a:lnTo>
                    <a:pt x="100355" y="107569"/>
                  </a:lnTo>
                  <a:lnTo>
                    <a:pt x="105117" y="104902"/>
                  </a:lnTo>
                  <a:lnTo>
                    <a:pt x="109867" y="102108"/>
                  </a:lnTo>
                  <a:lnTo>
                    <a:pt x="111531" y="96139"/>
                  </a:lnTo>
                  <a:close/>
                </a:path>
                <a:path w="1924050" h="675004">
                  <a:moveTo>
                    <a:pt x="715225" y="95885"/>
                  </a:moveTo>
                  <a:lnTo>
                    <a:pt x="712558" y="91059"/>
                  </a:lnTo>
                  <a:lnTo>
                    <a:pt x="671372" y="19558"/>
                  </a:lnTo>
                  <a:lnTo>
                    <a:pt x="660107" y="0"/>
                  </a:lnTo>
                  <a:lnTo>
                    <a:pt x="603719" y="95250"/>
                  </a:lnTo>
                  <a:lnTo>
                    <a:pt x="605370" y="101346"/>
                  </a:lnTo>
                  <a:lnTo>
                    <a:pt x="614768" y="106934"/>
                  </a:lnTo>
                  <a:lnTo>
                    <a:pt x="620864" y="105283"/>
                  </a:lnTo>
                  <a:lnTo>
                    <a:pt x="623531" y="100584"/>
                  </a:lnTo>
                  <a:lnTo>
                    <a:pt x="649859" y="56108"/>
                  </a:lnTo>
                  <a:lnTo>
                    <a:pt x="646391" y="668909"/>
                  </a:lnTo>
                  <a:lnTo>
                    <a:pt x="666203" y="669036"/>
                  </a:lnTo>
                  <a:lnTo>
                    <a:pt x="669671" y="56324"/>
                  </a:lnTo>
                  <a:lnTo>
                    <a:pt x="695413" y="100965"/>
                  </a:lnTo>
                  <a:lnTo>
                    <a:pt x="698080" y="105791"/>
                  </a:lnTo>
                  <a:lnTo>
                    <a:pt x="704176" y="107315"/>
                  </a:lnTo>
                  <a:lnTo>
                    <a:pt x="708875" y="104648"/>
                  </a:lnTo>
                  <a:lnTo>
                    <a:pt x="713701" y="101854"/>
                  </a:lnTo>
                  <a:lnTo>
                    <a:pt x="715225" y="95885"/>
                  </a:lnTo>
                  <a:close/>
                </a:path>
                <a:path w="1924050" h="675004">
                  <a:moveTo>
                    <a:pt x="1319237" y="96647"/>
                  </a:moveTo>
                  <a:lnTo>
                    <a:pt x="1316570" y="91821"/>
                  </a:lnTo>
                  <a:lnTo>
                    <a:pt x="1276210" y="19431"/>
                  </a:lnTo>
                  <a:lnTo>
                    <a:pt x="1265389" y="0"/>
                  </a:lnTo>
                  <a:lnTo>
                    <a:pt x="1210525" y="89789"/>
                  </a:lnTo>
                  <a:lnTo>
                    <a:pt x="1207731" y="94488"/>
                  </a:lnTo>
                  <a:lnTo>
                    <a:pt x="1209255" y="100584"/>
                  </a:lnTo>
                  <a:lnTo>
                    <a:pt x="1213827" y="103378"/>
                  </a:lnTo>
                  <a:lnTo>
                    <a:pt x="1218526" y="106172"/>
                  </a:lnTo>
                  <a:lnTo>
                    <a:pt x="1224622" y="104775"/>
                  </a:lnTo>
                  <a:lnTo>
                    <a:pt x="1227543" y="100076"/>
                  </a:lnTo>
                  <a:lnTo>
                    <a:pt x="1254379" y="55994"/>
                  </a:lnTo>
                  <a:lnTo>
                    <a:pt x="1242275" y="668782"/>
                  </a:lnTo>
                  <a:lnTo>
                    <a:pt x="1262087" y="669163"/>
                  </a:lnTo>
                  <a:lnTo>
                    <a:pt x="1274191" y="56388"/>
                  </a:lnTo>
                  <a:lnTo>
                    <a:pt x="1299298" y="101473"/>
                  </a:lnTo>
                  <a:lnTo>
                    <a:pt x="1301965" y="106299"/>
                  </a:lnTo>
                  <a:lnTo>
                    <a:pt x="1307934" y="107950"/>
                  </a:lnTo>
                  <a:lnTo>
                    <a:pt x="1317586" y="102616"/>
                  </a:lnTo>
                  <a:lnTo>
                    <a:pt x="1319237" y="96647"/>
                  </a:lnTo>
                  <a:close/>
                </a:path>
                <a:path w="1924050" h="675004">
                  <a:moveTo>
                    <a:pt x="1923630" y="96139"/>
                  </a:moveTo>
                  <a:lnTo>
                    <a:pt x="1880019" y="19558"/>
                  </a:lnTo>
                  <a:lnTo>
                    <a:pt x="1868893" y="0"/>
                  </a:lnTo>
                  <a:lnTo>
                    <a:pt x="1812124" y="94996"/>
                  </a:lnTo>
                  <a:lnTo>
                    <a:pt x="1813648" y="101092"/>
                  </a:lnTo>
                  <a:lnTo>
                    <a:pt x="1823046" y="106680"/>
                  </a:lnTo>
                  <a:lnTo>
                    <a:pt x="1829142" y="105156"/>
                  </a:lnTo>
                  <a:lnTo>
                    <a:pt x="1858340" y="56184"/>
                  </a:lnTo>
                  <a:lnTo>
                    <a:pt x="1851875" y="665988"/>
                  </a:lnTo>
                  <a:lnTo>
                    <a:pt x="1871687" y="666242"/>
                  </a:lnTo>
                  <a:lnTo>
                    <a:pt x="1878152" y="56261"/>
                  </a:lnTo>
                  <a:lnTo>
                    <a:pt x="1903691" y="101219"/>
                  </a:lnTo>
                  <a:lnTo>
                    <a:pt x="1906485" y="105918"/>
                  </a:lnTo>
                  <a:lnTo>
                    <a:pt x="1912454" y="107569"/>
                  </a:lnTo>
                  <a:lnTo>
                    <a:pt x="1917280" y="104902"/>
                  </a:lnTo>
                  <a:lnTo>
                    <a:pt x="1921979" y="102235"/>
                  </a:lnTo>
                  <a:lnTo>
                    <a:pt x="1923630" y="96139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66799" y="3511295"/>
              <a:ext cx="132587" cy="12649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71827" y="3511295"/>
              <a:ext cx="132588" cy="12649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75331" y="3511295"/>
              <a:ext cx="132587" cy="12649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80360" y="3511295"/>
              <a:ext cx="132587" cy="126491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172667" y="3557282"/>
              <a:ext cx="3077210" cy="746760"/>
            </a:xfrm>
            <a:custGeom>
              <a:avLst/>
              <a:gdLst/>
              <a:ahLst/>
              <a:cxnLst/>
              <a:rect l="l" t="t" r="r" b="b"/>
              <a:pathLst>
                <a:path w="3077210" h="746760">
                  <a:moveTo>
                    <a:pt x="3077133" y="727951"/>
                  </a:moveTo>
                  <a:lnTo>
                    <a:pt x="1883956" y="36842"/>
                  </a:lnTo>
                  <a:lnTo>
                    <a:pt x="1941118" y="36690"/>
                  </a:lnTo>
                  <a:lnTo>
                    <a:pt x="1945436" y="32245"/>
                  </a:lnTo>
                  <a:lnTo>
                    <a:pt x="1945436" y="21323"/>
                  </a:lnTo>
                  <a:lnTo>
                    <a:pt x="1942642" y="18529"/>
                  </a:lnTo>
                  <a:lnTo>
                    <a:pt x="1940991" y="16878"/>
                  </a:lnTo>
                  <a:lnTo>
                    <a:pt x="1935530" y="16878"/>
                  </a:lnTo>
                  <a:lnTo>
                    <a:pt x="1830374" y="17259"/>
                  </a:lnTo>
                  <a:lnTo>
                    <a:pt x="1885111" y="113398"/>
                  </a:lnTo>
                  <a:lnTo>
                    <a:pt x="1891207" y="115049"/>
                  </a:lnTo>
                  <a:lnTo>
                    <a:pt x="1895906" y="112382"/>
                  </a:lnTo>
                  <a:lnTo>
                    <a:pt x="1900605" y="109588"/>
                  </a:lnTo>
                  <a:lnTo>
                    <a:pt x="1902383" y="103619"/>
                  </a:lnTo>
                  <a:lnTo>
                    <a:pt x="1899589" y="98793"/>
                  </a:lnTo>
                  <a:lnTo>
                    <a:pt x="1874012" y="53975"/>
                  </a:lnTo>
                  <a:lnTo>
                    <a:pt x="2957258" y="681405"/>
                  </a:lnTo>
                  <a:lnTo>
                    <a:pt x="1281417" y="28448"/>
                  </a:lnTo>
                  <a:lnTo>
                    <a:pt x="1337741" y="19545"/>
                  </a:lnTo>
                  <a:lnTo>
                    <a:pt x="1340954" y="15113"/>
                  </a:lnTo>
                  <a:lnTo>
                    <a:pt x="1341424" y="14465"/>
                  </a:lnTo>
                  <a:lnTo>
                    <a:pt x="1339646" y="3670"/>
                  </a:lnTo>
                  <a:lnTo>
                    <a:pt x="1334566" y="0"/>
                  </a:lnTo>
                  <a:lnTo>
                    <a:pt x="1225346" y="17259"/>
                  </a:lnTo>
                  <a:lnTo>
                    <a:pt x="1290751" y="99682"/>
                  </a:lnTo>
                  <a:lnTo>
                    <a:pt x="1294180" y="103873"/>
                  </a:lnTo>
                  <a:lnTo>
                    <a:pt x="1300403" y="104635"/>
                  </a:lnTo>
                  <a:lnTo>
                    <a:pt x="1304594" y="101206"/>
                  </a:lnTo>
                  <a:lnTo>
                    <a:pt x="1308912" y="97777"/>
                  </a:lnTo>
                  <a:lnTo>
                    <a:pt x="1309674" y="91554"/>
                  </a:lnTo>
                  <a:lnTo>
                    <a:pt x="1274216" y="47002"/>
                  </a:lnTo>
                  <a:lnTo>
                    <a:pt x="2889681" y="676325"/>
                  </a:lnTo>
                  <a:lnTo>
                    <a:pt x="661949" y="60833"/>
                  </a:lnTo>
                  <a:lnTo>
                    <a:pt x="698830" y="51041"/>
                  </a:lnTo>
                  <a:lnTo>
                    <a:pt x="717092" y="46215"/>
                  </a:lnTo>
                  <a:lnTo>
                    <a:pt x="720267" y="40754"/>
                  </a:lnTo>
                  <a:lnTo>
                    <a:pt x="718870" y="35547"/>
                  </a:lnTo>
                  <a:lnTo>
                    <a:pt x="717473" y="30226"/>
                  </a:lnTo>
                  <a:lnTo>
                    <a:pt x="712012" y="27051"/>
                  </a:lnTo>
                  <a:lnTo>
                    <a:pt x="605078" y="55359"/>
                  </a:lnTo>
                  <a:lnTo>
                    <a:pt x="678599" y="130797"/>
                  </a:lnTo>
                  <a:lnTo>
                    <a:pt x="682294" y="134607"/>
                  </a:lnTo>
                  <a:lnTo>
                    <a:pt x="688644" y="134607"/>
                  </a:lnTo>
                  <a:lnTo>
                    <a:pt x="692454" y="130797"/>
                  </a:lnTo>
                  <a:lnTo>
                    <a:pt x="696391" y="126987"/>
                  </a:lnTo>
                  <a:lnTo>
                    <a:pt x="696518" y="120764"/>
                  </a:lnTo>
                  <a:lnTo>
                    <a:pt x="656615" y="79844"/>
                  </a:lnTo>
                  <a:lnTo>
                    <a:pt x="2697518" y="643864"/>
                  </a:lnTo>
                  <a:lnTo>
                    <a:pt x="57200" y="57861"/>
                  </a:lnTo>
                  <a:lnTo>
                    <a:pt x="82042" y="49898"/>
                  </a:lnTo>
                  <a:lnTo>
                    <a:pt x="111429" y="40513"/>
                  </a:lnTo>
                  <a:lnTo>
                    <a:pt x="114350" y="34925"/>
                  </a:lnTo>
                  <a:lnTo>
                    <a:pt x="111048" y="24498"/>
                  </a:lnTo>
                  <a:lnTo>
                    <a:pt x="105460" y="21577"/>
                  </a:lnTo>
                  <a:lnTo>
                    <a:pt x="0" y="55359"/>
                  </a:lnTo>
                  <a:lnTo>
                    <a:pt x="77228" y="126733"/>
                  </a:lnTo>
                  <a:lnTo>
                    <a:pt x="81241" y="130543"/>
                  </a:lnTo>
                  <a:lnTo>
                    <a:pt x="87515" y="130289"/>
                  </a:lnTo>
                  <a:lnTo>
                    <a:pt x="94945" y="122161"/>
                  </a:lnTo>
                  <a:lnTo>
                    <a:pt x="94703" y="115938"/>
                  </a:lnTo>
                  <a:lnTo>
                    <a:pt x="90678" y="112255"/>
                  </a:lnTo>
                  <a:lnTo>
                    <a:pt x="52895" y="77292"/>
                  </a:lnTo>
                  <a:lnTo>
                    <a:pt x="3069259" y="746747"/>
                  </a:lnTo>
                  <a:lnTo>
                    <a:pt x="3069285" y="746594"/>
                  </a:lnTo>
                  <a:lnTo>
                    <a:pt x="3072206" y="736460"/>
                  </a:lnTo>
                  <a:lnTo>
                    <a:pt x="3077133" y="727951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983741" y="2763392"/>
              <a:ext cx="2308860" cy="10160"/>
            </a:xfrm>
            <a:custGeom>
              <a:avLst/>
              <a:gdLst/>
              <a:ahLst/>
              <a:cxnLst/>
              <a:rect l="l" t="t" r="r" b="b"/>
              <a:pathLst>
                <a:path w="2308860" h="10160">
                  <a:moveTo>
                    <a:pt x="0" y="0"/>
                  </a:moveTo>
                  <a:lnTo>
                    <a:pt x="2308479" y="0"/>
                  </a:lnTo>
                </a:path>
                <a:path w="2308860" h="10160">
                  <a:moveTo>
                    <a:pt x="0" y="9905"/>
                  </a:moveTo>
                  <a:lnTo>
                    <a:pt x="2308479" y="9905"/>
                  </a:lnTo>
                </a:path>
              </a:pathLst>
            </a:custGeom>
            <a:ln w="9905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1067561" y="2292858"/>
              <a:ext cx="135890" cy="475615"/>
            </a:xfrm>
            <a:custGeom>
              <a:avLst/>
              <a:gdLst/>
              <a:ahLst/>
              <a:cxnLst/>
              <a:rect l="l" t="t" r="r" b="b"/>
              <a:pathLst>
                <a:path w="135890" h="475614">
                  <a:moveTo>
                    <a:pt x="135636" y="0"/>
                  </a:moveTo>
                  <a:lnTo>
                    <a:pt x="0" y="0"/>
                  </a:lnTo>
                  <a:lnTo>
                    <a:pt x="0" y="475488"/>
                  </a:lnTo>
                  <a:lnTo>
                    <a:pt x="135636" y="475488"/>
                  </a:lnTo>
                  <a:lnTo>
                    <a:pt x="135636" y="0"/>
                  </a:lnTo>
                  <a:close/>
                </a:path>
              </a:pathLst>
            </a:custGeom>
            <a:solidFill>
              <a:srgbClr val="BCD6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1067561" y="2292858"/>
              <a:ext cx="135890" cy="475615"/>
            </a:xfrm>
            <a:custGeom>
              <a:avLst/>
              <a:gdLst/>
              <a:ahLst/>
              <a:cxnLst/>
              <a:rect l="l" t="t" r="r" b="b"/>
              <a:pathLst>
                <a:path w="135890" h="475614">
                  <a:moveTo>
                    <a:pt x="0" y="475488"/>
                  </a:moveTo>
                  <a:lnTo>
                    <a:pt x="135636" y="475488"/>
                  </a:lnTo>
                  <a:lnTo>
                    <a:pt x="135636" y="0"/>
                  </a:lnTo>
                  <a:lnTo>
                    <a:pt x="0" y="0"/>
                  </a:lnTo>
                  <a:lnTo>
                    <a:pt x="0" y="475488"/>
                  </a:lnTo>
                  <a:close/>
                </a:path>
              </a:pathLst>
            </a:custGeom>
            <a:ln w="19812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1671065" y="2713481"/>
              <a:ext cx="137160" cy="45720"/>
            </a:xfrm>
            <a:custGeom>
              <a:avLst/>
              <a:gdLst/>
              <a:ahLst/>
              <a:cxnLst/>
              <a:rect l="l" t="t" r="r" b="b"/>
              <a:pathLst>
                <a:path w="137160" h="45719">
                  <a:moveTo>
                    <a:pt x="13716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137160" y="45720"/>
                  </a:lnTo>
                  <a:lnTo>
                    <a:pt x="137160" y="0"/>
                  </a:lnTo>
                  <a:close/>
                </a:path>
              </a:pathLst>
            </a:custGeom>
            <a:solidFill>
              <a:srgbClr val="BCD6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1671065" y="2713481"/>
              <a:ext cx="137160" cy="45720"/>
            </a:xfrm>
            <a:custGeom>
              <a:avLst/>
              <a:gdLst/>
              <a:ahLst/>
              <a:cxnLst/>
              <a:rect l="l" t="t" r="r" b="b"/>
              <a:pathLst>
                <a:path w="137160" h="45719">
                  <a:moveTo>
                    <a:pt x="0" y="45720"/>
                  </a:moveTo>
                  <a:lnTo>
                    <a:pt x="137160" y="45720"/>
                  </a:lnTo>
                  <a:lnTo>
                    <a:pt x="137160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9811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2274569" y="2713481"/>
              <a:ext cx="137160" cy="45720"/>
            </a:xfrm>
            <a:custGeom>
              <a:avLst/>
              <a:gdLst/>
              <a:ahLst/>
              <a:cxnLst/>
              <a:rect l="l" t="t" r="r" b="b"/>
              <a:pathLst>
                <a:path w="137160" h="45719">
                  <a:moveTo>
                    <a:pt x="13716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137160" y="45720"/>
                  </a:lnTo>
                  <a:lnTo>
                    <a:pt x="137160" y="0"/>
                  </a:lnTo>
                  <a:close/>
                </a:path>
              </a:pathLst>
            </a:custGeom>
            <a:solidFill>
              <a:srgbClr val="BCD6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2274569" y="2713481"/>
              <a:ext cx="137160" cy="45720"/>
            </a:xfrm>
            <a:custGeom>
              <a:avLst/>
              <a:gdLst/>
              <a:ahLst/>
              <a:cxnLst/>
              <a:rect l="l" t="t" r="r" b="b"/>
              <a:pathLst>
                <a:path w="137160" h="45719">
                  <a:moveTo>
                    <a:pt x="0" y="45720"/>
                  </a:moveTo>
                  <a:lnTo>
                    <a:pt x="137160" y="45720"/>
                  </a:lnTo>
                  <a:lnTo>
                    <a:pt x="137160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9811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2879597" y="2713481"/>
              <a:ext cx="135890" cy="45720"/>
            </a:xfrm>
            <a:custGeom>
              <a:avLst/>
              <a:gdLst/>
              <a:ahLst/>
              <a:cxnLst/>
              <a:rect l="l" t="t" r="r" b="b"/>
              <a:pathLst>
                <a:path w="135889" h="45719">
                  <a:moveTo>
                    <a:pt x="135636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135636" y="45720"/>
                  </a:lnTo>
                  <a:lnTo>
                    <a:pt x="135636" y="0"/>
                  </a:lnTo>
                  <a:close/>
                </a:path>
              </a:pathLst>
            </a:custGeom>
            <a:solidFill>
              <a:srgbClr val="BCD6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2879597" y="2713481"/>
              <a:ext cx="135890" cy="45720"/>
            </a:xfrm>
            <a:custGeom>
              <a:avLst/>
              <a:gdLst/>
              <a:ahLst/>
              <a:cxnLst/>
              <a:rect l="l" t="t" r="r" b="b"/>
              <a:pathLst>
                <a:path w="135889" h="45719">
                  <a:moveTo>
                    <a:pt x="0" y="45720"/>
                  </a:moveTo>
                  <a:lnTo>
                    <a:pt x="135636" y="45720"/>
                  </a:lnTo>
                  <a:lnTo>
                    <a:pt x="135636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9812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1079309" y="2759201"/>
              <a:ext cx="1924050" cy="762635"/>
            </a:xfrm>
            <a:custGeom>
              <a:avLst/>
              <a:gdLst/>
              <a:ahLst/>
              <a:cxnLst/>
              <a:rect l="l" t="t" r="r" b="b"/>
              <a:pathLst>
                <a:path w="1924050" h="762635">
                  <a:moveTo>
                    <a:pt x="111518" y="104902"/>
                  </a:moveTo>
                  <a:lnTo>
                    <a:pt x="108775" y="100076"/>
                  </a:lnTo>
                  <a:lnTo>
                    <a:pt x="67386" y="28702"/>
                  </a:lnTo>
                  <a:lnTo>
                    <a:pt x="56045" y="9144"/>
                  </a:lnTo>
                  <a:lnTo>
                    <a:pt x="0" y="104521"/>
                  </a:lnTo>
                  <a:lnTo>
                    <a:pt x="1574" y="110617"/>
                  </a:lnTo>
                  <a:lnTo>
                    <a:pt x="6286" y="113411"/>
                  </a:lnTo>
                  <a:lnTo>
                    <a:pt x="11010" y="116078"/>
                  </a:lnTo>
                  <a:lnTo>
                    <a:pt x="17081" y="114554"/>
                  </a:lnTo>
                  <a:lnTo>
                    <a:pt x="45897" y="65481"/>
                  </a:lnTo>
                  <a:lnTo>
                    <a:pt x="46024" y="48450"/>
                  </a:lnTo>
                  <a:lnTo>
                    <a:pt x="45974" y="65366"/>
                  </a:lnTo>
                  <a:lnTo>
                    <a:pt x="43878" y="761873"/>
                  </a:lnTo>
                  <a:lnTo>
                    <a:pt x="63690" y="762000"/>
                  </a:lnTo>
                  <a:lnTo>
                    <a:pt x="65684" y="100076"/>
                  </a:lnTo>
                  <a:lnTo>
                    <a:pt x="65709" y="65366"/>
                  </a:lnTo>
                  <a:lnTo>
                    <a:pt x="94373" y="114808"/>
                  </a:lnTo>
                  <a:lnTo>
                    <a:pt x="100444" y="116459"/>
                  </a:lnTo>
                  <a:lnTo>
                    <a:pt x="109905" y="110871"/>
                  </a:lnTo>
                  <a:lnTo>
                    <a:pt x="111518" y="104902"/>
                  </a:lnTo>
                  <a:close/>
                </a:path>
                <a:path w="1924050" h="762635">
                  <a:moveTo>
                    <a:pt x="716089" y="95631"/>
                  </a:moveTo>
                  <a:lnTo>
                    <a:pt x="713295" y="90932"/>
                  </a:lnTo>
                  <a:lnTo>
                    <a:pt x="671817" y="19558"/>
                  </a:lnTo>
                  <a:lnTo>
                    <a:pt x="660463" y="0"/>
                  </a:lnTo>
                  <a:lnTo>
                    <a:pt x="607250" y="90678"/>
                  </a:lnTo>
                  <a:lnTo>
                    <a:pt x="604583" y="95377"/>
                  </a:lnTo>
                  <a:lnTo>
                    <a:pt x="606107" y="101473"/>
                  </a:lnTo>
                  <a:lnTo>
                    <a:pt x="615505" y="107061"/>
                  </a:lnTo>
                  <a:lnTo>
                    <a:pt x="621601" y="105410"/>
                  </a:lnTo>
                  <a:lnTo>
                    <a:pt x="624395" y="100711"/>
                  </a:lnTo>
                  <a:lnTo>
                    <a:pt x="650443" y="56261"/>
                  </a:lnTo>
                  <a:lnTo>
                    <a:pt x="650557" y="19558"/>
                  </a:lnTo>
                  <a:lnTo>
                    <a:pt x="650468" y="56210"/>
                  </a:lnTo>
                  <a:lnTo>
                    <a:pt x="648906" y="762000"/>
                  </a:lnTo>
                  <a:lnTo>
                    <a:pt x="668718" y="762127"/>
                  </a:lnTo>
                  <a:lnTo>
                    <a:pt x="670166" y="107188"/>
                  </a:lnTo>
                  <a:lnTo>
                    <a:pt x="670242" y="56222"/>
                  </a:lnTo>
                  <a:lnTo>
                    <a:pt x="698944" y="105664"/>
                  </a:lnTo>
                  <a:lnTo>
                    <a:pt x="705040" y="107188"/>
                  </a:lnTo>
                  <a:lnTo>
                    <a:pt x="709739" y="104521"/>
                  </a:lnTo>
                  <a:lnTo>
                    <a:pt x="714438" y="101727"/>
                  </a:lnTo>
                  <a:lnTo>
                    <a:pt x="716089" y="95631"/>
                  </a:lnTo>
                  <a:close/>
                </a:path>
                <a:path w="1924050" h="762635">
                  <a:moveTo>
                    <a:pt x="1319085" y="95631"/>
                  </a:moveTo>
                  <a:lnTo>
                    <a:pt x="1316215" y="90805"/>
                  </a:lnTo>
                  <a:lnTo>
                    <a:pt x="1274813" y="19558"/>
                  </a:lnTo>
                  <a:lnTo>
                    <a:pt x="1263459" y="0"/>
                  </a:lnTo>
                  <a:lnTo>
                    <a:pt x="1210297" y="90932"/>
                  </a:lnTo>
                  <a:lnTo>
                    <a:pt x="1207579" y="95504"/>
                  </a:lnTo>
                  <a:lnTo>
                    <a:pt x="1209103" y="101473"/>
                  </a:lnTo>
                  <a:lnTo>
                    <a:pt x="1213802" y="104267"/>
                  </a:lnTo>
                  <a:lnTo>
                    <a:pt x="1218628" y="107061"/>
                  </a:lnTo>
                  <a:lnTo>
                    <a:pt x="1224597" y="105410"/>
                  </a:lnTo>
                  <a:lnTo>
                    <a:pt x="1227391" y="100711"/>
                  </a:lnTo>
                  <a:lnTo>
                    <a:pt x="1253490" y="56172"/>
                  </a:lnTo>
                  <a:lnTo>
                    <a:pt x="1252410" y="762000"/>
                  </a:lnTo>
                  <a:lnTo>
                    <a:pt x="1272222" y="762127"/>
                  </a:lnTo>
                  <a:lnTo>
                    <a:pt x="1273302" y="56426"/>
                  </a:lnTo>
                  <a:lnTo>
                    <a:pt x="1299146" y="100838"/>
                  </a:lnTo>
                  <a:lnTo>
                    <a:pt x="1301940" y="105537"/>
                  </a:lnTo>
                  <a:lnTo>
                    <a:pt x="1308036" y="107188"/>
                  </a:lnTo>
                  <a:lnTo>
                    <a:pt x="1312735" y="104394"/>
                  </a:lnTo>
                  <a:lnTo>
                    <a:pt x="1317434" y="101727"/>
                  </a:lnTo>
                  <a:lnTo>
                    <a:pt x="1319085" y="95631"/>
                  </a:lnTo>
                  <a:close/>
                </a:path>
                <a:path w="1924050" h="762635">
                  <a:moveTo>
                    <a:pt x="1923605" y="95631"/>
                  </a:moveTo>
                  <a:lnTo>
                    <a:pt x="1879358" y="19558"/>
                  </a:lnTo>
                  <a:lnTo>
                    <a:pt x="1867979" y="0"/>
                  </a:lnTo>
                  <a:lnTo>
                    <a:pt x="1814893" y="90805"/>
                  </a:lnTo>
                  <a:lnTo>
                    <a:pt x="1812099" y="95504"/>
                  </a:lnTo>
                  <a:lnTo>
                    <a:pt x="1813750" y="101600"/>
                  </a:lnTo>
                  <a:lnTo>
                    <a:pt x="1818449" y="104394"/>
                  </a:lnTo>
                  <a:lnTo>
                    <a:pt x="1823148" y="107061"/>
                  </a:lnTo>
                  <a:lnTo>
                    <a:pt x="1829244" y="105537"/>
                  </a:lnTo>
                  <a:lnTo>
                    <a:pt x="1831911" y="100838"/>
                  </a:lnTo>
                  <a:lnTo>
                    <a:pt x="1858035" y="56172"/>
                  </a:lnTo>
                  <a:lnTo>
                    <a:pt x="1857438" y="762000"/>
                  </a:lnTo>
                  <a:lnTo>
                    <a:pt x="1877250" y="762127"/>
                  </a:lnTo>
                  <a:lnTo>
                    <a:pt x="1877809" y="107188"/>
                  </a:lnTo>
                  <a:lnTo>
                    <a:pt x="1877733" y="56184"/>
                  </a:lnTo>
                  <a:lnTo>
                    <a:pt x="1877847" y="56375"/>
                  </a:lnTo>
                  <a:lnTo>
                    <a:pt x="1903793" y="100838"/>
                  </a:lnTo>
                  <a:lnTo>
                    <a:pt x="1906460" y="105537"/>
                  </a:lnTo>
                  <a:lnTo>
                    <a:pt x="1912556" y="107188"/>
                  </a:lnTo>
                  <a:lnTo>
                    <a:pt x="1917255" y="104394"/>
                  </a:lnTo>
                  <a:lnTo>
                    <a:pt x="1922081" y="101600"/>
                  </a:lnTo>
                  <a:lnTo>
                    <a:pt x="1923605" y="95631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32471" y="1095755"/>
              <a:ext cx="1821548" cy="1625727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1571194" y="3918744"/>
            <a:ext cx="507831" cy="78613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Encoder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RNN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2141981" y="3929392"/>
            <a:ext cx="187960" cy="780415"/>
          </a:xfrm>
          <a:custGeom>
            <a:avLst/>
            <a:gdLst/>
            <a:ahLst/>
            <a:cxnLst/>
            <a:rect l="l" t="t" r="r" b="b"/>
            <a:pathLst>
              <a:path w="187959" h="780414">
                <a:moveTo>
                  <a:pt x="187452" y="780288"/>
                </a:moveTo>
                <a:lnTo>
                  <a:pt x="150968" y="774515"/>
                </a:lnTo>
                <a:lnTo>
                  <a:pt x="121177" y="758777"/>
                </a:lnTo>
                <a:lnTo>
                  <a:pt x="101091" y="735443"/>
                </a:lnTo>
                <a:lnTo>
                  <a:pt x="93726" y="706882"/>
                </a:lnTo>
                <a:lnTo>
                  <a:pt x="93726" y="463550"/>
                </a:lnTo>
                <a:lnTo>
                  <a:pt x="86360" y="434988"/>
                </a:lnTo>
                <a:lnTo>
                  <a:pt x="66274" y="411654"/>
                </a:lnTo>
                <a:lnTo>
                  <a:pt x="36483" y="395916"/>
                </a:lnTo>
                <a:lnTo>
                  <a:pt x="0" y="390144"/>
                </a:lnTo>
                <a:lnTo>
                  <a:pt x="36483" y="384371"/>
                </a:lnTo>
                <a:lnTo>
                  <a:pt x="66274" y="368633"/>
                </a:lnTo>
                <a:lnTo>
                  <a:pt x="86360" y="345299"/>
                </a:lnTo>
                <a:lnTo>
                  <a:pt x="93726" y="316738"/>
                </a:lnTo>
                <a:lnTo>
                  <a:pt x="93726" y="73406"/>
                </a:lnTo>
                <a:lnTo>
                  <a:pt x="101091" y="44844"/>
                </a:lnTo>
                <a:lnTo>
                  <a:pt x="121177" y="21510"/>
                </a:lnTo>
                <a:lnTo>
                  <a:pt x="150968" y="5772"/>
                </a:lnTo>
                <a:lnTo>
                  <a:pt x="187452" y="0"/>
                </a:lnTo>
              </a:path>
            </a:pathLst>
          </a:custGeom>
          <a:ln w="1981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389626" y="5341173"/>
            <a:ext cx="72263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&lt;</a:t>
            </a:r>
            <a:r>
              <a:rPr kumimoji="0" sz="1600" b="0" i="1" u="none" strike="noStrike" kern="120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</a:t>
            </a:r>
            <a:r>
              <a:rPr kumimoji="0" sz="1600" b="0" i="1" u="none" strike="noStrike" kern="1200" cap="none" spc="-1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</a:t>
            </a:r>
            <a:r>
              <a:rPr kumimoji="0" sz="16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</a:t>
            </a:r>
            <a:r>
              <a:rPr kumimoji="0" sz="1600" b="0" i="1" u="none" strike="noStrike" kern="120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R</a:t>
            </a:r>
            <a:r>
              <a:rPr kumimoji="0" sz="1600" b="0" i="1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T&gt;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0136885" y="3952251"/>
            <a:ext cx="189230" cy="779145"/>
          </a:xfrm>
          <a:custGeom>
            <a:avLst/>
            <a:gdLst/>
            <a:ahLst/>
            <a:cxnLst/>
            <a:rect l="l" t="t" r="r" b="b"/>
            <a:pathLst>
              <a:path w="189229" h="779145">
                <a:moveTo>
                  <a:pt x="0" y="0"/>
                </a:moveTo>
                <a:lnTo>
                  <a:pt x="36784" y="5816"/>
                </a:lnTo>
                <a:lnTo>
                  <a:pt x="66817" y="21669"/>
                </a:lnTo>
                <a:lnTo>
                  <a:pt x="87064" y="45166"/>
                </a:lnTo>
                <a:lnTo>
                  <a:pt x="94488" y="73913"/>
                </a:lnTo>
                <a:lnTo>
                  <a:pt x="94488" y="315468"/>
                </a:lnTo>
                <a:lnTo>
                  <a:pt x="101911" y="344215"/>
                </a:lnTo>
                <a:lnTo>
                  <a:pt x="122158" y="367712"/>
                </a:lnTo>
                <a:lnTo>
                  <a:pt x="152191" y="383565"/>
                </a:lnTo>
                <a:lnTo>
                  <a:pt x="188975" y="389381"/>
                </a:lnTo>
                <a:lnTo>
                  <a:pt x="152191" y="395198"/>
                </a:lnTo>
                <a:lnTo>
                  <a:pt x="122158" y="411051"/>
                </a:lnTo>
                <a:lnTo>
                  <a:pt x="101911" y="434548"/>
                </a:lnTo>
                <a:lnTo>
                  <a:pt x="94488" y="463295"/>
                </a:lnTo>
                <a:lnTo>
                  <a:pt x="94488" y="704850"/>
                </a:lnTo>
                <a:lnTo>
                  <a:pt x="87064" y="733597"/>
                </a:lnTo>
                <a:lnTo>
                  <a:pt x="66817" y="757094"/>
                </a:lnTo>
                <a:lnTo>
                  <a:pt x="36784" y="772947"/>
                </a:lnTo>
                <a:lnTo>
                  <a:pt x="0" y="778763"/>
                </a:lnTo>
              </a:path>
            </a:pathLst>
          </a:custGeom>
          <a:ln w="19812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571194" y="1532232"/>
            <a:ext cx="507831" cy="110109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13030" marR="0" lvl="0" indent="0" algn="l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Attention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distribution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2149601" y="1769882"/>
            <a:ext cx="189230" cy="624840"/>
          </a:xfrm>
          <a:custGeom>
            <a:avLst/>
            <a:gdLst/>
            <a:ahLst/>
            <a:cxnLst/>
            <a:rect l="l" t="t" r="r" b="b"/>
            <a:pathLst>
              <a:path w="189230" h="624839">
                <a:moveTo>
                  <a:pt x="188976" y="624840"/>
                </a:moveTo>
                <a:lnTo>
                  <a:pt x="152196" y="619023"/>
                </a:lnTo>
                <a:lnTo>
                  <a:pt x="122162" y="603170"/>
                </a:lnTo>
                <a:lnTo>
                  <a:pt x="101913" y="579673"/>
                </a:lnTo>
                <a:lnTo>
                  <a:pt x="94488" y="550926"/>
                </a:lnTo>
                <a:lnTo>
                  <a:pt x="94488" y="386334"/>
                </a:lnTo>
                <a:lnTo>
                  <a:pt x="87062" y="357586"/>
                </a:lnTo>
                <a:lnTo>
                  <a:pt x="66813" y="334089"/>
                </a:lnTo>
                <a:lnTo>
                  <a:pt x="36779" y="318236"/>
                </a:lnTo>
                <a:lnTo>
                  <a:pt x="0" y="312420"/>
                </a:lnTo>
                <a:lnTo>
                  <a:pt x="36779" y="306603"/>
                </a:lnTo>
                <a:lnTo>
                  <a:pt x="66813" y="290750"/>
                </a:lnTo>
                <a:lnTo>
                  <a:pt x="87062" y="267253"/>
                </a:lnTo>
                <a:lnTo>
                  <a:pt x="94488" y="238506"/>
                </a:lnTo>
                <a:lnTo>
                  <a:pt x="94488" y="73914"/>
                </a:lnTo>
                <a:lnTo>
                  <a:pt x="101913" y="45166"/>
                </a:lnTo>
                <a:lnTo>
                  <a:pt x="122162" y="21669"/>
                </a:lnTo>
                <a:lnTo>
                  <a:pt x="152196" y="5816"/>
                </a:lnTo>
                <a:lnTo>
                  <a:pt x="188976" y="0"/>
                </a:lnTo>
              </a:path>
            </a:pathLst>
          </a:custGeom>
          <a:ln w="19812">
            <a:solidFill>
              <a:srgbClr val="3986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571194" y="2794074"/>
            <a:ext cx="507831" cy="899794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Attention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scores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2137409" y="2902215"/>
            <a:ext cx="189230" cy="624840"/>
          </a:xfrm>
          <a:custGeom>
            <a:avLst/>
            <a:gdLst/>
            <a:ahLst/>
            <a:cxnLst/>
            <a:rect l="l" t="t" r="r" b="b"/>
            <a:pathLst>
              <a:path w="189229" h="624839">
                <a:moveTo>
                  <a:pt x="188976" y="624839"/>
                </a:moveTo>
                <a:lnTo>
                  <a:pt x="152196" y="619023"/>
                </a:lnTo>
                <a:lnTo>
                  <a:pt x="122162" y="603170"/>
                </a:lnTo>
                <a:lnTo>
                  <a:pt x="101913" y="579673"/>
                </a:lnTo>
                <a:lnTo>
                  <a:pt x="94488" y="550926"/>
                </a:lnTo>
                <a:lnTo>
                  <a:pt x="94488" y="386334"/>
                </a:lnTo>
                <a:lnTo>
                  <a:pt x="87062" y="357586"/>
                </a:lnTo>
                <a:lnTo>
                  <a:pt x="66813" y="334089"/>
                </a:lnTo>
                <a:lnTo>
                  <a:pt x="36779" y="318236"/>
                </a:lnTo>
                <a:lnTo>
                  <a:pt x="0" y="312420"/>
                </a:lnTo>
                <a:lnTo>
                  <a:pt x="36779" y="306603"/>
                </a:lnTo>
                <a:lnTo>
                  <a:pt x="66813" y="290750"/>
                </a:lnTo>
                <a:lnTo>
                  <a:pt x="87062" y="267253"/>
                </a:lnTo>
                <a:lnTo>
                  <a:pt x="94488" y="238506"/>
                </a:lnTo>
                <a:lnTo>
                  <a:pt x="94488" y="73913"/>
                </a:lnTo>
                <a:lnTo>
                  <a:pt x="101913" y="45166"/>
                </a:lnTo>
                <a:lnTo>
                  <a:pt x="122162" y="21669"/>
                </a:lnTo>
                <a:lnTo>
                  <a:pt x="152196" y="5816"/>
                </a:lnTo>
                <a:lnTo>
                  <a:pt x="188976" y="0"/>
                </a:lnTo>
              </a:path>
            </a:pathLst>
          </a:custGeom>
          <a:ln w="19812">
            <a:solidFill>
              <a:srgbClr val="3986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906392" y="799984"/>
            <a:ext cx="89979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2715" marR="5080" lvl="0" indent="-12065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</a:t>
            </a:r>
            <a:r>
              <a:rPr kumimoji="0" sz="1800" b="0" i="0" u="none" strike="noStrike" kern="1200" cap="none" spc="-3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tt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e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n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i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on  output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3823082" y="1405011"/>
            <a:ext cx="2002155" cy="2515870"/>
          </a:xfrm>
          <a:custGeom>
            <a:avLst/>
            <a:gdLst/>
            <a:ahLst/>
            <a:cxnLst/>
            <a:rect l="l" t="t" r="r" b="b"/>
            <a:pathLst>
              <a:path w="2002154" h="2515870">
                <a:moveTo>
                  <a:pt x="1713992" y="264160"/>
                </a:moveTo>
                <a:lnTo>
                  <a:pt x="1627632" y="194945"/>
                </a:lnTo>
                <a:lnTo>
                  <a:pt x="1621409" y="195707"/>
                </a:lnTo>
                <a:lnTo>
                  <a:pt x="1617980" y="199898"/>
                </a:lnTo>
                <a:lnTo>
                  <a:pt x="1614551" y="204216"/>
                </a:lnTo>
                <a:lnTo>
                  <a:pt x="1615313" y="210439"/>
                </a:lnTo>
                <a:lnTo>
                  <a:pt x="1619504" y="213868"/>
                </a:lnTo>
                <a:lnTo>
                  <a:pt x="1659699" y="246062"/>
                </a:lnTo>
                <a:lnTo>
                  <a:pt x="2794" y="0"/>
                </a:lnTo>
                <a:lnTo>
                  <a:pt x="0" y="19558"/>
                </a:lnTo>
                <a:lnTo>
                  <a:pt x="1656765" y="265747"/>
                </a:lnTo>
                <a:lnTo>
                  <a:pt x="1603883" y="286893"/>
                </a:lnTo>
                <a:lnTo>
                  <a:pt x="1601470" y="292735"/>
                </a:lnTo>
                <a:lnTo>
                  <a:pt x="1605534" y="302895"/>
                </a:lnTo>
                <a:lnTo>
                  <a:pt x="1611249" y="305308"/>
                </a:lnTo>
                <a:lnTo>
                  <a:pt x="1696542" y="271145"/>
                </a:lnTo>
                <a:lnTo>
                  <a:pt x="1713992" y="264160"/>
                </a:lnTo>
                <a:close/>
              </a:path>
              <a:path w="2002154" h="2515870">
                <a:moveTo>
                  <a:pt x="2001774" y="609727"/>
                </a:moveTo>
                <a:lnTo>
                  <a:pt x="1998980" y="605028"/>
                </a:lnTo>
                <a:lnTo>
                  <a:pt x="1957425" y="533781"/>
                </a:lnTo>
                <a:lnTo>
                  <a:pt x="1946021" y="514223"/>
                </a:lnTo>
                <a:lnTo>
                  <a:pt x="1893062" y="605028"/>
                </a:lnTo>
                <a:lnTo>
                  <a:pt x="1890268" y="609727"/>
                </a:lnTo>
                <a:lnTo>
                  <a:pt x="1891792" y="615823"/>
                </a:lnTo>
                <a:lnTo>
                  <a:pt x="1896618" y="618617"/>
                </a:lnTo>
                <a:lnTo>
                  <a:pt x="1901317" y="621411"/>
                </a:lnTo>
                <a:lnTo>
                  <a:pt x="1907413" y="619760"/>
                </a:lnTo>
                <a:lnTo>
                  <a:pt x="1910080" y="615061"/>
                </a:lnTo>
                <a:lnTo>
                  <a:pt x="1936102" y="570433"/>
                </a:lnTo>
                <a:lnTo>
                  <a:pt x="1936115" y="533781"/>
                </a:lnTo>
                <a:lnTo>
                  <a:pt x="1936115" y="570433"/>
                </a:lnTo>
                <a:lnTo>
                  <a:pt x="1936115" y="2515362"/>
                </a:lnTo>
                <a:lnTo>
                  <a:pt x="1955927" y="2515362"/>
                </a:lnTo>
                <a:lnTo>
                  <a:pt x="1955927" y="570433"/>
                </a:lnTo>
                <a:lnTo>
                  <a:pt x="1981962" y="615061"/>
                </a:lnTo>
                <a:lnTo>
                  <a:pt x="1984629" y="619760"/>
                </a:lnTo>
                <a:lnTo>
                  <a:pt x="1990725" y="621411"/>
                </a:lnTo>
                <a:lnTo>
                  <a:pt x="1995424" y="618617"/>
                </a:lnTo>
                <a:lnTo>
                  <a:pt x="2000250" y="615823"/>
                </a:lnTo>
                <a:lnTo>
                  <a:pt x="2001774" y="609727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5721350" y="1189239"/>
            <a:ext cx="111760" cy="347345"/>
          </a:xfrm>
          <a:custGeom>
            <a:avLst/>
            <a:gdLst/>
            <a:ahLst/>
            <a:cxnLst/>
            <a:rect l="l" t="t" r="r" b="b"/>
            <a:pathLst>
              <a:path w="111760" h="347344">
                <a:moveTo>
                  <a:pt x="55480" y="39261"/>
                </a:moveTo>
                <a:lnTo>
                  <a:pt x="45720" y="56146"/>
                </a:lnTo>
                <a:lnTo>
                  <a:pt x="46736" y="346963"/>
                </a:lnTo>
                <a:lnTo>
                  <a:pt x="66548" y="346837"/>
                </a:lnTo>
                <a:lnTo>
                  <a:pt x="65533" y="56319"/>
                </a:lnTo>
                <a:lnTo>
                  <a:pt x="55480" y="39261"/>
                </a:lnTo>
                <a:close/>
              </a:path>
              <a:path w="111760" h="347344">
                <a:moveTo>
                  <a:pt x="55372" y="0"/>
                </a:moveTo>
                <a:lnTo>
                  <a:pt x="2666" y="91059"/>
                </a:lnTo>
                <a:lnTo>
                  <a:pt x="0" y="95758"/>
                </a:lnTo>
                <a:lnTo>
                  <a:pt x="1524" y="101853"/>
                </a:lnTo>
                <a:lnTo>
                  <a:pt x="6350" y="104521"/>
                </a:lnTo>
                <a:lnTo>
                  <a:pt x="11049" y="107314"/>
                </a:lnTo>
                <a:lnTo>
                  <a:pt x="17145" y="105663"/>
                </a:lnTo>
                <a:lnTo>
                  <a:pt x="19812" y="100964"/>
                </a:lnTo>
                <a:lnTo>
                  <a:pt x="45620" y="56319"/>
                </a:lnTo>
                <a:lnTo>
                  <a:pt x="45592" y="19685"/>
                </a:lnTo>
                <a:lnTo>
                  <a:pt x="66876" y="19558"/>
                </a:lnTo>
                <a:lnTo>
                  <a:pt x="55372" y="0"/>
                </a:lnTo>
                <a:close/>
              </a:path>
              <a:path w="111760" h="347344">
                <a:moveTo>
                  <a:pt x="66876" y="19558"/>
                </a:moveTo>
                <a:lnTo>
                  <a:pt x="65404" y="19558"/>
                </a:lnTo>
                <a:lnTo>
                  <a:pt x="65533" y="56319"/>
                </a:lnTo>
                <a:lnTo>
                  <a:pt x="91694" y="100711"/>
                </a:lnTo>
                <a:lnTo>
                  <a:pt x="94361" y="105410"/>
                </a:lnTo>
                <a:lnTo>
                  <a:pt x="100457" y="106934"/>
                </a:lnTo>
                <a:lnTo>
                  <a:pt x="105155" y="104139"/>
                </a:lnTo>
                <a:lnTo>
                  <a:pt x="109854" y="101473"/>
                </a:lnTo>
                <a:lnTo>
                  <a:pt x="111505" y="95376"/>
                </a:lnTo>
                <a:lnTo>
                  <a:pt x="108712" y="90677"/>
                </a:lnTo>
                <a:lnTo>
                  <a:pt x="66876" y="19558"/>
                </a:lnTo>
                <a:close/>
              </a:path>
              <a:path w="111760" h="347344">
                <a:moveTo>
                  <a:pt x="65422" y="24511"/>
                </a:moveTo>
                <a:lnTo>
                  <a:pt x="64008" y="24511"/>
                </a:lnTo>
                <a:lnTo>
                  <a:pt x="55480" y="39261"/>
                </a:lnTo>
                <a:lnTo>
                  <a:pt x="65533" y="56319"/>
                </a:lnTo>
                <a:lnTo>
                  <a:pt x="65422" y="24511"/>
                </a:lnTo>
                <a:close/>
              </a:path>
              <a:path w="111760" h="347344">
                <a:moveTo>
                  <a:pt x="65404" y="19558"/>
                </a:moveTo>
                <a:lnTo>
                  <a:pt x="45592" y="19685"/>
                </a:lnTo>
                <a:lnTo>
                  <a:pt x="45720" y="56146"/>
                </a:lnTo>
                <a:lnTo>
                  <a:pt x="55480" y="39261"/>
                </a:lnTo>
                <a:lnTo>
                  <a:pt x="46862" y="24637"/>
                </a:lnTo>
                <a:lnTo>
                  <a:pt x="65422" y="24511"/>
                </a:lnTo>
                <a:lnTo>
                  <a:pt x="65404" y="19558"/>
                </a:lnTo>
                <a:close/>
              </a:path>
              <a:path w="111760" h="347344">
                <a:moveTo>
                  <a:pt x="64008" y="24511"/>
                </a:moveTo>
                <a:lnTo>
                  <a:pt x="46862" y="24637"/>
                </a:lnTo>
                <a:lnTo>
                  <a:pt x="55480" y="39261"/>
                </a:lnTo>
                <a:lnTo>
                  <a:pt x="64008" y="24511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663947" y="870342"/>
            <a:ext cx="294382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we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pic>
        <p:nvPicPr>
          <p:cNvPr id="51" name="Picture 5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31002" y="1564575"/>
            <a:ext cx="285750" cy="371475"/>
          </a:xfrm>
          <a:prstGeom prst="rect">
            <a:avLst/>
          </a:prstGeom>
        </p:spPr>
      </p:pic>
      <p:sp>
        <p:nvSpPr>
          <p:cNvPr id="45" name="object 2">
            <a:extLst>
              <a:ext uri="{FF2B5EF4-FFF2-40B4-BE49-F238E27FC236}">
                <a16:creationId xmlns:a16="http://schemas.microsoft.com/office/drawing/2014/main" id="{26B55A8E-D1A4-2D68-20F5-BA3FBA2609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1325" y="46597"/>
            <a:ext cx="11307763" cy="629018"/>
          </a:xfrm>
          <a:prstGeom prst="rect">
            <a:avLst/>
          </a:prstGeom>
        </p:spPr>
        <p:txBody>
          <a:bodyPr vert="horz" wrap="square" lIns="0" tIns="1333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pc="-5" dirty="0"/>
              <a:t>Sequence-to-Sequence</a:t>
            </a:r>
            <a:r>
              <a:rPr lang="en-IN" spc="-40" dirty="0"/>
              <a:t> </a:t>
            </a:r>
            <a:r>
              <a:rPr lang="en-IN" spc="-5" dirty="0"/>
              <a:t>With</a:t>
            </a:r>
            <a:r>
              <a:rPr lang="en-IN" spc="15" dirty="0"/>
              <a:t> A</a:t>
            </a:r>
            <a:r>
              <a:rPr lang="en-IN" dirty="0"/>
              <a:t>ttention</a:t>
            </a:r>
            <a:endParaRPr dirty="0"/>
          </a:p>
        </p:txBody>
      </p:sp>
      <p:sp>
        <p:nvSpPr>
          <p:cNvPr id="49" name="object 42">
            <a:extLst>
              <a:ext uri="{FF2B5EF4-FFF2-40B4-BE49-F238E27FC236}">
                <a16:creationId xmlns:a16="http://schemas.microsoft.com/office/drawing/2014/main" id="{ABB39DB0-819C-FE67-409F-BA948491C016}"/>
              </a:ext>
            </a:extLst>
          </p:cNvPr>
          <p:cNvSpPr txBox="1"/>
          <p:nvPr/>
        </p:nvSpPr>
        <p:spPr>
          <a:xfrm>
            <a:off x="7167623" y="1378084"/>
            <a:ext cx="3453183" cy="861774"/>
          </a:xfrm>
          <a:prstGeom prst="rect">
            <a:avLst/>
          </a:prstGeom>
          <a:ln w="28955">
            <a:solidFill>
              <a:srgbClr val="C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90170" marR="413384" lvl="0" indent="0" algn="l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Concatenate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attention output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with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decoder hidden state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, then use to compute </a:t>
            </a:r>
            <a:r>
              <a:rPr kumimoji="0" lang="cy-GB" sz="180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highlight>
                  <a:srgbClr val="FFFFFF"/>
                </a:highlight>
                <a:uLnTx/>
                <a:uFillTx/>
                <a:latin typeface="Aptos Display"/>
                <a:ea typeface="+mn-ea"/>
                <a:cs typeface="+mn-cs"/>
              </a:rPr>
              <a:t>ŷ</a:t>
            </a:r>
            <a:r>
              <a:rPr kumimoji="0" lang="cy-GB" sz="1800" b="0" i="0" u="none" strike="noStrike" kern="1200" cap="none" spc="0" normalizeH="0" baseline="-25000" noProof="0" dirty="0">
                <a:ln>
                  <a:noFill/>
                </a:ln>
                <a:solidFill>
                  <a:srgbClr val="1F1F1F"/>
                </a:solidFill>
                <a:effectLst/>
                <a:highlight>
                  <a:srgbClr val="FFFFFF"/>
                </a:highlight>
                <a:uLnTx/>
                <a:uFillTx/>
                <a:latin typeface="Aptos Display"/>
                <a:ea typeface="+mn-ea"/>
                <a:cs typeface="+mn-cs"/>
              </a:rPr>
              <a:t>1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as before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50" name="object 43">
            <a:extLst>
              <a:ext uri="{FF2B5EF4-FFF2-40B4-BE49-F238E27FC236}">
                <a16:creationId xmlns:a16="http://schemas.microsoft.com/office/drawing/2014/main" id="{CFE35A16-397E-EF6D-68D0-4EC18D45F06F}"/>
              </a:ext>
            </a:extLst>
          </p:cNvPr>
          <p:cNvSpPr/>
          <p:nvPr/>
        </p:nvSpPr>
        <p:spPr>
          <a:xfrm>
            <a:off x="6015480" y="1729957"/>
            <a:ext cx="1156335" cy="86995"/>
          </a:xfrm>
          <a:custGeom>
            <a:avLst/>
            <a:gdLst/>
            <a:ahLst/>
            <a:cxnLst/>
            <a:rect l="l" t="t" r="r" b="b"/>
            <a:pathLst>
              <a:path w="1156335" h="86994">
                <a:moveTo>
                  <a:pt x="86867" y="0"/>
                </a:moveTo>
                <a:lnTo>
                  <a:pt x="0" y="43434"/>
                </a:lnTo>
                <a:lnTo>
                  <a:pt x="86867" y="86868"/>
                </a:lnTo>
                <a:lnTo>
                  <a:pt x="86867" y="57912"/>
                </a:lnTo>
                <a:lnTo>
                  <a:pt x="72389" y="57912"/>
                </a:lnTo>
                <a:lnTo>
                  <a:pt x="72389" y="28956"/>
                </a:lnTo>
                <a:lnTo>
                  <a:pt x="86867" y="28956"/>
                </a:lnTo>
                <a:lnTo>
                  <a:pt x="86867" y="0"/>
                </a:lnTo>
                <a:close/>
              </a:path>
              <a:path w="1156335" h="86994">
                <a:moveTo>
                  <a:pt x="86867" y="28956"/>
                </a:moveTo>
                <a:lnTo>
                  <a:pt x="72389" y="28956"/>
                </a:lnTo>
                <a:lnTo>
                  <a:pt x="72389" y="57912"/>
                </a:lnTo>
                <a:lnTo>
                  <a:pt x="86867" y="57912"/>
                </a:lnTo>
                <a:lnTo>
                  <a:pt x="86867" y="28956"/>
                </a:lnTo>
                <a:close/>
              </a:path>
              <a:path w="1156335" h="86994">
                <a:moveTo>
                  <a:pt x="1155827" y="28956"/>
                </a:moveTo>
                <a:lnTo>
                  <a:pt x="86867" y="28956"/>
                </a:lnTo>
                <a:lnTo>
                  <a:pt x="86867" y="57912"/>
                </a:lnTo>
                <a:lnTo>
                  <a:pt x="1155827" y="57912"/>
                </a:lnTo>
                <a:lnTo>
                  <a:pt x="1155827" y="28956"/>
                </a:lnTo>
                <a:close/>
              </a:path>
            </a:pathLst>
          </a:custGeom>
          <a:solidFill>
            <a:srgbClr val="BA56BD"/>
          </a:solidFill>
          <a:ln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53" name="object 22">
            <a:extLst>
              <a:ext uri="{FF2B5EF4-FFF2-40B4-BE49-F238E27FC236}">
                <a16:creationId xmlns:a16="http://schemas.microsoft.com/office/drawing/2014/main" id="{A38695ED-0AB0-B2B1-5558-20B08FF28A08}"/>
              </a:ext>
            </a:extLst>
          </p:cNvPr>
          <p:cNvSpPr txBox="1"/>
          <p:nvPr/>
        </p:nvSpPr>
        <p:spPr>
          <a:xfrm>
            <a:off x="10372554" y="3700406"/>
            <a:ext cx="467885" cy="128270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Decoder</a:t>
            </a:r>
            <a:r>
              <a:rPr kumimoji="0" sz="1800" b="0" i="0" u="none" strike="noStrike" kern="1200" cap="none" spc="-3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RNN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55" name="object 13">
            <a:extLst>
              <a:ext uri="{FF2B5EF4-FFF2-40B4-BE49-F238E27FC236}">
                <a16:creationId xmlns:a16="http://schemas.microsoft.com/office/drawing/2014/main" id="{D77B1F88-2EA0-7DD9-46F7-CBBA4EC6813F}"/>
              </a:ext>
            </a:extLst>
          </p:cNvPr>
          <p:cNvSpPr txBox="1"/>
          <p:nvPr/>
        </p:nvSpPr>
        <p:spPr>
          <a:xfrm>
            <a:off x="2433333" y="5954560"/>
            <a:ext cx="2230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Source sentence</a:t>
            </a:r>
            <a:r>
              <a:rPr kumimoji="0" sz="1800" b="0" i="0" u="none" strike="noStrike" kern="120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(input)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56" name="object 14">
            <a:extLst>
              <a:ext uri="{FF2B5EF4-FFF2-40B4-BE49-F238E27FC236}">
                <a16:creationId xmlns:a16="http://schemas.microsoft.com/office/drawing/2014/main" id="{45341112-D158-7AC4-912C-DDFFF1593FA8}"/>
              </a:ext>
            </a:extLst>
          </p:cNvPr>
          <p:cNvSpPr/>
          <p:nvPr/>
        </p:nvSpPr>
        <p:spPr>
          <a:xfrm>
            <a:off x="2357710" y="5780012"/>
            <a:ext cx="2343455" cy="197550"/>
          </a:xfrm>
          <a:custGeom>
            <a:avLst/>
            <a:gdLst/>
            <a:ahLst/>
            <a:cxnLst/>
            <a:rect l="l" t="t" r="r" b="b"/>
            <a:pathLst>
              <a:path w="2435860" h="271779">
                <a:moveTo>
                  <a:pt x="2435352" y="0"/>
                </a:moveTo>
                <a:lnTo>
                  <a:pt x="2427013" y="52804"/>
                </a:lnTo>
                <a:lnTo>
                  <a:pt x="2404268" y="95916"/>
                </a:lnTo>
                <a:lnTo>
                  <a:pt x="2370522" y="124979"/>
                </a:lnTo>
                <a:lnTo>
                  <a:pt x="2329180" y="135636"/>
                </a:lnTo>
                <a:lnTo>
                  <a:pt x="1323848" y="135636"/>
                </a:lnTo>
                <a:lnTo>
                  <a:pt x="1282505" y="146292"/>
                </a:lnTo>
                <a:lnTo>
                  <a:pt x="1248759" y="175355"/>
                </a:lnTo>
                <a:lnTo>
                  <a:pt x="1226014" y="218467"/>
                </a:lnTo>
                <a:lnTo>
                  <a:pt x="1217676" y="271272"/>
                </a:lnTo>
                <a:lnTo>
                  <a:pt x="1209337" y="218467"/>
                </a:lnTo>
                <a:lnTo>
                  <a:pt x="1186592" y="175355"/>
                </a:lnTo>
                <a:lnTo>
                  <a:pt x="1152846" y="146292"/>
                </a:lnTo>
                <a:lnTo>
                  <a:pt x="1111504" y="135636"/>
                </a:lnTo>
                <a:lnTo>
                  <a:pt x="106146" y="135636"/>
                </a:lnTo>
                <a:lnTo>
                  <a:pt x="64829" y="124979"/>
                </a:lnTo>
                <a:lnTo>
                  <a:pt x="31089" y="95916"/>
                </a:lnTo>
                <a:lnTo>
                  <a:pt x="8341" y="52804"/>
                </a:lnTo>
                <a:lnTo>
                  <a:pt x="0" y="0"/>
                </a:lnTo>
              </a:path>
            </a:pathLst>
          </a:custGeom>
          <a:ln w="198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57" name="object 21">
            <a:extLst>
              <a:ext uri="{FF2B5EF4-FFF2-40B4-BE49-F238E27FC236}">
                <a16:creationId xmlns:a16="http://schemas.microsoft.com/office/drawing/2014/main" id="{C7462CAF-618C-FC51-CB8F-3AF73D23B1AA}"/>
              </a:ext>
            </a:extLst>
          </p:cNvPr>
          <p:cNvSpPr txBox="1"/>
          <p:nvPr/>
        </p:nvSpPr>
        <p:spPr>
          <a:xfrm>
            <a:off x="2426336" y="5313638"/>
            <a:ext cx="40980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i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हम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58" name="object 22">
            <a:extLst>
              <a:ext uri="{FF2B5EF4-FFF2-40B4-BE49-F238E27FC236}">
                <a16:creationId xmlns:a16="http://schemas.microsoft.com/office/drawing/2014/main" id="{8718A6FF-F8FC-3331-F756-2F08D88116EA}"/>
              </a:ext>
            </a:extLst>
          </p:cNvPr>
          <p:cNvSpPr txBox="1"/>
          <p:nvPr/>
        </p:nvSpPr>
        <p:spPr>
          <a:xfrm>
            <a:off x="3002623" y="5313638"/>
            <a:ext cx="53340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i-IN" sz="16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बाजार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59" name="object 21">
            <a:extLst>
              <a:ext uri="{FF2B5EF4-FFF2-40B4-BE49-F238E27FC236}">
                <a16:creationId xmlns:a16="http://schemas.microsoft.com/office/drawing/2014/main" id="{F570630E-0DC2-D1C3-7204-E2EDFAEA01D0}"/>
              </a:ext>
            </a:extLst>
          </p:cNvPr>
          <p:cNvSpPr txBox="1"/>
          <p:nvPr/>
        </p:nvSpPr>
        <p:spPr>
          <a:xfrm>
            <a:off x="3658511" y="5317123"/>
            <a:ext cx="40980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i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गये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60" name="object 21">
            <a:extLst>
              <a:ext uri="{FF2B5EF4-FFF2-40B4-BE49-F238E27FC236}">
                <a16:creationId xmlns:a16="http://schemas.microsoft.com/office/drawing/2014/main" id="{0DAEDFC8-B72E-E31A-A99E-00C8EF105EC1}"/>
              </a:ext>
            </a:extLst>
          </p:cNvPr>
          <p:cNvSpPr txBox="1"/>
          <p:nvPr/>
        </p:nvSpPr>
        <p:spPr>
          <a:xfrm>
            <a:off x="4268105" y="5310901"/>
            <a:ext cx="40980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i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थे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15EE640-ECE7-E073-DC5C-4FC0843C0332}"/>
              </a:ext>
            </a:extLst>
          </p:cNvPr>
          <p:cNvSpPr txBox="1"/>
          <p:nvPr/>
        </p:nvSpPr>
        <p:spPr>
          <a:xfrm>
            <a:off x="2412364" y="5540067"/>
            <a:ext cx="2321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ham      baajaar     gaye         the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502661" y="722130"/>
            <a:ext cx="4006850" cy="4597400"/>
            <a:chOff x="978661" y="1095755"/>
            <a:chExt cx="4006850" cy="45974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6799" y="4367784"/>
              <a:ext cx="126492" cy="13258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6799" y="4536947"/>
              <a:ext cx="126492" cy="13258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6799" y="4706111"/>
              <a:ext cx="126492" cy="13258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6799" y="4875276"/>
              <a:ext cx="126492" cy="13106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992885" y="4303013"/>
              <a:ext cx="266700" cy="780415"/>
            </a:xfrm>
            <a:custGeom>
              <a:avLst/>
              <a:gdLst/>
              <a:ahLst/>
              <a:cxnLst/>
              <a:rect l="l" t="t" r="r" b="b"/>
              <a:pathLst>
                <a:path w="266700" h="780414">
                  <a:moveTo>
                    <a:pt x="222250" y="0"/>
                  </a:moveTo>
                  <a:lnTo>
                    <a:pt x="239551" y="3498"/>
                  </a:lnTo>
                  <a:lnTo>
                    <a:pt x="253680" y="13033"/>
                  </a:lnTo>
                  <a:lnTo>
                    <a:pt x="263206" y="27164"/>
                  </a:lnTo>
                  <a:lnTo>
                    <a:pt x="266700" y="44450"/>
                  </a:lnTo>
                  <a:lnTo>
                    <a:pt x="266700" y="735838"/>
                  </a:lnTo>
                  <a:lnTo>
                    <a:pt x="263206" y="753123"/>
                  </a:lnTo>
                  <a:lnTo>
                    <a:pt x="253680" y="767254"/>
                  </a:lnTo>
                  <a:lnTo>
                    <a:pt x="239551" y="776789"/>
                  </a:lnTo>
                  <a:lnTo>
                    <a:pt x="222250" y="780288"/>
                  </a:lnTo>
                  <a:lnTo>
                    <a:pt x="44450" y="780288"/>
                  </a:lnTo>
                  <a:lnTo>
                    <a:pt x="27148" y="776789"/>
                  </a:lnTo>
                  <a:lnTo>
                    <a:pt x="13019" y="767254"/>
                  </a:lnTo>
                  <a:lnTo>
                    <a:pt x="3493" y="753123"/>
                  </a:lnTo>
                  <a:lnTo>
                    <a:pt x="0" y="735838"/>
                  </a:lnTo>
                  <a:lnTo>
                    <a:pt x="0" y="44450"/>
                  </a:lnTo>
                  <a:lnTo>
                    <a:pt x="3493" y="27164"/>
                  </a:lnTo>
                  <a:lnTo>
                    <a:pt x="13019" y="13033"/>
                  </a:lnTo>
                  <a:lnTo>
                    <a:pt x="27148" y="3498"/>
                  </a:lnTo>
                  <a:lnTo>
                    <a:pt x="44450" y="0"/>
                  </a:lnTo>
                  <a:lnTo>
                    <a:pt x="22225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71232" y="4637404"/>
              <a:ext cx="533400" cy="1056005"/>
            </a:xfrm>
            <a:custGeom>
              <a:avLst/>
              <a:gdLst/>
              <a:ahLst/>
              <a:cxnLst/>
              <a:rect l="l" t="t" r="r" b="b"/>
              <a:pathLst>
                <a:path w="533400" h="1056004">
                  <a:moveTo>
                    <a:pt x="111531" y="541401"/>
                  </a:moveTo>
                  <a:lnTo>
                    <a:pt x="67183" y="465455"/>
                  </a:lnTo>
                  <a:lnTo>
                    <a:pt x="55765" y="445897"/>
                  </a:lnTo>
                  <a:lnTo>
                    <a:pt x="0" y="541401"/>
                  </a:lnTo>
                  <a:lnTo>
                    <a:pt x="1600" y="547497"/>
                  </a:lnTo>
                  <a:lnTo>
                    <a:pt x="11049" y="553085"/>
                  </a:lnTo>
                  <a:lnTo>
                    <a:pt x="17119" y="551434"/>
                  </a:lnTo>
                  <a:lnTo>
                    <a:pt x="45859" y="502183"/>
                  </a:lnTo>
                  <a:lnTo>
                    <a:pt x="45859" y="1055497"/>
                  </a:lnTo>
                  <a:lnTo>
                    <a:pt x="65671" y="1055497"/>
                  </a:lnTo>
                  <a:lnTo>
                    <a:pt x="65671" y="502183"/>
                  </a:lnTo>
                  <a:lnTo>
                    <a:pt x="94411" y="551434"/>
                  </a:lnTo>
                  <a:lnTo>
                    <a:pt x="100482" y="553085"/>
                  </a:lnTo>
                  <a:lnTo>
                    <a:pt x="109931" y="547497"/>
                  </a:lnTo>
                  <a:lnTo>
                    <a:pt x="111531" y="541401"/>
                  </a:lnTo>
                  <a:close/>
                </a:path>
                <a:path w="533400" h="1056004">
                  <a:moveTo>
                    <a:pt x="533019" y="55765"/>
                  </a:moveTo>
                  <a:lnTo>
                    <a:pt x="516039" y="45847"/>
                  </a:lnTo>
                  <a:lnTo>
                    <a:pt x="442226" y="2794"/>
                  </a:lnTo>
                  <a:lnTo>
                    <a:pt x="437527" y="0"/>
                  </a:lnTo>
                  <a:lnTo>
                    <a:pt x="431431" y="1524"/>
                  </a:lnTo>
                  <a:lnTo>
                    <a:pt x="428637" y="6350"/>
                  </a:lnTo>
                  <a:lnTo>
                    <a:pt x="425970" y="11049"/>
                  </a:lnTo>
                  <a:lnTo>
                    <a:pt x="427494" y="17145"/>
                  </a:lnTo>
                  <a:lnTo>
                    <a:pt x="432193" y="19812"/>
                  </a:lnTo>
                  <a:lnTo>
                    <a:pt x="476796" y="45847"/>
                  </a:lnTo>
                  <a:lnTo>
                    <a:pt x="188353" y="45847"/>
                  </a:lnTo>
                  <a:lnTo>
                    <a:pt x="188353" y="65659"/>
                  </a:lnTo>
                  <a:lnTo>
                    <a:pt x="476821" y="65659"/>
                  </a:lnTo>
                  <a:lnTo>
                    <a:pt x="493801" y="55765"/>
                  </a:lnTo>
                  <a:lnTo>
                    <a:pt x="432193" y="91694"/>
                  </a:lnTo>
                  <a:lnTo>
                    <a:pt x="427494" y="94361"/>
                  </a:lnTo>
                  <a:lnTo>
                    <a:pt x="425970" y="100457"/>
                  </a:lnTo>
                  <a:lnTo>
                    <a:pt x="428637" y="105156"/>
                  </a:lnTo>
                  <a:lnTo>
                    <a:pt x="431431" y="109982"/>
                  </a:lnTo>
                  <a:lnTo>
                    <a:pt x="437527" y="111506"/>
                  </a:lnTo>
                  <a:lnTo>
                    <a:pt x="442226" y="108712"/>
                  </a:lnTo>
                  <a:lnTo>
                    <a:pt x="516039" y="65659"/>
                  </a:lnTo>
                  <a:lnTo>
                    <a:pt x="533019" y="55765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91055" y="3511295"/>
              <a:ext cx="3254375" cy="217551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077252" y="3627882"/>
              <a:ext cx="111760" cy="675005"/>
            </a:xfrm>
            <a:custGeom>
              <a:avLst/>
              <a:gdLst/>
              <a:ahLst/>
              <a:cxnLst/>
              <a:rect l="l" t="t" r="r" b="b"/>
              <a:pathLst>
                <a:path w="111759" h="675004">
                  <a:moveTo>
                    <a:pt x="56337" y="39259"/>
                  </a:moveTo>
                  <a:lnTo>
                    <a:pt x="46267" y="56136"/>
                  </a:lnTo>
                  <a:lnTo>
                    <a:pt x="39839" y="674751"/>
                  </a:lnTo>
                  <a:lnTo>
                    <a:pt x="59651" y="675005"/>
                  </a:lnTo>
                  <a:lnTo>
                    <a:pt x="66078" y="56372"/>
                  </a:lnTo>
                  <a:lnTo>
                    <a:pt x="56337" y="39259"/>
                  </a:lnTo>
                  <a:close/>
                </a:path>
                <a:path w="111759" h="675004">
                  <a:moveTo>
                    <a:pt x="67906" y="19558"/>
                  </a:moveTo>
                  <a:lnTo>
                    <a:pt x="46647" y="19558"/>
                  </a:lnTo>
                  <a:lnTo>
                    <a:pt x="66459" y="19685"/>
                  </a:lnTo>
                  <a:lnTo>
                    <a:pt x="66078" y="56372"/>
                  </a:lnTo>
                  <a:lnTo>
                    <a:pt x="91605" y="101219"/>
                  </a:lnTo>
                  <a:lnTo>
                    <a:pt x="94310" y="105918"/>
                  </a:lnTo>
                  <a:lnTo>
                    <a:pt x="100355" y="107569"/>
                  </a:lnTo>
                  <a:lnTo>
                    <a:pt x="105117" y="104902"/>
                  </a:lnTo>
                  <a:lnTo>
                    <a:pt x="109867" y="102108"/>
                  </a:lnTo>
                  <a:lnTo>
                    <a:pt x="111531" y="96139"/>
                  </a:lnTo>
                  <a:lnTo>
                    <a:pt x="108813" y="91313"/>
                  </a:lnTo>
                  <a:lnTo>
                    <a:pt x="67906" y="19558"/>
                  </a:lnTo>
                  <a:close/>
                </a:path>
                <a:path w="111759" h="675004">
                  <a:moveTo>
                    <a:pt x="56756" y="0"/>
                  </a:moveTo>
                  <a:lnTo>
                    <a:pt x="0" y="94996"/>
                  </a:lnTo>
                  <a:lnTo>
                    <a:pt x="1536" y="101092"/>
                  </a:lnTo>
                  <a:lnTo>
                    <a:pt x="10934" y="106680"/>
                  </a:lnTo>
                  <a:lnTo>
                    <a:pt x="17018" y="105156"/>
                  </a:lnTo>
                  <a:lnTo>
                    <a:pt x="46267" y="56136"/>
                  </a:lnTo>
                  <a:lnTo>
                    <a:pt x="46647" y="19558"/>
                  </a:lnTo>
                  <a:lnTo>
                    <a:pt x="67906" y="19558"/>
                  </a:lnTo>
                  <a:lnTo>
                    <a:pt x="56756" y="0"/>
                  </a:lnTo>
                  <a:close/>
                </a:path>
                <a:path w="111759" h="675004">
                  <a:moveTo>
                    <a:pt x="66408" y="24511"/>
                  </a:moveTo>
                  <a:lnTo>
                    <a:pt x="47942" y="24511"/>
                  </a:lnTo>
                  <a:lnTo>
                    <a:pt x="65062" y="24638"/>
                  </a:lnTo>
                  <a:lnTo>
                    <a:pt x="56337" y="39259"/>
                  </a:lnTo>
                  <a:lnTo>
                    <a:pt x="66078" y="56372"/>
                  </a:lnTo>
                  <a:lnTo>
                    <a:pt x="66408" y="24511"/>
                  </a:lnTo>
                  <a:close/>
                </a:path>
                <a:path w="111759" h="675004">
                  <a:moveTo>
                    <a:pt x="46647" y="19558"/>
                  </a:moveTo>
                  <a:lnTo>
                    <a:pt x="46267" y="56136"/>
                  </a:lnTo>
                  <a:lnTo>
                    <a:pt x="56337" y="39259"/>
                  </a:lnTo>
                  <a:lnTo>
                    <a:pt x="47942" y="24511"/>
                  </a:lnTo>
                  <a:lnTo>
                    <a:pt x="66408" y="24511"/>
                  </a:lnTo>
                  <a:lnTo>
                    <a:pt x="66459" y="19685"/>
                  </a:lnTo>
                  <a:lnTo>
                    <a:pt x="46647" y="19558"/>
                  </a:lnTo>
                  <a:close/>
                </a:path>
                <a:path w="111759" h="675004">
                  <a:moveTo>
                    <a:pt x="47942" y="24511"/>
                  </a:moveTo>
                  <a:lnTo>
                    <a:pt x="56337" y="39259"/>
                  </a:lnTo>
                  <a:lnTo>
                    <a:pt x="65062" y="24638"/>
                  </a:lnTo>
                  <a:lnTo>
                    <a:pt x="47942" y="24511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66799" y="3511295"/>
              <a:ext cx="132587" cy="12649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172667" y="3547998"/>
              <a:ext cx="3671570" cy="756285"/>
            </a:xfrm>
            <a:custGeom>
              <a:avLst/>
              <a:gdLst/>
              <a:ahLst/>
              <a:cxnLst/>
              <a:rect l="l" t="t" r="r" b="b"/>
              <a:pathLst>
                <a:path w="3671570" h="756285">
                  <a:moveTo>
                    <a:pt x="3671239" y="736219"/>
                  </a:moveTo>
                  <a:lnTo>
                    <a:pt x="1281988" y="32931"/>
                  </a:lnTo>
                  <a:lnTo>
                    <a:pt x="1323898" y="22606"/>
                  </a:lnTo>
                  <a:lnTo>
                    <a:pt x="1337487" y="19304"/>
                  </a:lnTo>
                  <a:lnTo>
                    <a:pt x="1340789" y="13843"/>
                  </a:lnTo>
                  <a:lnTo>
                    <a:pt x="1339392" y="8636"/>
                  </a:lnTo>
                  <a:lnTo>
                    <a:pt x="1338122" y="3302"/>
                  </a:lnTo>
                  <a:lnTo>
                    <a:pt x="1332788" y="0"/>
                  </a:lnTo>
                  <a:lnTo>
                    <a:pt x="1327454" y="1409"/>
                  </a:lnTo>
                  <a:lnTo>
                    <a:pt x="1225346" y="26543"/>
                  </a:lnTo>
                  <a:lnTo>
                    <a:pt x="1301292" y="107061"/>
                  </a:lnTo>
                  <a:lnTo>
                    <a:pt x="1307515" y="107188"/>
                  </a:lnTo>
                  <a:lnTo>
                    <a:pt x="1315516" y="99695"/>
                  </a:lnTo>
                  <a:lnTo>
                    <a:pt x="1315643" y="93472"/>
                  </a:lnTo>
                  <a:lnTo>
                    <a:pt x="1311960" y="89408"/>
                  </a:lnTo>
                  <a:lnTo>
                    <a:pt x="1276515" y="51892"/>
                  </a:lnTo>
                  <a:lnTo>
                    <a:pt x="3388842" y="673785"/>
                  </a:lnTo>
                  <a:lnTo>
                    <a:pt x="662139" y="67170"/>
                  </a:lnTo>
                  <a:lnTo>
                    <a:pt x="687057" y="59182"/>
                  </a:lnTo>
                  <a:lnTo>
                    <a:pt x="716457" y="49796"/>
                  </a:lnTo>
                  <a:lnTo>
                    <a:pt x="719378" y="44208"/>
                  </a:lnTo>
                  <a:lnTo>
                    <a:pt x="716076" y="33782"/>
                  </a:lnTo>
                  <a:lnTo>
                    <a:pt x="710488" y="30988"/>
                  </a:lnTo>
                  <a:lnTo>
                    <a:pt x="605078" y="64643"/>
                  </a:lnTo>
                  <a:lnTo>
                    <a:pt x="682167" y="136144"/>
                  </a:lnTo>
                  <a:lnTo>
                    <a:pt x="686231" y="139827"/>
                  </a:lnTo>
                  <a:lnTo>
                    <a:pt x="692454" y="139573"/>
                  </a:lnTo>
                  <a:lnTo>
                    <a:pt x="699947" y="131572"/>
                  </a:lnTo>
                  <a:lnTo>
                    <a:pt x="699693" y="125349"/>
                  </a:lnTo>
                  <a:lnTo>
                    <a:pt x="695629" y="121539"/>
                  </a:lnTo>
                  <a:lnTo>
                    <a:pt x="657974" y="86626"/>
                  </a:lnTo>
                  <a:lnTo>
                    <a:pt x="3119678" y="634288"/>
                  </a:lnTo>
                  <a:lnTo>
                    <a:pt x="57289" y="65163"/>
                  </a:lnTo>
                  <a:lnTo>
                    <a:pt x="76034" y="58432"/>
                  </a:lnTo>
                  <a:lnTo>
                    <a:pt x="105714" y="47752"/>
                  </a:lnTo>
                  <a:lnTo>
                    <a:pt x="110921" y="45974"/>
                  </a:lnTo>
                  <a:lnTo>
                    <a:pt x="113588" y="40271"/>
                  </a:lnTo>
                  <a:lnTo>
                    <a:pt x="111683" y="35052"/>
                  </a:lnTo>
                  <a:lnTo>
                    <a:pt x="109905" y="29984"/>
                  </a:lnTo>
                  <a:lnTo>
                    <a:pt x="104190" y="27305"/>
                  </a:lnTo>
                  <a:lnTo>
                    <a:pt x="98983" y="29095"/>
                  </a:lnTo>
                  <a:lnTo>
                    <a:pt x="0" y="64643"/>
                  </a:lnTo>
                  <a:lnTo>
                    <a:pt x="83807" y="136906"/>
                  </a:lnTo>
                  <a:lnTo>
                    <a:pt x="90055" y="136525"/>
                  </a:lnTo>
                  <a:lnTo>
                    <a:pt x="97205" y="128143"/>
                  </a:lnTo>
                  <a:lnTo>
                    <a:pt x="96748" y="121920"/>
                  </a:lnTo>
                  <a:lnTo>
                    <a:pt x="53581" y="84696"/>
                  </a:lnTo>
                  <a:lnTo>
                    <a:pt x="3666540" y="756031"/>
                  </a:lnTo>
                  <a:lnTo>
                    <a:pt x="3666921" y="756031"/>
                  </a:lnTo>
                  <a:lnTo>
                    <a:pt x="3671239" y="736600"/>
                  </a:lnTo>
                  <a:lnTo>
                    <a:pt x="3671239" y="736219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782311" y="4358640"/>
              <a:ext cx="126491" cy="13258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782311" y="4527803"/>
              <a:ext cx="126491" cy="13258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782311" y="4696967"/>
              <a:ext cx="126491" cy="13258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782311" y="4866132"/>
              <a:ext cx="126491" cy="132587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708397" y="4293870"/>
              <a:ext cx="266700" cy="780415"/>
            </a:xfrm>
            <a:custGeom>
              <a:avLst/>
              <a:gdLst/>
              <a:ahLst/>
              <a:cxnLst/>
              <a:rect l="l" t="t" r="r" b="b"/>
              <a:pathLst>
                <a:path w="266700" h="780414">
                  <a:moveTo>
                    <a:pt x="222250" y="0"/>
                  </a:moveTo>
                  <a:lnTo>
                    <a:pt x="239535" y="3498"/>
                  </a:lnTo>
                  <a:lnTo>
                    <a:pt x="253666" y="13033"/>
                  </a:lnTo>
                  <a:lnTo>
                    <a:pt x="263201" y="27164"/>
                  </a:lnTo>
                  <a:lnTo>
                    <a:pt x="266700" y="44449"/>
                  </a:lnTo>
                  <a:lnTo>
                    <a:pt x="266700" y="735837"/>
                  </a:lnTo>
                  <a:lnTo>
                    <a:pt x="263201" y="753123"/>
                  </a:lnTo>
                  <a:lnTo>
                    <a:pt x="253666" y="767254"/>
                  </a:lnTo>
                  <a:lnTo>
                    <a:pt x="239535" y="776789"/>
                  </a:lnTo>
                  <a:lnTo>
                    <a:pt x="222250" y="780287"/>
                  </a:lnTo>
                  <a:lnTo>
                    <a:pt x="44450" y="780287"/>
                  </a:lnTo>
                  <a:lnTo>
                    <a:pt x="27164" y="776789"/>
                  </a:lnTo>
                  <a:lnTo>
                    <a:pt x="13033" y="767254"/>
                  </a:lnTo>
                  <a:lnTo>
                    <a:pt x="3498" y="753123"/>
                  </a:lnTo>
                  <a:lnTo>
                    <a:pt x="0" y="735837"/>
                  </a:lnTo>
                  <a:lnTo>
                    <a:pt x="0" y="44449"/>
                  </a:ln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222250" y="0"/>
                  </a:lnTo>
                  <a:close/>
                </a:path>
              </a:pathLst>
            </a:custGeom>
            <a:ln w="19812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4785233" y="5074158"/>
              <a:ext cx="111760" cy="609600"/>
            </a:xfrm>
            <a:custGeom>
              <a:avLst/>
              <a:gdLst/>
              <a:ahLst/>
              <a:cxnLst/>
              <a:rect l="l" t="t" r="r" b="b"/>
              <a:pathLst>
                <a:path w="111760" h="609600">
                  <a:moveTo>
                    <a:pt x="55752" y="39224"/>
                  </a:moveTo>
                  <a:lnTo>
                    <a:pt x="45846" y="56206"/>
                  </a:lnTo>
                  <a:lnTo>
                    <a:pt x="45846" y="609600"/>
                  </a:lnTo>
                  <a:lnTo>
                    <a:pt x="65658" y="609600"/>
                  </a:lnTo>
                  <a:lnTo>
                    <a:pt x="65658" y="56206"/>
                  </a:lnTo>
                  <a:lnTo>
                    <a:pt x="55752" y="39224"/>
                  </a:lnTo>
                  <a:close/>
                </a:path>
                <a:path w="111760" h="609600">
                  <a:moveTo>
                    <a:pt x="55752" y="0"/>
                  </a:moveTo>
                  <a:lnTo>
                    <a:pt x="2793" y="90805"/>
                  </a:lnTo>
                  <a:lnTo>
                    <a:pt x="0" y="95504"/>
                  </a:lnTo>
                  <a:lnTo>
                    <a:pt x="1524" y="101600"/>
                  </a:lnTo>
                  <a:lnTo>
                    <a:pt x="6350" y="104394"/>
                  </a:lnTo>
                  <a:lnTo>
                    <a:pt x="11049" y="107188"/>
                  </a:lnTo>
                  <a:lnTo>
                    <a:pt x="17144" y="105537"/>
                  </a:lnTo>
                  <a:lnTo>
                    <a:pt x="19812" y="100838"/>
                  </a:lnTo>
                  <a:lnTo>
                    <a:pt x="45846" y="56206"/>
                  </a:lnTo>
                  <a:lnTo>
                    <a:pt x="45846" y="19558"/>
                  </a:lnTo>
                  <a:lnTo>
                    <a:pt x="67159" y="19558"/>
                  </a:lnTo>
                  <a:lnTo>
                    <a:pt x="55752" y="0"/>
                  </a:lnTo>
                  <a:close/>
                </a:path>
                <a:path w="111760" h="609600">
                  <a:moveTo>
                    <a:pt x="67159" y="19558"/>
                  </a:moveTo>
                  <a:lnTo>
                    <a:pt x="65658" y="19558"/>
                  </a:lnTo>
                  <a:lnTo>
                    <a:pt x="65659" y="56206"/>
                  </a:lnTo>
                  <a:lnTo>
                    <a:pt x="91693" y="100838"/>
                  </a:lnTo>
                  <a:lnTo>
                    <a:pt x="94361" y="105537"/>
                  </a:lnTo>
                  <a:lnTo>
                    <a:pt x="100456" y="107188"/>
                  </a:lnTo>
                  <a:lnTo>
                    <a:pt x="105155" y="104394"/>
                  </a:lnTo>
                  <a:lnTo>
                    <a:pt x="109981" y="101600"/>
                  </a:lnTo>
                  <a:lnTo>
                    <a:pt x="111505" y="95504"/>
                  </a:lnTo>
                  <a:lnTo>
                    <a:pt x="108712" y="90805"/>
                  </a:lnTo>
                  <a:lnTo>
                    <a:pt x="67159" y="19558"/>
                  </a:lnTo>
                  <a:close/>
                </a:path>
                <a:path w="111760" h="609600">
                  <a:moveTo>
                    <a:pt x="65658" y="19558"/>
                  </a:moveTo>
                  <a:lnTo>
                    <a:pt x="45846" y="19558"/>
                  </a:lnTo>
                  <a:lnTo>
                    <a:pt x="45846" y="56206"/>
                  </a:lnTo>
                  <a:lnTo>
                    <a:pt x="55752" y="39224"/>
                  </a:lnTo>
                  <a:lnTo>
                    <a:pt x="47243" y="24638"/>
                  </a:lnTo>
                  <a:lnTo>
                    <a:pt x="65658" y="24638"/>
                  </a:lnTo>
                  <a:lnTo>
                    <a:pt x="65658" y="19558"/>
                  </a:lnTo>
                  <a:close/>
                </a:path>
                <a:path w="111760" h="609600">
                  <a:moveTo>
                    <a:pt x="65658" y="24638"/>
                  </a:moveTo>
                  <a:lnTo>
                    <a:pt x="64262" y="24638"/>
                  </a:lnTo>
                  <a:lnTo>
                    <a:pt x="55752" y="39224"/>
                  </a:lnTo>
                  <a:lnTo>
                    <a:pt x="65659" y="56206"/>
                  </a:lnTo>
                  <a:lnTo>
                    <a:pt x="65658" y="24638"/>
                  </a:lnTo>
                  <a:close/>
                </a:path>
                <a:path w="111760" h="609600">
                  <a:moveTo>
                    <a:pt x="64262" y="24638"/>
                  </a:moveTo>
                  <a:lnTo>
                    <a:pt x="47243" y="24638"/>
                  </a:lnTo>
                  <a:lnTo>
                    <a:pt x="55752" y="39224"/>
                  </a:lnTo>
                  <a:lnTo>
                    <a:pt x="64262" y="24638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983741" y="2758820"/>
              <a:ext cx="2308860" cy="5080"/>
            </a:xfrm>
            <a:custGeom>
              <a:avLst/>
              <a:gdLst/>
              <a:ahLst/>
              <a:cxnLst/>
              <a:rect l="l" t="t" r="r" b="b"/>
              <a:pathLst>
                <a:path w="2308860" h="5080">
                  <a:moveTo>
                    <a:pt x="0" y="0"/>
                  </a:moveTo>
                  <a:lnTo>
                    <a:pt x="1895856" y="0"/>
                  </a:lnTo>
                </a:path>
                <a:path w="2308860" h="5080">
                  <a:moveTo>
                    <a:pt x="2031492" y="0"/>
                  </a:moveTo>
                  <a:lnTo>
                    <a:pt x="2308479" y="0"/>
                  </a:lnTo>
                </a:path>
                <a:path w="2308860" h="5080">
                  <a:moveTo>
                    <a:pt x="0" y="4952"/>
                  </a:moveTo>
                  <a:lnTo>
                    <a:pt x="2308479" y="4952"/>
                  </a:lnTo>
                </a:path>
              </a:pathLst>
            </a:custGeom>
            <a:ln w="3175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983741" y="2773298"/>
              <a:ext cx="2308860" cy="0"/>
            </a:xfrm>
            <a:custGeom>
              <a:avLst/>
              <a:gdLst/>
              <a:ahLst/>
              <a:cxnLst/>
              <a:rect l="l" t="t" r="r" b="b"/>
              <a:pathLst>
                <a:path w="2308860">
                  <a:moveTo>
                    <a:pt x="0" y="0"/>
                  </a:moveTo>
                  <a:lnTo>
                    <a:pt x="2308479" y="0"/>
                  </a:lnTo>
                </a:path>
              </a:pathLst>
            </a:custGeom>
            <a:ln w="9905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57655" y="1095755"/>
              <a:ext cx="1967484" cy="2425572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1571194" y="3918742"/>
            <a:ext cx="507831" cy="78613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Encoder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RNN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141981" y="3929390"/>
            <a:ext cx="187960" cy="780415"/>
          </a:xfrm>
          <a:custGeom>
            <a:avLst/>
            <a:gdLst/>
            <a:ahLst/>
            <a:cxnLst/>
            <a:rect l="l" t="t" r="r" b="b"/>
            <a:pathLst>
              <a:path w="187959" h="780414">
                <a:moveTo>
                  <a:pt x="187452" y="780288"/>
                </a:moveTo>
                <a:lnTo>
                  <a:pt x="150968" y="774515"/>
                </a:lnTo>
                <a:lnTo>
                  <a:pt x="121177" y="758777"/>
                </a:lnTo>
                <a:lnTo>
                  <a:pt x="101091" y="735443"/>
                </a:lnTo>
                <a:lnTo>
                  <a:pt x="93726" y="706882"/>
                </a:lnTo>
                <a:lnTo>
                  <a:pt x="93726" y="463550"/>
                </a:lnTo>
                <a:lnTo>
                  <a:pt x="86360" y="434988"/>
                </a:lnTo>
                <a:lnTo>
                  <a:pt x="66274" y="411654"/>
                </a:lnTo>
                <a:lnTo>
                  <a:pt x="36483" y="395916"/>
                </a:lnTo>
                <a:lnTo>
                  <a:pt x="0" y="390144"/>
                </a:lnTo>
                <a:lnTo>
                  <a:pt x="36483" y="384371"/>
                </a:lnTo>
                <a:lnTo>
                  <a:pt x="66274" y="368633"/>
                </a:lnTo>
                <a:lnTo>
                  <a:pt x="86360" y="345299"/>
                </a:lnTo>
                <a:lnTo>
                  <a:pt x="93726" y="316738"/>
                </a:lnTo>
                <a:lnTo>
                  <a:pt x="93726" y="73406"/>
                </a:lnTo>
                <a:lnTo>
                  <a:pt x="101091" y="44844"/>
                </a:lnTo>
                <a:lnTo>
                  <a:pt x="121177" y="21510"/>
                </a:lnTo>
                <a:lnTo>
                  <a:pt x="150968" y="5772"/>
                </a:lnTo>
                <a:lnTo>
                  <a:pt x="187452" y="0"/>
                </a:lnTo>
              </a:path>
            </a:pathLst>
          </a:custGeom>
          <a:ln w="1981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389627" y="5341171"/>
            <a:ext cx="1202953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>
                <a:tab pos="884555" algn="l"/>
              </a:tabLst>
              <a:defRPr/>
            </a:pPr>
            <a:r>
              <a:rPr kumimoji="0" sz="1600" b="0" i="1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&lt;</a:t>
            </a:r>
            <a:r>
              <a:rPr kumimoji="0" sz="1600" b="0" i="1" u="none" strike="noStrike" kern="120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</a:t>
            </a:r>
            <a:r>
              <a:rPr kumimoji="0" sz="1600" b="0" i="1" u="none" strike="noStrike" kern="1200" cap="none" spc="-1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</a:t>
            </a:r>
            <a:r>
              <a:rPr kumimoji="0" sz="16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</a:t>
            </a:r>
            <a:r>
              <a:rPr kumimoji="0" sz="1600" b="0" i="1" u="none" strike="noStrike" kern="120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R</a:t>
            </a:r>
            <a:r>
              <a:rPr kumimoji="0" sz="1600" b="0" i="1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</a:t>
            </a:r>
            <a:r>
              <a:rPr kumimoji="0" sz="16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&gt;</a:t>
            </a:r>
            <a:r>
              <a:rPr kumimoji="0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	</a:t>
            </a:r>
            <a:r>
              <a:rPr kumimoji="0" lang="en-US" sz="1600" b="0" i="1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w</a:t>
            </a:r>
            <a:r>
              <a:rPr kumimoji="0" sz="1600" b="0" i="1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e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0136885" y="3952249"/>
            <a:ext cx="189230" cy="779145"/>
          </a:xfrm>
          <a:custGeom>
            <a:avLst/>
            <a:gdLst/>
            <a:ahLst/>
            <a:cxnLst/>
            <a:rect l="l" t="t" r="r" b="b"/>
            <a:pathLst>
              <a:path w="189229" h="779145">
                <a:moveTo>
                  <a:pt x="0" y="0"/>
                </a:moveTo>
                <a:lnTo>
                  <a:pt x="36784" y="5816"/>
                </a:lnTo>
                <a:lnTo>
                  <a:pt x="66817" y="21669"/>
                </a:lnTo>
                <a:lnTo>
                  <a:pt x="87064" y="45166"/>
                </a:lnTo>
                <a:lnTo>
                  <a:pt x="94488" y="73913"/>
                </a:lnTo>
                <a:lnTo>
                  <a:pt x="94488" y="315468"/>
                </a:lnTo>
                <a:lnTo>
                  <a:pt x="101911" y="344215"/>
                </a:lnTo>
                <a:lnTo>
                  <a:pt x="122158" y="367712"/>
                </a:lnTo>
                <a:lnTo>
                  <a:pt x="152191" y="383565"/>
                </a:lnTo>
                <a:lnTo>
                  <a:pt x="188975" y="389381"/>
                </a:lnTo>
                <a:lnTo>
                  <a:pt x="152191" y="395198"/>
                </a:lnTo>
                <a:lnTo>
                  <a:pt x="122158" y="411051"/>
                </a:lnTo>
                <a:lnTo>
                  <a:pt x="101911" y="434548"/>
                </a:lnTo>
                <a:lnTo>
                  <a:pt x="94488" y="463295"/>
                </a:lnTo>
                <a:lnTo>
                  <a:pt x="94488" y="704850"/>
                </a:lnTo>
                <a:lnTo>
                  <a:pt x="87064" y="733597"/>
                </a:lnTo>
                <a:lnTo>
                  <a:pt x="66817" y="757094"/>
                </a:lnTo>
                <a:lnTo>
                  <a:pt x="36784" y="772947"/>
                </a:lnTo>
                <a:lnTo>
                  <a:pt x="0" y="778763"/>
                </a:lnTo>
              </a:path>
            </a:pathLst>
          </a:custGeom>
          <a:ln w="19812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571194" y="2794072"/>
            <a:ext cx="507831" cy="899794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Attention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scores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2137409" y="2902213"/>
            <a:ext cx="189230" cy="624840"/>
          </a:xfrm>
          <a:custGeom>
            <a:avLst/>
            <a:gdLst/>
            <a:ahLst/>
            <a:cxnLst/>
            <a:rect l="l" t="t" r="r" b="b"/>
            <a:pathLst>
              <a:path w="189229" h="624839">
                <a:moveTo>
                  <a:pt x="188976" y="624839"/>
                </a:moveTo>
                <a:lnTo>
                  <a:pt x="152196" y="619023"/>
                </a:lnTo>
                <a:lnTo>
                  <a:pt x="122162" y="603170"/>
                </a:lnTo>
                <a:lnTo>
                  <a:pt x="101913" y="579673"/>
                </a:lnTo>
                <a:lnTo>
                  <a:pt x="94488" y="550926"/>
                </a:lnTo>
                <a:lnTo>
                  <a:pt x="94488" y="386334"/>
                </a:lnTo>
                <a:lnTo>
                  <a:pt x="87062" y="357586"/>
                </a:lnTo>
                <a:lnTo>
                  <a:pt x="66813" y="334089"/>
                </a:lnTo>
                <a:lnTo>
                  <a:pt x="36779" y="318236"/>
                </a:lnTo>
                <a:lnTo>
                  <a:pt x="0" y="312420"/>
                </a:lnTo>
                <a:lnTo>
                  <a:pt x="36779" y="306603"/>
                </a:lnTo>
                <a:lnTo>
                  <a:pt x="66813" y="290750"/>
                </a:lnTo>
                <a:lnTo>
                  <a:pt x="87062" y="267253"/>
                </a:lnTo>
                <a:lnTo>
                  <a:pt x="94488" y="238506"/>
                </a:lnTo>
                <a:lnTo>
                  <a:pt x="94488" y="73913"/>
                </a:lnTo>
                <a:lnTo>
                  <a:pt x="101913" y="45166"/>
                </a:lnTo>
                <a:lnTo>
                  <a:pt x="122162" y="21669"/>
                </a:lnTo>
                <a:lnTo>
                  <a:pt x="152196" y="5816"/>
                </a:lnTo>
                <a:lnTo>
                  <a:pt x="188976" y="0"/>
                </a:lnTo>
              </a:path>
            </a:pathLst>
          </a:custGeom>
          <a:ln w="19812">
            <a:solidFill>
              <a:srgbClr val="3986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571194" y="1532230"/>
            <a:ext cx="507831" cy="110109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13030" marR="0" lvl="0" indent="0" algn="l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Attention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distribution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2149601" y="1769880"/>
            <a:ext cx="189230" cy="624840"/>
          </a:xfrm>
          <a:custGeom>
            <a:avLst/>
            <a:gdLst/>
            <a:ahLst/>
            <a:cxnLst/>
            <a:rect l="l" t="t" r="r" b="b"/>
            <a:pathLst>
              <a:path w="189230" h="624839">
                <a:moveTo>
                  <a:pt x="188976" y="624840"/>
                </a:moveTo>
                <a:lnTo>
                  <a:pt x="152196" y="619023"/>
                </a:lnTo>
                <a:lnTo>
                  <a:pt x="122162" y="603170"/>
                </a:lnTo>
                <a:lnTo>
                  <a:pt x="101913" y="579673"/>
                </a:lnTo>
                <a:lnTo>
                  <a:pt x="94488" y="550926"/>
                </a:lnTo>
                <a:lnTo>
                  <a:pt x="94488" y="386334"/>
                </a:lnTo>
                <a:lnTo>
                  <a:pt x="87062" y="357586"/>
                </a:lnTo>
                <a:lnTo>
                  <a:pt x="66813" y="334089"/>
                </a:lnTo>
                <a:lnTo>
                  <a:pt x="36779" y="318236"/>
                </a:lnTo>
                <a:lnTo>
                  <a:pt x="0" y="312420"/>
                </a:lnTo>
                <a:lnTo>
                  <a:pt x="36779" y="306603"/>
                </a:lnTo>
                <a:lnTo>
                  <a:pt x="66813" y="290750"/>
                </a:lnTo>
                <a:lnTo>
                  <a:pt x="87062" y="267253"/>
                </a:lnTo>
                <a:lnTo>
                  <a:pt x="94488" y="238506"/>
                </a:lnTo>
                <a:lnTo>
                  <a:pt x="94488" y="73914"/>
                </a:lnTo>
                <a:lnTo>
                  <a:pt x="101913" y="45166"/>
                </a:lnTo>
                <a:lnTo>
                  <a:pt x="122162" y="21669"/>
                </a:lnTo>
                <a:lnTo>
                  <a:pt x="152196" y="5816"/>
                </a:lnTo>
                <a:lnTo>
                  <a:pt x="188976" y="0"/>
                </a:lnTo>
              </a:path>
            </a:pathLst>
          </a:custGeom>
          <a:ln w="19812">
            <a:solidFill>
              <a:srgbClr val="3986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906392" y="799982"/>
            <a:ext cx="89979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2715" marR="5080" lvl="0" indent="-12065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</a:t>
            </a:r>
            <a:r>
              <a:rPr kumimoji="0" sz="1800" b="0" i="0" u="none" strike="noStrike" kern="1200" cap="none" spc="-3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tt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e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n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i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on  output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3823209" y="1405010"/>
            <a:ext cx="2596515" cy="2516505"/>
          </a:xfrm>
          <a:custGeom>
            <a:avLst/>
            <a:gdLst/>
            <a:ahLst/>
            <a:cxnLst/>
            <a:rect l="l" t="t" r="r" b="b"/>
            <a:pathLst>
              <a:path w="2596515" h="2516504">
                <a:moveTo>
                  <a:pt x="2311146" y="299466"/>
                </a:moveTo>
                <a:lnTo>
                  <a:pt x="2223262" y="232283"/>
                </a:lnTo>
                <a:lnTo>
                  <a:pt x="2217039" y="233172"/>
                </a:lnTo>
                <a:lnTo>
                  <a:pt x="2213737" y="237490"/>
                </a:lnTo>
                <a:lnTo>
                  <a:pt x="2210308" y="241808"/>
                </a:lnTo>
                <a:lnTo>
                  <a:pt x="2211197" y="248031"/>
                </a:lnTo>
                <a:lnTo>
                  <a:pt x="2256574" y="282727"/>
                </a:lnTo>
                <a:lnTo>
                  <a:pt x="2540" y="0"/>
                </a:lnTo>
                <a:lnTo>
                  <a:pt x="0" y="19558"/>
                </a:lnTo>
                <a:lnTo>
                  <a:pt x="2253907" y="302387"/>
                </a:lnTo>
                <a:lnTo>
                  <a:pt x="2201545" y="324739"/>
                </a:lnTo>
                <a:lnTo>
                  <a:pt x="2199259" y="330581"/>
                </a:lnTo>
                <a:lnTo>
                  <a:pt x="2201418" y="335534"/>
                </a:lnTo>
                <a:lnTo>
                  <a:pt x="2203577" y="340614"/>
                </a:lnTo>
                <a:lnTo>
                  <a:pt x="2209292" y="342900"/>
                </a:lnTo>
                <a:lnTo>
                  <a:pt x="2293569" y="306959"/>
                </a:lnTo>
                <a:lnTo>
                  <a:pt x="2311146" y="299466"/>
                </a:lnTo>
                <a:close/>
              </a:path>
              <a:path w="2596515" h="2516504">
                <a:moveTo>
                  <a:pt x="2596134" y="565531"/>
                </a:moveTo>
                <a:lnTo>
                  <a:pt x="2593340" y="560832"/>
                </a:lnTo>
                <a:lnTo>
                  <a:pt x="2551684" y="489585"/>
                </a:lnTo>
                <a:lnTo>
                  <a:pt x="2540254" y="470027"/>
                </a:lnTo>
                <a:lnTo>
                  <a:pt x="2487295" y="560959"/>
                </a:lnTo>
                <a:lnTo>
                  <a:pt x="2484628" y="565658"/>
                </a:lnTo>
                <a:lnTo>
                  <a:pt x="2486152" y="571627"/>
                </a:lnTo>
                <a:lnTo>
                  <a:pt x="2490851" y="574421"/>
                </a:lnTo>
                <a:lnTo>
                  <a:pt x="2495677" y="577215"/>
                </a:lnTo>
                <a:lnTo>
                  <a:pt x="2501646" y="575564"/>
                </a:lnTo>
                <a:lnTo>
                  <a:pt x="2504503" y="570738"/>
                </a:lnTo>
                <a:lnTo>
                  <a:pt x="2530373" y="526402"/>
                </a:lnTo>
                <a:lnTo>
                  <a:pt x="2530449" y="526262"/>
                </a:lnTo>
                <a:lnTo>
                  <a:pt x="2530424" y="577215"/>
                </a:lnTo>
                <a:lnTo>
                  <a:pt x="2532126" y="2516251"/>
                </a:lnTo>
                <a:lnTo>
                  <a:pt x="2551938" y="2516251"/>
                </a:lnTo>
                <a:lnTo>
                  <a:pt x="2550185" y="526237"/>
                </a:lnTo>
                <a:lnTo>
                  <a:pt x="2550160" y="494665"/>
                </a:lnTo>
                <a:lnTo>
                  <a:pt x="2550160" y="489585"/>
                </a:lnTo>
                <a:lnTo>
                  <a:pt x="2550274" y="526402"/>
                </a:lnTo>
                <a:lnTo>
                  <a:pt x="2576258" y="570865"/>
                </a:lnTo>
                <a:lnTo>
                  <a:pt x="2578989" y="575564"/>
                </a:lnTo>
                <a:lnTo>
                  <a:pt x="2585085" y="577088"/>
                </a:lnTo>
                <a:lnTo>
                  <a:pt x="2589784" y="574294"/>
                </a:lnTo>
                <a:lnTo>
                  <a:pt x="2594483" y="571627"/>
                </a:lnTo>
                <a:lnTo>
                  <a:pt x="2596134" y="565531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6310629" y="1189237"/>
            <a:ext cx="111760" cy="347345"/>
          </a:xfrm>
          <a:custGeom>
            <a:avLst/>
            <a:gdLst/>
            <a:ahLst/>
            <a:cxnLst/>
            <a:rect l="l" t="t" r="r" b="b"/>
            <a:pathLst>
              <a:path w="111760" h="347344">
                <a:moveTo>
                  <a:pt x="56325" y="39160"/>
                </a:moveTo>
                <a:lnTo>
                  <a:pt x="46198" y="56066"/>
                </a:lnTo>
                <a:lnTo>
                  <a:pt x="42925" y="347090"/>
                </a:lnTo>
                <a:lnTo>
                  <a:pt x="62737" y="347345"/>
                </a:lnTo>
                <a:lnTo>
                  <a:pt x="66010" y="56216"/>
                </a:lnTo>
                <a:lnTo>
                  <a:pt x="56325" y="39160"/>
                </a:lnTo>
                <a:close/>
              </a:path>
              <a:path w="111760" h="347344">
                <a:moveTo>
                  <a:pt x="67879" y="19558"/>
                </a:moveTo>
                <a:lnTo>
                  <a:pt x="46609" y="19558"/>
                </a:lnTo>
                <a:lnTo>
                  <a:pt x="66421" y="19685"/>
                </a:lnTo>
                <a:lnTo>
                  <a:pt x="66010" y="56216"/>
                </a:lnTo>
                <a:lnTo>
                  <a:pt x="94234" y="105917"/>
                </a:lnTo>
                <a:lnTo>
                  <a:pt x="100330" y="107568"/>
                </a:lnTo>
                <a:lnTo>
                  <a:pt x="105029" y="104901"/>
                </a:lnTo>
                <a:lnTo>
                  <a:pt x="109855" y="102235"/>
                </a:lnTo>
                <a:lnTo>
                  <a:pt x="111506" y="96138"/>
                </a:lnTo>
                <a:lnTo>
                  <a:pt x="108712" y="91439"/>
                </a:lnTo>
                <a:lnTo>
                  <a:pt x="67879" y="19558"/>
                </a:lnTo>
                <a:close/>
              </a:path>
              <a:path w="111760" h="347344">
                <a:moveTo>
                  <a:pt x="56769" y="0"/>
                </a:moveTo>
                <a:lnTo>
                  <a:pt x="2794" y="90170"/>
                </a:lnTo>
                <a:lnTo>
                  <a:pt x="0" y="94868"/>
                </a:lnTo>
                <a:lnTo>
                  <a:pt x="1524" y="100964"/>
                </a:lnTo>
                <a:lnTo>
                  <a:pt x="6096" y="103759"/>
                </a:lnTo>
                <a:lnTo>
                  <a:pt x="10795" y="106552"/>
                </a:lnTo>
                <a:lnTo>
                  <a:pt x="16891" y="105028"/>
                </a:lnTo>
                <a:lnTo>
                  <a:pt x="19685" y="100329"/>
                </a:lnTo>
                <a:lnTo>
                  <a:pt x="46198" y="56066"/>
                </a:lnTo>
                <a:lnTo>
                  <a:pt x="46609" y="19558"/>
                </a:lnTo>
                <a:lnTo>
                  <a:pt x="67879" y="19558"/>
                </a:lnTo>
                <a:lnTo>
                  <a:pt x="56769" y="0"/>
                </a:lnTo>
                <a:close/>
              </a:path>
              <a:path w="111760" h="347344">
                <a:moveTo>
                  <a:pt x="66366" y="24511"/>
                </a:moveTo>
                <a:lnTo>
                  <a:pt x="48006" y="24511"/>
                </a:lnTo>
                <a:lnTo>
                  <a:pt x="65024" y="24637"/>
                </a:lnTo>
                <a:lnTo>
                  <a:pt x="56325" y="39160"/>
                </a:lnTo>
                <a:lnTo>
                  <a:pt x="66010" y="56216"/>
                </a:lnTo>
                <a:lnTo>
                  <a:pt x="66366" y="24511"/>
                </a:lnTo>
                <a:close/>
              </a:path>
              <a:path w="111760" h="347344">
                <a:moveTo>
                  <a:pt x="46609" y="19558"/>
                </a:moveTo>
                <a:lnTo>
                  <a:pt x="46198" y="56066"/>
                </a:lnTo>
                <a:lnTo>
                  <a:pt x="56325" y="39160"/>
                </a:lnTo>
                <a:lnTo>
                  <a:pt x="48006" y="24511"/>
                </a:lnTo>
                <a:lnTo>
                  <a:pt x="66366" y="24511"/>
                </a:lnTo>
                <a:lnTo>
                  <a:pt x="66421" y="19685"/>
                </a:lnTo>
                <a:lnTo>
                  <a:pt x="46609" y="19558"/>
                </a:lnTo>
                <a:close/>
              </a:path>
              <a:path w="111760" h="347344">
                <a:moveTo>
                  <a:pt x="48006" y="24511"/>
                </a:moveTo>
                <a:lnTo>
                  <a:pt x="56325" y="39160"/>
                </a:lnTo>
                <a:lnTo>
                  <a:pt x="65024" y="24637"/>
                </a:lnTo>
                <a:lnTo>
                  <a:pt x="48006" y="24511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189112" y="870340"/>
            <a:ext cx="359564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had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926929" y="4802217"/>
            <a:ext cx="3075488" cy="1416413"/>
          </a:xfrm>
          <a:prstGeom prst="rect">
            <a:avLst/>
          </a:prstGeom>
          <a:ln w="28955">
            <a:solidFill>
              <a:srgbClr val="C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92075" marR="103505" lvl="0" indent="0" algn="l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Sometimes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we </a:t>
            </a:r>
            <a:r>
              <a:rPr kumimoji="0" sz="1800" b="0" i="0" u="none" strike="noStrike" kern="120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take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the</a:t>
            </a:r>
            <a:r>
              <a:rPr kumimoji="0" sz="18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attention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output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from</a:t>
            </a: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the </a:t>
            </a:r>
            <a:r>
              <a:rPr kumimoji="0" sz="1800" b="0" i="0" u="none" strike="noStrike" kern="1200" cap="none" spc="-39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previous</a:t>
            </a:r>
            <a:r>
              <a:rPr kumimoji="0" sz="18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step,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and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also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feed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it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into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the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decoder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(along</a:t>
            </a:r>
            <a:r>
              <a:rPr kumimoji="0" sz="1800" b="0" i="0" u="none" strike="noStrike" kern="1200" cap="none" spc="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with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the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usual </a:t>
            </a:r>
            <a:r>
              <a:rPr kumimoji="0" sz="18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decoder input).</a:t>
            </a:r>
            <a:r>
              <a:rPr kumimoji="0" sz="1800" b="0" i="0" u="none" strike="noStrike" kern="120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42" name="object 42"/>
          <p:cNvSpPr/>
          <p:nvPr/>
        </p:nvSpPr>
        <p:spPr>
          <a:xfrm rot="2728176">
            <a:off x="6565780" y="5440611"/>
            <a:ext cx="282909" cy="287690"/>
          </a:xfrm>
          <a:custGeom>
            <a:avLst/>
            <a:gdLst/>
            <a:ahLst/>
            <a:cxnLst/>
            <a:rect l="l" t="t" r="r" b="b"/>
            <a:pathLst>
              <a:path w="413385" h="420370">
                <a:moveTo>
                  <a:pt x="29844" y="327634"/>
                </a:moveTo>
                <a:lnTo>
                  <a:pt x="0" y="420039"/>
                </a:lnTo>
                <a:lnTo>
                  <a:pt x="91821" y="388505"/>
                </a:lnTo>
                <a:lnTo>
                  <a:pt x="81683" y="378548"/>
                </a:lnTo>
                <a:lnTo>
                  <a:pt x="61087" y="378548"/>
                </a:lnTo>
                <a:lnTo>
                  <a:pt x="40386" y="358254"/>
                </a:lnTo>
                <a:lnTo>
                  <a:pt x="50518" y="347939"/>
                </a:lnTo>
                <a:lnTo>
                  <a:pt x="29844" y="327634"/>
                </a:lnTo>
                <a:close/>
              </a:path>
              <a:path w="413385" h="420370">
                <a:moveTo>
                  <a:pt x="50518" y="347939"/>
                </a:moveTo>
                <a:lnTo>
                  <a:pt x="40386" y="358254"/>
                </a:lnTo>
                <a:lnTo>
                  <a:pt x="61087" y="378548"/>
                </a:lnTo>
                <a:lnTo>
                  <a:pt x="71201" y="368253"/>
                </a:lnTo>
                <a:lnTo>
                  <a:pt x="50518" y="347939"/>
                </a:lnTo>
                <a:close/>
              </a:path>
              <a:path w="413385" h="420370">
                <a:moveTo>
                  <a:pt x="71201" y="368253"/>
                </a:moveTo>
                <a:lnTo>
                  <a:pt x="61087" y="378548"/>
                </a:lnTo>
                <a:lnTo>
                  <a:pt x="81683" y="378548"/>
                </a:lnTo>
                <a:lnTo>
                  <a:pt x="71201" y="368253"/>
                </a:lnTo>
                <a:close/>
              </a:path>
              <a:path w="413385" h="420370">
                <a:moveTo>
                  <a:pt x="392302" y="0"/>
                </a:moveTo>
                <a:lnTo>
                  <a:pt x="50518" y="347939"/>
                </a:lnTo>
                <a:lnTo>
                  <a:pt x="71201" y="368253"/>
                </a:lnTo>
                <a:lnTo>
                  <a:pt x="413003" y="20320"/>
                </a:lnTo>
                <a:lnTo>
                  <a:pt x="392302" y="0"/>
                </a:lnTo>
                <a:close/>
              </a:path>
            </a:pathLst>
          </a:custGeom>
          <a:solidFill>
            <a:srgbClr val="BA56BD"/>
          </a:solidFill>
          <a:ln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pic>
        <p:nvPicPr>
          <p:cNvPr id="45" name="Picture 4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3636" y="1559822"/>
            <a:ext cx="359564" cy="317754"/>
          </a:xfrm>
          <a:prstGeom prst="rect">
            <a:avLst/>
          </a:prstGeom>
        </p:spPr>
      </p:pic>
      <p:sp>
        <p:nvSpPr>
          <p:cNvPr id="46" name="object 2">
            <a:extLst>
              <a:ext uri="{FF2B5EF4-FFF2-40B4-BE49-F238E27FC236}">
                <a16:creationId xmlns:a16="http://schemas.microsoft.com/office/drawing/2014/main" id="{C5F96EA4-FD98-8510-C473-8B4E223068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1325" y="46597"/>
            <a:ext cx="11307763" cy="629018"/>
          </a:xfrm>
          <a:prstGeom prst="rect">
            <a:avLst/>
          </a:prstGeom>
        </p:spPr>
        <p:txBody>
          <a:bodyPr vert="horz" wrap="square" lIns="0" tIns="1333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pc="-5" dirty="0"/>
              <a:t>Sequence-to-Sequence</a:t>
            </a:r>
            <a:r>
              <a:rPr lang="en-IN" spc="-40" dirty="0"/>
              <a:t> </a:t>
            </a:r>
            <a:r>
              <a:rPr lang="en-IN" spc="-5" dirty="0"/>
              <a:t>With</a:t>
            </a:r>
            <a:r>
              <a:rPr lang="en-IN" spc="15" dirty="0"/>
              <a:t> A</a:t>
            </a:r>
            <a:r>
              <a:rPr lang="en-IN" dirty="0"/>
              <a:t>ttention</a:t>
            </a:r>
            <a:endParaRPr dirty="0"/>
          </a:p>
        </p:txBody>
      </p:sp>
      <p:sp>
        <p:nvSpPr>
          <p:cNvPr id="47" name="object 22">
            <a:extLst>
              <a:ext uri="{FF2B5EF4-FFF2-40B4-BE49-F238E27FC236}">
                <a16:creationId xmlns:a16="http://schemas.microsoft.com/office/drawing/2014/main" id="{5FFD2A2D-08CC-774F-5BBA-B41C0277043A}"/>
              </a:ext>
            </a:extLst>
          </p:cNvPr>
          <p:cNvSpPr txBox="1"/>
          <p:nvPr/>
        </p:nvSpPr>
        <p:spPr>
          <a:xfrm>
            <a:off x="10372554" y="3700406"/>
            <a:ext cx="467885" cy="128270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Decoder</a:t>
            </a:r>
            <a:r>
              <a:rPr kumimoji="0" sz="1800" b="0" i="0" u="none" strike="noStrike" kern="1200" cap="none" spc="-3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RNN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13385C4-00B9-C3E3-DE99-CDD70A721C2A}"/>
              </a:ext>
            </a:extLst>
          </p:cNvPr>
          <p:cNvSpPr/>
          <p:nvPr/>
        </p:nvSpPr>
        <p:spPr>
          <a:xfrm>
            <a:off x="3800541" y="2146044"/>
            <a:ext cx="144000" cy="246613"/>
          </a:xfrm>
          <a:prstGeom prst="rect">
            <a:avLst/>
          </a:prstGeom>
          <a:solidFill>
            <a:srgbClr val="BCD6FF"/>
          </a:solidFill>
          <a:ln w="19050">
            <a:solidFill>
              <a:srgbClr val="388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4745C51-6ADD-C0EA-6E01-BE63BC9026DC}"/>
              </a:ext>
            </a:extLst>
          </p:cNvPr>
          <p:cNvSpPr/>
          <p:nvPr/>
        </p:nvSpPr>
        <p:spPr>
          <a:xfrm>
            <a:off x="3086093" y="2017230"/>
            <a:ext cx="494291" cy="29325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19D1985-9720-8313-F782-7CDC944009F5}"/>
              </a:ext>
            </a:extLst>
          </p:cNvPr>
          <p:cNvSpPr/>
          <p:nvPr/>
        </p:nvSpPr>
        <p:spPr>
          <a:xfrm>
            <a:off x="3196969" y="2317503"/>
            <a:ext cx="144000" cy="59606"/>
          </a:xfrm>
          <a:prstGeom prst="rect">
            <a:avLst/>
          </a:prstGeom>
          <a:solidFill>
            <a:srgbClr val="BCD6FF"/>
          </a:solidFill>
          <a:ln w="19050">
            <a:solidFill>
              <a:srgbClr val="388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CE9191D5-B0B9-25C5-7205-8FE13CFDCA86}"/>
              </a:ext>
            </a:extLst>
          </p:cNvPr>
          <p:cNvSpPr/>
          <p:nvPr/>
        </p:nvSpPr>
        <p:spPr>
          <a:xfrm rot="1990825">
            <a:off x="3450011" y="1566017"/>
            <a:ext cx="100959" cy="503082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A792C3DF-8BA3-E98D-C450-25198149FC9E}"/>
              </a:ext>
            </a:extLst>
          </p:cNvPr>
          <p:cNvCxnSpPr>
            <a:cxnSpLocks/>
          </p:cNvCxnSpPr>
          <p:nvPr/>
        </p:nvCxnSpPr>
        <p:spPr>
          <a:xfrm flipV="1">
            <a:off x="3323908" y="1532230"/>
            <a:ext cx="325272" cy="778257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object 13">
            <a:extLst>
              <a:ext uri="{FF2B5EF4-FFF2-40B4-BE49-F238E27FC236}">
                <a16:creationId xmlns:a16="http://schemas.microsoft.com/office/drawing/2014/main" id="{445D3E3C-0CCD-FA4A-56F2-B0E8CC8EE50B}"/>
              </a:ext>
            </a:extLst>
          </p:cNvPr>
          <p:cNvSpPr txBox="1"/>
          <p:nvPr/>
        </p:nvSpPr>
        <p:spPr>
          <a:xfrm>
            <a:off x="2433333" y="5954560"/>
            <a:ext cx="2230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Source sentence</a:t>
            </a:r>
            <a:r>
              <a:rPr kumimoji="0" sz="1800" b="0" i="0" u="none" strike="noStrike" kern="120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(input)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59" name="object 14">
            <a:extLst>
              <a:ext uri="{FF2B5EF4-FFF2-40B4-BE49-F238E27FC236}">
                <a16:creationId xmlns:a16="http://schemas.microsoft.com/office/drawing/2014/main" id="{2D3298B5-4104-1FA7-F2C3-5D1BEB3E8226}"/>
              </a:ext>
            </a:extLst>
          </p:cNvPr>
          <p:cNvSpPr/>
          <p:nvPr/>
        </p:nvSpPr>
        <p:spPr>
          <a:xfrm>
            <a:off x="2357710" y="5780012"/>
            <a:ext cx="2343455" cy="197550"/>
          </a:xfrm>
          <a:custGeom>
            <a:avLst/>
            <a:gdLst/>
            <a:ahLst/>
            <a:cxnLst/>
            <a:rect l="l" t="t" r="r" b="b"/>
            <a:pathLst>
              <a:path w="2435860" h="271779">
                <a:moveTo>
                  <a:pt x="2435352" y="0"/>
                </a:moveTo>
                <a:lnTo>
                  <a:pt x="2427013" y="52804"/>
                </a:lnTo>
                <a:lnTo>
                  <a:pt x="2404268" y="95916"/>
                </a:lnTo>
                <a:lnTo>
                  <a:pt x="2370522" y="124979"/>
                </a:lnTo>
                <a:lnTo>
                  <a:pt x="2329180" y="135636"/>
                </a:lnTo>
                <a:lnTo>
                  <a:pt x="1323848" y="135636"/>
                </a:lnTo>
                <a:lnTo>
                  <a:pt x="1282505" y="146292"/>
                </a:lnTo>
                <a:lnTo>
                  <a:pt x="1248759" y="175355"/>
                </a:lnTo>
                <a:lnTo>
                  <a:pt x="1226014" y="218467"/>
                </a:lnTo>
                <a:lnTo>
                  <a:pt x="1217676" y="271272"/>
                </a:lnTo>
                <a:lnTo>
                  <a:pt x="1209337" y="218467"/>
                </a:lnTo>
                <a:lnTo>
                  <a:pt x="1186592" y="175355"/>
                </a:lnTo>
                <a:lnTo>
                  <a:pt x="1152846" y="146292"/>
                </a:lnTo>
                <a:lnTo>
                  <a:pt x="1111504" y="135636"/>
                </a:lnTo>
                <a:lnTo>
                  <a:pt x="106146" y="135636"/>
                </a:lnTo>
                <a:lnTo>
                  <a:pt x="64829" y="124979"/>
                </a:lnTo>
                <a:lnTo>
                  <a:pt x="31089" y="95916"/>
                </a:lnTo>
                <a:lnTo>
                  <a:pt x="8341" y="52804"/>
                </a:lnTo>
                <a:lnTo>
                  <a:pt x="0" y="0"/>
                </a:lnTo>
              </a:path>
            </a:pathLst>
          </a:custGeom>
          <a:ln w="198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60" name="object 21">
            <a:extLst>
              <a:ext uri="{FF2B5EF4-FFF2-40B4-BE49-F238E27FC236}">
                <a16:creationId xmlns:a16="http://schemas.microsoft.com/office/drawing/2014/main" id="{72D4F843-2B54-BDF8-D36C-37F6620342FE}"/>
              </a:ext>
            </a:extLst>
          </p:cNvPr>
          <p:cNvSpPr txBox="1"/>
          <p:nvPr/>
        </p:nvSpPr>
        <p:spPr>
          <a:xfrm>
            <a:off x="2426336" y="5313638"/>
            <a:ext cx="40980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i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हम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61" name="object 22">
            <a:extLst>
              <a:ext uri="{FF2B5EF4-FFF2-40B4-BE49-F238E27FC236}">
                <a16:creationId xmlns:a16="http://schemas.microsoft.com/office/drawing/2014/main" id="{5291E264-0166-1DF3-2BDE-B2268421551E}"/>
              </a:ext>
            </a:extLst>
          </p:cNvPr>
          <p:cNvSpPr txBox="1"/>
          <p:nvPr/>
        </p:nvSpPr>
        <p:spPr>
          <a:xfrm>
            <a:off x="3002623" y="5313638"/>
            <a:ext cx="53340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i-IN" sz="16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बाजार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62" name="object 21">
            <a:extLst>
              <a:ext uri="{FF2B5EF4-FFF2-40B4-BE49-F238E27FC236}">
                <a16:creationId xmlns:a16="http://schemas.microsoft.com/office/drawing/2014/main" id="{7E4B0F19-108E-E73D-A2F3-ADEF6EFFBBD6}"/>
              </a:ext>
            </a:extLst>
          </p:cNvPr>
          <p:cNvSpPr txBox="1"/>
          <p:nvPr/>
        </p:nvSpPr>
        <p:spPr>
          <a:xfrm>
            <a:off x="3658511" y="5317123"/>
            <a:ext cx="40980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i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गये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63" name="object 21">
            <a:extLst>
              <a:ext uri="{FF2B5EF4-FFF2-40B4-BE49-F238E27FC236}">
                <a16:creationId xmlns:a16="http://schemas.microsoft.com/office/drawing/2014/main" id="{A2BA1F02-2D3A-FB56-24BB-6043D6E0CB32}"/>
              </a:ext>
            </a:extLst>
          </p:cNvPr>
          <p:cNvSpPr txBox="1"/>
          <p:nvPr/>
        </p:nvSpPr>
        <p:spPr>
          <a:xfrm>
            <a:off x="4268105" y="5310901"/>
            <a:ext cx="40980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i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थे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2F93E91-6B73-F3F5-608C-D42658DE04AF}"/>
              </a:ext>
            </a:extLst>
          </p:cNvPr>
          <p:cNvSpPr txBox="1"/>
          <p:nvPr/>
        </p:nvSpPr>
        <p:spPr>
          <a:xfrm>
            <a:off x="2412364" y="5540067"/>
            <a:ext cx="2321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ham      baajaar     gaye         the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502661" y="722131"/>
            <a:ext cx="4478020" cy="4597400"/>
            <a:chOff x="978661" y="1095755"/>
            <a:chExt cx="4478020" cy="45974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6799" y="4367784"/>
              <a:ext cx="126492" cy="13258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6799" y="4536947"/>
              <a:ext cx="126492" cy="13258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6799" y="4706111"/>
              <a:ext cx="126492" cy="13258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6799" y="4875276"/>
              <a:ext cx="126492" cy="13106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992885" y="4303013"/>
              <a:ext cx="266700" cy="780415"/>
            </a:xfrm>
            <a:custGeom>
              <a:avLst/>
              <a:gdLst/>
              <a:ahLst/>
              <a:cxnLst/>
              <a:rect l="l" t="t" r="r" b="b"/>
              <a:pathLst>
                <a:path w="266700" h="780414">
                  <a:moveTo>
                    <a:pt x="222250" y="0"/>
                  </a:moveTo>
                  <a:lnTo>
                    <a:pt x="239551" y="3498"/>
                  </a:lnTo>
                  <a:lnTo>
                    <a:pt x="253680" y="13033"/>
                  </a:lnTo>
                  <a:lnTo>
                    <a:pt x="263206" y="27164"/>
                  </a:lnTo>
                  <a:lnTo>
                    <a:pt x="266700" y="44450"/>
                  </a:lnTo>
                  <a:lnTo>
                    <a:pt x="266700" y="735838"/>
                  </a:lnTo>
                  <a:lnTo>
                    <a:pt x="263206" y="753123"/>
                  </a:lnTo>
                  <a:lnTo>
                    <a:pt x="253680" y="767254"/>
                  </a:lnTo>
                  <a:lnTo>
                    <a:pt x="239551" y="776789"/>
                  </a:lnTo>
                  <a:lnTo>
                    <a:pt x="222250" y="780288"/>
                  </a:lnTo>
                  <a:lnTo>
                    <a:pt x="44450" y="780288"/>
                  </a:lnTo>
                  <a:lnTo>
                    <a:pt x="27148" y="776789"/>
                  </a:lnTo>
                  <a:lnTo>
                    <a:pt x="13019" y="767254"/>
                  </a:lnTo>
                  <a:lnTo>
                    <a:pt x="3493" y="753123"/>
                  </a:lnTo>
                  <a:lnTo>
                    <a:pt x="0" y="735838"/>
                  </a:lnTo>
                  <a:lnTo>
                    <a:pt x="0" y="44450"/>
                  </a:lnTo>
                  <a:lnTo>
                    <a:pt x="3493" y="27164"/>
                  </a:lnTo>
                  <a:lnTo>
                    <a:pt x="13019" y="13033"/>
                  </a:lnTo>
                  <a:lnTo>
                    <a:pt x="27148" y="3498"/>
                  </a:lnTo>
                  <a:lnTo>
                    <a:pt x="44450" y="0"/>
                  </a:lnTo>
                  <a:lnTo>
                    <a:pt x="22225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71232" y="4637404"/>
              <a:ext cx="533400" cy="1056005"/>
            </a:xfrm>
            <a:custGeom>
              <a:avLst/>
              <a:gdLst/>
              <a:ahLst/>
              <a:cxnLst/>
              <a:rect l="l" t="t" r="r" b="b"/>
              <a:pathLst>
                <a:path w="533400" h="1056004">
                  <a:moveTo>
                    <a:pt x="111531" y="541401"/>
                  </a:moveTo>
                  <a:lnTo>
                    <a:pt x="67183" y="465455"/>
                  </a:lnTo>
                  <a:lnTo>
                    <a:pt x="55765" y="445897"/>
                  </a:lnTo>
                  <a:lnTo>
                    <a:pt x="0" y="541401"/>
                  </a:lnTo>
                  <a:lnTo>
                    <a:pt x="1600" y="547497"/>
                  </a:lnTo>
                  <a:lnTo>
                    <a:pt x="11049" y="553085"/>
                  </a:lnTo>
                  <a:lnTo>
                    <a:pt x="17119" y="551434"/>
                  </a:lnTo>
                  <a:lnTo>
                    <a:pt x="45859" y="502183"/>
                  </a:lnTo>
                  <a:lnTo>
                    <a:pt x="45859" y="1055497"/>
                  </a:lnTo>
                  <a:lnTo>
                    <a:pt x="65671" y="1055497"/>
                  </a:lnTo>
                  <a:lnTo>
                    <a:pt x="65671" y="502183"/>
                  </a:lnTo>
                  <a:lnTo>
                    <a:pt x="94411" y="551434"/>
                  </a:lnTo>
                  <a:lnTo>
                    <a:pt x="100482" y="553085"/>
                  </a:lnTo>
                  <a:lnTo>
                    <a:pt x="109931" y="547497"/>
                  </a:lnTo>
                  <a:lnTo>
                    <a:pt x="111531" y="541401"/>
                  </a:lnTo>
                  <a:close/>
                </a:path>
                <a:path w="533400" h="1056004">
                  <a:moveTo>
                    <a:pt x="533019" y="55765"/>
                  </a:moveTo>
                  <a:lnTo>
                    <a:pt x="516039" y="45847"/>
                  </a:lnTo>
                  <a:lnTo>
                    <a:pt x="442226" y="2794"/>
                  </a:lnTo>
                  <a:lnTo>
                    <a:pt x="437527" y="0"/>
                  </a:lnTo>
                  <a:lnTo>
                    <a:pt x="431431" y="1524"/>
                  </a:lnTo>
                  <a:lnTo>
                    <a:pt x="428637" y="6350"/>
                  </a:lnTo>
                  <a:lnTo>
                    <a:pt x="425970" y="11049"/>
                  </a:lnTo>
                  <a:lnTo>
                    <a:pt x="427494" y="17145"/>
                  </a:lnTo>
                  <a:lnTo>
                    <a:pt x="432193" y="19812"/>
                  </a:lnTo>
                  <a:lnTo>
                    <a:pt x="476796" y="45847"/>
                  </a:lnTo>
                  <a:lnTo>
                    <a:pt x="188353" y="45847"/>
                  </a:lnTo>
                  <a:lnTo>
                    <a:pt x="188353" y="65659"/>
                  </a:lnTo>
                  <a:lnTo>
                    <a:pt x="476821" y="65659"/>
                  </a:lnTo>
                  <a:lnTo>
                    <a:pt x="493801" y="55765"/>
                  </a:lnTo>
                  <a:lnTo>
                    <a:pt x="432193" y="91694"/>
                  </a:lnTo>
                  <a:lnTo>
                    <a:pt x="427494" y="94361"/>
                  </a:lnTo>
                  <a:lnTo>
                    <a:pt x="425970" y="100457"/>
                  </a:lnTo>
                  <a:lnTo>
                    <a:pt x="428637" y="105156"/>
                  </a:lnTo>
                  <a:lnTo>
                    <a:pt x="431431" y="109982"/>
                  </a:lnTo>
                  <a:lnTo>
                    <a:pt x="437527" y="111506"/>
                  </a:lnTo>
                  <a:lnTo>
                    <a:pt x="442226" y="108712"/>
                  </a:lnTo>
                  <a:lnTo>
                    <a:pt x="516039" y="65659"/>
                  </a:lnTo>
                  <a:lnTo>
                    <a:pt x="533019" y="55765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91055" y="3511295"/>
              <a:ext cx="3131311" cy="217551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077252" y="3627882"/>
              <a:ext cx="111760" cy="675005"/>
            </a:xfrm>
            <a:custGeom>
              <a:avLst/>
              <a:gdLst/>
              <a:ahLst/>
              <a:cxnLst/>
              <a:rect l="l" t="t" r="r" b="b"/>
              <a:pathLst>
                <a:path w="111759" h="675004">
                  <a:moveTo>
                    <a:pt x="56337" y="39259"/>
                  </a:moveTo>
                  <a:lnTo>
                    <a:pt x="46267" y="56136"/>
                  </a:lnTo>
                  <a:lnTo>
                    <a:pt x="39839" y="674751"/>
                  </a:lnTo>
                  <a:lnTo>
                    <a:pt x="59651" y="675005"/>
                  </a:lnTo>
                  <a:lnTo>
                    <a:pt x="66078" y="56372"/>
                  </a:lnTo>
                  <a:lnTo>
                    <a:pt x="56337" y="39259"/>
                  </a:lnTo>
                  <a:close/>
                </a:path>
                <a:path w="111759" h="675004">
                  <a:moveTo>
                    <a:pt x="67906" y="19558"/>
                  </a:moveTo>
                  <a:lnTo>
                    <a:pt x="46647" y="19558"/>
                  </a:lnTo>
                  <a:lnTo>
                    <a:pt x="66459" y="19685"/>
                  </a:lnTo>
                  <a:lnTo>
                    <a:pt x="66078" y="56372"/>
                  </a:lnTo>
                  <a:lnTo>
                    <a:pt x="91605" y="101219"/>
                  </a:lnTo>
                  <a:lnTo>
                    <a:pt x="94310" y="105918"/>
                  </a:lnTo>
                  <a:lnTo>
                    <a:pt x="100355" y="107569"/>
                  </a:lnTo>
                  <a:lnTo>
                    <a:pt x="105117" y="104902"/>
                  </a:lnTo>
                  <a:lnTo>
                    <a:pt x="109867" y="102108"/>
                  </a:lnTo>
                  <a:lnTo>
                    <a:pt x="111531" y="96139"/>
                  </a:lnTo>
                  <a:lnTo>
                    <a:pt x="108813" y="91313"/>
                  </a:lnTo>
                  <a:lnTo>
                    <a:pt x="67906" y="19558"/>
                  </a:lnTo>
                  <a:close/>
                </a:path>
                <a:path w="111759" h="675004">
                  <a:moveTo>
                    <a:pt x="56756" y="0"/>
                  </a:moveTo>
                  <a:lnTo>
                    <a:pt x="0" y="94996"/>
                  </a:lnTo>
                  <a:lnTo>
                    <a:pt x="1536" y="101092"/>
                  </a:lnTo>
                  <a:lnTo>
                    <a:pt x="10934" y="106680"/>
                  </a:lnTo>
                  <a:lnTo>
                    <a:pt x="17018" y="105156"/>
                  </a:lnTo>
                  <a:lnTo>
                    <a:pt x="46267" y="56136"/>
                  </a:lnTo>
                  <a:lnTo>
                    <a:pt x="46647" y="19558"/>
                  </a:lnTo>
                  <a:lnTo>
                    <a:pt x="67906" y="19558"/>
                  </a:lnTo>
                  <a:lnTo>
                    <a:pt x="56756" y="0"/>
                  </a:lnTo>
                  <a:close/>
                </a:path>
                <a:path w="111759" h="675004">
                  <a:moveTo>
                    <a:pt x="66408" y="24511"/>
                  </a:moveTo>
                  <a:lnTo>
                    <a:pt x="47942" y="24511"/>
                  </a:lnTo>
                  <a:lnTo>
                    <a:pt x="65062" y="24638"/>
                  </a:lnTo>
                  <a:lnTo>
                    <a:pt x="56337" y="39259"/>
                  </a:lnTo>
                  <a:lnTo>
                    <a:pt x="66078" y="56372"/>
                  </a:lnTo>
                  <a:lnTo>
                    <a:pt x="66408" y="24511"/>
                  </a:lnTo>
                  <a:close/>
                </a:path>
                <a:path w="111759" h="675004">
                  <a:moveTo>
                    <a:pt x="46647" y="19558"/>
                  </a:moveTo>
                  <a:lnTo>
                    <a:pt x="46267" y="56136"/>
                  </a:lnTo>
                  <a:lnTo>
                    <a:pt x="56337" y="39259"/>
                  </a:lnTo>
                  <a:lnTo>
                    <a:pt x="47942" y="24511"/>
                  </a:lnTo>
                  <a:lnTo>
                    <a:pt x="66408" y="24511"/>
                  </a:lnTo>
                  <a:lnTo>
                    <a:pt x="66459" y="19685"/>
                  </a:lnTo>
                  <a:lnTo>
                    <a:pt x="46647" y="19558"/>
                  </a:lnTo>
                  <a:close/>
                </a:path>
                <a:path w="111759" h="675004">
                  <a:moveTo>
                    <a:pt x="47942" y="24511"/>
                  </a:moveTo>
                  <a:lnTo>
                    <a:pt x="56337" y="39259"/>
                  </a:lnTo>
                  <a:lnTo>
                    <a:pt x="65062" y="24638"/>
                  </a:lnTo>
                  <a:lnTo>
                    <a:pt x="47942" y="24511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66799" y="3511295"/>
              <a:ext cx="132587" cy="12649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172667" y="3542029"/>
              <a:ext cx="4284345" cy="758190"/>
            </a:xfrm>
            <a:custGeom>
              <a:avLst/>
              <a:gdLst/>
              <a:ahLst/>
              <a:cxnLst/>
              <a:rect l="l" t="t" r="r" b="b"/>
              <a:pathLst>
                <a:path w="4284345" h="758189">
                  <a:moveTo>
                    <a:pt x="4283888" y="738124"/>
                  </a:moveTo>
                  <a:lnTo>
                    <a:pt x="1887220" y="38747"/>
                  </a:lnTo>
                  <a:lnTo>
                    <a:pt x="1928507" y="28448"/>
                  </a:lnTo>
                  <a:lnTo>
                    <a:pt x="1937181" y="26301"/>
                  </a:lnTo>
                  <a:lnTo>
                    <a:pt x="1942515" y="25019"/>
                  </a:lnTo>
                  <a:lnTo>
                    <a:pt x="1945690" y="19558"/>
                  </a:lnTo>
                  <a:lnTo>
                    <a:pt x="1944420" y="14224"/>
                  </a:lnTo>
                  <a:lnTo>
                    <a:pt x="1943150" y="9017"/>
                  </a:lnTo>
                  <a:lnTo>
                    <a:pt x="1937689" y="5727"/>
                  </a:lnTo>
                  <a:lnTo>
                    <a:pt x="1932355" y="7112"/>
                  </a:lnTo>
                  <a:lnTo>
                    <a:pt x="1830374" y="32512"/>
                  </a:lnTo>
                  <a:lnTo>
                    <a:pt x="1902764" y="108839"/>
                  </a:lnTo>
                  <a:lnTo>
                    <a:pt x="1906447" y="112776"/>
                  </a:lnTo>
                  <a:lnTo>
                    <a:pt x="1912797" y="113030"/>
                  </a:lnTo>
                  <a:lnTo>
                    <a:pt x="1920671" y="105410"/>
                  </a:lnTo>
                  <a:lnTo>
                    <a:pt x="1920798" y="99187"/>
                  </a:lnTo>
                  <a:lnTo>
                    <a:pt x="1917115" y="95250"/>
                  </a:lnTo>
                  <a:lnTo>
                    <a:pt x="1881555" y="57772"/>
                  </a:lnTo>
                  <a:lnTo>
                    <a:pt x="3928554" y="655116"/>
                  </a:lnTo>
                  <a:lnTo>
                    <a:pt x="1282458" y="35687"/>
                  </a:lnTo>
                  <a:lnTo>
                    <a:pt x="1309725" y="27305"/>
                  </a:lnTo>
                  <a:lnTo>
                    <a:pt x="1336852" y="18923"/>
                  </a:lnTo>
                  <a:lnTo>
                    <a:pt x="1339900" y="13335"/>
                  </a:lnTo>
                  <a:lnTo>
                    <a:pt x="1336598" y="2921"/>
                  </a:lnTo>
                  <a:lnTo>
                    <a:pt x="1331137" y="0"/>
                  </a:lnTo>
                  <a:lnTo>
                    <a:pt x="1225346" y="32512"/>
                  </a:lnTo>
                  <a:lnTo>
                    <a:pt x="1301673" y="104775"/>
                  </a:lnTo>
                  <a:lnTo>
                    <a:pt x="1305610" y="108585"/>
                  </a:lnTo>
                  <a:lnTo>
                    <a:pt x="1311960" y="108458"/>
                  </a:lnTo>
                  <a:lnTo>
                    <a:pt x="1315643" y="104394"/>
                  </a:lnTo>
                  <a:lnTo>
                    <a:pt x="1319453" y="100457"/>
                  </a:lnTo>
                  <a:lnTo>
                    <a:pt x="1319326" y="94234"/>
                  </a:lnTo>
                  <a:lnTo>
                    <a:pt x="1277785" y="54965"/>
                  </a:lnTo>
                  <a:lnTo>
                    <a:pt x="3881005" y="664337"/>
                  </a:lnTo>
                  <a:lnTo>
                    <a:pt x="662165" y="71056"/>
                  </a:lnTo>
                  <a:lnTo>
                    <a:pt x="680694" y="64401"/>
                  </a:lnTo>
                  <a:lnTo>
                    <a:pt x="710742" y="53594"/>
                  </a:lnTo>
                  <a:lnTo>
                    <a:pt x="715822" y="51701"/>
                  </a:lnTo>
                  <a:lnTo>
                    <a:pt x="718489" y="46101"/>
                  </a:lnTo>
                  <a:lnTo>
                    <a:pt x="716711" y="40894"/>
                  </a:lnTo>
                  <a:lnTo>
                    <a:pt x="714806" y="35826"/>
                  </a:lnTo>
                  <a:lnTo>
                    <a:pt x="709091" y="33147"/>
                  </a:lnTo>
                  <a:lnTo>
                    <a:pt x="704011" y="34925"/>
                  </a:lnTo>
                  <a:lnTo>
                    <a:pt x="605078" y="70612"/>
                  </a:lnTo>
                  <a:lnTo>
                    <a:pt x="684834" y="139192"/>
                  </a:lnTo>
                  <a:lnTo>
                    <a:pt x="688898" y="142748"/>
                  </a:lnTo>
                  <a:lnTo>
                    <a:pt x="695248" y="142240"/>
                  </a:lnTo>
                  <a:lnTo>
                    <a:pt x="698804" y="138176"/>
                  </a:lnTo>
                  <a:lnTo>
                    <a:pt x="702360" y="133985"/>
                  </a:lnTo>
                  <a:lnTo>
                    <a:pt x="701852" y="127762"/>
                  </a:lnTo>
                  <a:lnTo>
                    <a:pt x="697661" y="124206"/>
                  </a:lnTo>
                  <a:lnTo>
                    <a:pt x="658647" y="90627"/>
                  </a:lnTo>
                  <a:lnTo>
                    <a:pt x="3511219" y="616394"/>
                  </a:lnTo>
                  <a:lnTo>
                    <a:pt x="57175" y="69634"/>
                  </a:lnTo>
                  <a:lnTo>
                    <a:pt x="71932" y="63881"/>
                  </a:lnTo>
                  <a:lnTo>
                    <a:pt x="105206" y="50939"/>
                  </a:lnTo>
                  <a:lnTo>
                    <a:pt x="110286" y="48895"/>
                  </a:lnTo>
                  <a:lnTo>
                    <a:pt x="112826" y="43180"/>
                  </a:lnTo>
                  <a:lnTo>
                    <a:pt x="110921" y="38100"/>
                  </a:lnTo>
                  <a:lnTo>
                    <a:pt x="108889" y="33020"/>
                  </a:lnTo>
                  <a:lnTo>
                    <a:pt x="103174" y="30480"/>
                  </a:lnTo>
                  <a:lnTo>
                    <a:pt x="98094" y="32512"/>
                  </a:lnTo>
                  <a:lnTo>
                    <a:pt x="0" y="70612"/>
                  </a:lnTo>
                  <a:lnTo>
                    <a:pt x="85699" y="140589"/>
                  </a:lnTo>
                  <a:lnTo>
                    <a:pt x="91948" y="139954"/>
                  </a:lnTo>
                  <a:lnTo>
                    <a:pt x="98856" y="131572"/>
                  </a:lnTo>
                  <a:lnTo>
                    <a:pt x="98221" y="125349"/>
                  </a:lnTo>
                  <a:lnTo>
                    <a:pt x="94005" y="121793"/>
                  </a:lnTo>
                  <a:lnTo>
                    <a:pt x="54038" y="89192"/>
                  </a:lnTo>
                  <a:lnTo>
                    <a:pt x="4278808" y="757936"/>
                  </a:lnTo>
                  <a:lnTo>
                    <a:pt x="4279189" y="757936"/>
                  </a:lnTo>
                  <a:lnTo>
                    <a:pt x="4280992" y="747966"/>
                  </a:lnTo>
                  <a:lnTo>
                    <a:pt x="4283888" y="738124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983741" y="2758820"/>
              <a:ext cx="2308860" cy="5080"/>
            </a:xfrm>
            <a:custGeom>
              <a:avLst/>
              <a:gdLst/>
              <a:ahLst/>
              <a:cxnLst/>
              <a:rect l="l" t="t" r="r" b="b"/>
              <a:pathLst>
                <a:path w="2308860" h="5080">
                  <a:moveTo>
                    <a:pt x="0" y="0"/>
                  </a:moveTo>
                  <a:lnTo>
                    <a:pt x="1290828" y="0"/>
                  </a:lnTo>
                </a:path>
                <a:path w="2308860" h="5080">
                  <a:moveTo>
                    <a:pt x="1414272" y="0"/>
                  </a:moveTo>
                  <a:lnTo>
                    <a:pt x="1895856" y="0"/>
                  </a:lnTo>
                </a:path>
                <a:path w="2308860" h="5080">
                  <a:moveTo>
                    <a:pt x="2019300" y="0"/>
                  </a:moveTo>
                  <a:lnTo>
                    <a:pt x="2308479" y="0"/>
                  </a:lnTo>
                </a:path>
                <a:path w="2308860" h="5080">
                  <a:moveTo>
                    <a:pt x="0" y="4952"/>
                  </a:moveTo>
                  <a:lnTo>
                    <a:pt x="2308479" y="4952"/>
                  </a:lnTo>
                </a:path>
              </a:pathLst>
            </a:custGeom>
            <a:ln w="3175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983741" y="2773298"/>
              <a:ext cx="2308860" cy="0"/>
            </a:xfrm>
            <a:custGeom>
              <a:avLst/>
              <a:gdLst/>
              <a:ahLst/>
              <a:cxnLst/>
              <a:rect l="l" t="t" r="r" b="b"/>
              <a:pathLst>
                <a:path w="2308860">
                  <a:moveTo>
                    <a:pt x="0" y="0"/>
                  </a:moveTo>
                  <a:lnTo>
                    <a:pt x="2308479" y="0"/>
                  </a:lnTo>
                </a:path>
              </a:pathLst>
            </a:custGeom>
            <a:ln w="9905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57655" y="1095755"/>
              <a:ext cx="1955292" cy="2425572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571194" y="3918743"/>
            <a:ext cx="507831" cy="78613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Encoder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RNN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141981" y="3929391"/>
            <a:ext cx="187960" cy="780415"/>
          </a:xfrm>
          <a:custGeom>
            <a:avLst/>
            <a:gdLst/>
            <a:ahLst/>
            <a:cxnLst/>
            <a:rect l="l" t="t" r="r" b="b"/>
            <a:pathLst>
              <a:path w="187959" h="780414">
                <a:moveTo>
                  <a:pt x="187452" y="780288"/>
                </a:moveTo>
                <a:lnTo>
                  <a:pt x="150968" y="774515"/>
                </a:lnTo>
                <a:lnTo>
                  <a:pt x="121177" y="758777"/>
                </a:lnTo>
                <a:lnTo>
                  <a:pt x="101091" y="735443"/>
                </a:lnTo>
                <a:lnTo>
                  <a:pt x="93726" y="706882"/>
                </a:lnTo>
                <a:lnTo>
                  <a:pt x="93726" y="463550"/>
                </a:lnTo>
                <a:lnTo>
                  <a:pt x="86360" y="434988"/>
                </a:lnTo>
                <a:lnTo>
                  <a:pt x="66274" y="411654"/>
                </a:lnTo>
                <a:lnTo>
                  <a:pt x="36483" y="395916"/>
                </a:lnTo>
                <a:lnTo>
                  <a:pt x="0" y="390144"/>
                </a:lnTo>
                <a:lnTo>
                  <a:pt x="36483" y="384371"/>
                </a:lnTo>
                <a:lnTo>
                  <a:pt x="66274" y="368633"/>
                </a:lnTo>
                <a:lnTo>
                  <a:pt x="86360" y="345299"/>
                </a:lnTo>
                <a:lnTo>
                  <a:pt x="93726" y="316738"/>
                </a:lnTo>
                <a:lnTo>
                  <a:pt x="93726" y="73406"/>
                </a:lnTo>
                <a:lnTo>
                  <a:pt x="101091" y="44844"/>
                </a:lnTo>
                <a:lnTo>
                  <a:pt x="121177" y="21510"/>
                </a:lnTo>
                <a:lnTo>
                  <a:pt x="150968" y="5772"/>
                </a:lnTo>
                <a:lnTo>
                  <a:pt x="187452" y="0"/>
                </a:lnTo>
              </a:path>
            </a:pathLst>
          </a:custGeom>
          <a:ln w="1981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571194" y="2794073"/>
            <a:ext cx="507831" cy="899794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Attention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scores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137409" y="2902214"/>
            <a:ext cx="189230" cy="624840"/>
          </a:xfrm>
          <a:custGeom>
            <a:avLst/>
            <a:gdLst/>
            <a:ahLst/>
            <a:cxnLst/>
            <a:rect l="l" t="t" r="r" b="b"/>
            <a:pathLst>
              <a:path w="189229" h="624839">
                <a:moveTo>
                  <a:pt x="188976" y="624839"/>
                </a:moveTo>
                <a:lnTo>
                  <a:pt x="152196" y="619023"/>
                </a:lnTo>
                <a:lnTo>
                  <a:pt x="122162" y="603170"/>
                </a:lnTo>
                <a:lnTo>
                  <a:pt x="101913" y="579673"/>
                </a:lnTo>
                <a:lnTo>
                  <a:pt x="94488" y="550926"/>
                </a:lnTo>
                <a:lnTo>
                  <a:pt x="94488" y="386334"/>
                </a:lnTo>
                <a:lnTo>
                  <a:pt x="87062" y="357586"/>
                </a:lnTo>
                <a:lnTo>
                  <a:pt x="66813" y="334089"/>
                </a:lnTo>
                <a:lnTo>
                  <a:pt x="36779" y="318236"/>
                </a:lnTo>
                <a:lnTo>
                  <a:pt x="0" y="312420"/>
                </a:lnTo>
                <a:lnTo>
                  <a:pt x="36779" y="306603"/>
                </a:lnTo>
                <a:lnTo>
                  <a:pt x="66813" y="290750"/>
                </a:lnTo>
                <a:lnTo>
                  <a:pt x="87062" y="267253"/>
                </a:lnTo>
                <a:lnTo>
                  <a:pt x="94488" y="238506"/>
                </a:lnTo>
                <a:lnTo>
                  <a:pt x="94488" y="73913"/>
                </a:lnTo>
                <a:lnTo>
                  <a:pt x="101913" y="45166"/>
                </a:lnTo>
                <a:lnTo>
                  <a:pt x="122162" y="21669"/>
                </a:lnTo>
                <a:lnTo>
                  <a:pt x="152196" y="5816"/>
                </a:lnTo>
                <a:lnTo>
                  <a:pt x="188976" y="0"/>
                </a:lnTo>
              </a:path>
            </a:pathLst>
          </a:custGeom>
          <a:ln w="19812">
            <a:solidFill>
              <a:srgbClr val="3986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571194" y="1532231"/>
            <a:ext cx="507831" cy="110109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13030" marR="0" lvl="0" indent="0" algn="l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Attention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distribution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149601" y="1769881"/>
            <a:ext cx="189230" cy="624840"/>
          </a:xfrm>
          <a:custGeom>
            <a:avLst/>
            <a:gdLst/>
            <a:ahLst/>
            <a:cxnLst/>
            <a:rect l="l" t="t" r="r" b="b"/>
            <a:pathLst>
              <a:path w="189230" h="624839">
                <a:moveTo>
                  <a:pt x="188976" y="624840"/>
                </a:moveTo>
                <a:lnTo>
                  <a:pt x="152196" y="619023"/>
                </a:lnTo>
                <a:lnTo>
                  <a:pt x="122162" y="603170"/>
                </a:lnTo>
                <a:lnTo>
                  <a:pt x="101913" y="579673"/>
                </a:lnTo>
                <a:lnTo>
                  <a:pt x="94488" y="550926"/>
                </a:lnTo>
                <a:lnTo>
                  <a:pt x="94488" y="386334"/>
                </a:lnTo>
                <a:lnTo>
                  <a:pt x="87062" y="357586"/>
                </a:lnTo>
                <a:lnTo>
                  <a:pt x="66813" y="334089"/>
                </a:lnTo>
                <a:lnTo>
                  <a:pt x="36779" y="318236"/>
                </a:lnTo>
                <a:lnTo>
                  <a:pt x="0" y="312420"/>
                </a:lnTo>
                <a:lnTo>
                  <a:pt x="36779" y="306603"/>
                </a:lnTo>
                <a:lnTo>
                  <a:pt x="66813" y="290750"/>
                </a:lnTo>
                <a:lnTo>
                  <a:pt x="87062" y="267253"/>
                </a:lnTo>
                <a:lnTo>
                  <a:pt x="94488" y="238506"/>
                </a:lnTo>
                <a:lnTo>
                  <a:pt x="94488" y="73914"/>
                </a:lnTo>
                <a:lnTo>
                  <a:pt x="101913" y="45166"/>
                </a:lnTo>
                <a:lnTo>
                  <a:pt x="122162" y="21669"/>
                </a:lnTo>
                <a:lnTo>
                  <a:pt x="152196" y="5816"/>
                </a:lnTo>
                <a:lnTo>
                  <a:pt x="188976" y="0"/>
                </a:lnTo>
              </a:path>
            </a:pathLst>
          </a:custGeom>
          <a:ln w="19812">
            <a:solidFill>
              <a:srgbClr val="3986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906392" y="799983"/>
            <a:ext cx="89979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2715" marR="5080" lvl="0" indent="-12065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</a:t>
            </a:r>
            <a:r>
              <a:rPr kumimoji="0" sz="1800" b="0" i="0" u="none" strike="noStrike" kern="1200" cap="none" spc="-3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tt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e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n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i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on  output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3823461" y="1404883"/>
            <a:ext cx="3296920" cy="3905250"/>
            <a:chOff x="2299461" y="1778507"/>
            <a:chExt cx="3296920" cy="3905250"/>
          </a:xfrm>
        </p:grpSpPr>
        <p:sp>
          <p:nvSpPr>
            <p:cNvPr id="31" name="object 31"/>
            <p:cNvSpPr/>
            <p:nvPr/>
          </p:nvSpPr>
          <p:spPr>
            <a:xfrm>
              <a:off x="2299461" y="1778507"/>
              <a:ext cx="2922905" cy="342265"/>
            </a:xfrm>
            <a:custGeom>
              <a:avLst/>
              <a:gdLst/>
              <a:ahLst/>
              <a:cxnLst/>
              <a:rect l="l" t="t" r="r" b="b"/>
              <a:pathLst>
                <a:path w="2922904" h="342264">
                  <a:moveTo>
                    <a:pt x="2865760" y="299955"/>
                  </a:moveTo>
                  <a:lnTo>
                    <a:pt x="2813939" y="323722"/>
                  </a:lnTo>
                  <a:lnTo>
                    <a:pt x="2811779" y="329564"/>
                  </a:lnTo>
                  <a:lnTo>
                    <a:pt x="2814066" y="334644"/>
                  </a:lnTo>
                  <a:lnTo>
                    <a:pt x="2816352" y="339597"/>
                  </a:lnTo>
                  <a:lnTo>
                    <a:pt x="2822321" y="341756"/>
                  </a:lnTo>
                  <a:lnTo>
                    <a:pt x="2905391" y="303529"/>
                  </a:lnTo>
                  <a:lnTo>
                    <a:pt x="2902330" y="303529"/>
                  </a:lnTo>
                  <a:lnTo>
                    <a:pt x="2865760" y="299955"/>
                  </a:lnTo>
                  <a:close/>
                </a:path>
                <a:path w="2922904" h="342264">
                  <a:moveTo>
                    <a:pt x="2883734" y="291694"/>
                  </a:moveTo>
                  <a:lnTo>
                    <a:pt x="2865760" y="299955"/>
                  </a:lnTo>
                  <a:lnTo>
                    <a:pt x="2902330" y="303529"/>
                  </a:lnTo>
                  <a:lnTo>
                    <a:pt x="2902526" y="301625"/>
                  </a:lnTo>
                  <a:lnTo>
                    <a:pt x="2897504" y="301625"/>
                  </a:lnTo>
                  <a:lnTo>
                    <a:pt x="2883734" y="291694"/>
                  </a:lnTo>
                  <a:close/>
                </a:path>
                <a:path w="2922904" h="342264">
                  <a:moveTo>
                    <a:pt x="2833116" y="230758"/>
                  </a:moveTo>
                  <a:lnTo>
                    <a:pt x="2826892" y="231775"/>
                  </a:lnTo>
                  <a:lnTo>
                    <a:pt x="2820542" y="240664"/>
                  </a:lnTo>
                  <a:lnTo>
                    <a:pt x="2821559" y="246761"/>
                  </a:lnTo>
                  <a:lnTo>
                    <a:pt x="2826004" y="250062"/>
                  </a:lnTo>
                  <a:lnTo>
                    <a:pt x="2867703" y="280134"/>
                  </a:lnTo>
                  <a:lnTo>
                    <a:pt x="2904363" y="283717"/>
                  </a:lnTo>
                  <a:lnTo>
                    <a:pt x="2902330" y="303529"/>
                  </a:lnTo>
                  <a:lnTo>
                    <a:pt x="2905391" y="303529"/>
                  </a:lnTo>
                  <a:lnTo>
                    <a:pt x="2922778" y="295528"/>
                  </a:lnTo>
                  <a:lnTo>
                    <a:pt x="2833116" y="230758"/>
                  </a:lnTo>
                  <a:close/>
                </a:path>
                <a:path w="2922904" h="342264">
                  <a:moveTo>
                    <a:pt x="2899155" y="284606"/>
                  </a:moveTo>
                  <a:lnTo>
                    <a:pt x="2883734" y="291694"/>
                  </a:lnTo>
                  <a:lnTo>
                    <a:pt x="2897504" y="301625"/>
                  </a:lnTo>
                  <a:lnTo>
                    <a:pt x="2899155" y="284606"/>
                  </a:lnTo>
                  <a:close/>
                </a:path>
                <a:path w="2922904" h="342264">
                  <a:moveTo>
                    <a:pt x="2904271" y="284606"/>
                  </a:moveTo>
                  <a:lnTo>
                    <a:pt x="2899155" y="284606"/>
                  </a:lnTo>
                  <a:lnTo>
                    <a:pt x="2897504" y="301625"/>
                  </a:lnTo>
                  <a:lnTo>
                    <a:pt x="2902526" y="301625"/>
                  </a:lnTo>
                  <a:lnTo>
                    <a:pt x="2904271" y="284606"/>
                  </a:lnTo>
                  <a:close/>
                </a:path>
                <a:path w="2922904" h="342264">
                  <a:moveTo>
                    <a:pt x="2031" y="0"/>
                  </a:moveTo>
                  <a:lnTo>
                    <a:pt x="0" y="19812"/>
                  </a:lnTo>
                  <a:lnTo>
                    <a:pt x="2865760" y="299955"/>
                  </a:lnTo>
                  <a:lnTo>
                    <a:pt x="2883734" y="291694"/>
                  </a:lnTo>
                  <a:lnTo>
                    <a:pt x="2867703" y="280134"/>
                  </a:lnTo>
                  <a:lnTo>
                    <a:pt x="2031" y="0"/>
                  </a:lnTo>
                  <a:close/>
                </a:path>
                <a:path w="2922904" h="342264">
                  <a:moveTo>
                    <a:pt x="2867703" y="280134"/>
                  </a:moveTo>
                  <a:lnTo>
                    <a:pt x="2883734" y="291694"/>
                  </a:lnTo>
                  <a:lnTo>
                    <a:pt x="2899155" y="284606"/>
                  </a:lnTo>
                  <a:lnTo>
                    <a:pt x="2904271" y="284606"/>
                  </a:lnTo>
                  <a:lnTo>
                    <a:pt x="2904363" y="283717"/>
                  </a:lnTo>
                  <a:lnTo>
                    <a:pt x="2867703" y="280134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pic>
          <p:nvPicPr>
            <p:cNvPr id="32" name="object 3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82311" y="4358639"/>
              <a:ext cx="126491" cy="132588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82311" y="4527803"/>
              <a:ext cx="126491" cy="132587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82311" y="4696967"/>
              <a:ext cx="126491" cy="132587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82311" y="4866131"/>
              <a:ext cx="126491" cy="132587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4708397" y="4293869"/>
              <a:ext cx="266700" cy="780415"/>
            </a:xfrm>
            <a:custGeom>
              <a:avLst/>
              <a:gdLst/>
              <a:ahLst/>
              <a:cxnLst/>
              <a:rect l="l" t="t" r="r" b="b"/>
              <a:pathLst>
                <a:path w="266700" h="780414">
                  <a:moveTo>
                    <a:pt x="222250" y="0"/>
                  </a:moveTo>
                  <a:lnTo>
                    <a:pt x="239535" y="3498"/>
                  </a:lnTo>
                  <a:lnTo>
                    <a:pt x="253666" y="13033"/>
                  </a:lnTo>
                  <a:lnTo>
                    <a:pt x="263201" y="27164"/>
                  </a:lnTo>
                  <a:lnTo>
                    <a:pt x="266700" y="44449"/>
                  </a:lnTo>
                  <a:lnTo>
                    <a:pt x="266700" y="735837"/>
                  </a:lnTo>
                  <a:lnTo>
                    <a:pt x="263201" y="753123"/>
                  </a:lnTo>
                  <a:lnTo>
                    <a:pt x="253666" y="767254"/>
                  </a:lnTo>
                  <a:lnTo>
                    <a:pt x="239535" y="776789"/>
                  </a:lnTo>
                  <a:lnTo>
                    <a:pt x="222250" y="780287"/>
                  </a:lnTo>
                  <a:lnTo>
                    <a:pt x="44450" y="780287"/>
                  </a:lnTo>
                  <a:lnTo>
                    <a:pt x="27164" y="776789"/>
                  </a:lnTo>
                  <a:lnTo>
                    <a:pt x="13033" y="767254"/>
                  </a:lnTo>
                  <a:lnTo>
                    <a:pt x="3498" y="753123"/>
                  </a:lnTo>
                  <a:lnTo>
                    <a:pt x="0" y="735837"/>
                  </a:lnTo>
                  <a:lnTo>
                    <a:pt x="0" y="44449"/>
                  </a:ln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222250" y="0"/>
                  </a:lnTo>
                  <a:close/>
                </a:path>
              </a:pathLst>
            </a:custGeom>
            <a:ln w="19812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4785233" y="4628260"/>
              <a:ext cx="534670" cy="1056005"/>
            </a:xfrm>
            <a:custGeom>
              <a:avLst/>
              <a:gdLst/>
              <a:ahLst/>
              <a:cxnLst/>
              <a:rect l="l" t="t" r="r" b="b"/>
              <a:pathLst>
                <a:path w="534670" h="1056004">
                  <a:moveTo>
                    <a:pt x="111506" y="541401"/>
                  </a:moveTo>
                  <a:lnTo>
                    <a:pt x="108712" y="536702"/>
                  </a:lnTo>
                  <a:lnTo>
                    <a:pt x="67157" y="465455"/>
                  </a:lnTo>
                  <a:lnTo>
                    <a:pt x="55753" y="445897"/>
                  </a:lnTo>
                  <a:lnTo>
                    <a:pt x="2794" y="536702"/>
                  </a:lnTo>
                  <a:lnTo>
                    <a:pt x="0" y="541401"/>
                  </a:lnTo>
                  <a:lnTo>
                    <a:pt x="1524" y="547497"/>
                  </a:lnTo>
                  <a:lnTo>
                    <a:pt x="6350" y="550291"/>
                  </a:lnTo>
                  <a:lnTo>
                    <a:pt x="11049" y="553085"/>
                  </a:lnTo>
                  <a:lnTo>
                    <a:pt x="17145" y="551434"/>
                  </a:lnTo>
                  <a:lnTo>
                    <a:pt x="19812" y="546735"/>
                  </a:lnTo>
                  <a:lnTo>
                    <a:pt x="45847" y="502107"/>
                  </a:lnTo>
                  <a:lnTo>
                    <a:pt x="45847" y="1055497"/>
                  </a:lnTo>
                  <a:lnTo>
                    <a:pt x="65659" y="1055497"/>
                  </a:lnTo>
                  <a:lnTo>
                    <a:pt x="65659" y="502107"/>
                  </a:lnTo>
                  <a:lnTo>
                    <a:pt x="91694" y="546735"/>
                  </a:lnTo>
                  <a:lnTo>
                    <a:pt x="94361" y="551434"/>
                  </a:lnTo>
                  <a:lnTo>
                    <a:pt x="100457" y="553085"/>
                  </a:lnTo>
                  <a:lnTo>
                    <a:pt x="105156" y="550291"/>
                  </a:lnTo>
                  <a:lnTo>
                    <a:pt x="109982" y="547497"/>
                  </a:lnTo>
                  <a:lnTo>
                    <a:pt x="111506" y="541401"/>
                  </a:lnTo>
                  <a:close/>
                </a:path>
                <a:path w="534670" h="1056004">
                  <a:moveTo>
                    <a:pt x="534543" y="55753"/>
                  </a:moveTo>
                  <a:lnTo>
                    <a:pt x="517550" y="45847"/>
                  </a:lnTo>
                  <a:lnTo>
                    <a:pt x="443738" y="2794"/>
                  </a:lnTo>
                  <a:lnTo>
                    <a:pt x="439039" y="0"/>
                  </a:lnTo>
                  <a:lnTo>
                    <a:pt x="432943" y="1524"/>
                  </a:lnTo>
                  <a:lnTo>
                    <a:pt x="430149" y="6350"/>
                  </a:lnTo>
                  <a:lnTo>
                    <a:pt x="427482" y="11049"/>
                  </a:lnTo>
                  <a:lnTo>
                    <a:pt x="429006" y="17145"/>
                  </a:lnTo>
                  <a:lnTo>
                    <a:pt x="433705" y="19812"/>
                  </a:lnTo>
                  <a:lnTo>
                    <a:pt x="478320" y="45847"/>
                  </a:lnTo>
                  <a:lnTo>
                    <a:pt x="189865" y="45847"/>
                  </a:lnTo>
                  <a:lnTo>
                    <a:pt x="189865" y="65659"/>
                  </a:lnTo>
                  <a:lnTo>
                    <a:pt x="478320" y="65659"/>
                  </a:lnTo>
                  <a:lnTo>
                    <a:pt x="433705" y="91694"/>
                  </a:lnTo>
                  <a:lnTo>
                    <a:pt x="429006" y="94361"/>
                  </a:lnTo>
                  <a:lnTo>
                    <a:pt x="427482" y="100457"/>
                  </a:lnTo>
                  <a:lnTo>
                    <a:pt x="430149" y="105156"/>
                  </a:lnTo>
                  <a:lnTo>
                    <a:pt x="432943" y="109982"/>
                  </a:lnTo>
                  <a:lnTo>
                    <a:pt x="439039" y="111506"/>
                  </a:lnTo>
                  <a:lnTo>
                    <a:pt x="443738" y="108712"/>
                  </a:lnTo>
                  <a:lnTo>
                    <a:pt x="517550" y="65659"/>
                  </a:lnTo>
                  <a:lnTo>
                    <a:pt x="534543" y="55753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pic>
          <p:nvPicPr>
            <p:cNvPr id="38" name="object 3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960" y="4355591"/>
              <a:ext cx="124967" cy="132587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94960" y="4523231"/>
              <a:ext cx="124967" cy="132587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94960" y="4692395"/>
              <a:ext cx="124967" cy="132587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94960" y="4861559"/>
              <a:ext cx="124967" cy="132587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5321045" y="4290822"/>
              <a:ext cx="265430" cy="779145"/>
            </a:xfrm>
            <a:custGeom>
              <a:avLst/>
              <a:gdLst/>
              <a:ahLst/>
              <a:cxnLst/>
              <a:rect l="l" t="t" r="r" b="b"/>
              <a:pathLst>
                <a:path w="265429" h="779145">
                  <a:moveTo>
                    <a:pt x="220979" y="0"/>
                  </a:moveTo>
                  <a:lnTo>
                    <a:pt x="238172" y="3476"/>
                  </a:lnTo>
                  <a:lnTo>
                    <a:pt x="252221" y="12954"/>
                  </a:lnTo>
                  <a:lnTo>
                    <a:pt x="261699" y="27003"/>
                  </a:lnTo>
                  <a:lnTo>
                    <a:pt x="265175" y="44195"/>
                  </a:lnTo>
                  <a:lnTo>
                    <a:pt x="265175" y="734567"/>
                  </a:lnTo>
                  <a:lnTo>
                    <a:pt x="261699" y="751760"/>
                  </a:lnTo>
                  <a:lnTo>
                    <a:pt x="252222" y="765810"/>
                  </a:lnTo>
                  <a:lnTo>
                    <a:pt x="238172" y="775287"/>
                  </a:lnTo>
                  <a:lnTo>
                    <a:pt x="220979" y="778763"/>
                  </a:lnTo>
                  <a:lnTo>
                    <a:pt x="44195" y="778763"/>
                  </a:lnTo>
                  <a:lnTo>
                    <a:pt x="27003" y="775287"/>
                  </a:lnTo>
                  <a:lnTo>
                    <a:pt x="12953" y="765809"/>
                  </a:lnTo>
                  <a:lnTo>
                    <a:pt x="3476" y="751760"/>
                  </a:lnTo>
                  <a:lnTo>
                    <a:pt x="0" y="734567"/>
                  </a:lnTo>
                  <a:lnTo>
                    <a:pt x="0" y="44195"/>
                  </a:lnTo>
                  <a:lnTo>
                    <a:pt x="3476" y="27003"/>
                  </a:lnTo>
                  <a:lnTo>
                    <a:pt x="12953" y="12953"/>
                  </a:lnTo>
                  <a:lnTo>
                    <a:pt x="27003" y="3476"/>
                  </a:lnTo>
                  <a:lnTo>
                    <a:pt x="44195" y="0"/>
                  </a:lnTo>
                  <a:lnTo>
                    <a:pt x="220979" y="0"/>
                  </a:lnTo>
                  <a:close/>
                </a:path>
              </a:pathLst>
            </a:custGeom>
            <a:ln w="19812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43" name="object 43"/>
            <p:cNvSpPr/>
            <p:nvPr/>
          </p:nvSpPr>
          <p:spPr>
            <a:xfrm>
              <a:off x="5396484" y="2244089"/>
              <a:ext cx="113030" cy="3435350"/>
            </a:xfrm>
            <a:custGeom>
              <a:avLst/>
              <a:gdLst/>
              <a:ahLst/>
              <a:cxnLst/>
              <a:rect l="l" t="t" r="r" b="b"/>
              <a:pathLst>
                <a:path w="113029" h="3435350">
                  <a:moveTo>
                    <a:pt x="111506" y="95504"/>
                  </a:moveTo>
                  <a:lnTo>
                    <a:pt x="108712" y="90805"/>
                  </a:lnTo>
                  <a:lnTo>
                    <a:pt x="67056" y="19558"/>
                  </a:lnTo>
                  <a:lnTo>
                    <a:pt x="55626" y="0"/>
                  </a:lnTo>
                  <a:lnTo>
                    <a:pt x="2667" y="90932"/>
                  </a:lnTo>
                  <a:lnTo>
                    <a:pt x="0" y="95631"/>
                  </a:lnTo>
                  <a:lnTo>
                    <a:pt x="1524" y="101600"/>
                  </a:lnTo>
                  <a:lnTo>
                    <a:pt x="6223" y="104394"/>
                  </a:lnTo>
                  <a:lnTo>
                    <a:pt x="11049" y="107188"/>
                  </a:lnTo>
                  <a:lnTo>
                    <a:pt x="17018" y="105537"/>
                  </a:lnTo>
                  <a:lnTo>
                    <a:pt x="19875" y="100711"/>
                  </a:lnTo>
                  <a:lnTo>
                    <a:pt x="45745" y="56375"/>
                  </a:lnTo>
                  <a:lnTo>
                    <a:pt x="45821" y="56235"/>
                  </a:lnTo>
                  <a:lnTo>
                    <a:pt x="45796" y="107188"/>
                  </a:lnTo>
                  <a:lnTo>
                    <a:pt x="47498" y="2046224"/>
                  </a:lnTo>
                  <a:lnTo>
                    <a:pt x="67310" y="2046224"/>
                  </a:lnTo>
                  <a:lnTo>
                    <a:pt x="65557" y="56210"/>
                  </a:lnTo>
                  <a:lnTo>
                    <a:pt x="65532" y="24638"/>
                  </a:lnTo>
                  <a:lnTo>
                    <a:pt x="65532" y="19570"/>
                  </a:lnTo>
                  <a:lnTo>
                    <a:pt x="65646" y="56375"/>
                  </a:lnTo>
                  <a:lnTo>
                    <a:pt x="91630" y="100838"/>
                  </a:lnTo>
                  <a:lnTo>
                    <a:pt x="94361" y="105537"/>
                  </a:lnTo>
                  <a:lnTo>
                    <a:pt x="100457" y="107061"/>
                  </a:lnTo>
                  <a:lnTo>
                    <a:pt x="105156" y="104267"/>
                  </a:lnTo>
                  <a:lnTo>
                    <a:pt x="109855" y="101600"/>
                  </a:lnTo>
                  <a:lnTo>
                    <a:pt x="111506" y="95504"/>
                  </a:lnTo>
                  <a:close/>
                </a:path>
                <a:path w="113029" h="3435350">
                  <a:moveTo>
                    <a:pt x="112903" y="2921000"/>
                  </a:moveTo>
                  <a:lnTo>
                    <a:pt x="110109" y="2916301"/>
                  </a:lnTo>
                  <a:lnTo>
                    <a:pt x="68554" y="2845054"/>
                  </a:lnTo>
                  <a:lnTo>
                    <a:pt x="57150" y="2825496"/>
                  </a:lnTo>
                  <a:lnTo>
                    <a:pt x="4191" y="2916301"/>
                  </a:lnTo>
                  <a:lnTo>
                    <a:pt x="1397" y="2921000"/>
                  </a:lnTo>
                  <a:lnTo>
                    <a:pt x="2921" y="2927096"/>
                  </a:lnTo>
                  <a:lnTo>
                    <a:pt x="7747" y="2929890"/>
                  </a:lnTo>
                  <a:lnTo>
                    <a:pt x="12446" y="2932684"/>
                  </a:lnTo>
                  <a:lnTo>
                    <a:pt x="18542" y="2931033"/>
                  </a:lnTo>
                  <a:lnTo>
                    <a:pt x="21209" y="2926334"/>
                  </a:lnTo>
                  <a:lnTo>
                    <a:pt x="47244" y="2881706"/>
                  </a:lnTo>
                  <a:lnTo>
                    <a:pt x="47244" y="3435096"/>
                  </a:lnTo>
                  <a:lnTo>
                    <a:pt x="67056" y="3435096"/>
                  </a:lnTo>
                  <a:lnTo>
                    <a:pt x="67056" y="2881706"/>
                  </a:lnTo>
                  <a:lnTo>
                    <a:pt x="93091" y="2926334"/>
                  </a:lnTo>
                  <a:lnTo>
                    <a:pt x="95758" y="2931033"/>
                  </a:lnTo>
                  <a:lnTo>
                    <a:pt x="101854" y="2932684"/>
                  </a:lnTo>
                  <a:lnTo>
                    <a:pt x="106553" y="2929890"/>
                  </a:lnTo>
                  <a:lnTo>
                    <a:pt x="111379" y="2927096"/>
                  </a:lnTo>
                  <a:lnTo>
                    <a:pt x="112903" y="292100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</p:grpSp>
      <p:sp>
        <p:nvSpPr>
          <p:cNvPr id="46" name="object 46"/>
          <p:cNvSpPr/>
          <p:nvPr/>
        </p:nvSpPr>
        <p:spPr>
          <a:xfrm>
            <a:off x="6917054" y="1184666"/>
            <a:ext cx="111760" cy="347345"/>
          </a:xfrm>
          <a:custGeom>
            <a:avLst/>
            <a:gdLst/>
            <a:ahLst/>
            <a:cxnLst/>
            <a:rect l="l" t="t" r="r" b="b"/>
            <a:pathLst>
              <a:path w="111760" h="347344">
                <a:moveTo>
                  <a:pt x="54992" y="39332"/>
                </a:moveTo>
                <a:lnTo>
                  <a:pt x="45329" y="56422"/>
                </a:lnTo>
                <a:lnTo>
                  <a:pt x="49275" y="347345"/>
                </a:lnTo>
                <a:lnTo>
                  <a:pt x="69087" y="347090"/>
                </a:lnTo>
                <a:lnTo>
                  <a:pt x="65141" y="56199"/>
                </a:lnTo>
                <a:lnTo>
                  <a:pt x="54992" y="39332"/>
                </a:lnTo>
                <a:close/>
              </a:path>
              <a:path w="111760" h="347344">
                <a:moveTo>
                  <a:pt x="54483" y="0"/>
                </a:moveTo>
                <a:lnTo>
                  <a:pt x="0" y="96265"/>
                </a:lnTo>
                <a:lnTo>
                  <a:pt x="1650" y="102362"/>
                </a:lnTo>
                <a:lnTo>
                  <a:pt x="6477" y="105029"/>
                </a:lnTo>
                <a:lnTo>
                  <a:pt x="11175" y="107696"/>
                </a:lnTo>
                <a:lnTo>
                  <a:pt x="17272" y="106045"/>
                </a:lnTo>
                <a:lnTo>
                  <a:pt x="45329" y="56422"/>
                </a:lnTo>
                <a:lnTo>
                  <a:pt x="44831" y="19685"/>
                </a:lnTo>
                <a:lnTo>
                  <a:pt x="64643" y="19431"/>
                </a:lnTo>
                <a:lnTo>
                  <a:pt x="66185" y="19431"/>
                </a:lnTo>
                <a:lnTo>
                  <a:pt x="54483" y="0"/>
                </a:lnTo>
                <a:close/>
              </a:path>
              <a:path w="111760" h="347344">
                <a:moveTo>
                  <a:pt x="66185" y="19431"/>
                </a:moveTo>
                <a:lnTo>
                  <a:pt x="64643" y="19431"/>
                </a:lnTo>
                <a:lnTo>
                  <a:pt x="65141" y="56199"/>
                </a:lnTo>
                <a:lnTo>
                  <a:pt x="91694" y="100330"/>
                </a:lnTo>
                <a:lnTo>
                  <a:pt x="94615" y="105029"/>
                </a:lnTo>
                <a:lnTo>
                  <a:pt x="100711" y="106552"/>
                </a:lnTo>
                <a:lnTo>
                  <a:pt x="105283" y="103632"/>
                </a:lnTo>
                <a:lnTo>
                  <a:pt x="109982" y="100837"/>
                </a:lnTo>
                <a:lnTo>
                  <a:pt x="111506" y="94742"/>
                </a:lnTo>
                <a:lnTo>
                  <a:pt x="108712" y="90043"/>
                </a:lnTo>
                <a:lnTo>
                  <a:pt x="66185" y="19431"/>
                </a:lnTo>
                <a:close/>
              </a:path>
              <a:path w="111760" h="347344">
                <a:moveTo>
                  <a:pt x="64643" y="19431"/>
                </a:moveTo>
                <a:lnTo>
                  <a:pt x="44831" y="19685"/>
                </a:lnTo>
                <a:lnTo>
                  <a:pt x="45329" y="56422"/>
                </a:lnTo>
                <a:lnTo>
                  <a:pt x="54992" y="39332"/>
                </a:lnTo>
                <a:lnTo>
                  <a:pt x="46228" y="24764"/>
                </a:lnTo>
                <a:lnTo>
                  <a:pt x="63373" y="24511"/>
                </a:lnTo>
                <a:lnTo>
                  <a:pt x="64711" y="24511"/>
                </a:lnTo>
                <a:lnTo>
                  <a:pt x="64643" y="19431"/>
                </a:lnTo>
                <a:close/>
              </a:path>
              <a:path w="111760" h="347344">
                <a:moveTo>
                  <a:pt x="64711" y="24511"/>
                </a:moveTo>
                <a:lnTo>
                  <a:pt x="63373" y="24511"/>
                </a:lnTo>
                <a:lnTo>
                  <a:pt x="54992" y="39332"/>
                </a:lnTo>
                <a:lnTo>
                  <a:pt x="65141" y="56199"/>
                </a:lnTo>
                <a:lnTo>
                  <a:pt x="64711" y="24511"/>
                </a:lnTo>
                <a:close/>
              </a:path>
              <a:path w="111760" h="347344">
                <a:moveTo>
                  <a:pt x="63373" y="24511"/>
                </a:moveTo>
                <a:lnTo>
                  <a:pt x="46228" y="24764"/>
                </a:lnTo>
                <a:lnTo>
                  <a:pt x="54992" y="39332"/>
                </a:lnTo>
                <a:lnTo>
                  <a:pt x="63373" y="24511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746036" y="866404"/>
            <a:ext cx="439342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gone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0136885" y="3952250"/>
            <a:ext cx="189230" cy="779145"/>
          </a:xfrm>
          <a:custGeom>
            <a:avLst/>
            <a:gdLst/>
            <a:ahLst/>
            <a:cxnLst/>
            <a:rect l="l" t="t" r="r" b="b"/>
            <a:pathLst>
              <a:path w="189229" h="779145">
                <a:moveTo>
                  <a:pt x="0" y="0"/>
                </a:moveTo>
                <a:lnTo>
                  <a:pt x="36784" y="5816"/>
                </a:lnTo>
                <a:lnTo>
                  <a:pt x="66817" y="21669"/>
                </a:lnTo>
                <a:lnTo>
                  <a:pt x="87064" y="45166"/>
                </a:lnTo>
                <a:lnTo>
                  <a:pt x="94488" y="73913"/>
                </a:lnTo>
                <a:lnTo>
                  <a:pt x="94488" y="315468"/>
                </a:lnTo>
                <a:lnTo>
                  <a:pt x="101911" y="344215"/>
                </a:lnTo>
                <a:lnTo>
                  <a:pt x="122158" y="367712"/>
                </a:lnTo>
                <a:lnTo>
                  <a:pt x="152191" y="383565"/>
                </a:lnTo>
                <a:lnTo>
                  <a:pt x="188975" y="389381"/>
                </a:lnTo>
                <a:lnTo>
                  <a:pt x="152191" y="395198"/>
                </a:lnTo>
                <a:lnTo>
                  <a:pt x="122158" y="411051"/>
                </a:lnTo>
                <a:lnTo>
                  <a:pt x="101911" y="434548"/>
                </a:lnTo>
                <a:lnTo>
                  <a:pt x="94488" y="463295"/>
                </a:lnTo>
                <a:lnTo>
                  <a:pt x="94488" y="704850"/>
                </a:lnTo>
                <a:lnTo>
                  <a:pt x="87064" y="733597"/>
                </a:lnTo>
                <a:lnTo>
                  <a:pt x="66817" y="757094"/>
                </a:lnTo>
                <a:lnTo>
                  <a:pt x="36784" y="772947"/>
                </a:lnTo>
                <a:lnTo>
                  <a:pt x="0" y="778763"/>
                </a:lnTo>
              </a:path>
            </a:pathLst>
          </a:custGeom>
          <a:ln w="19812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pic>
        <p:nvPicPr>
          <p:cNvPr id="51" name="Picture 5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88480" y="1541026"/>
            <a:ext cx="239845" cy="294004"/>
          </a:xfrm>
          <a:prstGeom prst="rect">
            <a:avLst/>
          </a:prstGeom>
        </p:spPr>
      </p:pic>
      <p:sp>
        <p:nvSpPr>
          <p:cNvPr id="52" name="object 2">
            <a:extLst>
              <a:ext uri="{FF2B5EF4-FFF2-40B4-BE49-F238E27FC236}">
                <a16:creationId xmlns:a16="http://schemas.microsoft.com/office/drawing/2014/main" id="{7BD27EFA-FCE9-A8C0-4730-D9557D3AF2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1325" y="46597"/>
            <a:ext cx="11307763" cy="629018"/>
          </a:xfrm>
          <a:prstGeom prst="rect">
            <a:avLst/>
          </a:prstGeom>
        </p:spPr>
        <p:txBody>
          <a:bodyPr vert="horz" wrap="square" lIns="0" tIns="1333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pc="-5" dirty="0"/>
              <a:t>Sequence-to-Sequence</a:t>
            </a:r>
            <a:r>
              <a:rPr lang="en-IN" spc="-40" dirty="0"/>
              <a:t> </a:t>
            </a:r>
            <a:r>
              <a:rPr lang="en-IN" spc="-5" dirty="0"/>
              <a:t>With</a:t>
            </a:r>
            <a:r>
              <a:rPr lang="en-IN" spc="15" dirty="0"/>
              <a:t> A</a:t>
            </a:r>
            <a:r>
              <a:rPr lang="en-IN" dirty="0"/>
              <a:t>ttention</a:t>
            </a:r>
            <a:endParaRPr dirty="0"/>
          </a:p>
        </p:txBody>
      </p:sp>
      <p:sp>
        <p:nvSpPr>
          <p:cNvPr id="53" name="object 22">
            <a:extLst>
              <a:ext uri="{FF2B5EF4-FFF2-40B4-BE49-F238E27FC236}">
                <a16:creationId xmlns:a16="http://schemas.microsoft.com/office/drawing/2014/main" id="{EC3DF94C-CDA6-8DEC-D07A-140C0B83F5E9}"/>
              </a:ext>
            </a:extLst>
          </p:cNvPr>
          <p:cNvSpPr txBox="1"/>
          <p:nvPr/>
        </p:nvSpPr>
        <p:spPr>
          <a:xfrm>
            <a:off x="10372554" y="3700406"/>
            <a:ext cx="467885" cy="128270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Decoder</a:t>
            </a:r>
            <a:r>
              <a:rPr kumimoji="0" sz="1800" b="0" i="0" u="none" strike="noStrike" kern="1200" cap="none" spc="-3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RNN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56" name="object 22">
            <a:extLst>
              <a:ext uri="{FF2B5EF4-FFF2-40B4-BE49-F238E27FC236}">
                <a16:creationId xmlns:a16="http://schemas.microsoft.com/office/drawing/2014/main" id="{F3DC596D-E201-B199-F256-322B89C0C656}"/>
              </a:ext>
            </a:extLst>
          </p:cNvPr>
          <p:cNvSpPr txBox="1"/>
          <p:nvPr/>
        </p:nvSpPr>
        <p:spPr>
          <a:xfrm>
            <a:off x="5389627" y="5341175"/>
            <a:ext cx="112966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>
                <a:tab pos="884555" algn="l"/>
              </a:tabLst>
              <a:defRPr/>
            </a:pPr>
            <a:r>
              <a:rPr kumimoji="0" sz="1600" b="0" i="1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&lt;</a:t>
            </a:r>
            <a:r>
              <a:rPr kumimoji="0" sz="1600" b="0" i="1" u="none" strike="noStrike" kern="120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</a:t>
            </a:r>
            <a:r>
              <a:rPr kumimoji="0" sz="1600" b="0" i="1" u="none" strike="noStrike" kern="1200" cap="none" spc="-1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</a:t>
            </a:r>
            <a:r>
              <a:rPr kumimoji="0" sz="16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</a:t>
            </a:r>
            <a:r>
              <a:rPr kumimoji="0" sz="1600" b="0" i="1" u="none" strike="noStrike" kern="120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R</a:t>
            </a:r>
            <a:r>
              <a:rPr kumimoji="0" sz="1600" b="0" i="1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</a:t>
            </a:r>
            <a:r>
              <a:rPr kumimoji="0" sz="16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&gt;</a:t>
            </a:r>
            <a:r>
              <a:rPr kumimoji="0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	</a:t>
            </a:r>
            <a:r>
              <a:rPr kumimoji="0" lang="en-US" sz="1600" b="0" i="1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we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57" name="object 48">
            <a:extLst>
              <a:ext uri="{FF2B5EF4-FFF2-40B4-BE49-F238E27FC236}">
                <a16:creationId xmlns:a16="http://schemas.microsoft.com/office/drawing/2014/main" id="{F4429C0C-92A3-A438-E1B1-0870E124F7B5}"/>
              </a:ext>
            </a:extLst>
          </p:cNvPr>
          <p:cNvSpPr txBox="1"/>
          <p:nvPr/>
        </p:nvSpPr>
        <p:spPr>
          <a:xfrm>
            <a:off x="6799542" y="5337517"/>
            <a:ext cx="36615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had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58" name="object 13">
            <a:extLst>
              <a:ext uri="{FF2B5EF4-FFF2-40B4-BE49-F238E27FC236}">
                <a16:creationId xmlns:a16="http://schemas.microsoft.com/office/drawing/2014/main" id="{8840D29A-0833-9611-8F8B-4C4CF9801306}"/>
              </a:ext>
            </a:extLst>
          </p:cNvPr>
          <p:cNvSpPr txBox="1"/>
          <p:nvPr/>
        </p:nvSpPr>
        <p:spPr>
          <a:xfrm>
            <a:off x="2433333" y="5954560"/>
            <a:ext cx="2230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Source sentence</a:t>
            </a:r>
            <a:r>
              <a:rPr kumimoji="0" sz="1800" b="0" i="0" u="none" strike="noStrike" kern="120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(input)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59" name="object 14">
            <a:extLst>
              <a:ext uri="{FF2B5EF4-FFF2-40B4-BE49-F238E27FC236}">
                <a16:creationId xmlns:a16="http://schemas.microsoft.com/office/drawing/2014/main" id="{55698CF2-6A27-F8E7-A305-7744D0DAB009}"/>
              </a:ext>
            </a:extLst>
          </p:cNvPr>
          <p:cNvSpPr/>
          <p:nvPr/>
        </p:nvSpPr>
        <p:spPr>
          <a:xfrm>
            <a:off x="2357710" y="5780012"/>
            <a:ext cx="2343455" cy="197550"/>
          </a:xfrm>
          <a:custGeom>
            <a:avLst/>
            <a:gdLst/>
            <a:ahLst/>
            <a:cxnLst/>
            <a:rect l="l" t="t" r="r" b="b"/>
            <a:pathLst>
              <a:path w="2435860" h="271779">
                <a:moveTo>
                  <a:pt x="2435352" y="0"/>
                </a:moveTo>
                <a:lnTo>
                  <a:pt x="2427013" y="52804"/>
                </a:lnTo>
                <a:lnTo>
                  <a:pt x="2404268" y="95916"/>
                </a:lnTo>
                <a:lnTo>
                  <a:pt x="2370522" y="124979"/>
                </a:lnTo>
                <a:lnTo>
                  <a:pt x="2329180" y="135636"/>
                </a:lnTo>
                <a:lnTo>
                  <a:pt x="1323848" y="135636"/>
                </a:lnTo>
                <a:lnTo>
                  <a:pt x="1282505" y="146292"/>
                </a:lnTo>
                <a:lnTo>
                  <a:pt x="1248759" y="175355"/>
                </a:lnTo>
                <a:lnTo>
                  <a:pt x="1226014" y="218467"/>
                </a:lnTo>
                <a:lnTo>
                  <a:pt x="1217676" y="271272"/>
                </a:lnTo>
                <a:lnTo>
                  <a:pt x="1209337" y="218467"/>
                </a:lnTo>
                <a:lnTo>
                  <a:pt x="1186592" y="175355"/>
                </a:lnTo>
                <a:lnTo>
                  <a:pt x="1152846" y="146292"/>
                </a:lnTo>
                <a:lnTo>
                  <a:pt x="1111504" y="135636"/>
                </a:lnTo>
                <a:lnTo>
                  <a:pt x="106146" y="135636"/>
                </a:lnTo>
                <a:lnTo>
                  <a:pt x="64829" y="124979"/>
                </a:lnTo>
                <a:lnTo>
                  <a:pt x="31089" y="95916"/>
                </a:lnTo>
                <a:lnTo>
                  <a:pt x="8341" y="52804"/>
                </a:lnTo>
                <a:lnTo>
                  <a:pt x="0" y="0"/>
                </a:lnTo>
              </a:path>
            </a:pathLst>
          </a:custGeom>
          <a:ln w="198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60" name="object 21">
            <a:extLst>
              <a:ext uri="{FF2B5EF4-FFF2-40B4-BE49-F238E27FC236}">
                <a16:creationId xmlns:a16="http://schemas.microsoft.com/office/drawing/2014/main" id="{D346F931-9E79-F343-B8A9-E37EB4499344}"/>
              </a:ext>
            </a:extLst>
          </p:cNvPr>
          <p:cNvSpPr txBox="1"/>
          <p:nvPr/>
        </p:nvSpPr>
        <p:spPr>
          <a:xfrm>
            <a:off x="2426336" y="5313638"/>
            <a:ext cx="40980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i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हम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61" name="object 22">
            <a:extLst>
              <a:ext uri="{FF2B5EF4-FFF2-40B4-BE49-F238E27FC236}">
                <a16:creationId xmlns:a16="http://schemas.microsoft.com/office/drawing/2014/main" id="{F8CCA9B6-6C54-A0C1-791D-8ADA1D800D77}"/>
              </a:ext>
            </a:extLst>
          </p:cNvPr>
          <p:cNvSpPr txBox="1"/>
          <p:nvPr/>
        </p:nvSpPr>
        <p:spPr>
          <a:xfrm>
            <a:off x="3002623" y="5313638"/>
            <a:ext cx="53340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i-IN" sz="16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बाजार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62" name="object 21">
            <a:extLst>
              <a:ext uri="{FF2B5EF4-FFF2-40B4-BE49-F238E27FC236}">
                <a16:creationId xmlns:a16="http://schemas.microsoft.com/office/drawing/2014/main" id="{425D295D-C7C8-647C-CA4D-D5DAAD63EA97}"/>
              </a:ext>
            </a:extLst>
          </p:cNvPr>
          <p:cNvSpPr txBox="1"/>
          <p:nvPr/>
        </p:nvSpPr>
        <p:spPr>
          <a:xfrm>
            <a:off x="3658511" y="5317123"/>
            <a:ext cx="40980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i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गये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63" name="object 21">
            <a:extLst>
              <a:ext uri="{FF2B5EF4-FFF2-40B4-BE49-F238E27FC236}">
                <a16:creationId xmlns:a16="http://schemas.microsoft.com/office/drawing/2014/main" id="{A29755AA-0091-2515-5E07-63B7CA042D42}"/>
              </a:ext>
            </a:extLst>
          </p:cNvPr>
          <p:cNvSpPr txBox="1"/>
          <p:nvPr/>
        </p:nvSpPr>
        <p:spPr>
          <a:xfrm>
            <a:off x="4268105" y="5310901"/>
            <a:ext cx="40980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i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थे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E8A8145-338B-C700-A01B-6DBAC8E512A7}"/>
              </a:ext>
            </a:extLst>
          </p:cNvPr>
          <p:cNvSpPr txBox="1"/>
          <p:nvPr/>
        </p:nvSpPr>
        <p:spPr>
          <a:xfrm>
            <a:off x="2412364" y="5540067"/>
            <a:ext cx="2321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ham      baajaar     gaye         the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502661" y="722134"/>
            <a:ext cx="5080000" cy="4597400"/>
            <a:chOff x="978661" y="1095755"/>
            <a:chExt cx="5080000" cy="45974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6799" y="4367784"/>
              <a:ext cx="126492" cy="13258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6799" y="4536947"/>
              <a:ext cx="126492" cy="13258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6799" y="4706111"/>
              <a:ext cx="126492" cy="13258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6799" y="4875276"/>
              <a:ext cx="126492" cy="13106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992885" y="4303013"/>
              <a:ext cx="266700" cy="780415"/>
            </a:xfrm>
            <a:custGeom>
              <a:avLst/>
              <a:gdLst/>
              <a:ahLst/>
              <a:cxnLst/>
              <a:rect l="l" t="t" r="r" b="b"/>
              <a:pathLst>
                <a:path w="266700" h="780414">
                  <a:moveTo>
                    <a:pt x="222250" y="0"/>
                  </a:moveTo>
                  <a:lnTo>
                    <a:pt x="239551" y="3498"/>
                  </a:lnTo>
                  <a:lnTo>
                    <a:pt x="253680" y="13033"/>
                  </a:lnTo>
                  <a:lnTo>
                    <a:pt x="263206" y="27164"/>
                  </a:lnTo>
                  <a:lnTo>
                    <a:pt x="266700" y="44450"/>
                  </a:lnTo>
                  <a:lnTo>
                    <a:pt x="266700" y="735838"/>
                  </a:lnTo>
                  <a:lnTo>
                    <a:pt x="263206" y="753123"/>
                  </a:lnTo>
                  <a:lnTo>
                    <a:pt x="253680" y="767254"/>
                  </a:lnTo>
                  <a:lnTo>
                    <a:pt x="239551" y="776789"/>
                  </a:lnTo>
                  <a:lnTo>
                    <a:pt x="222250" y="780288"/>
                  </a:lnTo>
                  <a:lnTo>
                    <a:pt x="44450" y="780288"/>
                  </a:lnTo>
                  <a:lnTo>
                    <a:pt x="27148" y="776789"/>
                  </a:lnTo>
                  <a:lnTo>
                    <a:pt x="13019" y="767254"/>
                  </a:lnTo>
                  <a:lnTo>
                    <a:pt x="3493" y="753123"/>
                  </a:lnTo>
                  <a:lnTo>
                    <a:pt x="0" y="735838"/>
                  </a:lnTo>
                  <a:lnTo>
                    <a:pt x="0" y="44450"/>
                  </a:lnTo>
                  <a:lnTo>
                    <a:pt x="3493" y="27164"/>
                  </a:lnTo>
                  <a:lnTo>
                    <a:pt x="13019" y="13033"/>
                  </a:lnTo>
                  <a:lnTo>
                    <a:pt x="27148" y="3498"/>
                  </a:lnTo>
                  <a:lnTo>
                    <a:pt x="44450" y="0"/>
                  </a:lnTo>
                  <a:lnTo>
                    <a:pt x="22225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71232" y="4637404"/>
              <a:ext cx="533400" cy="1056005"/>
            </a:xfrm>
            <a:custGeom>
              <a:avLst/>
              <a:gdLst/>
              <a:ahLst/>
              <a:cxnLst/>
              <a:rect l="l" t="t" r="r" b="b"/>
              <a:pathLst>
                <a:path w="533400" h="1056004">
                  <a:moveTo>
                    <a:pt x="111531" y="541401"/>
                  </a:moveTo>
                  <a:lnTo>
                    <a:pt x="67183" y="465455"/>
                  </a:lnTo>
                  <a:lnTo>
                    <a:pt x="55765" y="445897"/>
                  </a:lnTo>
                  <a:lnTo>
                    <a:pt x="0" y="541401"/>
                  </a:lnTo>
                  <a:lnTo>
                    <a:pt x="1600" y="547497"/>
                  </a:lnTo>
                  <a:lnTo>
                    <a:pt x="11049" y="553085"/>
                  </a:lnTo>
                  <a:lnTo>
                    <a:pt x="17119" y="551434"/>
                  </a:lnTo>
                  <a:lnTo>
                    <a:pt x="45859" y="502183"/>
                  </a:lnTo>
                  <a:lnTo>
                    <a:pt x="45859" y="1055497"/>
                  </a:lnTo>
                  <a:lnTo>
                    <a:pt x="65671" y="1055497"/>
                  </a:lnTo>
                  <a:lnTo>
                    <a:pt x="65671" y="502183"/>
                  </a:lnTo>
                  <a:lnTo>
                    <a:pt x="94411" y="551434"/>
                  </a:lnTo>
                  <a:lnTo>
                    <a:pt x="100482" y="553085"/>
                  </a:lnTo>
                  <a:lnTo>
                    <a:pt x="109931" y="547497"/>
                  </a:lnTo>
                  <a:lnTo>
                    <a:pt x="111531" y="541401"/>
                  </a:lnTo>
                  <a:close/>
                </a:path>
                <a:path w="533400" h="1056004">
                  <a:moveTo>
                    <a:pt x="533019" y="55765"/>
                  </a:moveTo>
                  <a:lnTo>
                    <a:pt x="516039" y="45847"/>
                  </a:lnTo>
                  <a:lnTo>
                    <a:pt x="442226" y="2794"/>
                  </a:lnTo>
                  <a:lnTo>
                    <a:pt x="437527" y="0"/>
                  </a:lnTo>
                  <a:lnTo>
                    <a:pt x="431431" y="1524"/>
                  </a:lnTo>
                  <a:lnTo>
                    <a:pt x="428637" y="6350"/>
                  </a:lnTo>
                  <a:lnTo>
                    <a:pt x="425970" y="11049"/>
                  </a:lnTo>
                  <a:lnTo>
                    <a:pt x="427494" y="17145"/>
                  </a:lnTo>
                  <a:lnTo>
                    <a:pt x="432193" y="19812"/>
                  </a:lnTo>
                  <a:lnTo>
                    <a:pt x="476796" y="45847"/>
                  </a:lnTo>
                  <a:lnTo>
                    <a:pt x="188353" y="45847"/>
                  </a:lnTo>
                  <a:lnTo>
                    <a:pt x="188353" y="65659"/>
                  </a:lnTo>
                  <a:lnTo>
                    <a:pt x="476821" y="65659"/>
                  </a:lnTo>
                  <a:lnTo>
                    <a:pt x="493801" y="55765"/>
                  </a:lnTo>
                  <a:lnTo>
                    <a:pt x="432193" y="91694"/>
                  </a:lnTo>
                  <a:lnTo>
                    <a:pt x="427494" y="94361"/>
                  </a:lnTo>
                  <a:lnTo>
                    <a:pt x="425970" y="100457"/>
                  </a:lnTo>
                  <a:lnTo>
                    <a:pt x="428637" y="105156"/>
                  </a:lnTo>
                  <a:lnTo>
                    <a:pt x="431431" y="109982"/>
                  </a:lnTo>
                  <a:lnTo>
                    <a:pt x="437527" y="111506"/>
                  </a:lnTo>
                  <a:lnTo>
                    <a:pt x="442226" y="108712"/>
                  </a:lnTo>
                  <a:lnTo>
                    <a:pt x="516039" y="65659"/>
                  </a:lnTo>
                  <a:lnTo>
                    <a:pt x="533019" y="55765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91055" y="3511295"/>
              <a:ext cx="3131311" cy="217551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077252" y="3627882"/>
              <a:ext cx="111760" cy="675005"/>
            </a:xfrm>
            <a:custGeom>
              <a:avLst/>
              <a:gdLst/>
              <a:ahLst/>
              <a:cxnLst/>
              <a:rect l="l" t="t" r="r" b="b"/>
              <a:pathLst>
                <a:path w="111759" h="675004">
                  <a:moveTo>
                    <a:pt x="56337" y="39259"/>
                  </a:moveTo>
                  <a:lnTo>
                    <a:pt x="46267" y="56136"/>
                  </a:lnTo>
                  <a:lnTo>
                    <a:pt x="39839" y="674751"/>
                  </a:lnTo>
                  <a:lnTo>
                    <a:pt x="59651" y="675005"/>
                  </a:lnTo>
                  <a:lnTo>
                    <a:pt x="66078" y="56372"/>
                  </a:lnTo>
                  <a:lnTo>
                    <a:pt x="56337" y="39259"/>
                  </a:lnTo>
                  <a:close/>
                </a:path>
                <a:path w="111759" h="675004">
                  <a:moveTo>
                    <a:pt x="67906" y="19558"/>
                  </a:moveTo>
                  <a:lnTo>
                    <a:pt x="46647" y="19558"/>
                  </a:lnTo>
                  <a:lnTo>
                    <a:pt x="66459" y="19685"/>
                  </a:lnTo>
                  <a:lnTo>
                    <a:pt x="66078" y="56372"/>
                  </a:lnTo>
                  <a:lnTo>
                    <a:pt x="91605" y="101219"/>
                  </a:lnTo>
                  <a:lnTo>
                    <a:pt x="94310" y="105918"/>
                  </a:lnTo>
                  <a:lnTo>
                    <a:pt x="100355" y="107569"/>
                  </a:lnTo>
                  <a:lnTo>
                    <a:pt x="105117" y="104902"/>
                  </a:lnTo>
                  <a:lnTo>
                    <a:pt x="109867" y="102108"/>
                  </a:lnTo>
                  <a:lnTo>
                    <a:pt x="111531" y="96139"/>
                  </a:lnTo>
                  <a:lnTo>
                    <a:pt x="108813" y="91313"/>
                  </a:lnTo>
                  <a:lnTo>
                    <a:pt x="67906" y="19558"/>
                  </a:lnTo>
                  <a:close/>
                </a:path>
                <a:path w="111759" h="675004">
                  <a:moveTo>
                    <a:pt x="56756" y="0"/>
                  </a:moveTo>
                  <a:lnTo>
                    <a:pt x="0" y="94996"/>
                  </a:lnTo>
                  <a:lnTo>
                    <a:pt x="1536" y="101092"/>
                  </a:lnTo>
                  <a:lnTo>
                    <a:pt x="10934" y="106680"/>
                  </a:lnTo>
                  <a:lnTo>
                    <a:pt x="17018" y="105156"/>
                  </a:lnTo>
                  <a:lnTo>
                    <a:pt x="46267" y="56136"/>
                  </a:lnTo>
                  <a:lnTo>
                    <a:pt x="46647" y="19558"/>
                  </a:lnTo>
                  <a:lnTo>
                    <a:pt x="67906" y="19558"/>
                  </a:lnTo>
                  <a:lnTo>
                    <a:pt x="56756" y="0"/>
                  </a:lnTo>
                  <a:close/>
                </a:path>
                <a:path w="111759" h="675004">
                  <a:moveTo>
                    <a:pt x="66408" y="24511"/>
                  </a:moveTo>
                  <a:lnTo>
                    <a:pt x="47942" y="24511"/>
                  </a:lnTo>
                  <a:lnTo>
                    <a:pt x="65062" y="24638"/>
                  </a:lnTo>
                  <a:lnTo>
                    <a:pt x="56337" y="39259"/>
                  </a:lnTo>
                  <a:lnTo>
                    <a:pt x="66078" y="56372"/>
                  </a:lnTo>
                  <a:lnTo>
                    <a:pt x="66408" y="24511"/>
                  </a:lnTo>
                  <a:close/>
                </a:path>
                <a:path w="111759" h="675004">
                  <a:moveTo>
                    <a:pt x="46647" y="19558"/>
                  </a:moveTo>
                  <a:lnTo>
                    <a:pt x="46267" y="56136"/>
                  </a:lnTo>
                  <a:lnTo>
                    <a:pt x="56337" y="39259"/>
                  </a:lnTo>
                  <a:lnTo>
                    <a:pt x="47942" y="24511"/>
                  </a:lnTo>
                  <a:lnTo>
                    <a:pt x="66408" y="24511"/>
                  </a:lnTo>
                  <a:lnTo>
                    <a:pt x="66459" y="19685"/>
                  </a:lnTo>
                  <a:lnTo>
                    <a:pt x="46647" y="19558"/>
                  </a:lnTo>
                  <a:close/>
                </a:path>
                <a:path w="111759" h="675004">
                  <a:moveTo>
                    <a:pt x="47942" y="24511"/>
                  </a:moveTo>
                  <a:lnTo>
                    <a:pt x="56337" y="39259"/>
                  </a:lnTo>
                  <a:lnTo>
                    <a:pt x="65062" y="24638"/>
                  </a:lnTo>
                  <a:lnTo>
                    <a:pt x="47942" y="24511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66799" y="3511295"/>
              <a:ext cx="132587" cy="12649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172667" y="3538092"/>
              <a:ext cx="4886325" cy="758190"/>
            </a:xfrm>
            <a:custGeom>
              <a:avLst/>
              <a:gdLst/>
              <a:ahLst/>
              <a:cxnLst/>
              <a:rect l="l" t="t" r="r" b="b"/>
              <a:pathLst>
                <a:path w="4886325" h="758189">
                  <a:moveTo>
                    <a:pt x="4885868" y="737870"/>
                  </a:moveTo>
                  <a:lnTo>
                    <a:pt x="1887474" y="39573"/>
                  </a:lnTo>
                  <a:lnTo>
                    <a:pt x="1914448" y="31242"/>
                  </a:lnTo>
                  <a:lnTo>
                    <a:pt x="1941880" y="22733"/>
                  </a:lnTo>
                  <a:lnTo>
                    <a:pt x="1944801" y="17145"/>
                  </a:lnTo>
                  <a:lnTo>
                    <a:pt x="1943277" y="11938"/>
                  </a:lnTo>
                  <a:lnTo>
                    <a:pt x="1941626" y="6731"/>
                  </a:lnTo>
                  <a:lnTo>
                    <a:pt x="1936038" y="3810"/>
                  </a:lnTo>
                  <a:lnTo>
                    <a:pt x="1830374" y="36449"/>
                  </a:lnTo>
                  <a:lnTo>
                    <a:pt x="1910765" y="112395"/>
                  </a:lnTo>
                  <a:lnTo>
                    <a:pt x="1917115" y="112268"/>
                  </a:lnTo>
                  <a:lnTo>
                    <a:pt x="1924608" y="104267"/>
                  </a:lnTo>
                  <a:lnTo>
                    <a:pt x="1924354" y="98044"/>
                  </a:lnTo>
                  <a:lnTo>
                    <a:pt x="1920417" y="94234"/>
                  </a:lnTo>
                  <a:lnTo>
                    <a:pt x="1882965" y="58864"/>
                  </a:lnTo>
                  <a:lnTo>
                    <a:pt x="4358843" y="635508"/>
                  </a:lnTo>
                  <a:lnTo>
                    <a:pt x="1282369" y="37477"/>
                  </a:lnTo>
                  <a:lnTo>
                    <a:pt x="1302385" y="30480"/>
                  </a:lnTo>
                  <a:lnTo>
                    <a:pt x="1336344" y="18669"/>
                  </a:lnTo>
                  <a:lnTo>
                    <a:pt x="1339011" y="12954"/>
                  </a:lnTo>
                  <a:lnTo>
                    <a:pt x="1337233" y="7874"/>
                  </a:lnTo>
                  <a:lnTo>
                    <a:pt x="1335455" y="2667"/>
                  </a:lnTo>
                  <a:lnTo>
                    <a:pt x="1329740" y="0"/>
                  </a:lnTo>
                  <a:lnTo>
                    <a:pt x="1225346" y="36449"/>
                  </a:lnTo>
                  <a:lnTo>
                    <a:pt x="1308531" y="109474"/>
                  </a:lnTo>
                  <a:lnTo>
                    <a:pt x="1314754" y="108966"/>
                  </a:lnTo>
                  <a:lnTo>
                    <a:pt x="1318310" y="104902"/>
                  </a:lnTo>
                  <a:lnTo>
                    <a:pt x="1321993" y="100838"/>
                  </a:lnTo>
                  <a:lnTo>
                    <a:pt x="1321612" y="94488"/>
                  </a:lnTo>
                  <a:lnTo>
                    <a:pt x="1317421" y="90932"/>
                  </a:lnTo>
                  <a:lnTo>
                    <a:pt x="1278648" y="56921"/>
                  </a:lnTo>
                  <a:lnTo>
                    <a:pt x="4352480" y="654431"/>
                  </a:lnTo>
                  <a:lnTo>
                    <a:pt x="662178" y="73533"/>
                  </a:lnTo>
                  <a:lnTo>
                    <a:pt x="676770" y="67818"/>
                  </a:lnTo>
                  <a:lnTo>
                    <a:pt x="710234" y="54737"/>
                  </a:lnTo>
                  <a:lnTo>
                    <a:pt x="715314" y="52832"/>
                  </a:lnTo>
                  <a:lnTo>
                    <a:pt x="717854" y="47002"/>
                  </a:lnTo>
                  <a:lnTo>
                    <a:pt x="715822" y="41910"/>
                  </a:lnTo>
                  <a:lnTo>
                    <a:pt x="713917" y="36830"/>
                  </a:lnTo>
                  <a:lnTo>
                    <a:pt x="708075" y="34302"/>
                  </a:lnTo>
                  <a:lnTo>
                    <a:pt x="605078" y="74549"/>
                  </a:lnTo>
                  <a:lnTo>
                    <a:pt x="686612" y="140970"/>
                  </a:lnTo>
                  <a:lnTo>
                    <a:pt x="690803" y="144526"/>
                  </a:lnTo>
                  <a:lnTo>
                    <a:pt x="697026" y="143891"/>
                  </a:lnTo>
                  <a:lnTo>
                    <a:pt x="700455" y="139573"/>
                  </a:lnTo>
                  <a:lnTo>
                    <a:pt x="704011" y="135382"/>
                  </a:lnTo>
                  <a:lnTo>
                    <a:pt x="703376" y="129159"/>
                  </a:lnTo>
                  <a:lnTo>
                    <a:pt x="699058" y="125730"/>
                  </a:lnTo>
                  <a:lnTo>
                    <a:pt x="659028" y="93078"/>
                  </a:lnTo>
                  <a:lnTo>
                    <a:pt x="3862019" y="597268"/>
                  </a:lnTo>
                  <a:lnTo>
                    <a:pt x="56984" y="72453"/>
                  </a:lnTo>
                  <a:lnTo>
                    <a:pt x="69113" y="67437"/>
                  </a:lnTo>
                  <a:lnTo>
                    <a:pt x="104825" y="52705"/>
                  </a:lnTo>
                  <a:lnTo>
                    <a:pt x="109905" y="50673"/>
                  </a:lnTo>
                  <a:lnTo>
                    <a:pt x="112318" y="44831"/>
                  </a:lnTo>
                  <a:lnTo>
                    <a:pt x="110159" y="39890"/>
                  </a:lnTo>
                  <a:lnTo>
                    <a:pt x="108127" y="34798"/>
                  </a:lnTo>
                  <a:lnTo>
                    <a:pt x="102285" y="32385"/>
                  </a:lnTo>
                  <a:lnTo>
                    <a:pt x="0" y="74549"/>
                  </a:lnTo>
                  <a:lnTo>
                    <a:pt x="82778" y="139446"/>
                  </a:lnTo>
                  <a:lnTo>
                    <a:pt x="87083" y="142875"/>
                  </a:lnTo>
                  <a:lnTo>
                    <a:pt x="93306" y="142113"/>
                  </a:lnTo>
                  <a:lnTo>
                    <a:pt x="96685" y="137795"/>
                  </a:lnTo>
                  <a:lnTo>
                    <a:pt x="99999" y="133477"/>
                  </a:lnTo>
                  <a:lnTo>
                    <a:pt x="99364" y="127254"/>
                  </a:lnTo>
                  <a:lnTo>
                    <a:pt x="54381" y="92024"/>
                  </a:lnTo>
                  <a:lnTo>
                    <a:pt x="4881423" y="757809"/>
                  </a:lnTo>
                  <a:lnTo>
                    <a:pt x="4881931" y="757809"/>
                  </a:lnTo>
                  <a:lnTo>
                    <a:pt x="4883429" y="748118"/>
                  </a:lnTo>
                  <a:lnTo>
                    <a:pt x="4885868" y="73787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983741" y="2758820"/>
              <a:ext cx="2308860" cy="5080"/>
            </a:xfrm>
            <a:custGeom>
              <a:avLst/>
              <a:gdLst/>
              <a:ahLst/>
              <a:cxnLst/>
              <a:rect l="l" t="t" r="r" b="b"/>
              <a:pathLst>
                <a:path w="2308860" h="5080">
                  <a:moveTo>
                    <a:pt x="0" y="0"/>
                  </a:moveTo>
                  <a:lnTo>
                    <a:pt x="2308479" y="0"/>
                  </a:lnTo>
                </a:path>
                <a:path w="2308860" h="5080">
                  <a:moveTo>
                    <a:pt x="0" y="4952"/>
                  </a:moveTo>
                  <a:lnTo>
                    <a:pt x="2308479" y="4952"/>
                  </a:lnTo>
                </a:path>
              </a:pathLst>
            </a:custGeom>
            <a:ln w="3175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983741" y="2773298"/>
              <a:ext cx="2308860" cy="0"/>
            </a:xfrm>
            <a:custGeom>
              <a:avLst/>
              <a:gdLst/>
              <a:ahLst/>
              <a:cxnLst/>
              <a:rect l="l" t="t" r="r" b="b"/>
              <a:pathLst>
                <a:path w="2308860">
                  <a:moveTo>
                    <a:pt x="0" y="0"/>
                  </a:moveTo>
                  <a:lnTo>
                    <a:pt x="2308479" y="0"/>
                  </a:lnTo>
                </a:path>
              </a:pathLst>
            </a:custGeom>
            <a:ln w="9905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57655" y="1095755"/>
              <a:ext cx="1955292" cy="2425572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571194" y="3918746"/>
            <a:ext cx="507831" cy="78613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Encoder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RNN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141981" y="3929394"/>
            <a:ext cx="187960" cy="780415"/>
          </a:xfrm>
          <a:custGeom>
            <a:avLst/>
            <a:gdLst/>
            <a:ahLst/>
            <a:cxnLst/>
            <a:rect l="l" t="t" r="r" b="b"/>
            <a:pathLst>
              <a:path w="187959" h="780414">
                <a:moveTo>
                  <a:pt x="187452" y="780288"/>
                </a:moveTo>
                <a:lnTo>
                  <a:pt x="150968" y="774515"/>
                </a:lnTo>
                <a:lnTo>
                  <a:pt x="121177" y="758777"/>
                </a:lnTo>
                <a:lnTo>
                  <a:pt x="101091" y="735443"/>
                </a:lnTo>
                <a:lnTo>
                  <a:pt x="93726" y="706882"/>
                </a:lnTo>
                <a:lnTo>
                  <a:pt x="93726" y="463550"/>
                </a:lnTo>
                <a:lnTo>
                  <a:pt x="86360" y="434988"/>
                </a:lnTo>
                <a:lnTo>
                  <a:pt x="66274" y="411654"/>
                </a:lnTo>
                <a:lnTo>
                  <a:pt x="36483" y="395916"/>
                </a:lnTo>
                <a:lnTo>
                  <a:pt x="0" y="390144"/>
                </a:lnTo>
                <a:lnTo>
                  <a:pt x="36483" y="384371"/>
                </a:lnTo>
                <a:lnTo>
                  <a:pt x="66274" y="368633"/>
                </a:lnTo>
                <a:lnTo>
                  <a:pt x="86360" y="345299"/>
                </a:lnTo>
                <a:lnTo>
                  <a:pt x="93726" y="316738"/>
                </a:lnTo>
                <a:lnTo>
                  <a:pt x="93726" y="73406"/>
                </a:lnTo>
                <a:lnTo>
                  <a:pt x="101091" y="44844"/>
                </a:lnTo>
                <a:lnTo>
                  <a:pt x="121177" y="21510"/>
                </a:lnTo>
                <a:lnTo>
                  <a:pt x="150968" y="5772"/>
                </a:lnTo>
                <a:lnTo>
                  <a:pt x="187452" y="0"/>
                </a:lnTo>
              </a:path>
            </a:pathLst>
          </a:custGeom>
          <a:ln w="1981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571194" y="2794076"/>
            <a:ext cx="507831" cy="899794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Attention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scores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137409" y="2902217"/>
            <a:ext cx="189230" cy="624840"/>
          </a:xfrm>
          <a:custGeom>
            <a:avLst/>
            <a:gdLst/>
            <a:ahLst/>
            <a:cxnLst/>
            <a:rect l="l" t="t" r="r" b="b"/>
            <a:pathLst>
              <a:path w="189229" h="624839">
                <a:moveTo>
                  <a:pt x="188976" y="624839"/>
                </a:moveTo>
                <a:lnTo>
                  <a:pt x="152196" y="619023"/>
                </a:lnTo>
                <a:lnTo>
                  <a:pt x="122162" y="603170"/>
                </a:lnTo>
                <a:lnTo>
                  <a:pt x="101913" y="579673"/>
                </a:lnTo>
                <a:lnTo>
                  <a:pt x="94488" y="550926"/>
                </a:lnTo>
                <a:lnTo>
                  <a:pt x="94488" y="386334"/>
                </a:lnTo>
                <a:lnTo>
                  <a:pt x="87062" y="357586"/>
                </a:lnTo>
                <a:lnTo>
                  <a:pt x="66813" y="334089"/>
                </a:lnTo>
                <a:lnTo>
                  <a:pt x="36779" y="318236"/>
                </a:lnTo>
                <a:lnTo>
                  <a:pt x="0" y="312420"/>
                </a:lnTo>
                <a:lnTo>
                  <a:pt x="36779" y="306603"/>
                </a:lnTo>
                <a:lnTo>
                  <a:pt x="66813" y="290750"/>
                </a:lnTo>
                <a:lnTo>
                  <a:pt x="87062" y="267253"/>
                </a:lnTo>
                <a:lnTo>
                  <a:pt x="94488" y="238506"/>
                </a:lnTo>
                <a:lnTo>
                  <a:pt x="94488" y="73913"/>
                </a:lnTo>
                <a:lnTo>
                  <a:pt x="101913" y="45166"/>
                </a:lnTo>
                <a:lnTo>
                  <a:pt x="122162" y="21669"/>
                </a:lnTo>
                <a:lnTo>
                  <a:pt x="152196" y="5816"/>
                </a:lnTo>
                <a:lnTo>
                  <a:pt x="188976" y="0"/>
                </a:lnTo>
              </a:path>
            </a:pathLst>
          </a:custGeom>
          <a:ln w="19812">
            <a:solidFill>
              <a:srgbClr val="3986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571194" y="1532234"/>
            <a:ext cx="507831" cy="110109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13030" marR="0" lvl="0" indent="0" algn="l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Attention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distribution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149601" y="1769884"/>
            <a:ext cx="189230" cy="624840"/>
          </a:xfrm>
          <a:custGeom>
            <a:avLst/>
            <a:gdLst/>
            <a:ahLst/>
            <a:cxnLst/>
            <a:rect l="l" t="t" r="r" b="b"/>
            <a:pathLst>
              <a:path w="189230" h="624839">
                <a:moveTo>
                  <a:pt x="188976" y="624840"/>
                </a:moveTo>
                <a:lnTo>
                  <a:pt x="152196" y="619023"/>
                </a:lnTo>
                <a:lnTo>
                  <a:pt x="122162" y="603170"/>
                </a:lnTo>
                <a:lnTo>
                  <a:pt x="101913" y="579673"/>
                </a:lnTo>
                <a:lnTo>
                  <a:pt x="94488" y="550926"/>
                </a:lnTo>
                <a:lnTo>
                  <a:pt x="94488" y="386334"/>
                </a:lnTo>
                <a:lnTo>
                  <a:pt x="87062" y="357586"/>
                </a:lnTo>
                <a:lnTo>
                  <a:pt x="66813" y="334089"/>
                </a:lnTo>
                <a:lnTo>
                  <a:pt x="36779" y="318236"/>
                </a:lnTo>
                <a:lnTo>
                  <a:pt x="0" y="312420"/>
                </a:lnTo>
                <a:lnTo>
                  <a:pt x="36779" y="306603"/>
                </a:lnTo>
                <a:lnTo>
                  <a:pt x="66813" y="290750"/>
                </a:lnTo>
                <a:lnTo>
                  <a:pt x="87062" y="267253"/>
                </a:lnTo>
                <a:lnTo>
                  <a:pt x="94488" y="238506"/>
                </a:lnTo>
                <a:lnTo>
                  <a:pt x="94488" y="73914"/>
                </a:lnTo>
                <a:lnTo>
                  <a:pt x="101913" y="45166"/>
                </a:lnTo>
                <a:lnTo>
                  <a:pt x="122162" y="21669"/>
                </a:lnTo>
                <a:lnTo>
                  <a:pt x="152196" y="5816"/>
                </a:lnTo>
                <a:lnTo>
                  <a:pt x="188976" y="0"/>
                </a:lnTo>
              </a:path>
            </a:pathLst>
          </a:custGeom>
          <a:ln w="19812">
            <a:solidFill>
              <a:srgbClr val="3986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906392" y="799986"/>
            <a:ext cx="89979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2715" marR="5080" lvl="0" indent="-12065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</a:t>
            </a:r>
            <a:r>
              <a:rPr kumimoji="0" sz="1800" b="0" i="0" u="none" strike="noStrike" kern="1200" cap="none" spc="-3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tt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e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n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i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on  output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3823716" y="1404886"/>
            <a:ext cx="3898900" cy="3905250"/>
            <a:chOff x="2299716" y="1778507"/>
            <a:chExt cx="3898900" cy="3905250"/>
          </a:xfrm>
        </p:grpSpPr>
        <p:sp>
          <p:nvSpPr>
            <p:cNvPr id="31" name="object 31"/>
            <p:cNvSpPr/>
            <p:nvPr/>
          </p:nvSpPr>
          <p:spPr>
            <a:xfrm>
              <a:off x="2299716" y="1778507"/>
              <a:ext cx="3525520" cy="339725"/>
            </a:xfrm>
            <a:custGeom>
              <a:avLst/>
              <a:gdLst/>
              <a:ahLst/>
              <a:cxnLst/>
              <a:rect l="l" t="t" r="r" b="b"/>
              <a:pathLst>
                <a:path w="3525520" h="339725">
                  <a:moveTo>
                    <a:pt x="3468119" y="296799"/>
                  </a:moveTo>
                  <a:lnTo>
                    <a:pt x="3421633" y="319150"/>
                  </a:lnTo>
                  <a:lnTo>
                    <a:pt x="3416807" y="321563"/>
                  </a:lnTo>
                  <a:lnTo>
                    <a:pt x="3414648" y="327532"/>
                  </a:lnTo>
                  <a:lnTo>
                    <a:pt x="3417061" y="332358"/>
                  </a:lnTo>
                  <a:lnTo>
                    <a:pt x="3419474" y="337312"/>
                  </a:lnTo>
                  <a:lnTo>
                    <a:pt x="3425316" y="339470"/>
                  </a:lnTo>
                  <a:lnTo>
                    <a:pt x="3507962" y="299719"/>
                  </a:lnTo>
                  <a:lnTo>
                    <a:pt x="3504691" y="299719"/>
                  </a:lnTo>
                  <a:lnTo>
                    <a:pt x="3468119" y="296799"/>
                  </a:lnTo>
                  <a:close/>
                </a:path>
                <a:path w="3525520" h="339725">
                  <a:moveTo>
                    <a:pt x="3485807" y="288294"/>
                  </a:moveTo>
                  <a:lnTo>
                    <a:pt x="3468119" y="296799"/>
                  </a:lnTo>
                  <a:lnTo>
                    <a:pt x="3504691" y="299719"/>
                  </a:lnTo>
                  <a:lnTo>
                    <a:pt x="3504830" y="298068"/>
                  </a:lnTo>
                  <a:lnTo>
                    <a:pt x="3499866" y="298068"/>
                  </a:lnTo>
                  <a:lnTo>
                    <a:pt x="3485807" y="288294"/>
                  </a:lnTo>
                  <a:close/>
                </a:path>
                <a:path w="3525520" h="339725">
                  <a:moveTo>
                    <a:pt x="3434206" y="228218"/>
                  </a:moveTo>
                  <a:lnTo>
                    <a:pt x="3428110" y="229362"/>
                  </a:lnTo>
                  <a:lnTo>
                    <a:pt x="3424935" y="233806"/>
                  </a:lnTo>
                  <a:lnTo>
                    <a:pt x="3421760" y="238378"/>
                  </a:lnTo>
                  <a:lnTo>
                    <a:pt x="3422904" y="244475"/>
                  </a:lnTo>
                  <a:lnTo>
                    <a:pt x="3427348" y="247650"/>
                  </a:lnTo>
                  <a:lnTo>
                    <a:pt x="3469719" y="277108"/>
                  </a:lnTo>
                  <a:lnTo>
                    <a:pt x="3506342" y="280034"/>
                  </a:lnTo>
                  <a:lnTo>
                    <a:pt x="3504691" y="299719"/>
                  </a:lnTo>
                  <a:lnTo>
                    <a:pt x="3507962" y="299719"/>
                  </a:lnTo>
                  <a:lnTo>
                    <a:pt x="3525138" y="291464"/>
                  </a:lnTo>
                  <a:lnTo>
                    <a:pt x="3434206" y="228218"/>
                  </a:lnTo>
                  <a:close/>
                </a:path>
                <a:path w="3525520" h="339725">
                  <a:moveTo>
                    <a:pt x="3501135" y="280924"/>
                  </a:moveTo>
                  <a:lnTo>
                    <a:pt x="3485807" y="288294"/>
                  </a:lnTo>
                  <a:lnTo>
                    <a:pt x="3499866" y="298068"/>
                  </a:lnTo>
                  <a:lnTo>
                    <a:pt x="3501135" y="280924"/>
                  </a:lnTo>
                  <a:close/>
                </a:path>
                <a:path w="3525520" h="339725">
                  <a:moveTo>
                    <a:pt x="3506268" y="280924"/>
                  </a:moveTo>
                  <a:lnTo>
                    <a:pt x="3501135" y="280924"/>
                  </a:lnTo>
                  <a:lnTo>
                    <a:pt x="3499866" y="298068"/>
                  </a:lnTo>
                  <a:lnTo>
                    <a:pt x="3504830" y="298068"/>
                  </a:lnTo>
                  <a:lnTo>
                    <a:pt x="3506268" y="280924"/>
                  </a:lnTo>
                  <a:close/>
                </a:path>
                <a:path w="3525520" h="339725">
                  <a:moveTo>
                    <a:pt x="1523" y="0"/>
                  </a:moveTo>
                  <a:lnTo>
                    <a:pt x="0" y="19812"/>
                  </a:lnTo>
                  <a:lnTo>
                    <a:pt x="3468119" y="296799"/>
                  </a:lnTo>
                  <a:lnTo>
                    <a:pt x="3485807" y="288294"/>
                  </a:lnTo>
                  <a:lnTo>
                    <a:pt x="3469719" y="277108"/>
                  </a:lnTo>
                  <a:lnTo>
                    <a:pt x="1523" y="0"/>
                  </a:lnTo>
                  <a:close/>
                </a:path>
                <a:path w="3525520" h="339725">
                  <a:moveTo>
                    <a:pt x="3469719" y="277108"/>
                  </a:moveTo>
                  <a:lnTo>
                    <a:pt x="3485807" y="288294"/>
                  </a:lnTo>
                  <a:lnTo>
                    <a:pt x="3501135" y="280924"/>
                  </a:lnTo>
                  <a:lnTo>
                    <a:pt x="3506268" y="280924"/>
                  </a:lnTo>
                  <a:lnTo>
                    <a:pt x="3506342" y="280034"/>
                  </a:lnTo>
                  <a:lnTo>
                    <a:pt x="3469719" y="277108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pic>
          <p:nvPicPr>
            <p:cNvPr id="32" name="object 3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82311" y="4358639"/>
              <a:ext cx="126491" cy="132588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82311" y="4527803"/>
              <a:ext cx="126491" cy="132587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82311" y="4696967"/>
              <a:ext cx="126491" cy="132587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82311" y="4866131"/>
              <a:ext cx="126491" cy="132587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4708398" y="4293869"/>
              <a:ext cx="266700" cy="780415"/>
            </a:xfrm>
            <a:custGeom>
              <a:avLst/>
              <a:gdLst/>
              <a:ahLst/>
              <a:cxnLst/>
              <a:rect l="l" t="t" r="r" b="b"/>
              <a:pathLst>
                <a:path w="266700" h="780414">
                  <a:moveTo>
                    <a:pt x="222250" y="0"/>
                  </a:moveTo>
                  <a:lnTo>
                    <a:pt x="239535" y="3498"/>
                  </a:lnTo>
                  <a:lnTo>
                    <a:pt x="253666" y="13033"/>
                  </a:lnTo>
                  <a:lnTo>
                    <a:pt x="263201" y="27164"/>
                  </a:lnTo>
                  <a:lnTo>
                    <a:pt x="266700" y="44449"/>
                  </a:lnTo>
                  <a:lnTo>
                    <a:pt x="266700" y="735837"/>
                  </a:lnTo>
                  <a:lnTo>
                    <a:pt x="263201" y="753123"/>
                  </a:lnTo>
                  <a:lnTo>
                    <a:pt x="253666" y="767254"/>
                  </a:lnTo>
                  <a:lnTo>
                    <a:pt x="239535" y="776789"/>
                  </a:lnTo>
                  <a:lnTo>
                    <a:pt x="222250" y="780287"/>
                  </a:lnTo>
                  <a:lnTo>
                    <a:pt x="44450" y="780287"/>
                  </a:lnTo>
                  <a:lnTo>
                    <a:pt x="27164" y="776789"/>
                  </a:lnTo>
                  <a:lnTo>
                    <a:pt x="13033" y="767254"/>
                  </a:lnTo>
                  <a:lnTo>
                    <a:pt x="3498" y="753123"/>
                  </a:lnTo>
                  <a:lnTo>
                    <a:pt x="0" y="735837"/>
                  </a:lnTo>
                  <a:lnTo>
                    <a:pt x="0" y="44449"/>
                  </a:ln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222250" y="0"/>
                  </a:lnTo>
                  <a:close/>
                </a:path>
              </a:pathLst>
            </a:custGeom>
            <a:ln w="19812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4785233" y="4628260"/>
              <a:ext cx="534670" cy="1056005"/>
            </a:xfrm>
            <a:custGeom>
              <a:avLst/>
              <a:gdLst/>
              <a:ahLst/>
              <a:cxnLst/>
              <a:rect l="l" t="t" r="r" b="b"/>
              <a:pathLst>
                <a:path w="534670" h="1056004">
                  <a:moveTo>
                    <a:pt x="111506" y="541401"/>
                  </a:moveTo>
                  <a:lnTo>
                    <a:pt x="108712" y="536702"/>
                  </a:lnTo>
                  <a:lnTo>
                    <a:pt x="67157" y="465455"/>
                  </a:lnTo>
                  <a:lnTo>
                    <a:pt x="55753" y="445897"/>
                  </a:lnTo>
                  <a:lnTo>
                    <a:pt x="2794" y="536702"/>
                  </a:lnTo>
                  <a:lnTo>
                    <a:pt x="0" y="541401"/>
                  </a:lnTo>
                  <a:lnTo>
                    <a:pt x="1524" y="547497"/>
                  </a:lnTo>
                  <a:lnTo>
                    <a:pt x="6350" y="550291"/>
                  </a:lnTo>
                  <a:lnTo>
                    <a:pt x="11049" y="553085"/>
                  </a:lnTo>
                  <a:lnTo>
                    <a:pt x="17145" y="551434"/>
                  </a:lnTo>
                  <a:lnTo>
                    <a:pt x="19812" y="546735"/>
                  </a:lnTo>
                  <a:lnTo>
                    <a:pt x="45847" y="502107"/>
                  </a:lnTo>
                  <a:lnTo>
                    <a:pt x="45847" y="1055497"/>
                  </a:lnTo>
                  <a:lnTo>
                    <a:pt x="65659" y="1055497"/>
                  </a:lnTo>
                  <a:lnTo>
                    <a:pt x="65659" y="502107"/>
                  </a:lnTo>
                  <a:lnTo>
                    <a:pt x="91694" y="546735"/>
                  </a:lnTo>
                  <a:lnTo>
                    <a:pt x="94361" y="551434"/>
                  </a:lnTo>
                  <a:lnTo>
                    <a:pt x="100457" y="553085"/>
                  </a:lnTo>
                  <a:lnTo>
                    <a:pt x="105156" y="550291"/>
                  </a:lnTo>
                  <a:lnTo>
                    <a:pt x="109982" y="547497"/>
                  </a:lnTo>
                  <a:lnTo>
                    <a:pt x="111506" y="541401"/>
                  </a:lnTo>
                  <a:close/>
                </a:path>
                <a:path w="534670" h="1056004">
                  <a:moveTo>
                    <a:pt x="534543" y="55753"/>
                  </a:moveTo>
                  <a:lnTo>
                    <a:pt x="517550" y="45847"/>
                  </a:lnTo>
                  <a:lnTo>
                    <a:pt x="443738" y="2794"/>
                  </a:lnTo>
                  <a:lnTo>
                    <a:pt x="439039" y="0"/>
                  </a:lnTo>
                  <a:lnTo>
                    <a:pt x="432943" y="1524"/>
                  </a:lnTo>
                  <a:lnTo>
                    <a:pt x="430149" y="6350"/>
                  </a:lnTo>
                  <a:lnTo>
                    <a:pt x="427482" y="11049"/>
                  </a:lnTo>
                  <a:lnTo>
                    <a:pt x="429006" y="17145"/>
                  </a:lnTo>
                  <a:lnTo>
                    <a:pt x="433705" y="19812"/>
                  </a:lnTo>
                  <a:lnTo>
                    <a:pt x="478320" y="45847"/>
                  </a:lnTo>
                  <a:lnTo>
                    <a:pt x="189865" y="45847"/>
                  </a:lnTo>
                  <a:lnTo>
                    <a:pt x="189865" y="65659"/>
                  </a:lnTo>
                  <a:lnTo>
                    <a:pt x="478320" y="65659"/>
                  </a:lnTo>
                  <a:lnTo>
                    <a:pt x="433705" y="91694"/>
                  </a:lnTo>
                  <a:lnTo>
                    <a:pt x="429006" y="94361"/>
                  </a:lnTo>
                  <a:lnTo>
                    <a:pt x="427482" y="100457"/>
                  </a:lnTo>
                  <a:lnTo>
                    <a:pt x="430149" y="105156"/>
                  </a:lnTo>
                  <a:lnTo>
                    <a:pt x="432943" y="109982"/>
                  </a:lnTo>
                  <a:lnTo>
                    <a:pt x="439039" y="111506"/>
                  </a:lnTo>
                  <a:lnTo>
                    <a:pt x="443738" y="108712"/>
                  </a:lnTo>
                  <a:lnTo>
                    <a:pt x="517550" y="65659"/>
                  </a:lnTo>
                  <a:lnTo>
                    <a:pt x="534543" y="55753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pic>
          <p:nvPicPr>
            <p:cNvPr id="38" name="object 3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960" y="4355591"/>
              <a:ext cx="124967" cy="132587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94960" y="4523231"/>
              <a:ext cx="124967" cy="132587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94960" y="4692395"/>
              <a:ext cx="124967" cy="132587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94960" y="4861559"/>
              <a:ext cx="124967" cy="132587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5321045" y="4290822"/>
              <a:ext cx="265430" cy="779145"/>
            </a:xfrm>
            <a:custGeom>
              <a:avLst/>
              <a:gdLst/>
              <a:ahLst/>
              <a:cxnLst/>
              <a:rect l="l" t="t" r="r" b="b"/>
              <a:pathLst>
                <a:path w="265429" h="779145">
                  <a:moveTo>
                    <a:pt x="220979" y="0"/>
                  </a:moveTo>
                  <a:lnTo>
                    <a:pt x="238172" y="3476"/>
                  </a:lnTo>
                  <a:lnTo>
                    <a:pt x="252221" y="12954"/>
                  </a:lnTo>
                  <a:lnTo>
                    <a:pt x="261699" y="27003"/>
                  </a:lnTo>
                  <a:lnTo>
                    <a:pt x="265175" y="44195"/>
                  </a:lnTo>
                  <a:lnTo>
                    <a:pt x="265175" y="734567"/>
                  </a:lnTo>
                  <a:lnTo>
                    <a:pt x="261699" y="751760"/>
                  </a:lnTo>
                  <a:lnTo>
                    <a:pt x="252222" y="765810"/>
                  </a:lnTo>
                  <a:lnTo>
                    <a:pt x="238172" y="775287"/>
                  </a:lnTo>
                  <a:lnTo>
                    <a:pt x="220979" y="778763"/>
                  </a:lnTo>
                  <a:lnTo>
                    <a:pt x="44195" y="778763"/>
                  </a:lnTo>
                  <a:lnTo>
                    <a:pt x="27003" y="775287"/>
                  </a:lnTo>
                  <a:lnTo>
                    <a:pt x="12953" y="765809"/>
                  </a:lnTo>
                  <a:lnTo>
                    <a:pt x="3476" y="751760"/>
                  </a:lnTo>
                  <a:lnTo>
                    <a:pt x="0" y="734567"/>
                  </a:lnTo>
                  <a:lnTo>
                    <a:pt x="0" y="44195"/>
                  </a:lnTo>
                  <a:lnTo>
                    <a:pt x="3476" y="27003"/>
                  </a:lnTo>
                  <a:lnTo>
                    <a:pt x="12953" y="12953"/>
                  </a:lnTo>
                  <a:lnTo>
                    <a:pt x="27003" y="3476"/>
                  </a:lnTo>
                  <a:lnTo>
                    <a:pt x="44195" y="0"/>
                  </a:lnTo>
                  <a:lnTo>
                    <a:pt x="220979" y="0"/>
                  </a:lnTo>
                  <a:close/>
                </a:path>
              </a:pathLst>
            </a:custGeom>
            <a:ln w="19812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43" name="object 43"/>
            <p:cNvSpPr/>
            <p:nvPr/>
          </p:nvSpPr>
          <p:spPr>
            <a:xfrm>
              <a:off x="5397881" y="4623688"/>
              <a:ext cx="533400" cy="1056005"/>
            </a:xfrm>
            <a:custGeom>
              <a:avLst/>
              <a:gdLst/>
              <a:ahLst/>
              <a:cxnLst/>
              <a:rect l="l" t="t" r="r" b="b"/>
              <a:pathLst>
                <a:path w="533400" h="1056004">
                  <a:moveTo>
                    <a:pt x="111506" y="541401"/>
                  </a:moveTo>
                  <a:lnTo>
                    <a:pt x="108712" y="536702"/>
                  </a:lnTo>
                  <a:lnTo>
                    <a:pt x="67157" y="465455"/>
                  </a:lnTo>
                  <a:lnTo>
                    <a:pt x="55753" y="445897"/>
                  </a:lnTo>
                  <a:lnTo>
                    <a:pt x="2794" y="536702"/>
                  </a:lnTo>
                  <a:lnTo>
                    <a:pt x="0" y="541401"/>
                  </a:lnTo>
                  <a:lnTo>
                    <a:pt x="1524" y="547497"/>
                  </a:lnTo>
                  <a:lnTo>
                    <a:pt x="6350" y="550291"/>
                  </a:lnTo>
                  <a:lnTo>
                    <a:pt x="11049" y="553085"/>
                  </a:lnTo>
                  <a:lnTo>
                    <a:pt x="17145" y="551434"/>
                  </a:lnTo>
                  <a:lnTo>
                    <a:pt x="19812" y="546735"/>
                  </a:lnTo>
                  <a:lnTo>
                    <a:pt x="45847" y="502107"/>
                  </a:lnTo>
                  <a:lnTo>
                    <a:pt x="45847" y="1055497"/>
                  </a:lnTo>
                  <a:lnTo>
                    <a:pt x="65659" y="1055497"/>
                  </a:lnTo>
                  <a:lnTo>
                    <a:pt x="65659" y="502107"/>
                  </a:lnTo>
                  <a:lnTo>
                    <a:pt x="91694" y="546735"/>
                  </a:lnTo>
                  <a:lnTo>
                    <a:pt x="94361" y="551434"/>
                  </a:lnTo>
                  <a:lnTo>
                    <a:pt x="100457" y="553085"/>
                  </a:lnTo>
                  <a:lnTo>
                    <a:pt x="105156" y="550291"/>
                  </a:lnTo>
                  <a:lnTo>
                    <a:pt x="109982" y="547497"/>
                  </a:lnTo>
                  <a:lnTo>
                    <a:pt x="111506" y="541401"/>
                  </a:lnTo>
                  <a:close/>
                </a:path>
                <a:path w="533400" h="1056004">
                  <a:moveTo>
                    <a:pt x="533019" y="55753"/>
                  </a:moveTo>
                  <a:lnTo>
                    <a:pt x="516026" y="45847"/>
                  </a:lnTo>
                  <a:lnTo>
                    <a:pt x="442214" y="2794"/>
                  </a:lnTo>
                  <a:lnTo>
                    <a:pt x="437515" y="0"/>
                  </a:lnTo>
                  <a:lnTo>
                    <a:pt x="431419" y="1524"/>
                  </a:lnTo>
                  <a:lnTo>
                    <a:pt x="428625" y="6350"/>
                  </a:lnTo>
                  <a:lnTo>
                    <a:pt x="425958" y="11049"/>
                  </a:lnTo>
                  <a:lnTo>
                    <a:pt x="427482" y="17145"/>
                  </a:lnTo>
                  <a:lnTo>
                    <a:pt x="432181" y="19812"/>
                  </a:lnTo>
                  <a:lnTo>
                    <a:pt x="476796" y="45847"/>
                  </a:lnTo>
                  <a:lnTo>
                    <a:pt x="188341" y="45847"/>
                  </a:lnTo>
                  <a:lnTo>
                    <a:pt x="188341" y="65659"/>
                  </a:lnTo>
                  <a:lnTo>
                    <a:pt x="476796" y="65659"/>
                  </a:lnTo>
                  <a:lnTo>
                    <a:pt x="432181" y="91694"/>
                  </a:lnTo>
                  <a:lnTo>
                    <a:pt x="427482" y="94361"/>
                  </a:lnTo>
                  <a:lnTo>
                    <a:pt x="425958" y="100457"/>
                  </a:lnTo>
                  <a:lnTo>
                    <a:pt x="428625" y="105156"/>
                  </a:lnTo>
                  <a:lnTo>
                    <a:pt x="431419" y="109982"/>
                  </a:lnTo>
                  <a:lnTo>
                    <a:pt x="437515" y="111506"/>
                  </a:lnTo>
                  <a:lnTo>
                    <a:pt x="442214" y="108712"/>
                  </a:lnTo>
                  <a:lnTo>
                    <a:pt x="516026" y="65659"/>
                  </a:lnTo>
                  <a:lnTo>
                    <a:pt x="533019" y="55753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pic>
          <p:nvPicPr>
            <p:cNvPr id="44" name="object 4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996939" y="4351019"/>
              <a:ext cx="126491" cy="132587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96939" y="4520183"/>
              <a:ext cx="126491" cy="132588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996939" y="4689347"/>
              <a:ext cx="126491" cy="131063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96939" y="4856987"/>
              <a:ext cx="126491" cy="132587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5923025" y="4286250"/>
              <a:ext cx="265430" cy="779145"/>
            </a:xfrm>
            <a:custGeom>
              <a:avLst/>
              <a:gdLst/>
              <a:ahLst/>
              <a:cxnLst/>
              <a:rect l="l" t="t" r="r" b="b"/>
              <a:pathLst>
                <a:path w="265429" h="779145">
                  <a:moveTo>
                    <a:pt x="220979" y="0"/>
                  </a:moveTo>
                  <a:lnTo>
                    <a:pt x="238172" y="3476"/>
                  </a:lnTo>
                  <a:lnTo>
                    <a:pt x="252221" y="12954"/>
                  </a:lnTo>
                  <a:lnTo>
                    <a:pt x="261699" y="27003"/>
                  </a:lnTo>
                  <a:lnTo>
                    <a:pt x="265175" y="44195"/>
                  </a:lnTo>
                  <a:lnTo>
                    <a:pt x="265175" y="734568"/>
                  </a:lnTo>
                  <a:lnTo>
                    <a:pt x="261699" y="751760"/>
                  </a:lnTo>
                  <a:lnTo>
                    <a:pt x="252222" y="765809"/>
                  </a:lnTo>
                  <a:lnTo>
                    <a:pt x="238172" y="775287"/>
                  </a:lnTo>
                  <a:lnTo>
                    <a:pt x="220979" y="778763"/>
                  </a:lnTo>
                  <a:lnTo>
                    <a:pt x="44196" y="778763"/>
                  </a:lnTo>
                  <a:lnTo>
                    <a:pt x="27003" y="775287"/>
                  </a:lnTo>
                  <a:lnTo>
                    <a:pt x="12954" y="765809"/>
                  </a:lnTo>
                  <a:lnTo>
                    <a:pt x="3476" y="751760"/>
                  </a:lnTo>
                  <a:lnTo>
                    <a:pt x="0" y="734568"/>
                  </a:lnTo>
                  <a:lnTo>
                    <a:pt x="0" y="44195"/>
                  </a:lnTo>
                  <a:lnTo>
                    <a:pt x="3476" y="27003"/>
                  </a:lnTo>
                  <a:lnTo>
                    <a:pt x="12953" y="12954"/>
                  </a:lnTo>
                  <a:lnTo>
                    <a:pt x="27003" y="3476"/>
                  </a:lnTo>
                  <a:lnTo>
                    <a:pt x="44196" y="0"/>
                  </a:lnTo>
                  <a:lnTo>
                    <a:pt x="220979" y="0"/>
                  </a:lnTo>
                  <a:close/>
                </a:path>
              </a:pathLst>
            </a:custGeom>
            <a:ln w="19812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49" name="object 49"/>
            <p:cNvSpPr/>
            <p:nvPr/>
          </p:nvSpPr>
          <p:spPr>
            <a:xfrm>
              <a:off x="5998464" y="2239517"/>
              <a:ext cx="113030" cy="3435350"/>
            </a:xfrm>
            <a:custGeom>
              <a:avLst/>
              <a:gdLst/>
              <a:ahLst/>
              <a:cxnLst/>
              <a:rect l="l" t="t" r="r" b="b"/>
              <a:pathLst>
                <a:path w="113029" h="3435350">
                  <a:moveTo>
                    <a:pt x="111506" y="95504"/>
                  </a:moveTo>
                  <a:lnTo>
                    <a:pt x="108712" y="90805"/>
                  </a:lnTo>
                  <a:lnTo>
                    <a:pt x="67056" y="19558"/>
                  </a:lnTo>
                  <a:lnTo>
                    <a:pt x="55626" y="0"/>
                  </a:lnTo>
                  <a:lnTo>
                    <a:pt x="2667" y="90932"/>
                  </a:lnTo>
                  <a:lnTo>
                    <a:pt x="0" y="95631"/>
                  </a:lnTo>
                  <a:lnTo>
                    <a:pt x="1524" y="101600"/>
                  </a:lnTo>
                  <a:lnTo>
                    <a:pt x="6223" y="104394"/>
                  </a:lnTo>
                  <a:lnTo>
                    <a:pt x="11049" y="107188"/>
                  </a:lnTo>
                  <a:lnTo>
                    <a:pt x="17018" y="105537"/>
                  </a:lnTo>
                  <a:lnTo>
                    <a:pt x="19875" y="100711"/>
                  </a:lnTo>
                  <a:lnTo>
                    <a:pt x="45745" y="56375"/>
                  </a:lnTo>
                  <a:lnTo>
                    <a:pt x="45821" y="56235"/>
                  </a:lnTo>
                  <a:lnTo>
                    <a:pt x="45796" y="107188"/>
                  </a:lnTo>
                  <a:lnTo>
                    <a:pt x="47498" y="2046224"/>
                  </a:lnTo>
                  <a:lnTo>
                    <a:pt x="67310" y="2046224"/>
                  </a:lnTo>
                  <a:lnTo>
                    <a:pt x="65557" y="56210"/>
                  </a:lnTo>
                  <a:lnTo>
                    <a:pt x="65532" y="24638"/>
                  </a:lnTo>
                  <a:lnTo>
                    <a:pt x="65532" y="19558"/>
                  </a:lnTo>
                  <a:lnTo>
                    <a:pt x="65646" y="56375"/>
                  </a:lnTo>
                  <a:lnTo>
                    <a:pt x="91630" y="100838"/>
                  </a:lnTo>
                  <a:lnTo>
                    <a:pt x="94361" y="105537"/>
                  </a:lnTo>
                  <a:lnTo>
                    <a:pt x="100457" y="107061"/>
                  </a:lnTo>
                  <a:lnTo>
                    <a:pt x="105156" y="104267"/>
                  </a:lnTo>
                  <a:lnTo>
                    <a:pt x="109855" y="101600"/>
                  </a:lnTo>
                  <a:lnTo>
                    <a:pt x="111506" y="95504"/>
                  </a:lnTo>
                  <a:close/>
                </a:path>
                <a:path w="113029" h="3435350">
                  <a:moveTo>
                    <a:pt x="112903" y="2921000"/>
                  </a:moveTo>
                  <a:lnTo>
                    <a:pt x="110109" y="2916301"/>
                  </a:lnTo>
                  <a:lnTo>
                    <a:pt x="68554" y="2845054"/>
                  </a:lnTo>
                  <a:lnTo>
                    <a:pt x="57150" y="2825496"/>
                  </a:lnTo>
                  <a:lnTo>
                    <a:pt x="4191" y="2916301"/>
                  </a:lnTo>
                  <a:lnTo>
                    <a:pt x="1397" y="2921000"/>
                  </a:lnTo>
                  <a:lnTo>
                    <a:pt x="2921" y="2927096"/>
                  </a:lnTo>
                  <a:lnTo>
                    <a:pt x="7747" y="2929890"/>
                  </a:lnTo>
                  <a:lnTo>
                    <a:pt x="12446" y="2932684"/>
                  </a:lnTo>
                  <a:lnTo>
                    <a:pt x="18542" y="2931033"/>
                  </a:lnTo>
                  <a:lnTo>
                    <a:pt x="21209" y="2926334"/>
                  </a:lnTo>
                  <a:lnTo>
                    <a:pt x="47231" y="2881706"/>
                  </a:lnTo>
                  <a:lnTo>
                    <a:pt x="47244" y="2845054"/>
                  </a:lnTo>
                  <a:lnTo>
                    <a:pt x="47244" y="2881706"/>
                  </a:lnTo>
                  <a:lnTo>
                    <a:pt x="47244" y="3435096"/>
                  </a:lnTo>
                  <a:lnTo>
                    <a:pt x="67056" y="3435096"/>
                  </a:lnTo>
                  <a:lnTo>
                    <a:pt x="67056" y="2881706"/>
                  </a:lnTo>
                  <a:lnTo>
                    <a:pt x="93091" y="2926334"/>
                  </a:lnTo>
                  <a:lnTo>
                    <a:pt x="95758" y="2931033"/>
                  </a:lnTo>
                  <a:lnTo>
                    <a:pt x="101854" y="2932684"/>
                  </a:lnTo>
                  <a:lnTo>
                    <a:pt x="111252" y="2927096"/>
                  </a:lnTo>
                  <a:lnTo>
                    <a:pt x="112903" y="292100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</p:grpSp>
      <p:sp>
        <p:nvSpPr>
          <p:cNvPr id="53" name="object 53"/>
          <p:cNvSpPr/>
          <p:nvPr/>
        </p:nvSpPr>
        <p:spPr>
          <a:xfrm>
            <a:off x="7525258" y="1180097"/>
            <a:ext cx="111760" cy="347345"/>
          </a:xfrm>
          <a:custGeom>
            <a:avLst/>
            <a:gdLst/>
            <a:ahLst/>
            <a:cxnLst/>
            <a:rect l="l" t="t" r="r" b="b"/>
            <a:pathLst>
              <a:path w="111760" h="347344">
                <a:moveTo>
                  <a:pt x="56325" y="39160"/>
                </a:moveTo>
                <a:lnTo>
                  <a:pt x="46198" y="56066"/>
                </a:lnTo>
                <a:lnTo>
                  <a:pt x="42925" y="347091"/>
                </a:lnTo>
                <a:lnTo>
                  <a:pt x="62737" y="347345"/>
                </a:lnTo>
                <a:lnTo>
                  <a:pt x="66010" y="56216"/>
                </a:lnTo>
                <a:lnTo>
                  <a:pt x="56325" y="39160"/>
                </a:lnTo>
                <a:close/>
              </a:path>
              <a:path w="111760" h="347344">
                <a:moveTo>
                  <a:pt x="67879" y="19558"/>
                </a:moveTo>
                <a:lnTo>
                  <a:pt x="46608" y="19558"/>
                </a:lnTo>
                <a:lnTo>
                  <a:pt x="66420" y="19685"/>
                </a:lnTo>
                <a:lnTo>
                  <a:pt x="66010" y="56216"/>
                </a:lnTo>
                <a:lnTo>
                  <a:pt x="94233" y="105918"/>
                </a:lnTo>
                <a:lnTo>
                  <a:pt x="100329" y="107569"/>
                </a:lnTo>
                <a:lnTo>
                  <a:pt x="105028" y="104902"/>
                </a:lnTo>
                <a:lnTo>
                  <a:pt x="109854" y="102235"/>
                </a:lnTo>
                <a:lnTo>
                  <a:pt x="111505" y="96139"/>
                </a:lnTo>
                <a:lnTo>
                  <a:pt x="108712" y="91440"/>
                </a:lnTo>
                <a:lnTo>
                  <a:pt x="67879" y="19558"/>
                </a:lnTo>
                <a:close/>
              </a:path>
              <a:path w="111760" h="347344">
                <a:moveTo>
                  <a:pt x="56768" y="0"/>
                </a:moveTo>
                <a:lnTo>
                  <a:pt x="2793" y="90170"/>
                </a:lnTo>
                <a:lnTo>
                  <a:pt x="0" y="94869"/>
                </a:lnTo>
                <a:lnTo>
                  <a:pt x="1524" y="100965"/>
                </a:lnTo>
                <a:lnTo>
                  <a:pt x="6222" y="103759"/>
                </a:lnTo>
                <a:lnTo>
                  <a:pt x="10794" y="106553"/>
                </a:lnTo>
                <a:lnTo>
                  <a:pt x="16890" y="105029"/>
                </a:lnTo>
                <a:lnTo>
                  <a:pt x="19684" y="100330"/>
                </a:lnTo>
                <a:lnTo>
                  <a:pt x="46198" y="56066"/>
                </a:lnTo>
                <a:lnTo>
                  <a:pt x="46608" y="19558"/>
                </a:lnTo>
                <a:lnTo>
                  <a:pt x="67879" y="19558"/>
                </a:lnTo>
                <a:lnTo>
                  <a:pt x="56768" y="0"/>
                </a:lnTo>
                <a:close/>
              </a:path>
              <a:path w="111760" h="347344">
                <a:moveTo>
                  <a:pt x="66366" y="24511"/>
                </a:moveTo>
                <a:lnTo>
                  <a:pt x="48005" y="24511"/>
                </a:lnTo>
                <a:lnTo>
                  <a:pt x="65024" y="24637"/>
                </a:lnTo>
                <a:lnTo>
                  <a:pt x="56325" y="39160"/>
                </a:lnTo>
                <a:lnTo>
                  <a:pt x="66010" y="56216"/>
                </a:lnTo>
                <a:lnTo>
                  <a:pt x="66366" y="24511"/>
                </a:lnTo>
                <a:close/>
              </a:path>
              <a:path w="111760" h="347344">
                <a:moveTo>
                  <a:pt x="46608" y="19558"/>
                </a:moveTo>
                <a:lnTo>
                  <a:pt x="46198" y="56066"/>
                </a:lnTo>
                <a:lnTo>
                  <a:pt x="56325" y="39160"/>
                </a:lnTo>
                <a:lnTo>
                  <a:pt x="48005" y="24511"/>
                </a:lnTo>
                <a:lnTo>
                  <a:pt x="66366" y="24511"/>
                </a:lnTo>
                <a:lnTo>
                  <a:pt x="66420" y="19685"/>
                </a:lnTo>
                <a:lnTo>
                  <a:pt x="46608" y="19558"/>
                </a:lnTo>
                <a:close/>
              </a:path>
              <a:path w="111760" h="347344">
                <a:moveTo>
                  <a:pt x="48005" y="24511"/>
                </a:moveTo>
                <a:lnTo>
                  <a:pt x="56325" y="39160"/>
                </a:lnTo>
                <a:lnTo>
                  <a:pt x="65024" y="24637"/>
                </a:lnTo>
                <a:lnTo>
                  <a:pt x="48005" y="24511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386574" y="862089"/>
            <a:ext cx="3905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to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10136885" y="3952253"/>
            <a:ext cx="189230" cy="779145"/>
          </a:xfrm>
          <a:custGeom>
            <a:avLst/>
            <a:gdLst/>
            <a:ahLst/>
            <a:cxnLst/>
            <a:rect l="l" t="t" r="r" b="b"/>
            <a:pathLst>
              <a:path w="189229" h="779145">
                <a:moveTo>
                  <a:pt x="0" y="0"/>
                </a:moveTo>
                <a:lnTo>
                  <a:pt x="36784" y="5816"/>
                </a:lnTo>
                <a:lnTo>
                  <a:pt x="66817" y="21669"/>
                </a:lnTo>
                <a:lnTo>
                  <a:pt x="87064" y="45166"/>
                </a:lnTo>
                <a:lnTo>
                  <a:pt x="94488" y="73913"/>
                </a:lnTo>
                <a:lnTo>
                  <a:pt x="94488" y="315468"/>
                </a:lnTo>
                <a:lnTo>
                  <a:pt x="101911" y="344215"/>
                </a:lnTo>
                <a:lnTo>
                  <a:pt x="122158" y="367712"/>
                </a:lnTo>
                <a:lnTo>
                  <a:pt x="152191" y="383565"/>
                </a:lnTo>
                <a:lnTo>
                  <a:pt x="188975" y="389381"/>
                </a:lnTo>
                <a:lnTo>
                  <a:pt x="152191" y="395198"/>
                </a:lnTo>
                <a:lnTo>
                  <a:pt x="122158" y="411051"/>
                </a:lnTo>
                <a:lnTo>
                  <a:pt x="101911" y="434548"/>
                </a:lnTo>
                <a:lnTo>
                  <a:pt x="94488" y="463295"/>
                </a:lnTo>
                <a:lnTo>
                  <a:pt x="94488" y="704850"/>
                </a:lnTo>
                <a:lnTo>
                  <a:pt x="87064" y="733597"/>
                </a:lnTo>
                <a:lnTo>
                  <a:pt x="66817" y="757094"/>
                </a:lnTo>
                <a:lnTo>
                  <a:pt x="36784" y="772947"/>
                </a:lnTo>
                <a:lnTo>
                  <a:pt x="0" y="778763"/>
                </a:lnTo>
              </a:path>
            </a:pathLst>
          </a:custGeom>
          <a:ln w="19812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pic>
        <p:nvPicPr>
          <p:cNvPr id="58" name="Picture 5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32866" y="1542554"/>
            <a:ext cx="314325" cy="371475"/>
          </a:xfrm>
          <a:prstGeom prst="rect">
            <a:avLst/>
          </a:prstGeom>
        </p:spPr>
      </p:pic>
      <p:sp>
        <p:nvSpPr>
          <p:cNvPr id="59" name="object 2">
            <a:extLst>
              <a:ext uri="{FF2B5EF4-FFF2-40B4-BE49-F238E27FC236}">
                <a16:creationId xmlns:a16="http://schemas.microsoft.com/office/drawing/2014/main" id="{080BCC92-78B9-FD0E-6F0B-AC9E37EFE4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1325" y="46597"/>
            <a:ext cx="11307763" cy="629018"/>
          </a:xfrm>
          <a:prstGeom prst="rect">
            <a:avLst/>
          </a:prstGeom>
        </p:spPr>
        <p:txBody>
          <a:bodyPr vert="horz" wrap="square" lIns="0" tIns="1333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pc="-5" dirty="0"/>
              <a:t>Sequence-to-Sequence</a:t>
            </a:r>
            <a:r>
              <a:rPr lang="en-IN" spc="-40" dirty="0"/>
              <a:t> </a:t>
            </a:r>
            <a:r>
              <a:rPr lang="en-IN" spc="-5" dirty="0"/>
              <a:t>With</a:t>
            </a:r>
            <a:r>
              <a:rPr lang="en-IN" spc="15" dirty="0"/>
              <a:t> A</a:t>
            </a:r>
            <a:r>
              <a:rPr lang="en-IN" dirty="0"/>
              <a:t>ttention</a:t>
            </a:r>
            <a:endParaRPr dirty="0"/>
          </a:p>
        </p:txBody>
      </p:sp>
      <p:sp>
        <p:nvSpPr>
          <p:cNvPr id="60" name="object 22">
            <a:extLst>
              <a:ext uri="{FF2B5EF4-FFF2-40B4-BE49-F238E27FC236}">
                <a16:creationId xmlns:a16="http://schemas.microsoft.com/office/drawing/2014/main" id="{A47D1E9D-FD18-72E4-55B9-2537A25F8416}"/>
              </a:ext>
            </a:extLst>
          </p:cNvPr>
          <p:cNvSpPr txBox="1"/>
          <p:nvPr/>
        </p:nvSpPr>
        <p:spPr>
          <a:xfrm>
            <a:off x="10372554" y="3700406"/>
            <a:ext cx="467885" cy="128270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Decoder</a:t>
            </a:r>
            <a:r>
              <a:rPr kumimoji="0" sz="1800" b="0" i="0" u="none" strike="noStrike" kern="1200" cap="none" spc="-3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RNN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63" name="object 22">
            <a:extLst>
              <a:ext uri="{FF2B5EF4-FFF2-40B4-BE49-F238E27FC236}">
                <a16:creationId xmlns:a16="http://schemas.microsoft.com/office/drawing/2014/main" id="{123AC025-11EA-A49C-B599-FE40E4CD6187}"/>
              </a:ext>
            </a:extLst>
          </p:cNvPr>
          <p:cNvSpPr txBox="1"/>
          <p:nvPr/>
        </p:nvSpPr>
        <p:spPr>
          <a:xfrm>
            <a:off x="5389627" y="5341175"/>
            <a:ext cx="112966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>
                <a:tab pos="884555" algn="l"/>
              </a:tabLst>
              <a:defRPr/>
            </a:pPr>
            <a:r>
              <a:rPr kumimoji="0" sz="1600" b="0" i="1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&lt;</a:t>
            </a:r>
            <a:r>
              <a:rPr kumimoji="0" sz="1600" b="0" i="1" u="none" strike="noStrike" kern="120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</a:t>
            </a:r>
            <a:r>
              <a:rPr kumimoji="0" sz="1600" b="0" i="1" u="none" strike="noStrike" kern="1200" cap="none" spc="-1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</a:t>
            </a:r>
            <a:r>
              <a:rPr kumimoji="0" sz="16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</a:t>
            </a:r>
            <a:r>
              <a:rPr kumimoji="0" sz="1600" b="0" i="1" u="none" strike="noStrike" kern="120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R</a:t>
            </a:r>
            <a:r>
              <a:rPr kumimoji="0" sz="1600" b="0" i="1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</a:t>
            </a:r>
            <a:r>
              <a:rPr kumimoji="0" sz="16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&gt;</a:t>
            </a:r>
            <a:r>
              <a:rPr kumimoji="0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	</a:t>
            </a:r>
            <a:r>
              <a:rPr kumimoji="0" lang="en-US" sz="1600" b="0" i="1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we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64" name="object 48">
            <a:extLst>
              <a:ext uri="{FF2B5EF4-FFF2-40B4-BE49-F238E27FC236}">
                <a16:creationId xmlns:a16="http://schemas.microsoft.com/office/drawing/2014/main" id="{1B7B6130-F1DD-B59B-9679-4E9D478C717A}"/>
              </a:ext>
            </a:extLst>
          </p:cNvPr>
          <p:cNvSpPr txBox="1"/>
          <p:nvPr/>
        </p:nvSpPr>
        <p:spPr>
          <a:xfrm>
            <a:off x="6799542" y="5337517"/>
            <a:ext cx="36615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had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65" name="object 49">
            <a:extLst>
              <a:ext uri="{FF2B5EF4-FFF2-40B4-BE49-F238E27FC236}">
                <a16:creationId xmlns:a16="http://schemas.microsoft.com/office/drawing/2014/main" id="{FAB12900-1530-7B04-F3A9-C995EC2C93A3}"/>
              </a:ext>
            </a:extLst>
          </p:cNvPr>
          <p:cNvSpPr txBox="1"/>
          <p:nvPr/>
        </p:nvSpPr>
        <p:spPr>
          <a:xfrm>
            <a:off x="7449059" y="5332946"/>
            <a:ext cx="95440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>
                <a:tab pos="575945" algn="l"/>
              </a:tabLst>
              <a:defRPr/>
            </a:pPr>
            <a:r>
              <a:rPr kumimoji="0" lang="en-US" sz="1600" b="0" i="1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gone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1A199A1A-CF62-270A-A54C-2EEA9EC9FD24}"/>
              </a:ext>
            </a:extLst>
          </p:cNvPr>
          <p:cNvSpPr/>
          <p:nvPr/>
        </p:nvSpPr>
        <p:spPr>
          <a:xfrm>
            <a:off x="2442470" y="1527442"/>
            <a:ext cx="2308860" cy="85546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9CCFD08-3E18-09CE-709B-709F71CC4EF8}"/>
              </a:ext>
            </a:extLst>
          </p:cNvPr>
          <p:cNvSpPr/>
          <p:nvPr/>
        </p:nvSpPr>
        <p:spPr>
          <a:xfrm>
            <a:off x="3212938" y="1865896"/>
            <a:ext cx="126000" cy="511212"/>
          </a:xfrm>
          <a:prstGeom prst="rect">
            <a:avLst/>
          </a:prstGeom>
          <a:solidFill>
            <a:srgbClr val="BCD6FF"/>
          </a:solidFill>
          <a:ln w="19050">
            <a:solidFill>
              <a:srgbClr val="388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B6AABFE7-9EC0-C7F9-9D74-589D8EE73710}"/>
              </a:ext>
            </a:extLst>
          </p:cNvPr>
          <p:cNvSpPr/>
          <p:nvPr/>
        </p:nvSpPr>
        <p:spPr>
          <a:xfrm>
            <a:off x="2592250" y="2318992"/>
            <a:ext cx="126000" cy="59606"/>
          </a:xfrm>
          <a:prstGeom prst="rect">
            <a:avLst/>
          </a:prstGeom>
          <a:solidFill>
            <a:srgbClr val="BCD6FF"/>
          </a:solidFill>
          <a:ln w="19050">
            <a:solidFill>
              <a:srgbClr val="388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C9A4C8D0-209B-0CF8-8DB6-3471DE322F34}"/>
              </a:ext>
            </a:extLst>
          </p:cNvPr>
          <p:cNvSpPr/>
          <p:nvPr/>
        </p:nvSpPr>
        <p:spPr>
          <a:xfrm>
            <a:off x="3775415" y="2320894"/>
            <a:ext cx="126000" cy="59606"/>
          </a:xfrm>
          <a:prstGeom prst="rect">
            <a:avLst/>
          </a:prstGeom>
          <a:solidFill>
            <a:srgbClr val="BCD6FF"/>
          </a:solidFill>
          <a:ln w="19050">
            <a:solidFill>
              <a:srgbClr val="388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D8515109-1C43-775D-1140-CD7AB5521DD3}"/>
              </a:ext>
            </a:extLst>
          </p:cNvPr>
          <p:cNvSpPr/>
          <p:nvPr/>
        </p:nvSpPr>
        <p:spPr>
          <a:xfrm>
            <a:off x="4395910" y="2330773"/>
            <a:ext cx="126000" cy="59606"/>
          </a:xfrm>
          <a:prstGeom prst="rect">
            <a:avLst/>
          </a:prstGeom>
          <a:solidFill>
            <a:srgbClr val="BCD6FF"/>
          </a:solidFill>
          <a:ln w="19050">
            <a:solidFill>
              <a:srgbClr val="388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B951AA2F-E463-BA33-8E49-6A41FD85F2E2}"/>
              </a:ext>
            </a:extLst>
          </p:cNvPr>
          <p:cNvCxnSpPr>
            <a:cxnSpLocks/>
            <a:endCxn id="67" idx="0"/>
          </p:cNvCxnSpPr>
          <p:nvPr/>
        </p:nvCxnSpPr>
        <p:spPr>
          <a:xfrm flipV="1">
            <a:off x="2647386" y="1527442"/>
            <a:ext cx="949514" cy="77865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1D567572-E1D5-02FE-0D3F-1021AD8D3BB8}"/>
              </a:ext>
            </a:extLst>
          </p:cNvPr>
          <p:cNvCxnSpPr>
            <a:cxnSpLocks/>
            <a:stCxn id="68" idx="0"/>
            <a:endCxn id="67" idx="0"/>
          </p:cNvCxnSpPr>
          <p:nvPr/>
        </p:nvCxnSpPr>
        <p:spPr>
          <a:xfrm flipV="1">
            <a:off x="3275938" y="1527442"/>
            <a:ext cx="320962" cy="338454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316FC263-640E-AD76-D108-E0346A266611}"/>
              </a:ext>
            </a:extLst>
          </p:cNvPr>
          <p:cNvCxnSpPr>
            <a:cxnSpLocks/>
          </p:cNvCxnSpPr>
          <p:nvPr/>
        </p:nvCxnSpPr>
        <p:spPr>
          <a:xfrm flipH="1" flipV="1">
            <a:off x="3658511" y="1525032"/>
            <a:ext cx="165205" cy="76316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E90BF82D-5C03-7ED4-95E4-594F5D870623}"/>
              </a:ext>
            </a:extLst>
          </p:cNvPr>
          <p:cNvCxnSpPr>
            <a:cxnSpLocks/>
          </p:cNvCxnSpPr>
          <p:nvPr/>
        </p:nvCxnSpPr>
        <p:spPr>
          <a:xfrm flipH="1" flipV="1">
            <a:off x="3740086" y="1525032"/>
            <a:ext cx="655824" cy="79396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object 13">
            <a:extLst>
              <a:ext uri="{FF2B5EF4-FFF2-40B4-BE49-F238E27FC236}">
                <a16:creationId xmlns:a16="http://schemas.microsoft.com/office/drawing/2014/main" id="{EB4F6BEE-6D1A-14C0-FACA-19C8646DB45D}"/>
              </a:ext>
            </a:extLst>
          </p:cNvPr>
          <p:cNvSpPr txBox="1"/>
          <p:nvPr/>
        </p:nvSpPr>
        <p:spPr>
          <a:xfrm>
            <a:off x="2433333" y="5954560"/>
            <a:ext cx="2230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Source sentence</a:t>
            </a:r>
            <a:r>
              <a:rPr kumimoji="0" sz="1800" b="0" i="0" u="none" strike="noStrike" kern="120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(input)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126" name="object 14">
            <a:extLst>
              <a:ext uri="{FF2B5EF4-FFF2-40B4-BE49-F238E27FC236}">
                <a16:creationId xmlns:a16="http://schemas.microsoft.com/office/drawing/2014/main" id="{FCC91E49-9669-D65A-3FC3-9FE1754C243F}"/>
              </a:ext>
            </a:extLst>
          </p:cNvPr>
          <p:cNvSpPr/>
          <p:nvPr/>
        </p:nvSpPr>
        <p:spPr>
          <a:xfrm>
            <a:off x="2357710" y="5780012"/>
            <a:ext cx="2343455" cy="197550"/>
          </a:xfrm>
          <a:custGeom>
            <a:avLst/>
            <a:gdLst/>
            <a:ahLst/>
            <a:cxnLst/>
            <a:rect l="l" t="t" r="r" b="b"/>
            <a:pathLst>
              <a:path w="2435860" h="271779">
                <a:moveTo>
                  <a:pt x="2435352" y="0"/>
                </a:moveTo>
                <a:lnTo>
                  <a:pt x="2427013" y="52804"/>
                </a:lnTo>
                <a:lnTo>
                  <a:pt x="2404268" y="95916"/>
                </a:lnTo>
                <a:lnTo>
                  <a:pt x="2370522" y="124979"/>
                </a:lnTo>
                <a:lnTo>
                  <a:pt x="2329180" y="135636"/>
                </a:lnTo>
                <a:lnTo>
                  <a:pt x="1323848" y="135636"/>
                </a:lnTo>
                <a:lnTo>
                  <a:pt x="1282505" y="146292"/>
                </a:lnTo>
                <a:lnTo>
                  <a:pt x="1248759" y="175355"/>
                </a:lnTo>
                <a:lnTo>
                  <a:pt x="1226014" y="218467"/>
                </a:lnTo>
                <a:lnTo>
                  <a:pt x="1217676" y="271272"/>
                </a:lnTo>
                <a:lnTo>
                  <a:pt x="1209337" y="218467"/>
                </a:lnTo>
                <a:lnTo>
                  <a:pt x="1186592" y="175355"/>
                </a:lnTo>
                <a:lnTo>
                  <a:pt x="1152846" y="146292"/>
                </a:lnTo>
                <a:lnTo>
                  <a:pt x="1111504" y="135636"/>
                </a:lnTo>
                <a:lnTo>
                  <a:pt x="106146" y="135636"/>
                </a:lnTo>
                <a:lnTo>
                  <a:pt x="64829" y="124979"/>
                </a:lnTo>
                <a:lnTo>
                  <a:pt x="31089" y="95916"/>
                </a:lnTo>
                <a:lnTo>
                  <a:pt x="8341" y="52804"/>
                </a:lnTo>
                <a:lnTo>
                  <a:pt x="0" y="0"/>
                </a:lnTo>
              </a:path>
            </a:pathLst>
          </a:custGeom>
          <a:ln w="198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27" name="object 21">
            <a:extLst>
              <a:ext uri="{FF2B5EF4-FFF2-40B4-BE49-F238E27FC236}">
                <a16:creationId xmlns:a16="http://schemas.microsoft.com/office/drawing/2014/main" id="{BC78655E-8178-76AA-BCE0-85670A428C9A}"/>
              </a:ext>
            </a:extLst>
          </p:cNvPr>
          <p:cNvSpPr txBox="1"/>
          <p:nvPr/>
        </p:nvSpPr>
        <p:spPr>
          <a:xfrm>
            <a:off x="2426336" y="5313638"/>
            <a:ext cx="40980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i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हम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128" name="object 22">
            <a:extLst>
              <a:ext uri="{FF2B5EF4-FFF2-40B4-BE49-F238E27FC236}">
                <a16:creationId xmlns:a16="http://schemas.microsoft.com/office/drawing/2014/main" id="{377A48D0-3E8A-0ABE-546F-1720C04C7FEB}"/>
              </a:ext>
            </a:extLst>
          </p:cNvPr>
          <p:cNvSpPr txBox="1"/>
          <p:nvPr/>
        </p:nvSpPr>
        <p:spPr>
          <a:xfrm>
            <a:off x="3002623" y="5313638"/>
            <a:ext cx="53340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i-IN" sz="16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बाजार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129" name="object 21">
            <a:extLst>
              <a:ext uri="{FF2B5EF4-FFF2-40B4-BE49-F238E27FC236}">
                <a16:creationId xmlns:a16="http://schemas.microsoft.com/office/drawing/2014/main" id="{440DDC23-790A-9B52-1781-2D24688C57D4}"/>
              </a:ext>
            </a:extLst>
          </p:cNvPr>
          <p:cNvSpPr txBox="1"/>
          <p:nvPr/>
        </p:nvSpPr>
        <p:spPr>
          <a:xfrm>
            <a:off x="3658511" y="5317123"/>
            <a:ext cx="40980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i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गये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130" name="object 21">
            <a:extLst>
              <a:ext uri="{FF2B5EF4-FFF2-40B4-BE49-F238E27FC236}">
                <a16:creationId xmlns:a16="http://schemas.microsoft.com/office/drawing/2014/main" id="{36D081C2-ED7D-D3C0-14E8-E77215E66880}"/>
              </a:ext>
            </a:extLst>
          </p:cNvPr>
          <p:cNvSpPr txBox="1"/>
          <p:nvPr/>
        </p:nvSpPr>
        <p:spPr>
          <a:xfrm>
            <a:off x="4268105" y="5310901"/>
            <a:ext cx="40980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i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थे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F48CA110-F584-6C64-FEF6-537DB04DEA5F}"/>
              </a:ext>
            </a:extLst>
          </p:cNvPr>
          <p:cNvSpPr txBox="1"/>
          <p:nvPr/>
        </p:nvSpPr>
        <p:spPr>
          <a:xfrm>
            <a:off x="2412364" y="5540067"/>
            <a:ext cx="2321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ham      baajaar     gaye         the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502662" y="722131"/>
            <a:ext cx="5696585" cy="4597400"/>
            <a:chOff x="978661" y="1095755"/>
            <a:chExt cx="5696585" cy="45974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6799" y="4367784"/>
              <a:ext cx="126492" cy="13258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6799" y="4536947"/>
              <a:ext cx="126492" cy="13258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6799" y="4706111"/>
              <a:ext cx="126492" cy="13258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6799" y="4875276"/>
              <a:ext cx="126492" cy="13106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992885" y="4303013"/>
              <a:ext cx="266700" cy="780415"/>
            </a:xfrm>
            <a:custGeom>
              <a:avLst/>
              <a:gdLst/>
              <a:ahLst/>
              <a:cxnLst/>
              <a:rect l="l" t="t" r="r" b="b"/>
              <a:pathLst>
                <a:path w="266700" h="780414">
                  <a:moveTo>
                    <a:pt x="222250" y="0"/>
                  </a:moveTo>
                  <a:lnTo>
                    <a:pt x="239551" y="3498"/>
                  </a:lnTo>
                  <a:lnTo>
                    <a:pt x="253680" y="13033"/>
                  </a:lnTo>
                  <a:lnTo>
                    <a:pt x="263206" y="27164"/>
                  </a:lnTo>
                  <a:lnTo>
                    <a:pt x="266700" y="44450"/>
                  </a:lnTo>
                  <a:lnTo>
                    <a:pt x="266700" y="735838"/>
                  </a:lnTo>
                  <a:lnTo>
                    <a:pt x="263206" y="753123"/>
                  </a:lnTo>
                  <a:lnTo>
                    <a:pt x="253680" y="767254"/>
                  </a:lnTo>
                  <a:lnTo>
                    <a:pt x="239551" y="776789"/>
                  </a:lnTo>
                  <a:lnTo>
                    <a:pt x="222250" y="780288"/>
                  </a:lnTo>
                  <a:lnTo>
                    <a:pt x="44450" y="780288"/>
                  </a:lnTo>
                  <a:lnTo>
                    <a:pt x="27148" y="776789"/>
                  </a:lnTo>
                  <a:lnTo>
                    <a:pt x="13019" y="767254"/>
                  </a:lnTo>
                  <a:lnTo>
                    <a:pt x="3493" y="753123"/>
                  </a:lnTo>
                  <a:lnTo>
                    <a:pt x="0" y="735838"/>
                  </a:lnTo>
                  <a:lnTo>
                    <a:pt x="0" y="44450"/>
                  </a:lnTo>
                  <a:lnTo>
                    <a:pt x="3493" y="27164"/>
                  </a:lnTo>
                  <a:lnTo>
                    <a:pt x="13019" y="13033"/>
                  </a:lnTo>
                  <a:lnTo>
                    <a:pt x="27148" y="3498"/>
                  </a:lnTo>
                  <a:lnTo>
                    <a:pt x="44450" y="0"/>
                  </a:lnTo>
                  <a:lnTo>
                    <a:pt x="22225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71232" y="4637404"/>
              <a:ext cx="533400" cy="1056005"/>
            </a:xfrm>
            <a:custGeom>
              <a:avLst/>
              <a:gdLst/>
              <a:ahLst/>
              <a:cxnLst/>
              <a:rect l="l" t="t" r="r" b="b"/>
              <a:pathLst>
                <a:path w="533400" h="1056004">
                  <a:moveTo>
                    <a:pt x="111531" y="541401"/>
                  </a:moveTo>
                  <a:lnTo>
                    <a:pt x="67183" y="465455"/>
                  </a:lnTo>
                  <a:lnTo>
                    <a:pt x="55765" y="445897"/>
                  </a:lnTo>
                  <a:lnTo>
                    <a:pt x="0" y="541401"/>
                  </a:lnTo>
                  <a:lnTo>
                    <a:pt x="1600" y="547497"/>
                  </a:lnTo>
                  <a:lnTo>
                    <a:pt x="11049" y="553085"/>
                  </a:lnTo>
                  <a:lnTo>
                    <a:pt x="17119" y="551434"/>
                  </a:lnTo>
                  <a:lnTo>
                    <a:pt x="45859" y="502183"/>
                  </a:lnTo>
                  <a:lnTo>
                    <a:pt x="45859" y="1055497"/>
                  </a:lnTo>
                  <a:lnTo>
                    <a:pt x="65671" y="1055497"/>
                  </a:lnTo>
                  <a:lnTo>
                    <a:pt x="65671" y="502183"/>
                  </a:lnTo>
                  <a:lnTo>
                    <a:pt x="94411" y="551434"/>
                  </a:lnTo>
                  <a:lnTo>
                    <a:pt x="100482" y="553085"/>
                  </a:lnTo>
                  <a:lnTo>
                    <a:pt x="109931" y="547497"/>
                  </a:lnTo>
                  <a:lnTo>
                    <a:pt x="111531" y="541401"/>
                  </a:lnTo>
                  <a:close/>
                </a:path>
                <a:path w="533400" h="1056004">
                  <a:moveTo>
                    <a:pt x="533019" y="55765"/>
                  </a:moveTo>
                  <a:lnTo>
                    <a:pt x="516039" y="45847"/>
                  </a:lnTo>
                  <a:lnTo>
                    <a:pt x="442226" y="2794"/>
                  </a:lnTo>
                  <a:lnTo>
                    <a:pt x="437527" y="0"/>
                  </a:lnTo>
                  <a:lnTo>
                    <a:pt x="431431" y="1524"/>
                  </a:lnTo>
                  <a:lnTo>
                    <a:pt x="428637" y="6350"/>
                  </a:lnTo>
                  <a:lnTo>
                    <a:pt x="425970" y="11049"/>
                  </a:lnTo>
                  <a:lnTo>
                    <a:pt x="427494" y="17145"/>
                  </a:lnTo>
                  <a:lnTo>
                    <a:pt x="432193" y="19812"/>
                  </a:lnTo>
                  <a:lnTo>
                    <a:pt x="476796" y="45847"/>
                  </a:lnTo>
                  <a:lnTo>
                    <a:pt x="188353" y="45847"/>
                  </a:lnTo>
                  <a:lnTo>
                    <a:pt x="188353" y="65659"/>
                  </a:lnTo>
                  <a:lnTo>
                    <a:pt x="476821" y="65659"/>
                  </a:lnTo>
                  <a:lnTo>
                    <a:pt x="493801" y="55765"/>
                  </a:lnTo>
                  <a:lnTo>
                    <a:pt x="432193" y="91694"/>
                  </a:lnTo>
                  <a:lnTo>
                    <a:pt x="427494" y="94361"/>
                  </a:lnTo>
                  <a:lnTo>
                    <a:pt x="425970" y="100457"/>
                  </a:lnTo>
                  <a:lnTo>
                    <a:pt x="428637" y="105156"/>
                  </a:lnTo>
                  <a:lnTo>
                    <a:pt x="431431" y="109982"/>
                  </a:lnTo>
                  <a:lnTo>
                    <a:pt x="437527" y="111506"/>
                  </a:lnTo>
                  <a:lnTo>
                    <a:pt x="442226" y="108712"/>
                  </a:lnTo>
                  <a:lnTo>
                    <a:pt x="516039" y="65659"/>
                  </a:lnTo>
                  <a:lnTo>
                    <a:pt x="533019" y="55765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91055" y="3511295"/>
              <a:ext cx="3131311" cy="217551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077252" y="3627882"/>
              <a:ext cx="111760" cy="675005"/>
            </a:xfrm>
            <a:custGeom>
              <a:avLst/>
              <a:gdLst/>
              <a:ahLst/>
              <a:cxnLst/>
              <a:rect l="l" t="t" r="r" b="b"/>
              <a:pathLst>
                <a:path w="111759" h="675004">
                  <a:moveTo>
                    <a:pt x="56337" y="39259"/>
                  </a:moveTo>
                  <a:lnTo>
                    <a:pt x="46267" y="56136"/>
                  </a:lnTo>
                  <a:lnTo>
                    <a:pt x="39839" y="674751"/>
                  </a:lnTo>
                  <a:lnTo>
                    <a:pt x="59651" y="675005"/>
                  </a:lnTo>
                  <a:lnTo>
                    <a:pt x="66078" y="56372"/>
                  </a:lnTo>
                  <a:lnTo>
                    <a:pt x="56337" y="39259"/>
                  </a:lnTo>
                  <a:close/>
                </a:path>
                <a:path w="111759" h="675004">
                  <a:moveTo>
                    <a:pt x="67906" y="19558"/>
                  </a:moveTo>
                  <a:lnTo>
                    <a:pt x="46647" y="19558"/>
                  </a:lnTo>
                  <a:lnTo>
                    <a:pt x="66459" y="19685"/>
                  </a:lnTo>
                  <a:lnTo>
                    <a:pt x="66078" y="56372"/>
                  </a:lnTo>
                  <a:lnTo>
                    <a:pt x="91605" y="101219"/>
                  </a:lnTo>
                  <a:lnTo>
                    <a:pt x="94310" y="105918"/>
                  </a:lnTo>
                  <a:lnTo>
                    <a:pt x="100355" y="107569"/>
                  </a:lnTo>
                  <a:lnTo>
                    <a:pt x="105117" y="104902"/>
                  </a:lnTo>
                  <a:lnTo>
                    <a:pt x="109867" y="102108"/>
                  </a:lnTo>
                  <a:lnTo>
                    <a:pt x="111531" y="96139"/>
                  </a:lnTo>
                  <a:lnTo>
                    <a:pt x="108813" y="91313"/>
                  </a:lnTo>
                  <a:lnTo>
                    <a:pt x="67906" y="19558"/>
                  </a:lnTo>
                  <a:close/>
                </a:path>
                <a:path w="111759" h="675004">
                  <a:moveTo>
                    <a:pt x="56756" y="0"/>
                  </a:moveTo>
                  <a:lnTo>
                    <a:pt x="0" y="94996"/>
                  </a:lnTo>
                  <a:lnTo>
                    <a:pt x="1536" y="101092"/>
                  </a:lnTo>
                  <a:lnTo>
                    <a:pt x="10934" y="106680"/>
                  </a:lnTo>
                  <a:lnTo>
                    <a:pt x="17018" y="105156"/>
                  </a:lnTo>
                  <a:lnTo>
                    <a:pt x="46267" y="56136"/>
                  </a:lnTo>
                  <a:lnTo>
                    <a:pt x="46647" y="19558"/>
                  </a:lnTo>
                  <a:lnTo>
                    <a:pt x="67906" y="19558"/>
                  </a:lnTo>
                  <a:lnTo>
                    <a:pt x="56756" y="0"/>
                  </a:lnTo>
                  <a:close/>
                </a:path>
                <a:path w="111759" h="675004">
                  <a:moveTo>
                    <a:pt x="66408" y="24511"/>
                  </a:moveTo>
                  <a:lnTo>
                    <a:pt x="47942" y="24511"/>
                  </a:lnTo>
                  <a:lnTo>
                    <a:pt x="65062" y="24638"/>
                  </a:lnTo>
                  <a:lnTo>
                    <a:pt x="56337" y="39259"/>
                  </a:lnTo>
                  <a:lnTo>
                    <a:pt x="66078" y="56372"/>
                  </a:lnTo>
                  <a:lnTo>
                    <a:pt x="66408" y="24511"/>
                  </a:lnTo>
                  <a:close/>
                </a:path>
                <a:path w="111759" h="675004">
                  <a:moveTo>
                    <a:pt x="46647" y="19558"/>
                  </a:moveTo>
                  <a:lnTo>
                    <a:pt x="46267" y="56136"/>
                  </a:lnTo>
                  <a:lnTo>
                    <a:pt x="56337" y="39259"/>
                  </a:lnTo>
                  <a:lnTo>
                    <a:pt x="47942" y="24511"/>
                  </a:lnTo>
                  <a:lnTo>
                    <a:pt x="66408" y="24511"/>
                  </a:lnTo>
                  <a:lnTo>
                    <a:pt x="66459" y="19685"/>
                  </a:lnTo>
                  <a:lnTo>
                    <a:pt x="46647" y="19558"/>
                  </a:lnTo>
                  <a:close/>
                </a:path>
                <a:path w="111759" h="675004">
                  <a:moveTo>
                    <a:pt x="47942" y="24511"/>
                  </a:moveTo>
                  <a:lnTo>
                    <a:pt x="56337" y="39259"/>
                  </a:lnTo>
                  <a:lnTo>
                    <a:pt x="65062" y="24638"/>
                  </a:lnTo>
                  <a:lnTo>
                    <a:pt x="47942" y="24511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66799" y="3511295"/>
              <a:ext cx="132587" cy="12649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172667" y="3535171"/>
              <a:ext cx="5502910" cy="760730"/>
            </a:xfrm>
            <a:custGeom>
              <a:avLst/>
              <a:gdLst/>
              <a:ahLst/>
              <a:cxnLst/>
              <a:rect l="l" t="t" r="r" b="b"/>
              <a:pathLst>
                <a:path w="5502909" h="760729">
                  <a:moveTo>
                    <a:pt x="5502326" y="740664"/>
                  </a:moveTo>
                  <a:lnTo>
                    <a:pt x="1887448" y="40386"/>
                  </a:lnTo>
                  <a:lnTo>
                    <a:pt x="1907413" y="33401"/>
                  </a:lnTo>
                  <a:lnTo>
                    <a:pt x="1936165" y="23368"/>
                  </a:lnTo>
                  <a:lnTo>
                    <a:pt x="1941372" y="21463"/>
                  </a:lnTo>
                  <a:lnTo>
                    <a:pt x="1944039" y="15875"/>
                  </a:lnTo>
                  <a:lnTo>
                    <a:pt x="1940483" y="5473"/>
                  </a:lnTo>
                  <a:lnTo>
                    <a:pt x="1934768" y="2794"/>
                  </a:lnTo>
                  <a:lnTo>
                    <a:pt x="1830374" y="39370"/>
                  </a:lnTo>
                  <a:lnTo>
                    <a:pt x="1913559" y="112268"/>
                  </a:lnTo>
                  <a:lnTo>
                    <a:pt x="1919782" y="111887"/>
                  </a:lnTo>
                  <a:lnTo>
                    <a:pt x="1923465" y="107823"/>
                  </a:lnTo>
                  <a:lnTo>
                    <a:pt x="1927021" y="103632"/>
                  </a:lnTo>
                  <a:lnTo>
                    <a:pt x="1926640" y="97409"/>
                  </a:lnTo>
                  <a:lnTo>
                    <a:pt x="1883702" y="59829"/>
                  </a:lnTo>
                  <a:lnTo>
                    <a:pt x="4771250" y="619201"/>
                  </a:lnTo>
                  <a:lnTo>
                    <a:pt x="1282446" y="38785"/>
                  </a:lnTo>
                  <a:lnTo>
                    <a:pt x="1298257" y="32766"/>
                  </a:lnTo>
                  <a:lnTo>
                    <a:pt x="1330629" y="20459"/>
                  </a:lnTo>
                  <a:lnTo>
                    <a:pt x="1335836" y="18542"/>
                  </a:lnTo>
                  <a:lnTo>
                    <a:pt x="1338376" y="12827"/>
                  </a:lnTo>
                  <a:lnTo>
                    <a:pt x="1336471" y="7759"/>
                  </a:lnTo>
                  <a:lnTo>
                    <a:pt x="1334439" y="2667"/>
                  </a:lnTo>
                  <a:lnTo>
                    <a:pt x="1328724" y="0"/>
                  </a:lnTo>
                  <a:lnTo>
                    <a:pt x="1323644" y="2032"/>
                  </a:lnTo>
                  <a:lnTo>
                    <a:pt x="1225346" y="39370"/>
                  </a:lnTo>
                  <a:lnTo>
                    <a:pt x="1306245" y="106553"/>
                  </a:lnTo>
                  <a:lnTo>
                    <a:pt x="1310436" y="110109"/>
                  </a:lnTo>
                  <a:lnTo>
                    <a:pt x="1316659" y="109474"/>
                  </a:lnTo>
                  <a:lnTo>
                    <a:pt x="1320215" y="105283"/>
                  </a:lnTo>
                  <a:lnTo>
                    <a:pt x="1323644" y="101092"/>
                  </a:lnTo>
                  <a:lnTo>
                    <a:pt x="1323136" y="94869"/>
                  </a:lnTo>
                  <a:lnTo>
                    <a:pt x="1318945" y="91313"/>
                  </a:lnTo>
                  <a:lnTo>
                    <a:pt x="1279194" y="58331"/>
                  </a:lnTo>
                  <a:lnTo>
                    <a:pt x="4819586" y="647344"/>
                  </a:lnTo>
                  <a:lnTo>
                    <a:pt x="662025" y="75374"/>
                  </a:lnTo>
                  <a:lnTo>
                    <a:pt x="674154" y="70358"/>
                  </a:lnTo>
                  <a:lnTo>
                    <a:pt x="709853" y="55626"/>
                  </a:lnTo>
                  <a:lnTo>
                    <a:pt x="714933" y="53594"/>
                  </a:lnTo>
                  <a:lnTo>
                    <a:pt x="717346" y="47752"/>
                  </a:lnTo>
                  <a:lnTo>
                    <a:pt x="715187" y="42684"/>
                  </a:lnTo>
                  <a:lnTo>
                    <a:pt x="713155" y="37719"/>
                  </a:lnTo>
                  <a:lnTo>
                    <a:pt x="707313" y="35306"/>
                  </a:lnTo>
                  <a:lnTo>
                    <a:pt x="702233" y="37338"/>
                  </a:lnTo>
                  <a:lnTo>
                    <a:pt x="605078" y="77470"/>
                  </a:lnTo>
                  <a:lnTo>
                    <a:pt x="687882" y="142367"/>
                  </a:lnTo>
                  <a:lnTo>
                    <a:pt x="692073" y="145796"/>
                  </a:lnTo>
                  <a:lnTo>
                    <a:pt x="698423" y="145034"/>
                  </a:lnTo>
                  <a:lnTo>
                    <a:pt x="701725" y="140716"/>
                  </a:lnTo>
                  <a:lnTo>
                    <a:pt x="705154" y="136398"/>
                  </a:lnTo>
                  <a:lnTo>
                    <a:pt x="704392" y="130175"/>
                  </a:lnTo>
                  <a:lnTo>
                    <a:pt x="700074" y="126746"/>
                  </a:lnTo>
                  <a:lnTo>
                    <a:pt x="659396" y="94932"/>
                  </a:lnTo>
                  <a:lnTo>
                    <a:pt x="4182122" y="579564"/>
                  </a:lnTo>
                  <a:lnTo>
                    <a:pt x="57061" y="74460"/>
                  </a:lnTo>
                  <a:lnTo>
                    <a:pt x="67475" y="69977"/>
                  </a:lnTo>
                  <a:lnTo>
                    <a:pt x="109524" y="51943"/>
                  </a:lnTo>
                  <a:lnTo>
                    <a:pt x="111810" y="46101"/>
                  </a:lnTo>
                  <a:lnTo>
                    <a:pt x="109651" y="41021"/>
                  </a:lnTo>
                  <a:lnTo>
                    <a:pt x="107492" y="36068"/>
                  </a:lnTo>
                  <a:lnTo>
                    <a:pt x="101650" y="33782"/>
                  </a:lnTo>
                  <a:lnTo>
                    <a:pt x="0" y="77470"/>
                  </a:lnTo>
                  <a:lnTo>
                    <a:pt x="88112" y="144399"/>
                  </a:lnTo>
                  <a:lnTo>
                    <a:pt x="94322" y="143637"/>
                  </a:lnTo>
                  <a:lnTo>
                    <a:pt x="97586" y="139192"/>
                  </a:lnTo>
                  <a:lnTo>
                    <a:pt x="100888" y="134874"/>
                  </a:lnTo>
                  <a:lnTo>
                    <a:pt x="100126" y="128651"/>
                  </a:lnTo>
                  <a:lnTo>
                    <a:pt x="54635" y="94132"/>
                  </a:lnTo>
                  <a:lnTo>
                    <a:pt x="5498516" y="760730"/>
                  </a:lnTo>
                  <a:lnTo>
                    <a:pt x="5499024" y="760730"/>
                  </a:lnTo>
                  <a:lnTo>
                    <a:pt x="5500306" y="751306"/>
                  </a:lnTo>
                  <a:lnTo>
                    <a:pt x="5502326" y="740664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983741" y="2758820"/>
              <a:ext cx="2308860" cy="5080"/>
            </a:xfrm>
            <a:custGeom>
              <a:avLst/>
              <a:gdLst/>
              <a:ahLst/>
              <a:cxnLst/>
              <a:rect l="l" t="t" r="r" b="b"/>
              <a:pathLst>
                <a:path w="2308860" h="5080">
                  <a:moveTo>
                    <a:pt x="0" y="0"/>
                  </a:moveTo>
                  <a:lnTo>
                    <a:pt x="2308479" y="0"/>
                  </a:lnTo>
                </a:path>
                <a:path w="2308860" h="5080">
                  <a:moveTo>
                    <a:pt x="0" y="4952"/>
                  </a:moveTo>
                  <a:lnTo>
                    <a:pt x="2308479" y="4952"/>
                  </a:lnTo>
                </a:path>
              </a:pathLst>
            </a:custGeom>
            <a:ln w="3175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983741" y="2773298"/>
              <a:ext cx="2308860" cy="0"/>
            </a:xfrm>
            <a:custGeom>
              <a:avLst/>
              <a:gdLst/>
              <a:ahLst/>
              <a:cxnLst/>
              <a:rect l="l" t="t" r="r" b="b"/>
              <a:pathLst>
                <a:path w="2308860">
                  <a:moveTo>
                    <a:pt x="0" y="0"/>
                  </a:moveTo>
                  <a:lnTo>
                    <a:pt x="2308479" y="0"/>
                  </a:lnTo>
                </a:path>
              </a:pathLst>
            </a:custGeom>
            <a:ln w="9905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57655" y="1095755"/>
              <a:ext cx="1955292" cy="2425572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571194" y="3918743"/>
            <a:ext cx="507831" cy="78613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Encoder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RNN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141981" y="3929391"/>
            <a:ext cx="187960" cy="780415"/>
          </a:xfrm>
          <a:custGeom>
            <a:avLst/>
            <a:gdLst/>
            <a:ahLst/>
            <a:cxnLst/>
            <a:rect l="l" t="t" r="r" b="b"/>
            <a:pathLst>
              <a:path w="187959" h="780414">
                <a:moveTo>
                  <a:pt x="187452" y="780288"/>
                </a:moveTo>
                <a:lnTo>
                  <a:pt x="150968" y="774515"/>
                </a:lnTo>
                <a:lnTo>
                  <a:pt x="121177" y="758777"/>
                </a:lnTo>
                <a:lnTo>
                  <a:pt x="101091" y="735443"/>
                </a:lnTo>
                <a:lnTo>
                  <a:pt x="93726" y="706882"/>
                </a:lnTo>
                <a:lnTo>
                  <a:pt x="93726" y="463550"/>
                </a:lnTo>
                <a:lnTo>
                  <a:pt x="86360" y="434988"/>
                </a:lnTo>
                <a:lnTo>
                  <a:pt x="66274" y="411654"/>
                </a:lnTo>
                <a:lnTo>
                  <a:pt x="36483" y="395916"/>
                </a:lnTo>
                <a:lnTo>
                  <a:pt x="0" y="390144"/>
                </a:lnTo>
                <a:lnTo>
                  <a:pt x="36483" y="384371"/>
                </a:lnTo>
                <a:lnTo>
                  <a:pt x="66274" y="368633"/>
                </a:lnTo>
                <a:lnTo>
                  <a:pt x="86360" y="345299"/>
                </a:lnTo>
                <a:lnTo>
                  <a:pt x="93726" y="316738"/>
                </a:lnTo>
                <a:lnTo>
                  <a:pt x="93726" y="73406"/>
                </a:lnTo>
                <a:lnTo>
                  <a:pt x="101091" y="44844"/>
                </a:lnTo>
                <a:lnTo>
                  <a:pt x="121177" y="21510"/>
                </a:lnTo>
                <a:lnTo>
                  <a:pt x="150968" y="5772"/>
                </a:lnTo>
                <a:lnTo>
                  <a:pt x="187452" y="0"/>
                </a:lnTo>
              </a:path>
            </a:pathLst>
          </a:custGeom>
          <a:ln w="1981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571194" y="2794073"/>
            <a:ext cx="507831" cy="899794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Attention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scores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137409" y="2902214"/>
            <a:ext cx="189230" cy="624840"/>
          </a:xfrm>
          <a:custGeom>
            <a:avLst/>
            <a:gdLst/>
            <a:ahLst/>
            <a:cxnLst/>
            <a:rect l="l" t="t" r="r" b="b"/>
            <a:pathLst>
              <a:path w="189229" h="624839">
                <a:moveTo>
                  <a:pt x="188976" y="624839"/>
                </a:moveTo>
                <a:lnTo>
                  <a:pt x="152196" y="619023"/>
                </a:lnTo>
                <a:lnTo>
                  <a:pt x="122162" y="603170"/>
                </a:lnTo>
                <a:lnTo>
                  <a:pt x="101913" y="579673"/>
                </a:lnTo>
                <a:lnTo>
                  <a:pt x="94488" y="550926"/>
                </a:lnTo>
                <a:lnTo>
                  <a:pt x="94488" y="386334"/>
                </a:lnTo>
                <a:lnTo>
                  <a:pt x="87062" y="357586"/>
                </a:lnTo>
                <a:lnTo>
                  <a:pt x="66813" y="334089"/>
                </a:lnTo>
                <a:lnTo>
                  <a:pt x="36779" y="318236"/>
                </a:lnTo>
                <a:lnTo>
                  <a:pt x="0" y="312420"/>
                </a:lnTo>
                <a:lnTo>
                  <a:pt x="36779" y="306603"/>
                </a:lnTo>
                <a:lnTo>
                  <a:pt x="66813" y="290750"/>
                </a:lnTo>
                <a:lnTo>
                  <a:pt x="87062" y="267253"/>
                </a:lnTo>
                <a:lnTo>
                  <a:pt x="94488" y="238506"/>
                </a:lnTo>
                <a:lnTo>
                  <a:pt x="94488" y="73913"/>
                </a:lnTo>
                <a:lnTo>
                  <a:pt x="101913" y="45166"/>
                </a:lnTo>
                <a:lnTo>
                  <a:pt x="122162" y="21669"/>
                </a:lnTo>
                <a:lnTo>
                  <a:pt x="152196" y="5816"/>
                </a:lnTo>
                <a:lnTo>
                  <a:pt x="188976" y="0"/>
                </a:lnTo>
              </a:path>
            </a:pathLst>
          </a:custGeom>
          <a:ln w="19812">
            <a:solidFill>
              <a:srgbClr val="3986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571194" y="1532231"/>
            <a:ext cx="507831" cy="110109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13030" marR="0" lvl="0" indent="0" algn="l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Attention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distribution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149601" y="1769881"/>
            <a:ext cx="189230" cy="624840"/>
          </a:xfrm>
          <a:custGeom>
            <a:avLst/>
            <a:gdLst/>
            <a:ahLst/>
            <a:cxnLst/>
            <a:rect l="l" t="t" r="r" b="b"/>
            <a:pathLst>
              <a:path w="189230" h="624839">
                <a:moveTo>
                  <a:pt x="188976" y="624840"/>
                </a:moveTo>
                <a:lnTo>
                  <a:pt x="152196" y="619023"/>
                </a:lnTo>
                <a:lnTo>
                  <a:pt x="122162" y="603170"/>
                </a:lnTo>
                <a:lnTo>
                  <a:pt x="101913" y="579673"/>
                </a:lnTo>
                <a:lnTo>
                  <a:pt x="94488" y="550926"/>
                </a:lnTo>
                <a:lnTo>
                  <a:pt x="94488" y="386334"/>
                </a:lnTo>
                <a:lnTo>
                  <a:pt x="87062" y="357586"/>
                </a:lnTo>
                <a:lnTo>
                  <a:pt x="66813" y="334089"/>
                </a:lnTo>
                <a:lnTo>
                  <a:pt x="36779" y="318236"/>
                </a:lnTo>
                <a:lnTo>
                  <a:pt x="0" y="312420"/>
                </a:lnTo>
                <a:lnTo>
                  <a:pt x="36779" y="306603"/>
                </a:lnTo>
                <a:lnTo>
                  <a:pt x="66813" y="290750"/>
                </a:lnTo>
                <a:lnTo>
                  <a:pt x="87062" y="267253"/>
                </a:lnTo>
                <a:lnTo>
                  <a:pt x="94488" y="238506"/>
                </a:lnTo>
                <a:lnTo>
                  <a:pt x="94488" y="73914"/>
                </a:lnTo>
                <a:lnTo>
                  <a:pt x="101913" y="45166"/>
                </a:lnTo>
                <a:lnTo>
                  <a:pt x="122162" y="21669"/>
                </a:lnTo>
                <a:lnTo>
                  <a:pt x="152196" y="5816"/>
                </a:lnTo>
                <a:lnTo>
                  <a:pt x="188976" y="0"/>
                </a:lnTo>
              </a:path>
            </a:pathLst>
          </a:custGeom>
          <a:ln w="19812">
            <a:solidFill>
              <a:srgbClr val="3986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906392" y="799983"/>
            <a:ext cx="89979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2715" marR="5080" lvl="0" indent="-12065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</a:t>
            </a:r>
            <a:r>
              <a:rPr kumimoji="0" sz="1800" b="0" i="0" u="none" strike="noStrike" kern="1200" cap="none" spc="-3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tt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e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n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i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on  output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3823842" y="1404883"/>
            <a:ext cx="4516120" cy="3905250"/>
            <a:chOff x="2299842" y="1778507"/>
            <a:chExt cx="4516120" cy="3905250"/>
          </a:xfrm>
        </p:grpSpPr>
        <p:sp>
          <p:nvSpPr>
            <p:cNvPr id="31" name="object 31"/>
            <p:cNvSpPr/>
            <p:nvPr/>
          </p:nvSpPr>
          <p:spPr>
            <a:xfrm>
              <a:off x="2299842" y="1778507"/>
              <a:ext cx="4142104" cy="340995"/>
            </a:xfrm>
            <a:custGeom>
              <a:avLst/>
              <a:gdLst/>
              <a:ahLst/>
              <a:cxnLst/>
              <a:rect l="l" t="t" r="r" b="b"/>
              <a:pathLst>
                <a:path w="4142104" h="340994">
                  <a:moveTo>
                    <a:pt x="4085025" y="297483"/>
                  </a:moveTo>
                  <a:lnTo>
                    <a:pt x="4033901" y="322833"/>
                  </a:lnTo>
                  <a:lnTo>
                    <a:pt x="4031868" y="328802"/>
                  </a:lnTo>
                  <a:lnTo>
                    <a:pt x="4034281" y="333628"/>
                  </a:lnTo>
                  <a:lnTo>
                    <a:pt x="4036821" y="338581"/>
                  </a:lnTo>
                  <a:lnTo>
                    <a:pt x="4042664" y="340613"/>
                  </a:lnTo>
                  <a:lnTo>
                    <a:pt x="4124694" y="299974"/>
                  </a:lnTo>
                  <a:lnTo>
                    <a:pt x="4121657" y="299974"/>
                  </a:lnTo>
                  <a:lnTo>
                    <a:pt x="4085025" y="297483"/>
                  </a:lnTo>
                  <a:close/>
                </a:path>
                <a:path w="4142104" h="340994">
                  <a:moveTo>
                    <a:pt x="4102597" y="288754"/>
                  </a:moveTo>
                  <a:lnTo>
                    <a:pt x="4085025" y="297483"/>
                  </a:lnTo>
                  <a:lnTo>
                    <a:pt x="4121657" y="299974"/>
                  </a:lnTo>
                  <a:lnTo>
                    <a:pt x="4121775" y="298322"/>
                  </a:lnTo>
                  <a:lnTo>
                    <a:pt x="4116704" y="298322"/>
                  </a:lnTo>
                  <a:lnTo>
                    <a:pt x="4102597" y="288754"/>
                  </a:lnTo>
                  <a:close/>
                </a:path>
                <a:path w="4142104" h="340994">
                  <a:moveTo>
                    <a:pt x="4050283" y="229362"/>
                  </a:moveTo>
                  <a:lnTo>
                    <a:pt x="4044060" y="230504"/>
                  </a:lnTo>
                  <a:lnTo>
                    <a:pt x="4041012" y="235076"/>
                  </a:lnTo>
                  <a:lnTo>
                    <a:pt x="4037965" y="239521"/>
                  </a:lnTo>
                  <a:lnTo>
                    <a:pt x="4039107" y="245744"/>
                  </a:lnTo>
                  <a:lnTo>
                    <a:pt x="4043679" y="248792"/>
                  </a:lnTo>
                  <a:lnTo>
                    <a:pt x="4086446" y="277799"/>
                  </a:lnTo>
                  <a:lnTo>
                    <a:pt x="4123054" y="280288"/>
                  </a:lnTo>
                  <a:lnTo>
                    <a:pt x="4121657" y="299974"/>
                  </a:lnTo>
                  <a:lnTo>
                    <a:pt x="4124694" y="299974"/>
                  </a:lnTo>
                  <a:lnTo>
                    <a:pt x="4141851" y="291464"/>
                  </a:lnTo>
                  <a:lnTo>
                    <a:pt x="4054855" y="232409"/>
                  </a:lnTo>
                  <a:lnTo>
                    <a:pt x="4050283" y="229362"/>
                  </a:lnTo>
                  <a:close/>
                </a:path>
                <a:path w="4142104" h="340994">
                  <a:moveTo>
                    <a:pt x="4117847" y="281177"/>
                  </a:moveTo>
                  <a:lnTo>
                    <a:pt x="4102597" y="288754"/>
                  </a:lnTo>
                  <a:lnTo>
                    <a:pt x="4116704" y="298322"/>
                  </a:lnTo>
                  <a:lnTo>
                    <a:pt x="4117847" y="281177"/>
                  </a:lnTo>
                  <a:close/>
                </a:path>
                <a:path w="4142104" h="340994">
                  <a:moveTo>
                    <a:pt x="4122991" y="281177"/>
                  </a:moveTo>
                  <a:lnTo>
                    <a:pt x="4117847" y="281177"/>
                  </a:lnTo>
                  <a:lnTo>
                    <a:pt x="4116704" y="298322"/>
                  </a:lnTo>
                  <a:lnTo>
                    <a:pt x="4121775" y="298322"/>
                  </a:lnTo>
                  <a:lnTo>
                    <a:pt x="4122991" y="281177"/>
                  </a:lnTo>
                  <a:close/>
                </a:path>
                <a:path w="4142104" h="340994">
                  <a:moveTo>
                    <a:pt x="1269" y="0"/>
                  </a:moveTo>
                  <a:lnTo>
                    <a:pt x="0" y="19812"/>
                  </a:lnTo>
                  <a:lnTo>
                    <a:pt x="4085025" y="297483"/>
                  </a:lnTo>
                  <a:lnTo>
                    <a:pt x="4102597" y="288754"/>
                  </a:lnTo>
                  <a:lnTo>
                    <a:pt x="4086446" y="277799"/>
                  </a:lnTo>
                  <a:lnTo>
                    <a:pt x="1269" y="0"/>
                  </a:lnTo>
                  <a:close/>
                </a:path>
                <a:path w="4142104" h="340994">
                  <a:moveTo>
                    <a:pt x="4086446" y="277799"/>
                  </a:moveTo>
                  <a:lnTo>
                    <a:pt x="4102597" y="288754"/>
                  </a:lnTo>
                  <a:lnTo>
                    <a:pt x="4117847" y="281177"/>
                  </a:lnTo>
                  <a:lnTo>
                    <a:pt x="4122991" y="281177"/>
                  </a:lnTo>
                  <a:lnTo>
                    <a:pt x="4123054" y="280288"/>
                  </a:lnTo>
                  <a:lnTo>
                    <a:pt x="4086446" y="277799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pic>
          <p:nvPicPr>
            <p:cNvPr id="32" name="object 3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82311" y="4358639"/>
              <a:ext cx="126491" cy="132588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82311" y="4527803"/>
              <a:ext cx="126491" cy="132587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82311" y="4696967"/>
              <a:ext cx="126491" cy="132587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82311" y="4866131"/>
              <a:ext cx="126491" cy="132587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4708397" y="4293869"/>
              <a:ext cx="266700" cy="780415"/>
            </a:xfrm>
            <a:custGeom>
              <a:avLst/>
              <a:gdLst/>
              <a:ahLst/>
              <a:cxnLst/>
              <a:rect l="l" t="t" r="r" b="b"/>
              <a:pathLst>
                <a:path w="266700" h="780414">
                  <a:moveTo>
                    <a:pt x="222250" y="0"/>
                  </a:moveTo>
                  <a:lnTo>
                    <a:pt x="239535" y="3498"/>
                  </a:lnTo>
                  <a:lnTo>
                    <a:pt x="253666" y="13033"/>
                  </a:lnTo>
                  <a:lnTo>
                    <a:pt x="263201" y="27164"/>
                  </a:lnTo>
                  <a:lnTo>
                    <a:pt x="266700" y="44449"/>
                  </a:lnTo>
                  <a:lnTo>
                    <a:pt x="266700" y="735837"/>
                  </a:lnTo>
                  <a:lnTo>
                    <a:pt x="263201" y="753123"/>
                  </a:lnTo>
                  <a:lnTo>
                    <a:pt x="253666" y="767254"/>
                  </a:lnTo>
                  <a:lnTo>
                    <a:pt x="239535" y="776789"/>
                  </a:lnTo>
                  <a:lnTo>
                    <a:pt x="222250" y="780287"/>
                  </a:lnTo>
                  <a:lnTo>
                    <a:pt x="44450" y="780287"/>
                  </a:lnTo>
                  <a:lnTo>
                    <a:pt x="27164" y="776789"/>
                  </a:lnTo>
                  <a:lnTo>
                    <a:pt x="13033" y="767254"/>
                  </a:lnTo>
                  <a:lnTo>
                    <a:pt x="3498" y="753123"/>
                  </a:lnTo>
                  <a:lnTo>
                    <a:pt x="0" y="735837"/>
                  </a:lnTo>
                  <a:lnTo>
                    <a:pt x="0" y="44449"/>
                  </a:ln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222250" y="0"/>
                  </a:lnTo>
                  <a:close/>
                </a:path>
              </a:pathLst>
            </a:custGeom>
            <a:ln w="19812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4785233" y="4628260"/>
              <a:ext cx="534670" cy="1056005"/>
            </a:xfrm>
            <a:custGeom>
              <a:avLst/>
              <a:gdLst/>
              <a:ahLst/>
              <a:cxnLst/>
              <a:rect l="l" t="t" r="r" b="b"/>
              <a:pathLst>
                <a:path w="534670" h="1056004">
                  <a:moveTo>
                    <a:pt x="111506" y="541401"/>
                  </a:moveTo>
                  <a:lnTo>
                    <a:pt x="108712" y="536702"/>
                  </a:lnTo>
                  <a:lnTo>
                    <a:pt x="67157" y="465455"/>
                  </a:lnTo>
                  <a:lnTo>
                    <a:pt x="55753" y="445897"/>
                  </a:lnTo>
                  <a:lnTo>
                    <a:pt x="2794" y="536702"/>
                  </a:lnTo>
                  <a:lnTo>
                    <a:pt x="0" y="541401"/>
                  </a:lnTo>
                  <a:lnTo>
                    <a:pt x="1524" y="547497"/>
                  </a:lnTo>
                  <a:lnTo>
                    <a:pt x="6350" y="550291"/>
                  </a:lnTo>
                  <a:lnTo>
                    <a:pt x="11049" y="553085"/>
                  </a:lnTo>
                  <a:lnTo>
                    <a:pt x="17145" y="551434"/>
                  </a:lnTo>
                  <a:lnTo>
                    <a:pt x="19812" y="546735"/>
                  </a:lnTo>
                  <a:lnTo>
                    <a:pt x="45847" y="502107"/>
                  </a:lnTo>
                  <a:lnTo>
                    <a:pt x="45847" y="1055497"/>
                  </a:lnTo>
                  <a:lnTo>
                    <a:pt x="65659" y="1055497"/>
                  </a:lnTo>
                  <a:lnTo>
                    <a:pt x="65659" y="502107"/>
                  </a:lnTo>
                  <a:lnTo>
                    <a:pt x="91694" y="546735"/>
                  </a:lnTo>
                  <a:lnTo>
                    <a:pt x="94361" y="551434"/>
                  </a:lnTo>
                  <a:lnTo>
                    <a:pt x="100457" y="553085"/>
                  </a:lnTo>
                  <a:lnTo>
                    <a:pt x="105156" y="550291"/>
                  </a:lnTo>
                  <a:lnTo>
                    <a:pt x="109982" y="547497"/>
                  </a:lnTo>
                  <a:lnTo>
                    <a:pt x="111506" y="541401"/>
                  </a:lnTo>
                  <a:close/>
                </a:path>
                <a:path w="534670" h="1056004">
                  <a:moveTo>
                    <a:pt x="534543" y="55753"/>
                  </a:moveTo>
                  <a:lnTo>
                    <a:pt x="517550" y="45847"/>
                  </a:lnTo>
                  <a:lnTo>
                    <a:pt x="443738" y="2794"/>
                  </a:lnTo>
                  <a:lnTo>
                    <a:pt x="439039" y="0"/>
                  </a:lnTo>
                  <a:lnTo>
                    <a:pt x="432943" y="1524"/>
                  </a:lnTo>
                  <a:lnTo>
                    <a:pt x="430149" y="6350"/>
                  </a:lnTo>
                  <a:lnTo>
                    <a:pt x="427482" y="11049"/>
                  </a:lnTo>
                  <a:lnTo>
                    <a:pt x="429006" y="17145"/>
                  </a:lnTo>
                  <a:lnTo>
                    <a:pt x="433705" y="19812"/>
                  </a:lnTo>
                  <a:lnTo>
                    <a:pt x="478320" y="45847"/>
                  </a:lnTo>
                  <a:lnTo>
                    <a:pt x="189865" y="45847"/>
                  </a:lnTo>
                  <a:lnTo>
                    <a:pt x="189865" y="65659"/>
                  </a:lnTo>
                  <a:lnTo>
                    <a:pt x="478320" y="65659"/>
                  </a:lnTo>
                  <a:lnTo>
                    <a:pt x="433705" y="91694"/>
                  </a:lnTo>
                  <a:lnTo>
                    <a:pt x="429006" y="94361"/>
                  </a:lnTo>
                  <a:lnTo>
                    <a:pt x="427482" y="100457"/>
                  </a:lnTo>
                  <a:lnTo>
                    <a:pt x="430149" y="105156"/>
                  </a:lnTo>
                  <a:lnTo>
                    <a:pt x="432943" y="109982"/>
                  </a:lnTo>
                  <a:lnTo>
                    <a:pt x="439039" y="111506"/>
                  </a:lnTo>
                  <a:lnTo>
                    <a:pt x="443738" y="108712"/>
                  </a:lnTo>
                  <a:lnTo>
                    <a:pt x="517550" y="65659"/>
                  </a:lnTo>
                  <a:lnTo>
                    <a:pt x="534543" y="55753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pic>
          <p:nvPicPr>
            <p:cNvPr id="38" name="object 3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960" y="4355591"/>
              <a:ext cx="124967" cy="132587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94960" y="4523231"/>
              <a:ext cx="124967" cy="132587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94960" y="4692395"/>
              <a:ext cx="124967" cy="132587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94960" y="4861559"/>
              <a:ext cx="124967" cy="132587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5321045" y="4290822"/>
              <a:ext cx="265430" cy="779145"/>
            </a:xfrm>
            <a:custGeom>
              <a:avLst/>
              <a:gdLst/>
              <a:ahLst/>
              <a:cxnLst/>
              <a:rect l="l" t="t" r="r" b="b"/>
              <a:pathLst>
                <a:path w="265429" h="779145">
                  <a:moveTo>
                    <a:pt x="220979" y="0"/>
                  </a:moveTo>
                  <a:lnTo>
                    <a:pt x="238172" y="3476"/>
                  </a:lnTo>
                  <a:lnTo>
                    <a:pt x="252221" y="12954"/>
                  </a:lnTo>
                  <a:lnTo>
                    <a:pt x="261699" y="27003"/>
                  </a:lnTo>
                  <a:lnTo>
                    <a:pt x="265175" y="44195"/>
                  </a:lnTo>
                  <a:lnTo>
                    <a:pt x="265175" y="734567"/>
                  </a:lnTo>
                  <a:lnTo>
                    <a:pt x="261699" y="751760"/>
                  </a:lnTo>
                  <a:lnTo>
                    <a:pt x="252222" y="765810"/>
                  </a:lnTo>
                  <a:lnTo>
                    <a:pt x="238172" y="775287"/>
                  </a:lnTo>
                  <a:lnTo>
                    <a:pt x="220979" y="778763"/>
                  </a:lnTo>
                  <a:lnTo>
                    <a:pt x="44195" y="778763"/>
                  </a:lnTo>
                  <a:lnTo>
                    <a:pt x="27003" y="775287"/>
                  </a:lnTo>
                  <a:lnTo>
                    <a:pt x="12953" y="765809"/>
                  </a:lnTo>
                  <a:lnTo>
                    <a:pt x="3476" y="751760"/>
                  </a:lnTo>
                  <a:lnTo>
                    <a:pt x="0" y="734567"/>
                  </a:lnTo>
                  <a:lnTo>
                    <a:pt x="0" y="44195"/>
                  </a:lnTo>
                  <a:lnTo>
                    <a:pt x="3476" y="27003"/>
                  </a:lnTo>
                  <a:lnTo>
                    <a:pt x="12953" y="12953"/>
                  </a:lnTo>
                  <a:lnTo>
                    <a:pt x="27003" y="3476"/>
                  </a:lnTo>
                  <a:lnTo>
                    <a:pt x="44195" y="0"/>
                  </a:lnTo>
                  <a:lnTo>
                    <a:pt x="220979" y="0"/>
                  </a:lnTo>
                  <a:close/>
                </a:path>
              </a:pathLst>
            </a:custGeom>
            <a:ln w="19812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43" name="object 43"/>
            <p:cNvSpPr/>
            <p:nvPr/>
          </p:nvSpPr>
          <p:spPr>
            <a:xfrm>
              <a:off x="5397881" y="4623688"/>
              <a:ext cx="533400" cy="1056005"/>
            </a:xfrm>
            <a:custGeom>
              <a:avLst/>
              <a:gdLst/>
              <a:ahLst/>
              <a:cxnLst/>
              <a:rect l="l" t="t" r="r" b="b"/>
              <a:pathLst>
                <a:path w="533400" h="1056004">
                  <a:moveTo>
                    <a:pt x="111506" y="541401"/>
                  </a:moveTo>
                  <a:lnTo>
                    <a:pt x="108712" y="536702"/>
                  </a:lnTo>
                  <a:lnTo>
                    <a:pt x="67157" y="465455"/>
                  </a:lnTo>
                  <a:lnTo>
                    <a:pt x="55753" y="445897"/>
                  </a:lnTo>
                  <a:lnTo>
                    <a:pt x="2794" y="536702"/>
                  </a:lnTo>
                  <a:lnTo>
                    <a:pt x="0" y="541401"/>
                  </a:lnTo>
                  <a:lnTo>
                    <a:pt x="1524" y="547497"/>
                  </a:lnTo>
                  <a:lnTo>
                    <a:pt x="6350" y="550291"/>
                  </a:lnTo>
                  <a:lnTo>
                    <a:pt x="11049" y="553085"/>
                  </a:lnTo>
                  <a:lnTo>
                    <a:pt x="17145" y="551434"/>
                  </a:lnTo>
                  <a:lnTo>
                    <a:pt x="19812" y="546735"/>
                  </a:lnTo>
                  <a:lnTo>
                    <a:pt x="45847" y="502107"/>
                  </a:lnTo>
                  <a:lnTo>
                    <a:pt x="45847" y="1055497"/>
                  </a:lnTo>
                  <a:lnTo>
                    <a:pt x="65659" y="1055497"/>
                  </a:lnTo>
                  <a:lnTo>
                    <a:pt x="65659" y="502107"/>
                  </a:lnTo>
                  <a:lnTo>
                    <a:pt x="91694" y="546735"/>
                  </a:lnTo>
                  <a:lnTo>
                    <a:pt x="94361" y="551434"/>
                  </a:lnTo>
                  <a:lnTo>
                    <a:pt x="100457" y="553085"/>
                  </a:lnTo>
                  <a:lnTo>
                    <a:pt x="105156" y="550291"/>
                  </a:lnTo>
                  <a:lnTo>
                    <a:pt x="109982" y="547497"/>
                  </a:lnTo>
                  <a:lnTo>
                    <a:pt x="111506" y="541401"/>
                  </a:lnTo>
                  <a:close/>
                </a:path>
                <a:path w="533400" h="1056004">
                  <a:moveTo>
                    <a:pt x="533019" y="55753"/>
                  </a:moveTo>
                  <a:lnTo>
                    <a:pt x="516026" y="45847"/>
                  </a:lnTo>
                  <a:lnTo>
                    <a:pt x="442214" y="2794"/>
                  </a:lnTo>
                  <a:lnTo>
                    <a:pt x="437515" y="0"/>
                  </a:lnTo>
                  <a:lnTo>
                    <a:pt x="431419" y="1524"/>
                  </a:lnTo>
                  <a:lnTo>
                    <a:pt x="428625" y="6350"/>
                  </a:lnTo>
                  <a:lnTo>
                    <a:pt x="425958" y="11049"/>
                  </a:lnTo>
                  <a:lnTo>
                    <a:pt x="427482" y="17145"/>
                  </a:lnTo>
                  <a:lnTo>
                    <a:pt x="432181" y="19812"/>
                  </a:lnTo>
                  <a:lnTo>
                    <a:pt x="476796" y="45847"/>
                  </a:lnTo>
                  <a:lnTo>
                    <a:pt x="188341" y="45847"/>
                  </a:lnTo>
                  <a:lnTo>
                    <a:pt x="188341" y="65659"/>
                  </a:lnTo>
                  <a:lnTo>
                    <a:pt x="476796" y="65659"/>
                  </a:lnTo>
                  <a:lnTo>
                    <a:pt x="432181" y="91694"/>
                  </a:lnTo>
                  <a:lnTo>
                    <a:pt x="427482" y="94361"/>
                  </a:lnTo>
                  <a:lnTo>
                    <a:pt x="425958" y="100457"/>
                  </a:lnTo>
                  <a:lnTo>
                    <a:pt x="428625" y="105156"/>
                  </a:lnTo>
                  <a:lnTo>
                    <a:pt x="431419" y="109982"/>
                  </a:lnTo>
                  <a:lnTo>
                    <a:pt x="437515" y="111506"/>
                  </a:lnTo>
                  <a:lnTo>
                    <a:pt x="442214" y="108712"/>
                  </a:lnTo>
                  <a:lnTo>
                    <a:pt x="516026" y="65659"/>
                  </a:lnTo>
                  <a:lnTo>
                    <a:pt x="533019" y="55753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pic>
          <p:nvPicPr>
            <p:cNvPr id="44" name="object 4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614159" y="4351019"/>
              <a:ext cx="126491" cy="132587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614159" y="4520183"/>
              <a:ext cx="126491" cy="132588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614159" y="4689347"/>
              <a:ext cx="126491" cy="131063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614159" y="4856987"/>
              <a:ext cx="126491" cy="132587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6540246" y="4286250"/>
              <a:ext cx="265430" cy="779145"/>
            </a:xfrm>
            <a:custGeom>
              <a:avLst/>
              <a:gdLst/>
              <a:ahLst/>
              <a:cxnLst/>
              <a:rect l="l" t="t" r="r" b="b"/>
              <a:pathLst>
                <a:path w="265429" h="779145">
                  <a:moveTo>
                    <a:pt x="220979" y="0"/>
                  </a:moveTo>
                  <a:lnTo>
                    <a:pt x="238172" y="3476"/>
                  </a:lnTo>
                  <a:lnTo>
                    <a:pt x="252222" y="12954"/>
                  </a:lnTo>
                  <a:lnTo>
                    <a:pt x="261699" y="27003"/>
                  </a:lnTo>
                  <a:lnTo>
                    <a:pt x="265175" y="44195"/>
                  </a:lnTo>
                  <a:lnTo>
                    <a:pt x="265175" y="734568"/>
                  </a:lnTo>
                  <a:lnTo>
                    <a:pt x="261699" y="751760"/>
                  </a:lnTo>
                  <a:lnTo>
                    <a:pt x="252221" y="765809"/>
                  </a:lnTo>
                  <a:lnTo>
                    <a:pt x="238172" y="775287"/>
                  </a:lnTo>
                  <a:lnTo>
                    <a:pt x="220979" y="778763"/>
                  </a:lnTo>
                  <a:lnTo>
                    <a:pt x="44196" y="778763"/>
                  </a:lnTo>
                  <a:lnTo>
                    <a:pt x="27003" y="775287"/>
                  </a:lnTo>
                  <a:lnTo>
                    <a:pt x="12953" y="765809"/>
                  </a:lnTo>
                  <a:lnTo>
                    <a:pt x="3476" y="751760"/>
                  </a:lnTo>
                  <a:lnTo>
                    <a:pt x="0" y="734568"/>
                  </a:lnTo>
                  <a:lnTo>
                    <a:pt x="0" y="44195"/>
                  </a:lnTo>
                  <a:lnTo>
                    <a:pt x="3476" y="27003"/>
                  </a:lnTo>
                  <a:lnTo>
                    <a:pt x="12953" y="12954"/>
                  </a:lnTo>
                  <a:lnTo>
                    <a:pt x="27003" y="3476"/>
                  </a:lnTo>
                  <a:lnTo>
                    <a:pt x="44196" y="0"/>
                  </a:lnTo>
                  <a:lnTo>
                    <a:pt x="220979" y="0"/>
                  </a:lnTo>
                  <a:close/>
                </a:path>
              </a:pathLst>
            </a:custGeom>
            <a:ln w="19812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49" name="object 49"/>
            <p:cNvSpPr/>
            <p:nvPr/>
          </p:nvSpPr>
          <p:spPr>
            <a:xfrm>
              <a:off x="6615671" y="2239517"/>
              <a:ext cx="113030" cy="3435350"/>
            </a:xfrm>
            <a:custGeom>
              <a:avLst/>
              <a:gdLst/>
              <a:ahLst/>
              <a:cxnLst/>
              <a:rect l="l" t="t" r="r" b="b"/>
              <a:pathLst>
                <a:path w="113029" h="3435350">
                  <a:moveTo>
                    <a:pt x="111518" y="95504"/>
                  </a:moveTo>
                  <a:lnTo>
                    <a:pt x="108724" y="90805"/>
                  </a:lnTo>
                  <a:lnTo>
                    <a:pt x="67068" y="19558"/>
                  </a:lnTo>
                  <a:lnTo>
                    <a:pt x="55638" y="0"/>
                  </a:lnTo>
                  <a:lnTo>
                    <a:pt x="2679" y="90932"/>
                  </a:lnTo>
                  <a:lnTo>
                    <a:pt x="0" y="95631"/>
                  </a:lnTo>
                  <a:lnTo>
                    <a:pt x="1524" y="101600"/>
                  </a:lnTo>
                  <a:lnTo>
                    <a:pt x="6223" y="104394"/>
                  </a:lnTo>
                  <a:lnTo>
                    <a:pt x="11049" y="107188"/>
                  </a:lnTo>
                  <a:lnTo>
                    <a:pt x="17030" y="105537"/>
                  </a:lnTo>
                  <a:lnTo>
                    <a:pt x="19888" y="100711"/>
                  </a:lnTo>
                  <a:lnTo>
                    <a:pt x="45758" y="56375"/>
                  </a:lnTo>
                  <a:lnTo>
                    <a:pt x="45834" y="56235"/>
                  </a:lnTo>
                  <a:lnTo>
                    <a:pt x="45808" y="107188"/>
                  </a:lnTo>
                  <a:lnTo>
                    <a:pt x="47510" y="2046224"/>
                  </a:lnTo>
                  <a:lnTo>
                    <a:pt x="67322" y="2046224"/>
                  </a:lnTo>
                  <a:lnTo>
                    <a:pt x="65570" y="56210"/>
                  </a:lnTo>
                  <a:lnTo>
                    <a:pt x="65544" y="24638"/>
                  </a:lnTo>
                  <a:lnTo>
                    <a:pt x="65544" y="19558"/>
                  </a:lnTo>
                  <a:lnTo>
                    <a:pt x="65659" y="56375"/>
                  </a:lnTo>
                  <a:lnTo>
                    <a:pt x="91643" y="100838"/>
                  </a:lnTo>
                  <a:lnTo>
                    <a:pt x="94373" y="105537"/>
                  </a:lnTo>
                  <a:lnTo>
                    <a:pt x="100469" y="107061"/>
                  </a:lnTo>
                  <a:lnTo>
                    <a:pt x="105168" y="104267"/>
                  </a:lnTo>
                  <a:lnTo>
                    <a:pt x="109867" y="101600"/>
                  </a:lnTo>
                  <a:lnTo>
                    <a:pt x="111518" y="95504"/>
                  </a:lnTo>
                  <a:close/>
                </a:path>
                <a:path w="113029" h="3435350">
                  <a:moveTo>
                    <a:pt x="112915" y="2921000"/>
                  </a:moveTo>
                  <a:lnTo>
                    <a:pt x="110121" y="2916301"/>
                  </a:lnTo>
                  <a:lnTo>
                    <a:pt x="68567" y="2845054"/>
                  </a:lnTo>
                  <a:lnTo>
                    <a:pt x="57162" y="2825496"/>
                  </a:lnTo>
                  <a:lnTo>
                    <a:pt x="4203" y="2916301"/>
                  </a:lnTo>
                  <a:lnTo>
                    <a:pt x="1409" y="2921000"/>
                  </a:lnTo>
                  <a:lnTo>
                    <a:pt x="2933" y="2927096"/>
                  </a:lnTo>
                  <a:lnTo>
                    <a:pt x="7759" y="2929890"/>
                  </a:lnTo>
                  <a:lnTo>
                    <a:pt x="12458" y="2932684"/>
                  </a:lnTo>
                  <a:lnTo>
                    <a:pt x="18554" y="2931033"/>
                  </a:lnTo>
                  <a:lnTo>
                    <a:pt x="21221" y="2926334"/>
                  </a:lnTo>
                  <a:lnTo>
                    <a:pt x="47256" y="2881706"/>
                  </a:lnTo>
                  <a:lnTo>
                    <a:pt x="47256" y="3435096"/>
                  </a:lnTo>
                  <a:lnTo>
                    <a:pt x="67068" y="3435096"/>
                  </a:lnTo>
                  <a:lnTo>
                    <a:pt x="67068" y="2881706"/>
                  </a:lnTo>
                  <a:lnTo>
                    <a:pt x="93103" y="2926334"/>
                  </a:lnTo>
                  <a:lnTo>
                    <a:pt x="95770" y="2931033"/>
                  </a:lnTo>
                  <a:lnTo>
                    <a:pt x="101866" y="2932684"/>
                  </a:lnTo>
                  <a:lnTo>
                    <a:pt x="106565" y="2929890"/>
                  </a:lnTo>
                  <a:lnTo>
                    <a:pt x="111391" y="2927096"/>
                  </a:lnTo>
                  <a:lnTo>
                    <a:pt x="112915" y="292100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</p:grpSp>
      <p:grpSp>
        <p:nvGrpSpPr>
          <p:cNvPr id="53" name="object 53"/>
          <p:cNvGrpSpPr/>
          <p:nvPr/>
        </p:nvGrpSpPr>
        <p:grpSpPr>
          <a:xfrm>
            <a:off x="7437120" y="1180093"/>
            <a:ext cx="817244" cy="4121150"/>
            <a:chOff x="5913120" y="1553717"/>
            <a:chExt cx="817244" cy="4121150"/>
          </a:xfrm>
        </p:grpSpPr>
        <p:sp>
          <p:nvSpPr>
            <p:cNvPr id="54" name="object 54"/>
            <p:cNvSpPr/>
            <p:nvPr/>
          </p:nvSpPr>
          <p:spPr>
            <a:xfrm>
              <a:off x="6618478" y="1553717"/>
              <a:ext cx="111760" cy="347345"/>
            </a:xfrm>
            <a:custGeom>
              <a:avLst/>
              <a:gdLst/>
              <a:ahLst/>
              <a:cxnLst/>
              <a:rect l="l" t="t" r="r" b="b"/>
              <a:pathLst>
                <a:path w="111759" h="347344">
                  <a:moveTo>
                    <a:pt x="56325" y="39160"/>
                  </a:moveTo>
                  <a:lnTo>
                    <a:pt x="46198" y="56066"/>
                  </a:lnTo>
                  <a:lnTo>
                    <a:pt x="42925" y="347091"/>
                  </a:lnTo>
                  <a:lnTo>
                    <a:pt x="62738" y="347345"/>
                  </a:lnTo>
                  <a:lnTo>
                    <a:pt x="66010" y="56216"/>
                  </a:lnTo>
                  <a:lnTo>
                    <a:pt x="56325" y="39160"/>
                  </a:lnTo>
                  <a:close/>
                </a:path>
                <a:path w="111759" h="347344">
                  <a:moveTo>
                    <a:pt x="67879" y="19558"/>
                  </a:moveTo>
                  <a:lnTo>
                    <a:pt x="46608" y="19558"/>
                  </a:lnTo>
                  <a:lnTo>
                    <a:pt x="66421" y="19685"/>
                  </a:lnTo>
                  <a:lnTo>
                    <a:pt x="66010" y="56216"/>
                  </a:lnTo>
                  <a:lnTo>
                    <a:pt x="94233" y="105918"/>
                  </a:lnTo>
                  <a:lnTo>
                    <a:pt x="100329" y="107569"/>
                  </a:lnTo>
                  <a:lnTo>
                    <a:pt x="105028" y="104902"/>
                  </a:lnTo>
                  <a:lnTo>
                    <a:pt x="109854" y="102235"/>
                  </a:lnTo>
                  <a:lnTo>
                    <a:pt x="111505" y="96139"/>
                  </a:lnTo>
                  <a:lnTo>
                    <a:pt x="108712" y="91440"/>
                  </a:lnTo>
                  <a:lnTo>
                    <a:pt x="67879" y="19558"/>
                  </a:lnTo>
                  <a:close/>
                </a:path>
                <a:path w="111759" h="347344">
                  <a:moveTo>
                    <a:pt x="56769" y="0"/>
                  </a:moveTo>
                  <a:lnTo>
                    <a:pt x="2794" y="90170"/>
                  </a:lnTo>
                  <a:lnTo>
                    <a:pt x="0" y="94869"/>
                  </a:lnTo>
                  <a:lnTo>
                    <a:pt x="1524" y="100965"/>
                  </a:lnTo>
                  <a:lnTo>
                    <a:pt x="6096" y="103759"/>
                  </a:lnTo>
                  <a:lnTo>
                    <a:pt x="10795" y="106553"/>
                  </a:lnTo>
                  <a:lnTo>
                    <a:pt x="16891" y="105029"/>
                  </a:lnTo>
                  <a:lnTo>
                    <a:pt x="19685" y="100330"/>
                  </a:lnTo>
                  <a:lnTo>
                    <a:pt x="46198" y="56066"/>
                  </a:lnTo>
                  <a:lnTo>
                    <a:pt x="46608" y="19558"/>
                  </a:lnTo>
                  <a:lnTo>
                    <a:pt x="67879" y="19558"/>
                  </a:lnTo>
                  <a:lnTo>
                    <a:pt x="56769" y="0"/>
                  </a:lnTo>
                  <a:close/>
                </a:path>
                <a:path w="111759" h="347344">
                  <a:moveTo>
                    <a:pt x="66366" y="24511"/>
                  </a:moveTo>
                  <a:lnTo>
                    <a:pt x="48005" y="24511"/>
                  </a:lnTo>
                  <a:lnTo>
                    <a:pt x="65024" y="24637"/>
                  </a:lnTo>
                  <a:lnTo>
                    <a:pt x="56325" y="39160"/>
                  </a:lnTo>
                  <a:lnTo>
                    <a:pt x="66010" y="56216"/>
                  </a:lnTo>
                  <a:lnTo>
                    <a:pt x="66366" y="24511"/>
                  </a:lnTo>
                  <a:close/>
                </a:path>
                <a:path w="111759" h="347344">
                  <a:moveTo>
                    <a:pt x="46608" y="19558"/>
                  </a:moveTo>
                  <a:lnTo>
                    <a:pt x="46198" y="56066"/>
                  </a:lnTo>
                  <a:lnTo>
                    <a:pt x="56325" y="39160"/>
                  </a:lnTo>
                  <a:lnTo>
                    <a:pt x="48005" y="24511"/>
                  </a:lnTo>
                  <a:lnTo>
                    <a:pt x="66366" y="24511"/>
                  </a:lnTo>
                  <a:lnTo>
                    <a:pt x="66421" y="19685"/>
                  </a:lnTo>
                  <a:lnTo>
                    <a:pt x="46608" y="19558"/>
                  </a:lnTo>
                  <a:close/>
                </a:path>
                <a:path w="111759" h="347344">
                  <a:moveTo>
                    <a:pt x="48005" y="24511"/>
                  </a:moveTo>
                  <a:lnTo>
                    <a:pt x="56325" y="39160"/>
                  </a:lnTo>
                  <a:lnTo>
                    <a:pt x="65024" y="24637"/>
                  </a:lnTo>
                  <a:lnTo>
                    <a:pt x="48005" y="24511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pic>
          <p:nvPicPr>
            <p:cNvPr id="55" name="object 5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996940" y="4351019"/>
              <a:ext cx="126491" cy="132587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96940" y="4520183"/>
              <a:ext cx="126491" cy="132588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996940" y="4689347"/>
              <a:ext cx="126491" cy="131063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96940" y="4856988"/>
              <a:ext cx="126491" cy="132587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5923026" y="4286250"/>
              <a:ext cx="265430" cy="779145"/>
            </a:xfrm>
            <a:custGeom>
              <a:avLst/>
              <a:gdLst/>
              <a:ahLst/>
              <a:cxnLst/>
              <a:rect l="l" t="t" r="r" b="b"/>
              <a:pathLst>
                <a:path w="265429" h="779145">
                  <a:moveTo>
                    <a:pt x="220979" y="0"/>
                  </a:moveTo>
                  <a:lnTo>
                    <a:pt x="238172" y="3476"/>
                  </a:lnTo>
                  <a:lnTo>
                    <a:pt x="252221" y="12954"/>
                  </a:lnTo>
                  <a:lnTo>
                    <a:pt x="261699" y="27003"/>
                  </a:lnTo>
                  <a:lnTo>
                    <a:pt x="265175" y="44195"/>
                  </a:lnTo>
                  <a:lnTo>
                    <a:pt x="265175" y="734568"/>
                  </a:lnTo>
                  <a:lnTo>
                    <a:pt x="261699" y="751760"/>
                  </a:lnTo>
                  <a:lnTo>
                    <a:pt x="252222" y="765809"/>
                  </a:lnTo>
                  <a:lnTo>
                    <a:pt x="238172" y="775287"/>
                  </a:lnTo>
                  <a:lnTo>
                    <a:pt x="220979" y="778763"/>
                  </a:lnTo>
                  <a:lnTo>
                    <a:pt x="44196" y="778763"/>
                  </a:lnTo>
                  <a:lnTo>
                    <a:pt x="27003" y="775287"/>
                  </a:lnTo>
                  <a:lnTo>
                    <a:pt x="12954" y="765809"/>
                  </a:lnTo>
                  <a:lnTo>
                    <a:pt x="3476" y="751760"/>
                  </a:lnTo>
                  <a:lnTo>
                    <a:pt x="0" y="734568"/>
                  </a:lnTo>
                  <a:lnTo>
                    <a:pt x="0" y="44195"/>
                  </a:lnTo>
                  <a:lnTo>
                    <a:pt x="3476" y="27003"/>
                  </a:lnTo>
                  <a:lnTo>
                    <a:pt x="12953" y="12954"/>
                  </a:lnTo>
                  <a:lnTo>
                    <a:pt x="27003" y="3476"/>
                  </a:lnTo>
                  <a:lnTo>
                    <a:pt x="44196" y="0"/>
                  </a:lnTo>
                  <a:lnTo>
                    <a:pt x="220979" y="0"/>
                  </a:lnTo>
                  <a:close/>
                </a:path>
              </a:pathLst>
            </a:custGeom>
            <a:ln w="19812">
              <a:solidFill>
                <a:srgbClr val="17714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60" name="object 60"/>
            <p:cNvSpPr/>
            <p:nvPr/>
          </p:nvSpPr>
          <p:spPr>
            <a:xfrm>
              <a:off x="5999861" y="4620640"/>
              <a:ext cx="533400" cy="1054100"/>
            </a:xfrm>
            <a:custGeom>
              <a:avLst/>
              <a:gdLst/>
              <a:ahLst/>
              <a:cxnLst/>
              <a:rect l="l" t="t" r="r" b="b"/>
              <a:pathLst>
                <a:path w="533400" h="1054100">
                  <a:moveTo>
                    <a:pt x="111506" y="539877"/>
                  </a:moveTo>
                  <a:lnTo>
                    <a:pt x="108712" y="535178"/>
                  </a:lnTo>
                  <a:lnTo>
                    <a:pt x="67157" y="463931"/>
                  </a:lnTo>
                  <a:lnTo>
                    <a:pt x="55753" y="444373"/>
                  </a:lnTo>
                  <a:lnTo>
                    <a:pt x="2794" y="535178"/>
                  </a:lnTo>
                  <a:lnTo>
                    <a:pt x="0" y="539877"/>
                  </a:lnTo>
                  <a:lnTo>
                    <a:pt x="1524" y="545973"/>
                  </a:lnTo>
                  <a:lnTo>
                    <a:pt x="6350" y="548767"/>
                  </a:lnTo>
                  <a:lnTo>
                    <a:pt x="11049" y="551561"/>
                  </a:lnTo>
                  <a:lnTo>
                    <a:pt x="17145" y="549910"/>
                  </a:lnTo>
                  <a:lnTo>
                    <a:pt x="19812" y="545211"/>
                  </a:lnTo>
                  <a:lnTo>
                    <a:pt x="45834" y="500583"/>
                  </a:lnTo>
                  <a:lnTo>
                    <a:pt x="45847" y="463931"/>
                  </a:lnTo>
                  <a:lnTo>
                    <a:pt x="45847" y="500583"/>
                  </a:lnTo>
                  <a:lnTo>
                    <a:pt x="45847" y="1053973"/>
                  </a:lnTo>
                  <a:lnTo>
                    <a:pt x="65659" y="1053973"/>
                  </a:lnTo>
                  <a:lnTo>
                    <a:pt x="65659" y="500583"/>
                  </a:lnTo>
                  <a:lnTo>
                    <a:pt x="91694" y="545211"/>
                  </a:lnTo>
                  <a:lnTo>
                    <a:pt x="94361" y="549910"/>
                  </a:lnTo>
                  <a:lnTo>
                    <a:pt x="100457" y="551561"/>
                  </a:lnTo>
                  <a:lnTo>
                    <a:pt x="109855" y="545973"/>
                  </a:lnTo>
                  <a:lnTo>
                    <a:pt x="111506" y="539877"/>
                  </a:lnTo>
                  <a:close/>
                </a:path>
                <a:path w="533400" h="1054100">
                  <a:moveTo>
                    <a:pt x="533019" y="55753"/>
                  </a:moveTo>
                  <a:lnTo>
                    <a:pt x="516026" y="45847"/>
                  </a:lnTo>
                  <a:lnTo>
                    <a:pt x="442214" y="2794"/>
                  </a:lnTo>
                  <a:lnTo>
                    <a:pt x="437515" y="0"/>
                  </a:lnTo>
                  <a:lnTo>
                    <a:pt x="431419" y="1524"/>
                  </a:lnTo>
                  <a:lnTo>
                    <a:pt x="428625" y="6350"/>
                  </a:lnTo>
                  <a:lnTo>
                    <a:pt x="425958" y="11049"/>
                  </a:lnTo>
                  <a:lnTo>
                    <a:pt x="427482" y="17145"/>
                  </a:lnTo>
                  <a:lnTo>
                    <a:pt x="432181" y="19812"/>
                  </a:lnTo>
                  <a:lnTo>
                    <a:pt x="476796" y="45847"/>
                  </a:lnTo>
                  <a:lnTo>
                    <a:pt x="188341" y="45847"/>
                  </a:lnTo>
                  <a:lnTo>
                    <a:pt x="188341" y="65659"/>
                  </a:lnTo>
                  <a:lnTo>
                    <a:pt x="476796" y="65659"/>
                  </a:lnTo>
                  <a:lnTo>
                    <a:pt x="432181" y="91694"/>
                  </a:lnTo>
                  <a:lnTo>
                    <a:pt x="427482" y="94361"/>
                  </a:lnTo>
                  <a:lnTo>
                    <a:pt x="425958" y="100457"/>
                  </a:lnTo>
                  <a:lnTo>
                    <a:pt x="428625" y="105156"/>
                  </a:lnTo>
                  <a:lnTo>
                    <a:pt x="431419" y="109982"/>
                  </a:lnTo>
                  <a:lnTo>
                    <a:pt x="437515" y="111506"/>
                  </a:lnTo>
                  <a:lnTo>
                    <a:pt x="442214" y="108712"/>
                  </a:lnTo>
                  <a:lnTo>
                    <a:pt x="516026" y="65659"/>
                  </a:lnTo>
                  <a:lnTo>
                    <a:pt x="533019" y="55753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8059256" y="862086"/>
            <a:ext cx="298834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the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10136885" y="3952250"/>
            <a:ext cx="189230" cy="779145"/>
          </a:xfrm>
          <a:custGeom>
            <a:avLst/>
            <a:gdLst/>
            <a:ahLst/>
            <a:cxnLst/>
            <a:rect l="l" t="t" r="r" b="b"/>
            <a:pathLst>
              <a:path w="189229" h="779145">
                <a:moveTo>
                  <a:pt x="0" y="0"/>
                </a:moveTo>
                <a:lnTo>
                  <a:pt x="36784" y="5816"/>
                </a:lnTo>
                <a:lnTo>
                  <a:pt x="66817" y="21669"/>
                </a:lnTo>
                <a:lnTo>
                  <a:pt x="87064" y="45166"/>
                </a:lnTo>
                <a:lnTo>
                  <a:pt x="94488" y="73913"/>
                </a:lnTo>
                <a:lnTo>
                  <a:pt x="94488" y="315468"/>
                </a:lnTo>
                <a:lnTo>
                  <a:pt x="101911" y="344215"/>
                </a:lnTo>
                <a:lnTo>
                  <a:pt x="122158" y="367712"/>
                </a:lnTo>
                <a:lnTo>
                  <a:pt x="152191" y="383565"/>
                </a:lnTo>
                <a:lnTo>
                  <a:pt x="188975" y="389381"/>
                </a:lnTo>
                <a:lnTo>
                  <a:pt x="152191" y="395198"/>
                </a:lnTo>
                <a:lnTo>
                  <a:pt x="122158" y="411051"/>
                </a:lnTo>
                <a:lnTo>
                  <a:pt x="101911" y="434548"/>
                </a:lnTo>
                <a:lnTo>
                  <a:pt x="94488" y="463295"/>
                </a:lnTo>
                <a:lnTo>
                  <a:pt x="94488" y="704850"/>
                </a:lnTo>
                <a:lnTo>
                  <a:pt x="87064" y="733597"/>
                </a:lnTo>
                <a:lnTo>
                  <a:pt x="66817" y="757094"/>
                </a:lnTo>
                <a:lnTo>
                  <a:pt x="36784" y="772947"/>
                </a:lnTo>
                <a:lnTo>
                  <a:pt x="0" y="778763"/>
                </a:lnTo>
              </a:path>
            </a:pathLst>
          </a:custGeom>
          <a:ln w="19812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pic>
        <p:nvPicPr>
          <p:cNvPr id="65" name="Picture 6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29499" y="1589414"/>
            <a:ext cx="333375" cy="304800"/>
          </a:xfrm>
          <a:prstGeom prst="rect">
            <a:avLst/>
          </a:prstGeom>
        </p:spPr>
      </p:pic>
      <p:sp>
        <p:nvSpPr>
          <p:cNvPr id="66" name="object 2">
            <a:extLst>
              <a:ext uri="{FF2B5EF4-FFF2-40B4-BE49-F238E27FC236}">
                <a16:creationId xmlns:a16="http://schemas.microsoft.com/office/drawing/2014/main" id="{9D7140BD-170B-152C-8826-20C17577EB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1325" y="46597"/>
            <a:ext cx="11307763" cy="629018"/>
          </a:xfrm>
          <a:prstGeom prst="rect">
            <a:avLst/>
          </a:prstGeom>
        </p:spPr>
        <p:txBody>
          <a:bodyPr vert="horz" wrap="square" lIns="0" tIns="1333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pc="-5" dirty="0"/>
              <a:t>Sequence-to-Sequence</a:t>
            </a:r>
            <a:r>
              <a:rPr lang="en-IN" spc="-40" dirty="0"/>
              <a:t> </a:t>
            </a:r>
            <a:r>
              <a:rPr lang="en-IN" spc="-5" dirty="0"/>
              <a:t>With</a:t>
            </a:r>
            <a:r>
              <a:rPr lang="en-IN" spc="15" dirty="0"/>
              <a:t> A</a:t>
            </a:r>
            <a:r>
              <a:rPr lang="en-IN" dirty="0"/>
              <a:t>ttention</a:t>
            </a:r>
            <a:endParaRPr dirty="0"/>
          </a:p>
        </p:txBody>
      </p:sp>
      <p:sp>
        <p:nvSpPr>
          <p:cNvPr id="67" name="object 22">
            <a:extLst>
              <a:ext uri="{FF2B5EF4-FFF2-40B4-BE49-F238E27FC236}">
                <a16:creationId xmlns:a16="http://schemas.microsoft.com/office/drawing/2014/main" id="{0866BE2A-DA69-35ED-BB5D-0BA8D98C33B2}"/>
              </a:ext>
            </a:extLst>
          </p:cNvPr>
          <p:cNvSpPr txBox="1"/>
          <p:nvPr/>
        </p:nvSpPr>
        <p:spPr>
          <a:xfrm>
            <a:off x="10372554" y="3700406"/>
            <a:ext cx="467885" cy="128270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Decoder</a:t>
            </a:r>
            <a:r>
              <a:rPr kumimoji="0" sz="1800" b="0" i="0" u="none" strike="noStrike" kern="1200" cap="none" spc="-3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RNN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70" name="object 22">
            <a:extLst>
              <a:ext uri="{FF2B5EF4-FFF2-40B4-BE49-F238E27FC236}">
                <a16:creationId xmlns:a16="http://schemas.microsoft.com/office/drawing/2014/main" id="{2E52884B-0510-C706-560C-671FBF5CBEA4}"/>
              </a:ext>
            </a:extLst>
          </p:cNvPr>
          <p:cNvSpPr txBox="1"/>
          <p:nvPr/>
        </p:nvSpPr>
        <p:spPr>
          <a:xfrm>
            <a:off x="5389627" y="5341175"/>
            <a:ext cx="112966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>
                <a:tab pos="884555" algn="l"/>
              </a:tabLst>
              <a:defRPr/>
            </a:pPr>
            <a:r>
              <a:rPr kumimoji="0" sz="1600" b="0" i="1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&lt;</a:t>
            </a:r>
            <a:r>
              <a:rPr kumimoji="0" sz="1600" b="0" i="1" u="none" strike="noStrike" kern="120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</a:t>
            </a:r>
            <a:r>
              <a:rPr kumimoji="0" sz="1600" b="0" i="1" u="none" strike="noStrike" kern="1200" cap="none" spc="-1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</a:t>
            </a:r>
            <a:r>
              <a:rPr kumimoji="0" sz="16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</a:t>
            </a:r>
            <a:r>
              <a:rPr kumimoji="0" sz="1600" b="0" i="1" u="none" strike="noStrike" kern="120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R</a:t>
            </a:r>
            <a:r>
              <a:rPr kumimoji="0" sz="1600" b="0" i="1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</a:t>
            </a:r>
            <a:r>
              <a:rPr kumimoji="0" sz="16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&gt;</a:t>
            </a:r>
            <a:r>
              <a:rPr kumimoji="0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	</a:t>
            </a:r>
            <a:r>
              <a:rPr kumimoji="0" lang="en-US" sz="1600" b="0" i="1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we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71" name="object 48">
            <a:extLst>
              <a:ext uri="{FF2B5EF4-FFF2-40B4-BE49-F238E27FC236}">
                <a16:creationId xmlns:a16="http://schemas.microsoft.com/office/drawing/2014/main" id="{F31B658A-A2AC-AA39-6EE7-CF7CACE5FA4E}"/>
              </a:ext>
            </a:extLst>
          </p:cNvPr>
          <p:cNvSpPr txBox="1"/>
          <p:nvPr/>
        </p:nvSpPr>
        <p:spPr>
          <a:xfrm>
            <a:off x="6799542" y="5337517"/>
            <a:ext cx="36615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had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72" name="object 49">
            <a:extLst>
              <a:ext uri="{FF2B5EF4-FFF2-40B4-BE49-F238E27FC236}">
                <a16:creationId xmlns:a16="http://schemas.microsoft.com/office/drawing/2014/main" id="{F84D2DB0-D307-079C-FB11-2A05892B6E89}"/>
              </a:ext>
            </a:extLst>
          </p:cNvPr>
          <p:cNvSpPr txBox="1"/>
          <p:nvPr/>
        </p:nvSpPr>
        <p:spPr>
          <a:xfrm>
            <a:off x="7449059" y="5332946"/>
            <a:ext cx="95440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>
                <a:tab pos="575945" algn="l"/>
              </a:tabLst>
              <a:defRPr/>
            </a:pPr>
            <a:r>
              <a:rPr kumimoji="0" lang="en-US" sz="1600" b="0" i="1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gone</a:t>
            </a:r>
            <a:r>
              <a:rPr kumimoji="0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	</a:t>
            </a: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  </a:t>
            </a:r>
            <a:r>
              <a:rPr kumimoji="0" lang="en-US" sz="16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to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037317D-8118-8557-EBDE-9BDB467CD565}"/>
              </a:ext>
            </a:extLst>
          </p:cNvPr>
          <p:cNvSpPr/>
          <p:nvPr/>
        </p:nvSpPr>
        <p:spPr>
          <a:xfrm>
            <a:off x="2442470" y="1527442"/>
            <a:ext cx="2308860" cy="85546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8536C672-E1E9-8B47-7834-4A66AC049B3B}"/>
              </a:ext>
            </a:extLst>
          </p:cNvPr>
          <p:cNvSpPr/>
          <p:nvPr/>
        </p:nvSpPr>
        <p:spPr>
          <a:xfrm>
            <a:off x="3212938" y="1865896"/>
            <a:ext cx="126000" cy="511212"/>
          </a:xfrm>
          <a:prstGeom prst="rect">
            <a:avLst/>
          </a:prstGeom>
          <a:solidFill>
            <a:srgbClr val="BCD6FF"/>
          </a:solidFill>
          <a:ln w="19050">
            <a:solidFill>
              <a:srgbClr val="388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1D1D1D02-6290-D16C-3CF3-967281146F7D}"/>
              </a:ext>
            </a:extLst>
          </p:cNvPr>
          <p:cNvSpPr/>
          <p:nvPr/>
        </p:nvSpPr>
        <p:spPr>
          <a:xfrm>
            <a:off x="2592250" y="2318992"/>
            <a:ext cx="126000" cy="59606"/>
          </a:xfrm>
          <a:prstGeom prst="rect">
            <a:avLst/>
          </a:prstGeom>
          <a:solidFill>
            <a:srgbClr val="BCD6FF"/>
          </a:solidFill>
          <a:ln w="19050">
            <a:solidFill>
              <a:srgbClr val="388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75C7DFAA-E6AB-9C48-97D7-80D5D23EB773}"/>
              </a:ext>
            </a:extLst>
          </p:cNvPr>
          <p:cNvSpPr/>
          <p:nvPr/>
        </p:nvSpPr>
        <p:spPr>
          <a:xfrm>
            <a:off x="3775415" y="2320894"/>
            <a:ext cx="126000" cy="59606"/>
          </a:xfrm>
          <a:prstGeom prst="rect">
            <a:avLst/>
          </a:prstGeom>
          <a:solidFill>
            <a:srgbClr val="BCD6FF"/>
          </a:solidFill>
          <a:ln w="19050">
            <a:solidFill>
              <a:srgbClr val="388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853F638A-4B62-2CB2-4DFC-0CF810DC03D1}"/>
              </a:ext>
            </a:extLst>
          </p:cNvPr>
          <p:cNvSpPr/>
          <p:nvPr/>
        </p:nvSpPr>
        <p:spPr>
          <a:xfrm>
            <a:off x="4395910" y="2330773"/>
            <a:ext cx="126000" cy="59606"/>
          </a:xfrm>
          <a:prstGeom prst="rect">
            <a:avLst/>
          </a:prstGeom>
          <a:solidFill>
            <a:srgbClr val="BCD6FF"/>
          </a:solidFill>
          <a:ln w="19050">
            <a:solidFill>
              <a:srgbClr val="388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B117A7CF-06CE-4A10-F8E6-94AB3B4F2580}"/>
              </a:ext>
            </a:extLst>
          </p:cNvPr>
          <p:cNvCxnSpPr>
            <a:cxnSpLocks/>
            <a:endCxn id="73" idx="0"/>
          </p:cNvCxnSpPr>
          <p:nvPr/>
        </p:nvCxnSpPr>
        <p:spPr>
          <a:xfrm flipV="1">
            <a:off x="2647386" y="1527442"/>
            <a:ext cx="949514" cy="77865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D18A42C3-73D2-0311-C7DC-1A64127BBBB2}"/>
              </a:ext>
            </a:extLst>
          </p:cNvPr>
          <p:cNvCxnSpPr>
            <a:cxnSpLocks/>
            <a:stCxn id="74" idx="0"/>
            <a:endCxn id="73" idx="0"/>
          </p:cNvCxnSpPr>
          <p:nvPr/>
        </p:nvCxnSpPr>
        <p:spPr>
          <a:xfrm flipV="1">
            <a:off x="3275938" y="1527442"/>
            <a:ext cx="320962" cy="338454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53420BF3-4C44-BDA5-DD48-4227A3BEBF6B}"/>
              </a:ext>
            </a:extLst>
          </p:cNvPr>
          <p:cNvCxnSpPr>
            <a:cxnSpLocks/>
          </p:cNvCxnSpPr>
          <p:nvPr/>
        </p:nvCxnSpPr>
        <p:spPr>
          <a:xfrm flipH="1" flipV="1">
            <a:off x="3658511" y="1525032"/>
            <a:ext cx="165205" cy="76316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7ADDBF37-A74E-4A26-C626-B411A238D795}"/>
              </a:ext>
            </a:extLst>
          </p:cNvPr>
          <p:cNvCxnSpPr>
            <a:cxnSpLocks/>
          </p:cNvCxnSpPr>
          <p:nvPr/>
        </p:nvCxnSpPr>
        <p:spPr>
          <a:xfrm flipH="1" flipV="1">
            <a:off x="3740086" y="1525032"/>
            <a:ext cx="655824" cy="79396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object 13">
            <a:extLst>
              <a:ext uri="{FF2B5EF4-FFF2-40B4-BE49-F238E27FC236}">
                <a16:creationId xmlns:a16="http://schemas.microsoft.com/office/drawing/2014/main" id="{4CE9AB78-C883-062F-2A09-0720D70E523D}"/>
              </a:ext>
            </a:extLst>
          </p:cNvPr>
          <p:cNvSpPr txBox="1"/>
          <p:nvPr/>
        </p:nvSpPr>
        <p:spPr>
          <a:xfrm>
            <a:off x="2433333" y="5954560"/>
            <a:ext cx="2230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Source sentence</a:t>
            </a:r>
            <a:r>
              <a:rPr kumimoji="0" sz="1800" b="0" i="0" u="none" strike="noStrike" kern="120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(input)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83" name="object 14">
            <a:extLst>
              <a:ext uri="{FF2B5EF4-FFF2-40B4-BE49-F238E27FC236}">
                <a16:creationId xmlns:a16="http://schemas.microsoft.com/office/drawing/2014/main" id="{5F1C3842-1D57-914D-C9FF-ABCB0EDF2DA0}"/>
              </a:ext>
            </a:extLst>
          </p:cNvPr>
          <p:cNvSpPr/>
          <p:nvPr/>
        </p:nvSpPr>
        <p:spPr>
          <a:xfrm>
            <a:off x="2357710" y="5780012"/>
            <a:ext cx="2343455" cy="197550"/>
          </a:xfrm>
          <a:custGeom>
            <a:avLst/>
            <a:gdLst/>
            <a:ahLst/>
            <a:cxnLst/>
            <a:rect l="l" t="t" r="r" b="b"/>
            <a:pathLst>
              <a:path w="2435860" h="271779">
                <a:moveTo>
                  <a:pt x="2435352" y="0"/>
                </a:moveTo>
                <a:lnTo>
                  <a:pt x="2427013" y="52804"/>
                </a:lnTo>
                <a:lnTo>
                  <a:pt x="2404268" y="95916"/>
                </a:lnTo>
                <a:lnTo>
                  <a:pt x="2370522" y="124979"/>
                </a:lnTo>
                <a:lnTo>
                  <a:pt x="2329180" y="135636"/>
                </a:lnTo>
                <a:lnTo>
                  <a:pt x="1323848" y="135636"/>
                </a:lnTo>
                <a:lnTo>
                  <a:pt x="1282505" y="146292"/>
                </a:lnTo>
                <a:lnTo>
                  <a:pt x="1248759" y="175355"/>
                </a:lnTo>
                <a:lnTo>
                  <a:pt x="1226014" y="218467"/>
                </a:lnTo>
                <a:lnTo>
                  <a:pt x="1217676" y="271272"/>
                </a:lnTo>
                <a:lnTo>
                  <a:pt x="1209337" y="218467"/>
                </a:lnTo>
                <a:lnTo>
                  <a:pt x="1186592" y="175355"/>
                </a:lnTo>
                <a:lnTo>
                  <a:pt x="1152846" y="146292"/>
                </a:lnTo>
                <a:lnTo>
                  <a:pt x="1111504" y="135636"/>
                </a:lnTo>
                <a:lnTo>
                  <a:pt x="106146" y="135636"/>
                </a:lnTo>
                <a:lnTo>
                  <a:pt x="64829" y="124979"/>
                </a:lnTo>
                <a:lnTo>
                  <a:pt x="31089" y="95916"/>
                </a:lnTo>
                <a:lnTo>
                  <a:pt x="8341" y="52804"/>
                </a:lnTo>
                <a:lnTo>
                  <a:pt x="0" y="0"/>
                </a:lnTo>
              </a:path>
            </a:pathLst>
          </a:custGeom>
          <a:ln w="198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84" name="object 21">
            <a:extLst>
              <a:ext uri="{FF2B5EF4-FFF2-40B4-BE49-F238E27FC236}">
                <a16:creationId xmlns:a16="http://schemas.microsoft.com/office/drawing/2014/main" id="{17EEAAC2-D0DD-D203-02CB-1D7AF8E926AF}"/>
              </a:ext>
            </a:extLst>
          </p:cNvPr>
          <p:cNvSpPr txBox="1"/>
          <p:nvPr/>
        </p:nvSpPr>
        <p:spPr>
          <a:xfrm>
            <a:off x="2426336" y="5313638"/>
            <a:ext cx="40980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i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हम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85" name="object 22">
            <a:extLst>
              <a:ext uri="{FF2B5EF4-FFF2-40B4-BE49-F238E27FC236}">
                <a16:creationId xmlns:a16="http://schemas.microsoft.com/office/drawing/2014/main" id="{67677E3B-CD60-89D4-8ED7-FA297580646F}"/>
              </a:ext>
            </a:extLst>
          </p:cNvPr>
          <p:cNvSpPr txBox="1"/>
          <p:nvPr/>
        </p:nvSpPr>
        <p:spPr>
          <a:xfrm>
            <a:off x="3002623" y="5313638"/>
            <a:ext cx="53340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i-IN" sz="16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बाजार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86" name="object 21">
            <a:extLst>
              <a:ext uri="{FF2B5EF4-FFF2-40B4-BE49-F238E27FC236}">
                <a16:creationId xmlns:a16="http://schemas.microsoft.com/office/drawing/2014/main" id="{1AE7BFF3-A263-3189-A133-427A75C62C0F}"/>
              </a:ext>
            </a:extLst>
          </p:cNvPr>
          <p:cNvSpPr txBox="1"/>
          <p:nvPr/>
        </p:nvSpPr>
        <p:spPr>
          <a:xfrm>
            <a:off x="3658511" y="5317123"/>
            <a:ext cx="40980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i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गये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87" name="object 21">
            <a:extLst>
              <a:ext uri="{FF2B5EF4-FFF2-40B4-BE49-F238E27FC236}">
                <a16:creationId xmlns:a16="http://schemas.microsoft.com/office/drawing/2014/main" id="{A9801A30-B097-7E84-B00E-17B0124667B1}"/>
              </a:ext>
            </a:extLst>
          </p:cNvPr>
          <p:cNvSpPr txBox="1"/>
          <p:nvPr/>
        </p:nvSpPr>
        <p:spPr>
          <a:xfrm>
            <a:off x="4268105" y="5310901"/>
            <a:ext cx="40980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i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थे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D764473-AD92-B813-E321-369B88737292}"/>
              </a:ext>
            </a:extLst>
          </p:cNvPr>
          <p:cNvSpPr txBox="1"/>
          <p:nvPr/>
        </p:nvSpPr>
        <p:spPr>
          <a:xfrm>
            <a:off x="2412364" y="5540067"/>
            <a:ext cx="2321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ham      baajaar     gaye         the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506725" y="721881"/>
            <a:ext cx="6299200" cy="4597400"/>
            <a:chOff x="982725" y="1095502"/>
            <a:chExt cx="6299200" cy="45974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6799" y="4367784"/>
              <a:ext cx="126492" cy="13258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6799" y="4536948"/>
              <a:ext cx="126492" cy="13258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6799" y="4706111"/>
              <a:ext cx="126492" cy="13258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6799" y="4875275"/>
              <a:ext cx="126492" cy="13106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992885" y="4303013"/>
              <a:ext cx="266700" cy="780415"/>
            </a:xfrm>
            <a:custGeom>
              <a:avLst/>
              <a:gdLst/>
              <a:ahLst/>
              <a:cxnLst/>
              <a:rect l="l" t="t" r="r" b="b"/>
              <a:pathLst>
                <a:path w="266700" h="780414">
                  <a:moveTo>
                    <a:pt x="222250" y="0"/>
                  </a:moveTo>
                  <a:lnTo>
                    <a:pt x="239551" y="3498"/>
                  </a:lnTo>
                  <a:lnTo>
                    <a:pt x="253680" y="13033"/>
                  </a:lnTo>
                  <a:lnTo>
                    <a:pt x="263206" y="27164"/>
                  </a:lnTo>
                  <a:lnTo>
                    <a:pt x="266700" y="44450"/>
                  </a:lnTo>
                  <a:lnTo>
                    <a:pt x="266700" y="735838"/>
                  </a:lnTo>
                  <a:lnTo>
                    <a:pt x="263206" y="753123"/>
                  </a:lnTo>
                  <a:lnTo>
                    <a:pt x="253680" y="767254"/>
                  </a:lnTo>
                  <a:lnTo>
                    <a:pt x="239551" y="776789"/>
                  </a:lnTo>
                  <a:lnTo>
                    <a:pt x="222250" y="780288"/>
                  </a:lnTo>
                  <a:lnTo>
                    <a:pt x="44450" y="780288"/>
                  </a:lnTo>
                  <a:lnTo>
                    <a:pt x="27148" y="776789"/>
                  </a:lnTo>
                  <a:lnTo>
                    <a:pt x="13019" y="767254"/>
                  </a:lnTo>
                  <a:lnTo>
                    <a:pt x="3493" y="753123"/>
                  </a:lnTo>
                  <a:lnTo>
                    <a:pt x="0" y="735838"/>
                  </a:lnTo>
                  <a:lnTo>
                    <a:pt x="0" y="44450"/>
                  </a:lnTo>
                  <a:lnTo>
                    <a:pt x="3493" y="27164"/>
                  </a:lnTo>
                  <a:lnTo>
                    <a:pt x="13019" y="13033"/>
                  </a:lnTo>
                  <a:lnTo>
                    <a:pt x="27148" y="3498"/>
                  </a:lnTo>
                  <a:lnTo>
                    <a:pt x="44450" y="0"/>
                  </a:lnTo>
                  <a:lnTo>
                    <a:pt x="222250" y="0"/>
                  </a:lnTo>
                  <a:close/>
                </a:path>
              </a:pathLst>
            </a:custGeom>
            <a:ln w="19812">
              <a:solidFill>
                <a:srgbClr val="A3001D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71232" y="4637404"/>
              <a:ext cx="533400" cy="1056005"/>
            </a:xfrm>
            <a:custGeom>
              <a:avLst/>
              <a:gdLst/>
              <a:ahLst/>
              <a:cxnLst/>
              <a:rect l="l" t="t" r="r" b="b"/>
              <a:pathLst>
                <a:path w="533400" h="1056004">
                  <a:moveTo>
                    <a:pt x="111531" y="541401"/>
                  </a:moveTo>
                  <a:lnTo>
                    <a:pt x="67183" y="465455"/>
                  </a:lnTo>
                  <a:lnTo>
                    <a:pt x="55765" y="445897"/>
                  </a:lnTo>
                  <a:lnTo>
                    <a:pt x="0" y="541401"/>
                  </a:lnTo>
                  <a:lnTo>
                    <a:pt x="1600" y="547497"/>
                  </a:lnTo>
                  <a:lnTo>
                    <a:pt x="11049" y="553085"/>
                  </a:lnTo>
                  <a:lnTo>
                    <a:pt x="17119" y="551434"/>
                  </a:lnTo>
                  <a:lnTo>
                    <a:pt x="45859" y="502183"/>
                  </a:lnTo>
                  <a:lnTo>
                    <a:pt x="45859" y="1055497"/>
                  </a:lnTo>
                  <a:lnTo>
                    <a:pt x="65671" y="1055497"/>
                  </a:lnTo>
                  <a:lnTo>
                    <a:pt x="65671" y="502183"/>
                  </a:lnTo>
                  <a:lnTo>
                    <a:pt x="94411" y="551434"/>
                  </a:lnTo>
                  <a:lnTo>
                    <a:pt x="100482" y="553085"/>
                  </a:lnTo>
                  <a:lnTo>
                    <a:pt x="109931" y="547497"/>
                  </a:lnTo>
                  <a:lnTo>
                    <a:pt x="111531" y="541401"/>
                  </a:lnTo>
                  <a:close/>
                </a:path>
                <a:path w="533400" h="1056004">
                  <a:moveTo>
                    <a:pt x="533019" y="55765"/>
                  </a:moveTo>
                  <a:lnTo>
                    <a:pt x="516039" y="45847"/>
                  </a:lnTo>
                  <a:lnTo>
                    <a:pt x="442226" y="2794"/>
                  </a:lnTo>
                  <a:lnTo>
                    <a:pt x="437527" y="0"/>
                  </a:lnTo>
                  <a:lnTo>
                    <a:pt x="431431" y="1524"/>
                  </a:lnTo>
                  <a:lnTo>
                    <a:pt x="428637" y="6350"/>
                  </a:lnTo>
                  <a:lnTo>
                    <a:pt x="425970" y="11049"/>
                  </a:lnTo>
                  <a:lnTo>
                    <a:pt x="427494" y="17145"/>
                  </a:lnTo>
                  <a:lnTo>
                    <a:pt x="432193" y="19812"/>
                  </a:lnTo>
                  <a:lnTo>
                    <a:pt x="476796" y="45847"/>
                  </a:lnTo>
                  <a:lnTo>
                    <a:pt x="188353" y="45847"/>
                  </a:lnTo>
                  <a:lnTo>
                    <a:pt x="188353" y="65659"/>
                  </a:lnTo>
                  <a:lnTo>
                    <a:pt x="476821" y="65659"/>
                  </a:lnTo>
                  <a:lnTo>
                    <a:pt x="493801" y="55765"/>
                  </a:lnTo>
                  <a:lnTo>
                    <a:pt x="432193" y="91694"/>
                  </a:lnTo>
                  <a:lnTo>
                    <a:pt x="427494" y="94361"/>
                  </a:lnTo>
                  <a:lnTo>
                    <a:pt x="425970" y="100457"/>
                  </a:lnTo>
                  <a:lnTo>
                    <a:pt x="428637" y="105156"/>
                  </a:lnTo>
                  <a:lnTo>
                    <a:pt x="431431" y="109982"/>
                  </a:lnTo>
                  <a:lnTo>
                    <a:pt x="437527" y="111506"/>
                  </a:lnTo>
                  <a:lnTo>
                    <a:pt x="442226" y="108712"/>
                  </a:lnTo>
                  <a:lnTo>
                    <a:pt x="516039" y="65659"/>
                  </a:lnTo>
                  <a:lnTo>
                    <a:pt x="533019" y="55765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91055" y="3511296"/>
              <a:ext cx="3131311" cy="217551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077252" y="3627881"/>
              <a:ext cx="111760" cy="675005"/>
            </a:xfrm>
            <a:custGeom>
              <a:avLst/>
              <a:gdLst/>
              <a:ahLst/>
              <a:cxnLst/>
              <a:rect l="l" t="t" r="r" b="b"/>
              <a:pathLst>
                <a:path w="111759" h="675004">
                  <a:moveTo>
                    <a:pt x="56337" y="39259"/>
                  </a:moveTo>
                  <a:lnTo>
                    <a:pt x="46267" y="56136"/>
                  </a:lnTo>
                  <a:lnTo>
                    <a:pt x="39839" y="674751"/>
                  </a:lnTo>
                  <a:lnTo>
                    <a:pt x="59651" y="675005"/>
                  </a:lnTo>
                  <a:lnTo>
                    <a:pt x="66078" y="56372"/>
                  </a:lnTo>
                  <a:lnTo>
                    <a:pt x="56337" y="39259"/>
                  </a:lnTo>
                  <a:close/>
                </a:path>
                <a:path w="111759" h="675004">
                  <a:moveTo>
                    <a:pt x="67906" y="19558"/>
                  </a:moveTo>
                  <a:lnTo>
                    <a:pt x="46647" y="19558"/>
                  </a:lnTo>
                  <a:lnTo>
                    <a:pt x="66459" y="19685"/>
                  </a:lnTo>
                  <a:lnTo>
                    <a:pt x="66078" y="56372"/>
                  </a:lnTo>
                  <a:lnTo>
                    <a:pt x="91605" y="101219"/>
                  </a:lnTo>
                  <a:lnTo>
                    <a:pt x="94310" y="105918"/>
                  </a:lnTo>
                  <a:lnTo>
                    <a:pt x="100355" y="107569"/>
                  </a:lnTo>
                  <a:lnTo>
                    <a:pt x="105117" y="104902"/>
                  </a:lnTo>
                  <a:lnTo>
                    <a:pt x="109867" y="102108"/>
                  </a:lnTo>
                  <a:lnTo>
                    <a:pt x="111531" y="96139"/>
                  </a:lnTo>
                  <a:lnTo>
                    <a:pt x="108813" y="91313"/>
                  </a:lnTo>
                  <a:lnTo>
                    <a:pt x="67906" y="19558"/>
                  </a:lnTo>
                  <a:close/>
                </a:path>
                <a:path w="111759" h="675004">
                  <a:moveTo>
                    <a:pt x="56756" y="0"/>
                  </a:moveTo>
                  <a:lnTo>
                    <a:pt x="0" y="94996"/>
                  </a:lnTo>
                  <a:lnTo>
                    <a:pt x="1536" y="101092"/>
                  </a:lnTo>
                  <a:lnTo>
                    <a:pt x="10934" y="106680"/>
                  </a:lnTo>
                  <a:lnTo>
                    <a:pt x="17018" y="105156"/>
                  </a:lnTo>
                  <a:lnTo>
                    <a:pt x="46267" y="56136"/>
                  </a:lnTo>
                  <a:lnTo>
                    <a:pt x="46647" y="19558"/>
                  </a:lnTo>
                  <a:lnTo>
                    <a:pt x="67906" y="19558"/>
                  </a:lnTo>
                  <a:lnTo>
                    <a:pt x="56756" y="0"/>
                  </a:lnTo>
                  <a:close/>
                </a:path>
                <a:path w="111759" h="675004">
                  <a:moveTo>
                    <a:pt x="66408" y="24511"/>
                  </a:moveTo>
                  <a:lnTo>
                    <a:pt x="47942" y="24511"/>
                  </a:lnTo>
                  <a:lnTo>
                    <a:pt x="65062" y="24638"/>
                  </a:lnTo>
                  <a:lnTo>
                    <a:pt x="56337" y="39259"/>
                  </a:lnTo>
                  <a:lnTo>
                    <a:pt x="66078" y="56372"/>
                  </a:lnTo>
                  <a:lnTo>
                    <a:pt x="66408" y="24511"/>
                  </a:lnTo>
                  <a:close/>
                </a:path>
                <a:path w="111759" h="675004">
                  <a:moveTo>
                    <a:pt x="46647" y="19558"/>
                  </a:moveTo>
                  <a:lnTo>
                    <a:pt x="46267" y="56136"/>
                  </a:lnTo>
                  <a:lnTo>
                    <a:pt x="56337" y="39259"/>
                  </a:lnTo>
                  <a:lnTo>
                    <a:pt x="47942" y="24511"/>
                  </a:lnTo>
                  <a:lnTo>
                    <a:pt x="66408" y="24511"/>
                  </a:lnTo>
                  <a:lnTo>
                    <a:pt x="66459" y="19685"/>
                  </a:lnTo>
                  <a:lnTo>
                    <a:pt x="46647" y="19558"/>
                  </a:lnTo>
                  <a:close/>
                </a:path>
                <a:path w="111759" h="675004">
                  <a:moveTo>
                    <a:pt x="47942" y="24511"/>
                  </a:moveTo>
                  <a:lnTo>
                    <a:pt x="56337" y="39259"/>
                  </a:lnTo>
                  <a:lnTo>
                    <a:pt x="65062" y="24638"/>
                  </a:lnTo>
                  <a:lnTo>
                    <a:pt x="47942" y="24511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66799" y="3511296"/>
              <a:ext cx="132587" cy="12649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79309" y="2759201"/>
              <a:ext cx="6202680" cy="1532890"/>
            </a:xfrm>
            <a:custGeom>
              <a:avLst/>
              <a:gdLst/>
              <a:ahLst/>
              <a:cxnLst/>
              <a:rect l="l" t="t" r="r" b="b"/>
              <a:pathLst>
                <a:path w="6202680" h="1532889">
                  <a:moveTo>
                    <a:pt x="111518" y="104902"/>
                  </a:moveTo>
                  <a:lnTo>
                    <a:pt x="108775" y="100076"/>
                  </a:lnTo>
                  <a:lnTo>
                    <a:pt x="67386" y="28702"/>
                  </a:lnTo>
                  <a:lnTo>
                    <a:pt x="56045" y="9144"/>
                  </a:lnTo>
                  <a:lnTo>
                    <a:pt x="0" y="104521"/>
                  </a:lnTo>
                  <a:lnTo>
                    <a:pt x="1574" y="110617"/>
                  </a:lnTo>
                  <a:lnTo>
                    <a:pt x="6286" y="113411"/>
                  </a:lnTo>
                  <a:lnTo>
                    <a:pt x="11010" y="116078"/>
                  </a:lnTo>
                  <a:lnTo>
                    <a:pt x="17081" y="114554"/>
                  </a:lnTo>
                  <a:lnTo>
                    <a:pt x="45897" y="65481"/>
                  </a:lnTo>
                  <a:lnTo>
                    <a:pt x="46024" y="48450"/>
                  </a:lnTo>
                  <a:lnTo>
                    <a:pt x="45974" y="65366"/>
                  </a:lnTo>
                  <a:lnTo>
                    <a:pt x="43878" y="761873"/>
                  </a:lnTo>
                  <a:lnTo>
                    <a:pt x="63690" y="762000"/>
                  </a:lnTo>
                  <a:lnTo>
                    <a:pt x="65684" y="100076"/>
                  </a:lnTo>
                  <a:lnTo>
                    <a:pt x="65709" y="65366"/>
                  </a:lnTo>
                  <a:lnTo>
                    <a:pt x="94373" y="114808"/>
                  </a:lnTo>
                  <a:lnTo>
                    <a:pt x="100444" y="116459"/>
                  </a:lnTo>
                  <a:lnTo>
                    <a:pt x="109905" y="110871"/>
                  </a:lnTo>
                  <a:lnTo>
                    <a:pt x="111518" y="104902"/>
                  </a:lnTo>
                  <a:close/>
                </a:path>
                <a:path w="6202680" h="1532889">
                  <a:moveTo>
                    <a:pt x="716089" y="95631"/>
                  </a:moveTo>
                  <a:lnTo>
                    <a:pt x="713295" y="90932"/>
                  </a:lnTo>
                  <a:lnTo>
                    <a:pt x="671817" y="19558"/>
                  </a:lnTo>
                  <a:lnTo>
                    <a:pt x="660463" y="0"/>
                  </a:lnTo>
                  <a:lnTo>
                    <a:pt x="607250" y="90678"/>
                  </a:lnTo>
                  <a:lnTo>
                    <a:pt x="604583" y="95377"/>
                  </a:lnTo>
                  <a:lnTo>
                    <a:pt x="606107" y="101473"/>
                  </a:lnTo>
                  <a:lnTo>
                    <a:pt x="615505" y="107061"/>
                  </a:lnTo>
                  <a:lnTo>
                    <a:pt x="621601" y="105410"/>
                  </a:lnTo>
                  <a:lnTo>
                    <a:pt x="624395" y="100711"/>
                  </a:lnTo>
                  <a:lnTo>
                    <a:pt x="650443" y="56261"/>
                  </a:lnTo>
                  <a:lnTo>
                    <a:pt x="650557" y="19558"/>
                  </a:lnTo>
                  <a:lnTo>
                    <a:pt x="650468" y="56210"/>
                  </a:lnTo>
                  <a:lnTo>
                    <a:pt x="648906" y="762000"/>
                  </a:lnTo>
                  <a:lnTo>
                    <a:pt x="668718" y="762127"/>
                  </a:lnTo>
                  <a:lnTo>
                    <a:pt x="670166" y="107188"/>
                  </a:lnTo>
                  <a:lnTo>
                    <a:pt x="670242" y="56222"/>
                  </a:lnTo>
                  <a:lnTo>
                    <a:pt x="698944" y="105664"/>
                  </a:lnTo>
                  <a:lnTo>
                    <a:pt x="705040" y="107188"/>
                  </a:lnTo>
                  <a:lnTo>
                    <a:pt x="709739" y="104521"/>
                  </a:lnTo>
                  <a:lnTo>
                    <a:pt x="714438" y="101727"/>
                  </a:lnTo>
                  <a:lnTo>
                    <a:pt x="716089" y="95631"/>
                  </a:lnTo>
                  <a:close/>
                </a:path>
                <a:path w="6202680" h="1532889">
                  <a:moveTo>
                    <a:pt x="1319085" y="95631"/>
                  </a:moveTo>
                  <a:lnTo>
                    <a:pt x="1316215" y="90805"/>
                  </a:lnTo>
                  <a:lnTo>
                    <a:pt x="1274813" y="19558"/>
                  </a:lnTo>
                  <a:lnTo>
                    <a:pt x="1263459" y="0"/>
                  </a:lnTo>
                  <a:lnTo>
                    <a:pt x="1210297" y="90932"/>
                  </a:lnTo>
                  <a:lnTo>
                    <a:pt x="1207579" y="95504"/>
                  </a:lnTo>
                  <a:lnTo>
                    <a:pt x="1209103" y="101473"/>
                  </a:lnTo>
                  <a:lnTo>
                    <a:pt x="1213802" y="104267"/>
                  </a:lnTo>
                  <a:lnTo>
                    <a:pt x="1218628" y="107061"/>
                  </a:lnTo>
                  <a:lnTo>
                    <a:pt x="1224597" y="105410"/>
                  </a:lnTo>
                  <a:lnTo>
                    <a:pt x="1227391" y="100711"/>
                  </a:lnTo>
                  <a:lnTo>
                    <a:pt x="1253490" y="56172"/>
                  </a:lnTo>
                  <a:lnTo>
                    <a:pt x="1252410" y="762000"/>
                  </a:lnTo>
                  <a:lnTo>
                    <a:pt x="1272222" y="762127"/>
                  </a:lnTo>
                  <a:lnTo>
                    <a:pt x="1273302" y="56426"/>
                  </a:lnTo>
                  <a:lnTo>
                    <a:pt x="1299146" y="100838"/>
                  </a:lnTo>
                  <a:lnTo>
                    <a:pt x="1301940" y="105537"/>
                  </a:lnTo>
                  <a:lnTo>
                    <a:pt x="1308036" y="107188"/>
                  </a:lnTo>
                  <a:lnTo>
                    <a:pt x="1312735" y="104394"/>
                  </a:lnTo>
                  <a:lnTo>
                    <a:pt x="1317434" y="101727"/>
                  </a:lnTo>
                  <a:lnTo>
                    <a:pt x="1319085" y="95631"/>
                  </a:lnTo>
                  <a:close/>
                </a:path>
                <a:path w="6202680" h="1532889">
                  <a:moveTo>
                    <a:pt x="1923605" y="95631"/>
                  </a:moveTo>
                  <a:lnTo>
                    <a:pt x="1879358" y="19558"/>
                  </a:lnTo>
                  <a:lnTo>
                    <a:pt x="1867979" y="0"/>
                  </a:lnTo>
                  <a:lnTo>
                    <a:pt x="1814893" y="90805"/>
                  </a:lnTo>
                  <a:lnTo>
                    <a:pt x="1812099" y="95504"/>
                  </a:lnTo>
                  <a:lnTo>
                    <a:pt x="1813750" y="101600"/>
                  </a:lnTo>
                  <a:lnTo>
                    <a:pt x="1818449" y="104394"/>
                  </a:lnTo>
                  <a:lnTo>
                    <a:pt x="1823148" y="107061"/>
                  </a:lnTo>
                  <a:lnTo>
                    <a:pt x="1829244" y="105537"/>
                  </a:lnTo>
                  <a:lnTo>
                    <a:pt x="1831911" y="100838"/>
                  </a:lnTo>
                  <a:lnTo>
                    <a:pt x="1858035" y="56172"/>
                  </a:lnTo>
                  <a:lnTo>
                    <a:pt x="1857438" y="762000"/>
                  </a:lnTo>
                  <a:lnTo>
                    <a:pt x="1877250" y="762127"/>
                  </a:lnTo>
                  <a:lnTo>
                    <a:pt x="1877809" y="107188"/>
                  </a:lnTo>
                  <a:lnTo>
                    <a:pt x="1877733" y="56184"/>
                  </a:lnTo>
                  <a:lnTo>
                    <a:pt x="1877847" y="56375"/>
                  </a:lnTo>
                  <a:lnTo>
                    <a:pt x="1903793" y="100838"/>
                  </a:lnTo>
                  <a:lnTo>
                    <a:pt x="1906460" y="105537"/>
                  </a:lnTo>
                  <a:lnTo>
                    <a:pt x="1912556" y="107188"/>
                  </a:lnTo>
                  <a:lnTo>
                    <a:pt x="1917255" y="104394"/>
                  </a:lnTo>
                  <a:lnTo>
                    <a:pt x="1922081" y="101600"/>
                  </a:lnTo>
                  <a:lnTo>
                    <a:pt x="1923605" y="95631"/>
                  </a:lnTo>
                  <a:close/>
                </a:path>
                <a:path w="6202680" h="1532889">
                  <a:moveTo>
                    <a:pt x="6202362" y="1512570"/>
                  </a:moveTo>
                  <a:lnTo>
                    <a:pt x="1980907" y="814730"/>
                  </a:lnTo>
                  <a:lnTo>
                    <a:pt x="1996643" y="808736"/>
                  </a:lnTo>
                  <a:lnTo>
                    <a:pt x="2029015" y="796429"/>
                  </a:lnTo>
                  <a:lnTo>
                    <a:pt x="2034095" y="794385"/>
                  </a:lnTo>
                  <a:lnTo>
                    <a:pt x="2036762" y="788670"/>
                  </a:lnTo>
                  <a:lnTo>
                    <a:pt x="2034730" y="783590"/>
                  </a:lnTo>
                  <a:lnTo>
                    <a:pt x="2032825" y="778510"/>
                  </a:lnTo>
                  <a:lnTo>
                    <a:pt x="2027110" y="775855"/>
                  </a:lnTo>
                  <a:lnTo>
                    <a:pt x="2022030" y="777875"/>
                  </a:lnTo>
                  <a:lnTo>
                    <a:pt x="1923732" y="815340"/>
                  </a:lnTo>
                  <a:lnTo>
                    <a:pt x="2008949" y="885952"/>
                  </a:lnTo>
                  <a:lnTo>
                    <a:pt x="2015172" y="885317"/>
                  </a:lnTo>
                  <a:lnTo>
                    <a:pt x="2018601" y="881126"/>
                  </a:lnTo>
                  <a:lnTo>
                    <a:pt x="2022157" y="876935"/>
                  </a:lnTo>
                  <a:lnTo>
                    <a:pt x="2021522" y="870712"/>
                  </a:lnTo>
                  <a:lnTo>
                    <a:pt x="2017331" y="867156"/>
                  </a:lnTo>
                  <a:lnTo>
                    <a:pt x="1977593" y="834263"/>
                  </a:lnTo>
                  <a:lnTo>
                    <a:pt x="5221859" y="1370596"/>
                  </a:lnTo>
                  <a:lnTo>
                    <a:pt x="1375676" y="813612"/>
                  </a:lnTo>
                  <a:lnTo>
                    <a:pt x="1388681" y="808367"/>
                  </a:lnTo>
                  <a:lnTo>
                    <a:pt x="1428686" y="792226"/>
                  </a:lnTo>
                  <a:lnTo>
                    <a:pt x="1431099" y="786384"/>
                  </a:lnTo>
                  <a:lnTo>
                    <a:pt x="1429067" y="781443"/>
                  </a:lnTo>
                  <a:lnTo>
                    <a:pt x="1427035" y="776351"/>
                  </a:lnTo>
                  <a:lnTo>
                    <a:pt x="1421320" y="773811"/>
                  </a:lnTo>
                  <a:lnTo>
                    <a:pt x="1318704" y="815340"/>
                  </a:lnTo>
                  <a:lnTo>
                    <a:pt x="1401000" y="880872"/>
                  </a:lnTo>
                  <a:lnTo>
                    <a:pt x="1405318" y="884174"/>
                  </a:lnTo>
                  <a:lnTo>
                    <a:pt x="1411541" y="883539"/>
                  </a:lnTo>
                  <a:lnTo>
                    <a:pt x="1414970" y="879221"/>
                  </a:lnTo>
                  <a:lnTo>
                    <a:pt x="1418272" y="874903"/>
                  </a:lnTo>
                  <a:lnTo>
                    <a:pt x="1417637" y="868680"/>
                  </a:lnTo>
                  <a:lnTo>
                    <a:pt x="1372920" y="833183"/>
                  </a:lnTo>
                  <a:lnTo>
                    <a:pt x="5354840" y="1409915"/>
                  </a:lnTo>
                  <a:lnTo>
                    <a:pt x="4549800" y="1311986"/>
                  </a:lnTo>
                  <a:lnTo>
                    <a:pt x="4549800" y="1331963"/>
                  </a:lnTo>
                  <a:lnTo>
                    <a:pt x="790232" y="919848"/>
                  </a:lnTo>
                  <a:lnTo>
                    <a:pt x="792797" y="919480"/>
                  </a:lnTo>
                  <a:lnTo>
                    <a:pt x="796099" y="915162"/>
                  </a:lnTo>
                  <a:lnTo>
                    <a:pt x="799401" y="910717"/>
                  </a:lnTo>
                  <a:lnTo>
                    <a:pt x="798512" y="904494"/>
                  </a:lnTo>
                  <a:lnTo>
                    <a:pt x="753033" y="870077"/>
                  </a:lnTo>
                  <a:lnTo>
                    <a:pt x="4549800" y="1331963"/>
                  </a:lnTo>
                  <a:lnTo>
                    <a:pt x="4549800" y="1311986"/>
                  </a:lnTo>
                  <a:lnTo>
                    <a:pt x="755421" y="850379"/>
                  </a:lnTo>
                  <a:lnTo>
                    <a:pt x="765695" y="845947"/>
                  </a:lnTo>
                  <a:lnTo>
                    <a:pt x="807910" y="827786"/>
                  </a:lnTo>
                  <a:lnTo>
                    <a:pt x="810196" y="821956"/>
                  </a:lnTo>
                  <a:lnTo>
                    <a:pt x="808037" y="816991"/>
                  </a:lnTo>
                  <a:lnTo>
                    <a:pt x="805878" y="811911"/>
                  </a:lnTo>
                  <a:lnTo>
                    <a:pt x="800036" y="809625"/>
                  </a:lnTo>
                  <a:lnTo>
                    <a:pt x="698436" y="853440"/>
                  </a:lnTo>
                  <a:lnTo>
                    <a:pt x="782129" y="917067"/>
                  </a:lnTo>
                  <a:lnTo>
                    <a:pt x="785114" y="919289"/>
                  </a:lnTo>
                  <a:lnTo>
                    <a:pt x="150482" y="849718"/>
                  </a:lnTo>
                  <a:lnTo>
                    <a:pt x="159524" y="845705"/>
                  </a:lnTo>
                  <a:lnTo>
                    <a:pt x="197548" y="828802"/>
                  </a:lnTo>
                  <a:lnTo>
                    <a:pt x="202501" y="826516"/>
                  </a:lnTo>
                  <a:lnTo>
                    <a:pt x="204787" y="820674"/>
                  </a:lnTo>
                  <a:lnTo>
                    <a:pt x="202501" y="815721"/>
                  </a:lnTo>
                  <a:lnTo>
                    <a:pt x="200342" y="810641"/>
                  </a:lnTo>
                  <a:lnTo>
                    <a:pt x="194500" y="808494"/>
                  </a:lnTo>
                  <a:lnTo>
                    <a:pt x="189471" y="810641"/>
                  </a:lnTo>
                  <a:lnTo>
                    <a:pt x="93357" y="853440"/>
                  </a:lnTo>
                  <a:lnTo>
                    <a:pt x="177914" y="916051"/>
                  </a:lnTo>
                  <a:lnTo>
                    <a:pt x="182308" y="919226"/>
                  </a:lnTo>
                  <a:lnTo>
                    <a:pt x="188518" y="918337"/>
                  </a:lnTo>
                  <a:lnTo>
                    <a:pt x="195008" y="909574"/>
                  </a:lnTo>
                  <a:lnTo>
                    <a:pt x="194119" y="903351"/>
                  </a:lnTo>
                  <a:lnTo>
                    <a:pt x="148247" y="869391"/>
                  </a:lnTo>
                  <a:lnTo>
                    <a:pt x="6198806" y="1532636"/>
                  </a:lnTo>
                  <a:lnTo>
                    <a:pt x="6199441" y="1532636"/>
                  </a:lnTo>
                  <a:lnTo>
                    <a:pt x="6200673" y="1522552"/>
                  </a:lnTo>
                  <a:lnTo>
                    <a:pt x="6202362" y="151257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00072" y="1170432"/>
              <a:ext cx="126492" cy="13258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00072" y="1339596"/>
              <a:ext cx="126492" cy="13258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00072" y="1508760"/>
              <a:ext cx="126492" cy="13258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00072" y="1677924"/>
              <a:ext cx="126492" cy="132587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026158" y="1105662"/>
              <a:ext cx="265430" cy="780415"/>
            </a:xfrm>
            <a:custGeom>
              <a:avLst/>
              <a:gdLst/>
              <a:ahLst/>
              <a:cxnLst/>
              <a:rect l="l" t="t" r="r" b="b"/>
              <a:pathLst>
                <a:path w="265430" h="780414">
                  <a:moveTo>
                    <a:pt x="220980" y="0"/>
                  </a:moveTo>
                  <a:lnTo>
                    <a:pt x="238172" y="3476"/>
                  </a:lnTo>
                  <a:lnTo>
                    <a:pt x="252221" y="12953"/>
                  </a:lnTo>
                  <a:lnTo>
                    <a:pt x="261699" y="27003"/>
                  </a:lnTo>
                  <a:lnTo>
                    <a:pt x="265175" y="44196"/>
                  </a:lnTo>
                  <a:lnTo>
                    <a:pt x="265175" y="736091"/>
                  </a:lnTo>
                  <a:lnTo>
                    <a:pt x="261699" y="753284"/>
                  </a:lnTo>
                  <a:lnTo>
                    <a:pt x="252221" y="767333"/>
                  </a:lnTo>
                  <a:lnTo>
                    <a:pt x="238172" y="776811"/>
                  </a:lnTo>
                  <a:lnTo>
                    <a:pt x="220980" y="780288"/>
                  </a:lnTo>
                  <a:lnTo>
                    <a:pt x="44196" y="780288"/>
                  </a:lnTo>
                  <a:lnTo>
                    <a:pt x="27003" y="776811"/>
                  </a:lnTo>
                  <a:lnTo>
                    <a:pt x="12953" y="767334"/>
                  </a:lnTo>
                  <a:lnTo>
                    <a:pt x="3476" y="753284"/>
                  </a:lnTo>
                  <a:lnTo>
                    <a:pt x="0" y="736091"/>
                  </a:lnTo>
                  <a:lnTo>
                    <a:pt x="0" y="44196"/>
                  </a:lnTo>
                  <a:lnTo>
                    <a:pt x="3476" y="27003"/>
                  </a:lnTo>
                  <a:lnTo>
                    <a:pt x="12954" y="12954"/>
                  </a:lnTo>
                  <a:lnTo>
                    <a:pt x="27003" y="3476"/>
                  </a:lnTo>
                  <a:lnTo>
                    <a:pt x="44196" y="0"/>
                  </a:lnTo>
                  <a:lnTo>
                    <a:pt x="220980" y="0"/>
                  </a:lnTo>
                  <a:close/>
                </a:path>
              </a:pathLst>
            </a:custGeom>
            <a:ln w="19811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571194" y="3918746"/>
            <a:ext cx="507831" cy="78613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Encoder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RNN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141981" y="3929394"/>
            <a:ext cx="187960" cy="780415"/>
          </a:xfrm>
          <a:custGeom>
            <a:avLst/>
            <a:gdLst/>
            <a:ahLst/>
            <a:cxnLst/>
            <a:rect l="l" t="t" r="r" b="b"/>
            <a:pathLst>
              <a:path w="187959" h="780414">
                <a:moveTo>
                  <a:pt x="187452" y="780288"/>
                </a:moveTo>
                <a:lnTo>
                  <a:pt x="150968" y="774515"/>
                </a:lnTo>
                <a:lnTo>
                  <a:pt x="121177" y="758777"/>
                </a:lnTo>
                <a:lnTo>
                  <a:pt x="101091" y="735443"/>
                </a:lnTo>
                <a:lnTo>
                  <a:pt x="93726" y="706882"/>
                </a:lnTo>
                <a:lnTo>
                  <a:pt x="93726" y="463550"/>
                </a:lnTo>
                <a:lnTo>
                  <a:pt x="86360" y="434988"/>
                </a:lnTo>
                <a:lnTo>
                  <a:pt x="66274" y="411654"/>
                </a:lnTo>
                <a:lnTo>
                  <a:pt x="36483" y="395916"/>
                </a:lnTo>
                <a:lnTo>
                  <a:pt x="0" y="390144"/>
                </a:lnTo>
                <a:lnTo>
                  <a:pt x="36483" y="384371"/>
                </a:lnTo>
                <a:lnTo>
                  <a:pt x="66274" y="368633"/>
                </a:lnTo>
                <a:lnTo>
                  <a:pt x="86360" y="345299"/>
                </a:lnTo>
                <a:lnTo>
                  <a:pt x="93726" y="316738"/>
                </a:lnTo>
                <a:lnTo>
                  <a:pt x="93726" y="73406"/>
                </a:lnTo>
                <a:lnTo>
                  <a:pt x="101091" y="44844"/>
                </a:lnTo>
                <a:lnTo>
                  <a:pt x="121177" y="21510"/>
                </a:lnTo>
                <a:lnTo>
                  <a:pt x="150968" y="5772"/>
                </a:lnTo>
                <a:lnTo>
                  <a:pt x="187452" y="0"/>
                </a:lnTo>
              </a:path>
            </a:pathLst>
          </a:custGeom>
          <a:ln w="1981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389627" y="5341175"/>
            <a:ext cx="112966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>
                <a:tab pos="884555" algn="l"/>
              </a:tabLst>
              <a:defRPr/>
            </a:pPr>
            <a:r>
              <a:rPr kumimoji="0" sz="1600" b="0" i="1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&lt;</a:t>
            </a:r>
            <a:r>
              <a:rPr kumimoji="0" sz="1600" b="0" i="1" u="none" strike="noStrike" kern="120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</a:t>
            </a:r>
            <a:r>
              <a:rPr kumimoji="0" sz="1600" b="0" i="1" u="none" strike="noStrike" kern="1200" cap="none" spc="-1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</a:t>
            </a:r>
            <a:r>
              <a:rPr kumimoji="0" sz="16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</a:t>
            </a:r>
            <a:r>
              <a:rPr kumimoji="0" sz="1600" b="0" i="1" u="none" strike="noStrike" kern="120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R</a:t>
            </a:r>
            <a:r>
              <a:rPr kumimoji="0" sz="1600" b="0" i="1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</a:t>
            </a:r>
            <a:r>
              <a:rPr kumimoji="0" sz="16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&gt;</a:t>
            </a:r>
            <a:r>
              <a:rPr kumimoji="0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	</a:t>
            </a:r>
            <a:r>
              <a:rPr kumimoji="0" lang="en-US" sz="1600" b="0" i="1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we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0136885" y="3952253"/>
            <a:ext cx="189230" cy="779145"/>
          </a:xfrm>
          <a:custGeom>
            <a:avLst/>
            <a:gdLst/>
            <a:ahLst/>
            <a:cxnLst/>
            <a:rect l="l" t="t" r="r" b="b"/>
            <a:pathLst>
              <a:path w="189229" h="779145">
                <a:moveTo>
                  <a:pt x="0" y="0"/>
                </a:moveTo>
                <a:lnTo>
                  <a:pt x="36784" y="5816"/>
                </a:lnTo>
                <a:lnTo>
                  <a:pt x="66817" y="21669"/>
                </a:lnTo>
                <a:lnTo>
                  <a:pt x="87064" y="45166"/>
                </a:lnTo>
                <a:lnTo>
                  <a:pt x="94488" y="73913"/>
                </a:lnTo>
                <a:lnTo>
                  <a:pt x="94488" y="315468"/>
                </a:lnTo>
                <a:lnTo>
                  <a:pt x="101911" y="344215"/>
                </a:lnTo>
                <a:lnTo>
                  <a:pt x="122158" y="367712"/>
                </a:lnTo>
                <a:lnTo>
                  <a:pt x="152191" y="383565"/>
                </a:lnTo>
                <a:lnTo>
                  <a:pt x="188975" y="389381"/>
                </a:lnTo>
                <a:lnTo>
                  <a:pt x="152191" y="395198"/>
                </a:lnTo>
                <a:lnTo>
                  <a:pt x="122158" y="411051"/>
                </a:lnTo>
                <a:lnTo>
                  <a:pt x="101911" y="434548"/>
                </a:lnTo>
                <a:lnTo>
                  <a:pt x="94488" y="463295"/>
                </a:lnTo>
                <a:lnTo>
                  <a:pt x="94488" y="704850"/>
                </a:lnTo>
                <a:lnTo>
                  <a:pt x="87064" y="733597"/>
                </a:lnTo>
                <a:lnTo>
                  <a:pt x="66817" y="757094"/>
                </a:lnTo>
                <a:lnTo>
                  <a:pt x="36784" y="772947"/>
                </a:lnTo>
                <a:lnTo>
                  <a:pt x="0" y="778763"/>
                </a:lnTo>
              </a:path>
            </a:pathLst>
          </a:custGeom>
          <a:ln w="19812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571194" y="2794076"/>
            <a:ext cx="507831" cy="899794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Attention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scores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137409" y="2902217"/>
            <a:ext cx="189230" cy="624840"/>
          </a:xfrm>
          <a:custGeom>
            <a:avLst/>
            <a:gdLst/>
            <a:ahLst/>
            <a:cxnLst/>
            <a:rect l="l" t="t" r="r" b="b"/>
            <a:pathLst>
              <a:path w="189229" h="624839">
                <a:moveTo>
                  <a:pt x="188976" y="624839"/>
                </a:moveTo>
                <a:lnTo>
                  <a:pt x="152196" y="619023"/>
                </a:lnTo>
                <a:lnTo>
                  <a:pt x="122162" y="603170"/>
                </a:lnTo>
                <a:lnTo>
                  <a:pt x="101913" y="579673"/>
                </a:lnTo>
                <a:lnTo>
                  <a:pt x="94488" y="550926"/>
                </a:lnTo>
                <a:lnTo>
                  <a:pt x="94488" y="386334"/>
                </a:lnTo>
                <a:lnTo>
                  <a:pt x="87062" y="357586"/>
                </a:lnTo>
                <a:lnTo>
                  <a:pt x="66813" y="334089"/>
                </a:lnTo>
                <a:lnTo>
                  <a:pt x="36779" y="318236"/>
                </a:lnTo>
                <a:lnTo>
                  <a:pt x="0" y="312420"/>
                </a:lnTo>
                <a:lnTo>
                  <a:pt x="36779" y="306603"/>
                </a:lnTo>
                <a:lnTo>
                  <a:pt x="66813" y="290750"/>
                </a:lnTo>
                <a:lnTo>
                  <a:pt x="87062" y="267253"/>
                </a:lnTo>
                <a:lnTo>
                  <a:pt x="94488" y="238506"/>
                </a:lnTo>
                <a:lnTo>
                  <a:pt x="94488" y="73913"/>
                </a:lnTo>
                <a:lnTo>
                  <a:pt x="101913" y="45166"/>
                </a:lnTo>
                <a:lnTo>
                  <a:pt x="122162" y="21669"/>
                </a:lnTo>
                <a:lnTo>
                  <a:pt x="152196" y="5816"/>
                </a:lnTo>
                <a:lnTo>
                  <a:pt x="188976" y="0"/>
                </a:lnTo>
              </a:path>
            </a:pathLst>
          </a:custGeom>
          <a:ln w="19812">
            <a:solidFill>
              <a:srgbClr val="3986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571194" y="1532234"/>
            <a:ext cx="507831" cy="110109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13030" marR="0" lvl="0" indent="0" algn="l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Attention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distribution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149601" y="1769884"/>
            <a:ext cx="189230" cy="624840"/>
          </a:xfrm>
          <a:custGeom>
            <a:avLst/>
            <a:gdLst/>
            <a:ahLst/>
            <a:cxnLst/>
            <a:rect l="l" t="t" r="r" b="b"/>
            <a:pathLst>
              <a:path w="189230" h="624839">
                <a:moveTo>
                  <a:pt x="188976" y="624840"/>
                </a:moveTo>
                <a:lnTo>
                  <a:pt x="152196" y="619023"/>
                </a:lnTo>
                <a:lnTo>
                  <a:pt x="122162" y="603170"/>
                </a:lnTo>
                <a:lnTo>
                  <a:pt x="101913" y="579673"/>
                </a:lnTo>
                <a:lnTo>
                  <a:pt x="94488" y="550926"/>
                </a:lnTo>
                <a:lnTo>
                  <a:pt x="94488" y="386334"/>
                </a:lnTo>
                <a:lnTo>
                  <a:pt x="87062" y="357586"/>
                </a:lnTo>
                <a:lnTo>
                  <a:pt x="66813" y="334089"/>
                </a:lnTo>
                <a:lnTo>
                  <a:pt x="36779" y="318236"/>
                </a:lnTo>
                <a:lnTo>
                  <a:pt x="0" y="312420"/>
                </a:lnTo>
                <a:lnTo>
                  <a:pt x="36779" y="306603"/>
                </a:lnTo>
                <a:lnTo>
                  <a:pt x="66813" y="290750"/>
                </a:lnTo>
                <a:lnTo>
                  <a:pt x="87062" y="267253"/>
                </a:lnTo>
                <a:lnTo>
                  <a:pt x="94488" y="238506"/>
                </a:lnTo>
                <a:lnTo>
                  <a:pt x="94488" y="73914"/>
                </a:lnTo>
                <a:lnTo>
                  <a:pt x="101913" y="45166"/>
                </a:lnTo>
                <a:lnTo>
                  <a:pt x="122162" y="21669"/>
                </a:lnTo>
                <a:lnTo>
                  <a:pt x="152196" y="5816"/>
                </a:lnTo>
                <a:lnTo>
                  <a:pt x="188976" y="0"/>
                </a:lnTo>
              </a:path>
            </a:pathLst>
          </a:custGeom>
          <a:ln w="19812">
            <a:solidFill>
              <a:srgbClr val="3986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906392" y="799986"/>
            <a:ext cx="89979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2715" marR="5080" lvl="0" indent="-12065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</a:t>
            </a:r>
            <a:r>
              <a:rPr kumimoji="0" sz="1800" b="0" i="0" u="none" strike="noStrike" kern="1200" cap="none" spc="-3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tt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e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n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i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3986FF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on  output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2507742" y="1404886"/>
            <a:ext cx="6438265" cy="3905250"/>
            <a:chOff x="983741" y="1778507"/>
            <a:chExt cx="6438265" cy="3905250"/>
          </a:xfrm>
        </p:grpSpPr>
        <p:pic>
          <p:nvPicPr>
            <p:cNvPr id="34" name="object 3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98491" y="4271772"/>
              <a:ext cx="2723387" cy="1411986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7222236" y="2236469"/>
              <a:ext cx="111760" cy="2046605"/>
            </a:xfrm>
            <a:custGeom>
              <a:avLst/>
              <a:gdLst/>
              <a:ahLst/>
              <a:cxnLst/>
              <a:rect l="l" t="t" r="r" b="b"/>
              <a:pathLst>
                <a:path w="111759" h="2046604">
                  <a:moveTo>
                    <a:pt x="55696" y="39321"/>
                  </a:moveTo>
                  <a:lnTo>
                    <a:pt x="45845" y="56208"/>
                  </a:lnTo>
                  <a:lnTo>
                    <a:pt x="45796" y="107187"/>
                  </a:lnTo>
                  <a:lnTo>
                    <a:pt x="47498" y="2046223"/>
                  </a:lnTo>
                  <a:lnTo>
                    <a:pt x="67310" y="2046223"/>
                  </a:lnTo>
                  <a:lnTo>
                    <a:pt x="65564" y="56208"/>
                  </a:lnTo>
                  <a:lnTo>
                    <a:pt x="55696" y="39321"/>
                  </a:lnTo>
                  <a:close/>
                </a:path>
                <a:path w="111759" h="2046604">
                  <a:moveTo>
                    <a:pt x="55625" y="0"/>
                  </a:moveTo>
                  <a:lnTo>
                    <a:pt x="2667" y="90931"/>
                  </a:lnTo>
                  <a:lnTo>
                    <a:pt x="0" y="95630"/>
                  </a:lnTo>
                  <a:lnTo>
                    <a:pt x="1524" y="101600"/>
                  </a:lnTo>
                  <a:lnTo>
                    <a:pt x="6223" y="104393"/>
                  </a:lnTo>
                  <a:lnTo>
                    <a:pt x="11049" y="107187"/>
                  </a:lnTo>
                  <a:lnTo>
                    <a:pt x="17018" y="105537"/>
                  </a:lnTo>
                  <a:lnTo>
                    <a:pt x="19886" y="100710"/>
                  </a:lnTo>
                  <a:lnTo>
                    <a:pt x="45752" y="56369"/>
                  </a:lnTo>
                  <a:lnTo>
                    <a:pt x="45720" y="19684"/>
                  </a:lnTo>
                  <a:lnTo>
                    <a:pt x="67059" y="19557"/>
                  </a:lnTo>
                  <a:lnTo>
                    <a:pt x="55625" y="0"/>
                  </a:lnTo>
                  <a:close/>
                </a:path>
                <a:path w="111759" h="2046604">
                  <a:moveTo>
                    <a:pt x="67059" y="19557"/>
                  </a:moveTo>
                  <a:lnTo>
                    <a:pt x="65532" y="19557"/>
                  </a:lnTo>
                  <a:lnTo>
                    <a:pt x="65657" y="56369"/>
                  </a:lnTo>
                  <a:lnTo>
                    <a:pt x="91640" y="100837"/>
                  </a:lnTo>
                  <a:lnTo>
                    <a:pt x="94361" y="105537"/>
                  </a:lnTo>
                  <a:lnTo>
                    <a:pt x="100457" y="107060"/>
                  </a:lnTo>
                  <a:lnTo>
                    <a:pt x="105156" y="104266"/>
                  </a:lnTo>
                  <a:lnTo>
                    <a:pt x="109855" y="101600"/>
                  </a:lnTo>
                  <a:lnTo>
                    <a:pt x="111506" y="95503"/>
                  </a:lnTo>
                  <a:lnTo>
                    <a:pt x="108712" y="90804"/>
                  </a:lnTo>
                  <a:lnTo>
                    <a:pt x="67059" y="19557"/>
                  </a:lnTo>
                  <a:close/>
                </a:path>
                <a:path w="111759" h="2046604">
                  <a:moveTo>
                    <a:pt x="65532" y="19557"/>
                  </a:moveTo>
                  <a:lnTo>
                    <a:pt x="45720" y="19684"/>
                  </a:lnTo>
                  <a:lnTo>
                    <a:pt x="45752" y="56369"/>
                  </a:lnTo>
                  <a:lnTo>
                    <a:pt x="55696" y="39321"/>
                  </a:lnTo>
                  <a:lnTo>
                    <a:pt x="47117" y="24637"/>
                  </a:lnTo>
                  <a:lnTo>
                    <a:pt x="65536" y="24637"/>
                  </a:lnTo>
                  <a:lnTo>
                    <a:pt x="65532" y="19557"/>
                  </a:lnTo>
                  <a:close/>
                </a:path>
                <a:path w="111759" h="2046604">
                  <a:moveTo>
                    <a:pt x="65536" y="24637"/>
                  </a:moveTo>
                  <a:lnTo>
                    <a:pt x="64262" y="24637"/>
                  </a:lnTo>
                  <a:lnTo>
                    <a:pt x="55696" y="39321"/>
                  </a:lnTo>
                  <a:lnTo>
                    <a:pt x="65564" y="56208"/>
                  </a:lnTo>
                  <a:lnTo>
                    <a:pt x="65536" y="24637"/>
                  </a:lnTo>
                  <a:close/>
                </a:path>
                <a:path w="111759" h="2046604">
                  <a:moveTo>
                    <a:pt x="64262" y="24637"/>
                  </a:moveTo>
                  <a:lnTo>
                    <a:pt x="47117" y="24637"/>
                  </a:lnTo>
                  <a:lnTo>
                    <a:pt x="55696" y="39321"/>
                  </a:lnTo>
                  <a:lnTo>
                    <a:pt x="64262" y="246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983741" y="2758820"/>
              <a:ext cx="2308860" cy="5080"/>
            </a:xfrm>
            <a:custGeom>
              <a:avLst/>
              <a:gdLst/>
              <a:ahLst/>
              <a:cxnLst/>
              <a:rect l="l" t="t" r="r" b="b"/>
              <a:pathLst>
                <a:path w="2308860" h="5080">
                  <a:moveTo>
                    <a:pt x="0" y="0"/>
                  </a:moveTo>
                  <a:lnTo>
                    <a:pt x="2308479" y="0"/>
                  </a:lnTo>
                </a:path>
                <a:path w="2308860" h="5080">
                  <a:moveTo>
                    <a:pt x="0" y="4952"/>
                  </a:moveTo>
                  <a:lnTo>
                    <a:pt x="2308479" y="4952"/>
                  </a:lnTo>
                </a:path>
              </a:pathLst>
            </a:custGeom>
            <a:ln w="3175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983741" y="2773298"/>
              <a:ext cx="2308860" cy="0"/>
            </a:xfrm>
            <a:custGeom>
              <a:avLst/>
              <a:gdLst/>
              <a:ahLst/>
              <a:cxnLst/>
              <a:rect l="l" t="t" r="r" b="b"/>
              <a:pathLst>
                <a:path w="2308860">
                  <a:moveTo>
                    <a:pt x="0" y="0"/>
                  </a:moveTo>
                  <a:lnTo>
                    <a:pt x="2308479" y="0"/>
                  </a:lnTo>
                </a:path>
              </a:pathLst>
            </a:custGeom>
            <a:ln w="9905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1067561" y="2713481"/>
              <a:ext cx="135890" cy="55244"/>
            </a:xfrm>
            <a:custGeom>
              <a:avLst/>
              <a:gdLst/>
              <a:ahLst/>
              <a:cxnLst/>
              <a:rect l="l" t="t" r="r" b="b"/>
              <a:pathLst>
                <a:path w="135890" h="55244">
                  <a:moveTo>
                    <a:pt x="135636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135636" y="54863"/>
                  </a:lnTo>
                  <a:lnTo>
                    <a:pt x="135636" y="0"/>
                  </a:lnTo>
                  <a:close/>
                </a:path>
              </a:pathLst>
            </a:custGeom>
            <a:solidFill>
              <a:srgbClr val="BCD6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1067561" y="2713481"/>
              <a:ext cx="135890" cy="55244"/>
            </a:xfrm>
            <a:custGeom>
              <a:avLst/>
              <a:gdLst/>
              <a:ahLst/>
              <a:cxnLst/>
              <a:rect l="l" t="t" r="r" b="b"/>
              <a:pathLst>
                <a:path w="135890" h="55244">
                  <a:moveTo>
                    <a:pt x="0" y="54863"/>
                  </a:moveTo>
                  <a:lnTo>
                    <a:pt x="135636" y="54863"/>
                  </a:lnTo>
                  <a:lnTo>
                    <a:pt x="135636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9812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40" name="object 40"/>
            <p:cNvSpPr/>
            <p:nvPr/>
          </p:nvSpPr>
          <p:spPr>
            <a:xfrm>
              <a:off x="1671065" y="2713481"/>
              <a:ext cx="142240" cy="45720"/>
            </a:xfrm>
            <a:custGeom>
              <a:avLst/>
              <a:gdLst/>
              <a:ahLst/>
              <a:cxnLst/>
              <a:rect l="l" t="t" r="r" b="b"/>
              <a:pathLst>
                <a:path w="142239" h="45719">
                  <a:moveTo>
                    <a:pt x="141731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141731" y="45720"/>
                  </a:lnTo>
                  <a:lnTo>
                    <a:pt x="141731" y="0"/>
                  </a:lnTo>
                  <a:close/>
                </a:path>
              </a:pathLst>
            </a:custGeom>
            <a:solidFill>
              <a:srgbClr val="BCD6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41" name="object 41"/>
            <p:cNvSpPr/>
            <p:nvPr/>
          </p:nvSpPr>
          <p:spPr>
            <a:xfrm>
              <a:off x="1671065" y="2713481"/>
              <a:ext cx="142240" cy="45720"/>
            </a:xfrm>
            <a:custGeom>
              <a:avLst/>
              <a:gdLst/>
              <a:ahLst/>
              <a:cxnLst/>
              <a:rect l="l" t="t" r="r" b="b"/>
              <a:pathLst>
                <a:path w="142239" h="45719">
                  <a:moveTo>
                    <a:pt x="0" y="45720"/>
                  </a:moveTo>
                  <a:lnTo>
                    <a:pt x="141731" y="45720"/>
                  </a:lnTo>
                  <a:lnTo>
                    <a:pt x="141731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9812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42" name="object 42"/>
            <p:cNvSpPr/>
            <p:nvPr/>
          </p:nvSpPr>
          <p:spPr>
            <a:xfrm>
              <a:off x="2274569" y="2713481"/>
              <a:ext cx="123825" cy="45720"/>
            </a:xfrm>
            <a:custGeom>
              <a:avLst/>
              <a:gdLst/>
              <a:ahLst/>
              <a:cxnLst/>
              <a:rect l="l" t="t" r="r" b="b"/>
              <a:pathLst>
                <a:path w="123825" h="45719">
                  <a:moveTo>
                    <a:pt x="123443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123443" y="45720"/>
                  </a:lnTo>
                  <a:lnTo>
                    <a:pt x="123443" y="0"/>
                  </a:lnTo>
                  <a:close/>
                </a:path>
              </a:pathLst>
            </a:custGeom>
            <a:solidFill>
              <a:srgbClr val="BCD6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43" name="object 43"/>
            <p:cNvSpPr/>
            <p:nvPr/>
          </p:nvSpPr>
          <p:spPr>
            <a:xfrm>
              <a:off x="2274569" y="2713481"/>
              <a:ext cx="123825" cy="45720"/>
            </a:xfrm>
            <a:custGeom>
              <a:avLst/>
              <a:gdLst/>
              <a:ahLst/>
              <a:cxnLst/>
              <a:rect l="l" t="t" r="r" b="b"/>
              <a:pathLst>
                <a:path w="123825" h="45719">
                  <a:moveTo>
                    <a:pt x="0" y="45720"/>
                  </a:moveTo>
                  <a:lnTo>
                    <a:pt x="123443" y="45720"/>
                  </a:lnTo>
                  <a:lnTo>
                    <a:pt x="123443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9812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44" name="object 44"/>
            <p:cNvSpPr/>
            <p:nvPr/>
          </p:nvSpPr>
          <p:spPr>
            <a:xfrm>
              <a:off x="2299842" y="1778507"/>
              <a:ext cx="4749165" cy="337820"/>
            </a:xfrm>
            <a:custGeom>
              <a:avLst/>
              <a:gdLst/>
              <a:ahLst/>
              <a:cxnLst/>
              <a:rect l="l" t="t" r="r" b="b"/>
              <a:pathLst>
                <a:path w="4749165" h="337819">
                  <a:moveTo>
                    <a:pt x="4691868" y="294025"/>
                  </a:moveTo>
                  <a:lnTo>
                    <a:pt x="4641087" y="319786"/>
                  </a:lnTo>
                  <a:lnTo>
                    <a:pt x="4639183" y="325754"/>
                  </a:lnTo>
                  <a:lnTo>
                    <a:pt x="4641596" y="330580"/>
                  </a:lnTo>
                  <a:lnTo>
                    <a:pt x="4644135" y="335533"/>
                  </a:lnTo>
                  <a:lnTo>
                    <a:pt x="4650105" y="337438"/>
                  </a:lnTo>
                  <a:lnTo>
                    <a:pt x="4731515" y="296163"/>
                  </a:lnTo>
                  <a:lnTo>
                    <a:pt x="4728463" y="296163"/>
                  </a:lnTo>
                  <a:lnTo>
                    <a:pt x="4691868" y="294025"/>
                  </a:lnTo>
                  <a:close/>
                </a:path>
                <a:path w="4749165" h="337819">
                  <a:moveTo>
                    <a:pt x="4709462" y="285086"/>
                  </a:moveTo>
                  <a:lnTo>
                    <a:pt x="4691868" y="294025"/>
                  </a:lnTo>
                  <a:lnTo>
                    <a:pt x="4728463" y="296163"/>
                  </a:lnTo>
                  <a:lnTo>
                    <a:pt x="4728559" y="294513"/>
                  </a:lnTo>
                  <a:lnTo>
                    <a:pt x="4723637" y="294513"/>
                  </a:lnTo>
                  <a:lnTo>
                    <a:pt x="4709462" y="285086"/>
                  </a:lnTo>
                  <a:close/>
                </a:path>
                <a:path w="4749165" h="337819">
                  <a:moveTo>
                    <a:pt x="4656582" y="226059"/>
                  </a:moveTo>
                  <a:lnTo>
                    <a:pt x="4650358" y="227329"/>
                  </a:lnTo>
                  <a:lnTo>
                    <a:pt x="4647310" y="231901"/>
                  </a:lnTo>
                  <a:lnTo>
                    <a:pt x="4644389" y="236474"/>
                  </a:lnTo>
                  <a:lnTo>
                    <a:pt x="4645533" y="242569"/>
                  </a:lnTo>
                  <a:lnTo>
                    <a:pt x="4693123" y="274219"/>
                  </a:lnTo>
                  <a:lnTo>
                    <a:pt x="4729607" y="276351"/>
                  </a:lnTo>
                  <a:lnTo>
                    <a:pt x="4728463" y="296163"/>
                  </a:lnTo>
                  <a:lnTo>
                    <a:pt x="4731515" y="296163"/>
                  </a:lnTo>
                  <a:lnTo>
                    <a:pt x="4748783" y="287400"/>
                  </a:lnTo>
                  <a:lnTo>
                    <a:pt x="4656582" y="226059"/>
                  </a:lnTo>
                  <a:close/>
                </a:path>
                <a:path w="4749165" h="337819">
                  <a:moveTo>
                    <a:pt x="4724654" y="277367"/>
                  </a:moveTo>
                  <a:lnTo>
                    <a:pt x="4709462" y="285086"/>
                  </a:lnTo>
                  <a:lnTo>
                    <a:pt x="4723637" y="294513"/>
                  </a:lnTo>
                  <a:lnTo>
                    <a:pt x="4724654" y="277367"/>
                  </a:lnTo>
                  <a:close/>
                </a:path>
                <a:path w="4749165" h="337819">
                  <a:moveTo>
                    <a:pt x="4729548" y="277367"/>
                  </a:moveTo>
                  <a:lnTo>
                    <a:pt x="4724654" y="277367"/>
                  </a:lnTo>
                  <a:lnTo>
                    <a:pt x="4723637" y="294513"/>
                  </a:lnTo>
                  <a:lnTo>
                    <a:pt x="4728559" y="294513"/>
                  </a:lnTo>
                  <a:lnTo>
                    <a:pt x="4729548" y="277367"/>
                  </a:lnTo>
                  <a:close/>
                </a:path>
                <a:path w="4749165" h="337819">
                  <a:moveTo>
                    <a:pt x="1269" y="0"/>
                  </a:moveTo>
                  <a:lnTo>
                    <a:pt x="0" y="19812"/>
                  </a:lnTo>
                  <a:lnTo>
                    <a:pt x="4691868" y="294025"/>
                  </a:lnTo>
                  <a:lnTo>
                    <a:pt x="4709462" y="285086"/>
                  </a:lnTo>
                  <a:lnTo>
                    <a:pt x="4693123" y="274219"/>
                  </a:lnTo>
                  <a:lnTo>
                    <a:pt x="1269" y="0"/>
                  </a:lnTo>
                  <a:close/>
                </a:path>
                <a:path w="4749165" h="337819">
                  <a:moveTo>
                    <a:pt x="4693123" y="274219"/>
                  </a:moveTo>
                  <a:lnTo>
                    <a:pt x="4709462" y="285086"/>
                  </a:lnTo>
                  <a:lnTo>
                    <a:pt x="4724654" y="277367"/>
                  </a:lnTo>
                  <a:lnTo>
                    <a:pt x="4729548" y="277367"/>
                  </a:lnTo>
                  <a:lnTo>
                    <a:pt x="4729607" y="276351"/>
                  </a:lnTo>
                  <a:lnTo>
                    <a:pt x="4693123" y="274219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45" name="object 45"/>
            <p:cNvSpPr/>
            <p:nvPr/>
          </p:nvSpPr>
          <p:spPr>
            <a:xfrm>
              <a:off x="2879597" y="2082545"/>
              <a:ext cx="123825" cy="676910"/>
            </a:xfrm>
            <a:custGeom>
              <a:avLst/>
              <a:gdLst/>
              <a:ahLst/>
              <a:cxnLst/>
              <a:rect l="l" t="t" r="r" b="b"/>
              <a:pathLst>
                <a:path w="123825" h="676910">
                  <a:moveTo>
                    <a:pt x="123443" y="0"/>
                  </a:moveTo>
                  <a:lnTo>
                    <a:pt x="0" y="0"/>
                  </a:lnTo>
                  <a:lnTo>
                    <a:pt x="0" y="676655"/>
                  </a:lnTo>
                  <a:lnTo>
                    <a:pt x="123443" y="676655"/>
                  </a:lnTo>
                  <a:lnTo>
                    <a:pt x="123443" y="0"/>
                  </a:lnTo>
                  <a:close/>
                </a:path>
              </a:pathLst>
            </a:custGeom>
            <a:solidFill>
              <a:srgbClr val="BCD6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46" name="object 46"/>
            <p:cNvSpPr/>
            <p:nvPr/>
          </p:nvSpPr>
          <p:spPr>
            <a:xfrm>
              <a:off x="2879597" y="2082545"/>
              <a:ext cx="123825" cy="676910"/>
            </a:xfrm>
            <a:custGeom>
              <a:avLst/>
              <a:gdLst/>
              <a:ahLst/>
              <a:cxnLst/>
              <a:rect l="l" t="t" r="r" b="b"/>
              <a:pathLst>
                <a:path w="123825" h="676910">
                  <a:moveTo>
                    <a:pt x="0" y="676655"/>
                  </a:moveTo>
                  <a:lnTo>
                    <a:pt x="123443" y="676655"/>
                  </a:lnTo>
                  <a:lnTo>
                    <a:pt x="123443" y="0"/>
                  </a:lnTo>
                  <a:lnTo>
                    <a:pt x="0" y="0"/>
                  </a:lnTo>
                  <a:lnTo>
                    <a:pt x="0" y="676655"/>
                  </a:lnTo>
                  <a:close/>
                </a:path>
              </a:pathLst>
            </a:custGeom>
            <a:ln w="19812">
              <a:solidFill>
                <a:srgbClr val="3986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  <p:sp>
          <p:nvSpPr>
            <p:cNvPr id="47" name="object 47"/>
            <p:cNvSpPr/>
            <p:nvPr/>
          </p:nvSpPr>
          <p:spPr>
            <a:xfrm>
              <a:off x="1129906" y="1855342"/>
              <a:ext cx="1813560" cy="867410"/>
            </a:xfrm>
            <a:custGeom>
              <a:avLst/>
              <a:gdLst/>
              <a:ahLst/>
              <a:cxnLst/>
              <a:rect l="l" t="t" r="r" b="b"/>
              <a:pathLst>
                <a:path w="1813560" h="867410">
                  <a:moveTo>
                    <a:pt x="27863" y="854583"/>
                  </a:moveTo>
                  <a:lnTo>
                    <a:pt x="15392" y="839216"/>
                  </a:lnTo>
                  <a:lnTo>
                    <a:pt x="0" y="851662"/>
                  </a:lnTo>
                  <a:lnTo>
                    <a:pt x="12471" y="867029"/>
                  </a:lnTo>
                  <a:lnTo>
                    <a:pt x="27863" y="854583"/>
                  </a:lnTo>
                  <a:close/>
                </a:path>
                <a:path w="1813560" h="867410">
                  <a:moveTo>
                    <a:pt x="58661" y="829564"/>
                  </a:moveTo>
                  <a:lnTo>
                    <a:pt x="46189" y="814197"/>
                  </a:lnTo>
                  <a:lnTo>
                    <a:pt x="30797" y="826643"/>
                  </a:lnTo>
                  <a:lnTo>
                    <a:pt x="43256" y="842137"/>
                  </a:lnTo>
                  <a:lnTo>
                    <a:pt x="58661" y="829564"/>
                  </a:lnTo>
                  <a:close/>
                </a:path>
                <a:path w="1813560" h="867410">
                  <a:moveTo>
                    <a:pt x="89446" y="804672"/>
                  </a:moveTo>
                  <a:lnTo>
                    <a:pt x="76974" y="789305"/>
                  </a:lnTo>
                  <a:lnTo>
                    <a:pt x="61582" y="801751"/>
                  </a:lnTo>
                  <a:lnTo>
                    <a:pt x="74053" y="817118"/>
                  </a:lnTo>
                  <a:lnTo>
                    <a:pt x="89446" y="804672"/>
                  </a:lnTo>
                  <a:close/>
                </a:path>
                <a:path w="1813560" h="867410">
                  <a:moveTo>
                    <a:pt x="120243" y="779780"/>
                  </a:moveTo>
                  <a:lnTo>
                    <a:pt x="107772" y="764286"/>
                  </a:lnTo>
                  <a:lnTo>
                    <a:pt x="92379" y="776859"/>
                  </a:lnTo>
                  <a:lnTo>
                    <a:pt x="104851" y="792226"/>
                  </a:lnTo>
                  <a:lnTo>
                    <a:pt x="120243" y="779780"/>
                  </a:lnTo>
                  <a:close/>
                </a:path>
                <a:path w="1813560" h="867410">
                  <a:moveTo>
                    <a:pt x="151015" y="754761"/>
                  </a:moveTo>
                  <a:lnTo>
                    <a:pt x="138569" y="739394"/>
                  </a:lnTo>
                  <a:lnTo>
                    <a:pt x="123164" y="751840"/>
                  </a:lnTo>
                  <a:lnTo>
                    <a:pt x="135636" y="767334"/>
                  </a:lnTo>
                  <a:lnTo>
                    <a:pt x="151015" y="754761"/>
                  </a:lnTo>
                  <a:close/>
                </a:path>
                <a:path w="1813560" h="867410">
                  <a:moveTo>
                    <a:pt x="181876" y="729869"/>
                  </a:moveTo>
                  <a:lnTo>
                    <a:pt x="169303" y="714502"/>
                  </a:lnTo>
                  <a:lnTo>
                    <a:pt x="153936" y="726948"/>
                  </a:lnTo>
                  <a:lnTo>
                    <a:pt x="166382" y="742315"/>
                  </a:lnTo>
                  <a:lnTo>
                    <a:pt x="181876" y="729869"/>
                  </a:lnTo>
                  <a:close/>
                </a:path>
                <a:path w="1813560" h="867410">
                  <a:moveTo>
                    <a:pt x="212610" y="704977"/>
                  </a:moveTo>
                  <a:lnTo>
                    <a:pt x="200164" y="689483"/>
                  </a:lnTo>
                  <a:lnTo>
                    <a:pt x="184797" y="702056"/>
                  </a:lnTo>
                  <a:lnTo>
                    <a:pt x="197243" y="717423"/>
                  </a:lnTo>
                  <a:lnTo>
                    <a:pt x="212610" y="704977"/>
                  </a:lnTo>
                  <a:close/>
                </a:path>
                <a:path w="1813560" h="867410">
                  <a:moveTo>
                    <a:pt x="243344" y="679958"/>
                  </a:moveTo>
                  <a:lnTo>
                    <a:pt x="230898" y="664591"/>
                  </a:lnTo>
                  <a:lnTo>
                    <a:pt x="215531" y="677037"/>
                  </a:lnTo>
                  <a:lnTo>
                    <a:pt x="227977" y="692404"/>
                  </a:lnTo>
                  <a:lnTo>
                    <a:pt x="243344" y="679958"/>
                  </a:lnTo>
                  <a:close/>
                </a:path>
                <a:path w="1813560" h="867410">
                  <a:moveTo>
                    <a:pt x="274205" y="655066"/>
                  </a:moveTo>
                  <a:lnTo>
                    <a:pt x="261759" y="639699"/>
                  </a:lnTo>
                  <a:lnTo>
                    <a:pt x="246392" y="652145"/>
                  </a:lnTo>
                  <a:lnTo>
                    <a:pt x="258838" y="667512"/>
                  </a:lnTo>
                  <a:lnTo>
                    <a:pt x="274205" y="655066"/>
                  </a:lnTo>
                  <a:close/>
                </a:path>
                <a:path w="1813560" h="867410">
                  <a:moveTo>
                    <a:pt x="304939" y="630174"/>
                  </a:moveTo>
                  <a:lnTo>
                    <a:pt x="292493" y="614680"/>
                  </a:lnTo>
                  <a:lnTo>
                    <a:pt x="277126" y="627126"/>
                  </a:lnTo>
                  <a:lnTo>
                    <a:pt x="289572" y="642620"/>
                  </a:lnTo>
                  <a:lnTo>
                    <a:pt x="304939" y="630174"/>
                  </a:lnTo>
                  <a:close/>
                </a:path>
                <a:path w="1813560" h="867410">
                  <a:moveTo>
                    <a:pt x="335800" y="605155"/>
                  </a:moveTo>
                  <a:lnTo>
                    <a:pt x="323354" y="589788"/>
                  </a:lnTo>
                  <a:lnTo>
                    <a:pt x="307860" y="602234"/>
                  </a:lnTo>
                  <a:lnTo>
                    <a:pt x="320433" y="617601"/>
                  </a:lnTo>
                  <a:lnTo>
                    <a:pt x="335800" y="605155"/>
                  </a:lnTo>
                  <a:close/>
                </a:path>
                <a:path w="1813560" h="867410">
                  <a:moveTo>
                    <a:pt x="366534" y="580263"/>
                  </a:moveTo>
                  <a:lnTo>
                    <a:pt x="354088" y="564896"/>
                  </a:lnTo>
                  <a:lnTo>
                    <a:pt x="338721" y="577342"/>
                  </a:lnTo>
                  <a:lnTo>
                    <a:pt x="351167" y="592709"/>
                  </a:lnTo>
                  <a:lnTo>
                    <a:pt x="366534" y="580263"/>
                  </a:lnTo>
                  <a:close/>
                </a:path>
                <a:path w="1813560" h="867410">
                  <a:moveTo>
                    <a:pt x="397395" y="555244"/>
                  </a:moveTo>
                  <a:lnTo>
                    <a:pt x="384949" y="539877"/>
                  </a:lnTo>
                  <a:lnTo>
                    <a:pt x="369455" y="552323"/>
                  </a:lnTo>
                  <a:lnTo>
                    <a:pt x="382028" y="567817"/>
                  </a:lnTo>
                  <a:lnTo>
                    <a:pt x="397395" y="555244"/>
                  </a:lnTo>
                  <a:close/>
                </a:path>
                <a:path w="1813560" h="867410">
                  <a:moveTo>
                    <a:pt x="428129" y="530352"/>
                  </a:moveTo>
                  <a:lnTo>
                    <a:pt x="415683" y="514985"/>
                  </a:lnTo>
                  <a:lnTo>
                    <a:pt x="400316" y="527431"/>
                  </a:lnTo>
                  <a:lnTo>
                    <a:pt x="412762" y="542798"/>
                  </a:lnTo>
                  <a:lnTo>
                    <a:pt x="428129" y="530352"/>
                  </a:lnTo>
                  <a:close/>
                </a:path>
                <a:path w="1813560" h="867410">
                  <a:moveTo>
                    <a:pt x="458990" y="505460"/>
                  </a:moveTo>
                  <a:lnTo>
                    <a:pt x="446417" y="489966"/>
                  </a:lnTo>
                  <a:lnTo>
                    <a:pt x="431050" y="502539"/>
                  </a:lnTo>
                  <a:lnTo>
                    <a:pt x="443496" y="517906"/>
                  </a:lnTo>
                  <a:lnTo>
                    <a:pt x="458990" y="505460"/>
                  </a:lnTo>
                  <a:close/>
                </a:path>
                <a:path w="1813560" h="867410">
                  <a:moveTo>
                    <a:pt x="489724" y="480441"/>
                  </a:moveTo>
                  <a:lnTo>
                    <a:pt x="477278" y="465074"/>
                  </a:lnTo>
                  <a:lnTo>
                    <a:pt x="461911" y="477520"/>
                  </a:lnTo>
                  <a:lnTo>
                    <a:pt x="474357" y="493014"/>
                  </a:lnTo>
                  <a:lnTo>
                    <a:pt x="489724" y="480441"/>
                  </a:lnTo>
                  <a:close/>
                </a:path>
                <a:path w="1813560" h="867410">
                  <a:moveTo>
                    <a:pt x="520585" y="455549"/>
                  </a:moveTo>
                  <a:lnTo>
                    <a:pt x="508012" y="440182"/>
                  </a:lnTo>
                  <a:lnTo>
                    <a:pt x="492645" y="452628"/>
                  </a:lnTo>
                  <a:lnTo>
                    <a:pt x="505091" y="467995"/>
                  </a:lnTo>
                  <a:lnTo>
                    <a:pt x="520585" y="455549"/>
                  </a:lnTo>
                  <a:close/>
                </a:path>
                <a:path w="1813560" h="867410">
                  <a:moveTo>
                    <a:pt x="551319" y="430657"/>
                  </a:moveTo>
                  <a:lnTo>
                    <a:pt x="538873" y="415163"/>
                  </a:lnTo>
                  <a:lnTo>
                    <a:pt x="523506" y="427736"/>
                  </a:lnTo>
                  <a:lnTo>
                    <a:pt x="535952" y="443103"/>
                  </a:lnTo>
                  <a:lnTo>
                    <a:pt x="551319" y="430657"/>
                  </a:lnTo>
                  <a:close/>
                </a:path>
                <a:path w="1813560" h="867410">
                  <a:moveTo>
                    <a:pt x="582180" y="405638"/>
                  </a:moveTo>
                  <a:lnTo>
                    <a:pt x="569607" y="390271"/>
                  </a:lnTo>
                  <a:lnTo>
                    <a:pt x="554240" y="402717"/>
                  </a:lnTo>
                  <a:lnTo>
                    <a:pt x="566686" y="418084"/>
                  </a:lnTo>
                  <a:lnTo>
                    <a:pt x="582180" y="405638"/>
                  </a:lnTo>
                  <a:close/>
                </a:path>
                <a:path w="1813560" h="867410">
                  <a:moveTo>
                    <a:pt x="612914" y="380746"/>
                  </a:moveTo>
                  <a:lnTo>
                    <a:pt x="600468" y="365379"/>
                  </a:lnTo>
                  <a:lnTo>
                    <a:pt x="585101" y="377825"/>
                  </a:lnTo>
                  <a:lnTo>
                    <a:pt x="597547" y="393192"/>
                  </a:lnTo>
                  <a:lnTo>
                    <a:pt x="612914" y="380746"/>
                  </a:lnTo>
                  <a:close/>
                </a:path>
                <a:path w="1813560" h="867410">
                  <a:moveTo>
                    <a:pt x="630567" y="846074"/>
                  </a:moveTo>
                  <a:lnTo>
                    <a:pt x="612787" y="837184"/>
                  </a:lnTo>
                  <a:lnTo>
                    <a:pt x="603897" y="854837"/>
                  </a:lnTo>
                  <a:lnTo>
                    <a:pt x="621677" y="863727"/>
                  </a:lnTo>
                  <a:lnTo>
                    <a:pt x="630567" y="846074"/>
                  </a:lnTo>
                  <a:close/>
                </a:path>
                <a:path w="1813560" h="867410">
                  <a:moveTo>
                    <a:pt x="643648" y="355727"/>
                  </a:moveTo>
                  <a:lnTo>
                    <a:pt x="631202" y="340360"/>
                  </a:lnTo>
                  <a:lnTo>
                    <a:pt x="615835" y="352806"/>
                  </a:lnTo>
                  <a:lnTo>
                    <a:pt x="628281" y="368300"/>
                  </a:lnTo>
                  <a:lnTo>
                    <a:pt x="643648" y="355727"/>
                  </a:lnTo>
                  <a:close/>
                </a:path>
                <a:path w="1813560" h="867410">
                  <a:moveTo>
                    <a:pt x="648347" y="810641"/>
                  </a:moveTo>
                  <a:lnTo>
                    <a:pt x="630567" y="801751"/>
                  </a:lnTo>
                  <a:lnTo>
                    <a:pt x="621677" y="819531"/>
                  </a:lnTo>
                  <a:lnTo>
                    <a:pt x="639457" y="828421"/>
                  </a:lnTo>
                  <a:lnTo>
                    <a:pt x="648347" y="810641"/>
                  </a:lnTo>
                  <a:close/>
                </a:path>
                <a:path w="1813560" h="867410">
                  <a:moveTo>
                    <a:pt x="666127" y="775208"/>
                  </a:moveTo>
                  <a:lnTo>
                    <a:pt x="648474" y="766318"/>
                  </a:lnTo>
                  <a:lnTo>
                    <a:pt x="639584" y="784098"/>
                  </a:lnTo>
                  <a:lnTo>
                    <a:pt x="657237" y="792988"/>
                  </a:lnTo>
                  <a:lnTo>
                    <a:pt x="666127" y="775208"/>
                  </a:lnTo>
                  <a:close/>
                </a:path>
                <a:path w="1813560" h="867410">
                  <a:moveTo>
                    <a:pt x="674509" y="330835"/>
                  </a:moveTo>
                  <a:lnTo>
                    <a:pt x="662063" y="315468"/>
                  </a:lnTo>
                  <a:lnTo>
                    <a:pt x="646569" y="327914"/>
                  </a:lnTo>
                  <a:lnTo>
                    <a:pt x="659142" y="343281"/>
                  </a:lnTo>
                  <a:lnTo>
                    <a:pt x="674509" y="330835"/>
                  </a:lnTo>
                  <a:close/>
                </a:path>
                <a:path w="1813560" h="867410">
                  <a:moveTo>
                    <a:pt x="683907" y="739902"/>
                  </a:moveTo>
                  <a:lnTo>
                    <a:pt x="666254" y="731012"/>
                  </a:lnTo>
                  <a:lnTo>
                    <a:pt x="657364" y="748665"/>
                  </a:lnTo>
                  <a:lnTo>
                    <a:pt x="675017" y="757555"/>
                  </a:lnTo>
                  <a:lnTo>
                    <a:pt x="683907" y="739902"/>
                  </a:lnTo>
                  <a:close/>
                </a:path>
                <a:path w="1813560" h="867410">
                  <a:moveTo>
                    <a:pt x="701687" y="704469"/>
                  </a:moveTo>
                  <a:lnTo>
                    <a:pt x="684034" y="695579"/>
                  </a:lnTo>
                  <a:lnTo>
                    <a:pt x="675144" y="713232"/>
                  </a:lnTo>
                  <a:lnTo>
                    <a:pt x="692797" y="722122"/>
                  </a:lnTo>
                  <a:lnTo>
                    <a:pt x="701687" y="704469"/>
                  </a:lnTo>
                  <a:close/>
                </a:path>
                <a:path w="1813560" h="867410">
                  <a:moveTo>
                    <a:pt x="705243" y="305943"/>
                  </a:moveTo>
                  <a:lnTo>
                    <a:pt x="692797" y="290576"/>
                  </a:lnTo>
                  <a:lnTo>
                    <a:pt x="677430" y="303022"/>
                  </a:lnTo>
                  <a:lnTo>
                    <a:pt x="689876" y="318389"/>
                  </a:lnTo>
                  <a:lnTo>
                    <a:pt x="705243" y="305943"/>
                  </a:lnTo>
                  <a:close/>
                </a:path>
                <a:path w="1813560" h="867410">
                  <a:moveTo>
                    <a:pt x="719467" y="669036"/>
                  </a:moveTo>
                  <a:lnTo>
                    <a:pt x="701814" y="660146"/>
                  </a:lnTo>
                  <a:lnTo>
                    <a:pt x="692924" y="677926"/>
                  </a:lnTo>
                  <a:lnTo>
                    <a:pt x="710577" y="686816"/>
                  </a:lnTo>
                  <a:lnTo>
                    <a:pt x="719467" y="669036"/>
                  </a:lnTo>
                  <a:close/>
                </a:path>
                <a:path w="1813560" h="867410">
                  <a:moveTo>
                    <a:pt x="736104" y="280924"/>
                  </a:moveTo>
                  <a:lnTo>
                    <a:pt x="723658" y="265557"/>
                  </a:lnTo>
                  <a:lnTo>
                    <a:pt x="708164" y="278003"/>
                  </a:lnTo>
                  <a:lnTo>
                    <a:pt x="720737" y="293497"/>
                  </a:lnTo>
                  <a:lnTo>
                    <a:pt x="736104" y="280924"/>
                  </a:lnTo>
                  <a:close/>
                </a:path>
                <a:path w="1813560" h="867410">
                  <a:moveTo>
                    <a:pt x="737247" y="633603"/>
                  </a:moveTo>
                  <a:lnTo>
                    <a:pt x="719594" y="624713"/>
                  </a:lnTo>
                  <a:lnTo>
                    <a:pt x="710704" y="642493"/>
                  </a:lnTo>
                  <a:lnTo>
                    <a:pt x="728357" y="651383"/>
                  </a:lnTo>
                  <a:lnTo>
                    <a:pt x="737247" y="633603"/>
                  </a:lnTo>
                  <a:close/>
                </a:path>
                <a:path w="1813560" h="867410">
                  <a:moveTo>
                    <a:pt x="755154" y="598297"/>
                  </a:moveTo>
                  <a:lnTo>
                    <a:pt x="737374" y="589407"/>
                  </a:lnTo>
                  <a:lnTo>
                    <a:pt x="728484" y="607060"/>
                  </a:lnTo>
                  <a:lnTo>
                    <a:pt x="746137" y="615950"/>
                  </a:lnTo>
                  <a:lnTo>
                    <a:pt x="755154" y="598297"/>
                  </a:lnTo>
                  <a:close/>
                </a:path>
                <a:path w="1813560" h="867410">
                  <a:moveTo>
                    <a:pt x="766838" y="256032"/>
                  </a:moveTo>
                  <a:lnTo>
                    <a:pt x="754392" y="240665"/>
                  </a:lnTo>
                  <a:lnTo>
                    <a:pt x="739025" y="253111"/>
                  </a:lnTo>
                  <a:lnTo>
                    <a:pt x="751471" y="268478"/>
                  </a:lnTo>
                  <a:lnTo>
                    <a:pt x="766838" y="256032"/>
                  </a:lnTo>
                  <a:close/>
                </a:path>
                <a:path w="1813560" h="867410">
                  <a:moveTo>
                    <a:pt x="772934" y="562864"/>
                  </a:moveTo>
                  <a:lnTo>
                    <a:pt x="755154" y="553974"/>
                  </a:lnTo>
                  <a:lnTo>
                    <a:pt x="746264" y="571627"/>
                  </a:lnTo>
                  <a:lnTo>
                    <a:pt x="764044" y="580517"/>
                  </a:lnTo>
                  <a:lnTo>
                    <a:pt x="772934" y="562864"/>
                  </a:lnTo>
                  <a:close/>
                </a:path>
                <a:path w="1813560" h="867410">
                  <a:moveTo>
                    <a:pt x="790714" y="527431"/>
                  </a:moveTo>
                  <a:lnTo>
                    <a:pt x="772934" y="518541"/>
                  </a:lnTo>
                  <a:lnTo>
                    <a:pt x="764044" y="536194"/>
                  </a:lnTo>
                  <a:lnTo>
                    <a:pt x="781824" y="545084"/>
                  </a:lnTo>
                  <a:lnTo>
                    <a:pt x="790714" y="527431"/>
                  </a:lnTo>
                  <a:close/>
                </a:path>
                <a:path w="1813560" h="867410">
                  <a:moveTo>
                    <a:pt x="797699" y="231140"/>
                  </a:moveTo>
                  <a:lnTo>
                    <a:pt x="785253" y="215646"/>
                  </a:lnTo>
                  <a:lnTo>
                    <a:pt x="769759" y="228219"/>
                  </a:lnTo>
                  <a:lnTo>
                    <a:pt x="782205" y="243586"/>
                  </a:lnTo>
                  <a:lnTo>
                    <a:pt x="797699" y="231140"/>
                  </a:lnTo>
                  <a:close/>
                </a:path>
                <a:path w="1813560" h="867410">
                  <a:moveTo>
                    <a:pt x="808494" y="491998"/>
                  </a:moveTo>
                  <a:lnTo>
                    <a:pt x="790841" y="483108"/>
                  </a:lnTo>
                  <a:lnTo>
                    <a:pt x="781824" y="500888"/>
                  </a:lnTo>
                  <a:lnTo>
                    <a:pt x="799604" y="509778"/>
                  </a:lnTo>
                  <a:lnTo>
                    <a:pt x="808494" y="491998"/>
                  </a:lnTo>
                  <a:close/>
                </a:path>
                <a:path w="1813560" h="867410">
                  <a:moveTo>
                    <a:pt x="826274" y="456692"/>
                  </a:moveTo>
                  <a:lnTo>
                    <a:pt x="808621" y="447802"/>
                  </a:lnTo>
                  <a:lnTo>
                    <a:pt x="799731" y="465455"/>
                  </a:lnTo>
                  <a:lnTo>
                    <a:pt x="817384" y="474345"/>
                  </a:lnTo>
                  <a:lnTo>
                    <a:pt x="826274" y="456692"/>
                  </a:lnTo>
                  <a:close/>
                </a:path>
                <a:path w="1813560" h="867410">
                  <a:moveTo>
                    <a:pt x="828433" y="206121"/>
                  </a:moveTo>
                  <a:lnTo>
                    <a:pt x="815987" y="190754"/>
                  </a:lnTo>
                  <a:lnTo>
                    <a:pt x="800620" y="203200"/>
                  </a:lnTo>
                  <a:lnTo>
                    <a:pt x="813066" y="218567"/>
                  </a:lnTo>
                  <a:lnTo>
                    <a:pt x="828433" y="206121"/>
                  </a:lnTo>
                  <a:close/>
                </a:path>
                <a:path w="1813560" h="867410">
                  <a:moveTo>
                    <a:pt x="844054" y="421259"/>
                  </a:moveTo>
                  <a:lnTo>
                    <a:pt x="826401" y="412369"/>
                  </a:lnTo>
                  <a:lnTo>
                    <a:pt x="817511" y="430022"/>
                  </a:lnTo>
                  <a:lnTo>
                    <a:pt x="835164" y="438912"/>
                  </a:lnTo>
                  <a:lnTo>
                    <a:pt x="844054" y="421259"/>
                  </a:lnTo>
                  <a:close/>
                </a:path>
                <a:path w="1813560" h="867410">
                  <a:moveTo>
                    <a:pt x="859294" y="181229"/>
                  </a:moveTo>
                  <a:lnTo>
                    <a:pt x="846721" y="165862"/>
                  </a:lnTo>
                  <a:lnTo>
                    <a:pt x="831354" y="178308"/>
                  </a:lnTo>
                  <a:lnTo>
                    <a:pt x="843800" y="193675"/>
                  </a:lnTo>
                  <a:lnTo>
                    <a:pt x="859294" y="181229"/>
                  </a:lnTo>
                  <a:close/>
                </a:path>
                <a:path w="1813560" h="867410">
                  <a:moveTo>
                    <a:pt x="861834" y="385826"/>
                  </a:moveTo>
                  <a:lnTo>
                    <a:pt x="844181" y="376936"/>
                  </a:lnTo>
                  <a:lnTo>
                    <a:pt x="835291" y="394589"/>
                  </a:lnTo>
                  <a:lnTo>
                    <a:pt x="852944" y="403479"/>
                  </a:lnTo>
                  <a:lnTo>
                    <a:pt x="861834" y="385826"/>
                  </a:lnTo>
                  <a:close/>
                </a:path>
                <a:path w="1813560" h="867410">
                  <a:moveTo>
                    <a:pt x="879614" y="350393"/>
                  </a:moveTo>
                  <a:lnTo>
                    <a:pt x="861961" y="341503"/>
                  </a:lnTo>
                  <a:lnTo>
                    <a:pt x="853071" y="359283"/>
                  </a:lnTo>
                  <a:lnTo>
                    <a:pt x="870724" y="368173"/>
                  </a:lnTo>
                  <a:lnTo>
                    <a:pt x="879614" y="350393"/>
                  </a:lnTo>
                  <a:close/>
                </a:path>
                <a:path w="1813560" h="867410">
                  <a:moveTo>
                    <a:pt x="890028" y="156337"/>
                  </a:moveTo>
                  <a:lnTo>
                    <a:pt x="877582" y="140843"/>
                  </a:lnTo>
                  <a:lnTo>
                    <a:pt x="862215" y="153416"/>
                  </a:lnTo>
                  <a:lnTo>
                    <a:pt x="874661" y="168783"/>
                  </a:lnTo>
                  <a:lnTo>
                    <a:pt x="890028" y="156337"/>
                  </a:lnTo>
                  <a:close/>
                </a:path>
                <a:path w="1813560" h="867410">
                  <a:moveTo>
                    <a:pt x="897394" y="315087"/>
                  </a:moveTo>
                  <a:lnTo>
                    <a:pt x="879741" y="306070"/>
                  </a:lnTo>
                  <a:lnTo>
                    <a:pt x="870851" y="323850"/>
                  </a:lnTo>
                  <a:lnTo>
                    <a:pt x="888504" y="332740"/>
                  </a:lnTo>
                  <a:lnTo>
                    <a:pt x="897394" y="315087"/>
                  </a:lnTo>
                  <a:close/>
                </a:path>
                <a:path w="1813560" h="867410">
                  <a:moveTo>
                    <a:pt x="915301" y="279654"/>
                  </a:moveTo>
                  <a:lnTo>
                    <a:pt x="897521" y="270764"/>
                  </a:lnTo>
                  <a:lnTo>
                    <a:pt x="888631" y="288417"/>
                  </a:lnTo>
                  <a:lnTo>
                    <a:pt x="906411" y="297307"/>
                  </a:lnTo>
                  <a:lnTo>
                    <a:pt x="915301" y="279654"/>
                  </a:lnTo>
                  <a:close/>
                </a:path>
                <a:path w="1813560" h="867410">
                  <a:moveTo>
                    <a:pt x="920889" y="131318"/>
                  </a:moveTo>
                  <a:lnTo>
                    <a:pt x="908316" y="115951"/>
                  </a:lnTo>
                  <a:lnTo>
                    <a:pt x="892949" y="128397"/>
                  </a:lnTo>
                  <a:lnTo>
                    <a:pt x="905395" y="143764"/>
                  </a:lnTo>
                  <a:lnTo>
                    <a:pt x="920889" y="131318"/>
                  </a:lnTo>
                  <a:close/>
                </a:path>
                <a:path w="1813560" h="867410">
                  <a:moveTo>
                    <a:pt x="933081" y="244221"/>
                  </a:moveTo>
                  <a:lnTo>
                    <a:pt x="915301" y="235331"/>
                  </a:lnTo>
                  <a:lnTo>
                    <a:pt x="906411" y="252984"/>
                  </a:lnTo>
                  <a:lnTo>
                    <a:pt x="924191" y="261874"/>
                  </a:lnTo>
                  <a:lnTo>
                    <a:pt x="933081" y="244221"/>
                  </a:lnTo>
                  <a:close/>
                </a:path>
                <a:path w="1813560" h="867410">
                  <a:moveTo>
                    <a:pt x="950861" y="208788"/>
                  </a:moveTo>
                  <a:lnTo>
                    <a:pt x="933081" y="199898"/>
                  </a:lnTo>
                  <a:lnTo>
                    <a:pt x="924191" y="217678"/>
                  </a:lnTo>
                  <a:lnTo>
                    <a:pt x="941971" y="226568"/>
                  </a:lnTo>
                  <a:lnTo>
                    <a:pt x="950861" y="208788"/>
                  </a:lnTo>
                  <a:close/>
                </a:path>
                <a:path w="1813560" h="867410">
                  <a:moveTo>
                    <a:pt x="968641" y="173355"/>
                  </a:moveTo>
                  <a:lnTo>
                    <a:pt x="950988" y="164465"/>
                  </a:lnTo>
                  <a:lnTo>
                    <a:pt x="941971" y="182245"/>
                  </a:lnTo>
                  <a:lnTo>
                    <a:pt x="959751" y="191135"/>
                  </a:lnTo>
                  <a:lnTo>
                    <a:pt x="968641" y="173355"/>
                  </a:lnTo>
                  <a:close/>
                </a:path>
                <a:path w="1813560" h="867410">
                  <a:moveTo>
                    <a:pt x="1058176" y="119888"/>
                  </a:moveTo>
                  <a:lnTo>
                    <a:pt x="1053985" y="100457"/>
                  </a:lnTo>
                  <a:lnTo>
                    <a:pt x="1034681" y="104648"/>
                  </a:lnTo>
                  <a:lnTo>
                    <a:pt x="1038745" y="124079"/>
                  </a:lnTo>
                  <a:lnTo>
                    <a:pt x="1058176" y="119888"/>
                  </a:lnTo>
                  <a:close/>
                </a:path>
                <a:path w="1813560" h="867410">
                  <a:moveTo>
                    <a:pt x="1066558" y="158623"/>
                  </a:moveTo>
                  <a:lnTo>
                    <a:pt x="1062367" y="139319"/>
                  </a:lnTo>
                  <a:lnTo>
                    <a:pt x="1042936" y="143383"/>
                  </a:lnTo>
                  <a:lnTo>
                    <a:pt x="1047127" y="162814"/>
                  </a:lnTo>
                  <a:lnTo>
                    <a:pt x="1066558" y="158623"/>
                  </a:lnTo>
                  <a:close/>
                </a:path>
                <a:path w="1813560" h="867410">
                  <a:moveTo>
                    <a:pt x="1074813" y="197358"/>
                  </a:moveTo>
                  <a:lnTo>
                    <a:pt x="1070622" y="178054"/>
                  </a:lnTo>
                  <a:lnTo>
                    <a:pt x="1051318" y="182118"/>
                  </a:lnTo>
                  <a:lnTo>
                    <a:pt x="1055509" y="201549"/>
                  </a:lnTo>
                  <a:lnTo>
                    <a:pt x="1074813" y="197358"/>
                  </a:lnTo>
                  <a:close/>
                </a:path>
                <a:path w="1813560" h="867410">
                  <a:moveTo>
                    <a:pt x="1083195" y="236093"/>
                  </a:moveTo>
                  <a:lnTo>
                    <a:pt x="1079004" y="216789"/>
                  </a:lnTo>
                  <a:lnTo>
                    <a:pt x="1059573" y="220853"/>
                  </a:lnTo>
                  <a:lnTo>
                    <a:pt x="1063764" y="240284"/>
                  </a:lnTo>
                  <a:lnTo>
                    <a:pt x="1083195" y="236093"/>
                  </a:lnTo>
                  <a:close/>
                </a:path>
                <a:path w="1813560" h="867410">
                  <a:moveTo>
                    <a:pt x="1091450" y="274828"/>
                  </a:moveTo>
                  <a:lnTo>
                    <a:pt x="1087259" y="255524"/>
                  </a:lnTo>
                  <a:lnTo>
                    <a:pt x="1067955" y="259588"/>
                  </a:lnTo>
                  <a:lnTo>
                    <a:pt x="1072146" y="279019"/>
                  </a:lnTo>
                  <a:lnTo>
                    <a:pt x="1091450" y="274828"/>
                  </a:lnTo>
                  <a:close/>
                </a:path>
                <a:path w="1813560" h="867410">
                  <a:moveTo>
                    <a:pt x="1099832" y="313563"/>
                  </a:moveTo>
                  <a:lnTo>
                    <a:pt x="1095641" y="294259"/>
                  </a:lnTo>
                  <a:lnTo>
                    <a:pt x="1076337" y="298323"/>
                  </a:lnTo>
                  <a:lnTo>
                    <a:pt x="1080401" y="317754"/>
                  </a:lnTo>
                  <a:lnTo>
                    <a:pt x="1099832" y="313563"/>
                  </a:lnTo>
                  <a:close/>
                </a:path>
                <a:path w="1813560" h="867410">
                  <a:moveTo>
                    <a:pt x="1108087" y="352298"/>
                  </a:moveTo>
                  <a:lnTo>
                    <a:pt x="1104023" y="332994"/>
                  </a:lnTo>
                  <a:lnTo>
                    <a:pt x="1084592" y="337058"/>
                  </a:lnTo>
                  <a:lnTo>
                    <a:pt x="1088783" y="356489"/>
                  </a:lnTo>
                  <a:lnTo>
                    <a:pt x="1108087" y="352298"/>
                  </a:lnTo>
                  <a:close/>
                </a:path>
                <a:path w="1813560" h="867410">
                  <a:moveTo>
                    <a:pt x="1116469" y="391033"/>
                  </a:moveTo>
                  <a:lnTo>
                    <a:pt x="1112278" y="371729"/>
                  </a:lnTo>
                  <a:lnTo>
                    <a:pt x="1092974" y="375793"/>
                  </a:lnTo>
                  <a:lnTo>
                    <a:pt x="1097038" y="395224"/>
                  </a:lnTo>
                  <a:lnTo>
                    <a:pt x="1116469" y="391033"/>
                  </a:lnTo>
                  <a:close/>
                </a:path>
                <a:path w="1813560" h="867410">
                  <a:moveTo>
                    <a:pt x="1121803" y="43942"/>
                  </a:moveTo>
                  <a:lnTo>
                    <a:pt x="1102626" y="38989"/>
                  </a:lnTo>
                  <a:lnTo>
                    <a:pt x="1097673" y="58293"/>
                  </a:lnTo>
                  <a:lnTo>
                    <a:pt x="1116977" y="63119"/>
                  </a:lnTo>
                  <a:lnTo>
                    <a:pt x="1121803" y="43942"/>
                  </a:lnTo>
                  <a:close/>
                </a:path>
                <a:path w="1813560" h="867410">
                  <a:moveTo>
                    <a:pt x="1124851" y="429768"/>
                  </a:moveTo>
                  <a:lnTo>
                    <a:pt x="1120660" y="410464"/>
                  </a:lnTo>
                  <a:lnTo>
                    <a:pt x="1101229" y="414655"/>
                  </a:lnTo>
                  <a:lnTo>
                    <a:pt x="1105420" y="433959"/>
                  </a:lnTo>
                  <a:lnTo>
                    <a:pt x="1124851" y="429768"/>
                  </a:lnTo>
                  <a:close/>
                </a:path>
                <a:path w="1813560" h="867410">
                  <a:moveTo>
                    <a:pt x="1133106" y="468503"/>
                  </a:moveTo>
                  <a:lnTo>
                    <a:pt x="1128915" y="449199"/>
                  </a:lnTo>
                  <a:lnTo>
                    <a:pt x="1109611" y="453390"/>
                  </a:lnTo>
                  <a:lnTo>
                    <a:pt x="1113802" y="472694"/>
                  </a:lnTo>
                  <a:lnTo>
                    <a:pt x="1133106" y="468503"/>
                  </a:lnTo>
                  <a:close/>
                </a:path>
                <a:path w="1813560" h="867410">
                  <a:moveTo>
                    <a:pt x="1141488" y="507238"/>
                  </a:moveTo>
                  <a:lnTo>
                    <a:pt x="1137297" y="487934"/>
                  </a:lnTo>
                  <a:lnTo>
                    <a:pt x="1117866" y="492125"/>
                  </a:lnTo>
                  <a:lnTo>
                    <a:pt x="1122057" y="511429"/>
                  </a:lnTo>
                  <a:lnTo>
                    <a:pt x="1141488" y="507238"/>
                  </a:lnTo>
                  <a:close/>
                </a:path>
                <a:path w="1813560" h="867410">
                  <a:moveTo>
                    <a:pt x="1143647" y="13589"/>
                  </a:moveTo>
                  <a:lnTo>
                    <a:pt x="1142123" y="8255"/>
                  </a:lnTo>
                  <a:lnTo>
                    <a:pt x="1140599" y="3048"/>
                  </a:lnTo>
                  <a:lnTo>
                    <a:pt x="1135138" y="0"/>
                  </a:lnTo>
                  <a:lnTo>
                    <a:pt x="1028839" y="30607"/>
                  </a:lnTo>
                  <a:lnTo>
                    <a:pt x="925588" y="46609"/>
                  </a:lnTo>
                  <a:lnTo>
                    <a:pt x="920127" y="47371"/>
                  </a:lnTo>
                  <a:lnTo>
                    <a:pt x="916444" y="52451"/>
                  </a:lnTo>
                  <a:lnTo>
                    <a:pt x="917206" y="57912"/>
                  </a:lnTo>
                  <a:lnTo>
                    <a:pt x="918095" y="63246"/>
                  </a:lnTo>
                  <a:lnTo>
                    <a:pt x="923175" y="66929"/>
                  </a:lnTo>
                  <a:lnTo>
                    <a:pt x="928509" y="66167"/>
                  </a:lnTo>
                  <a:lnTo>
                    <a:pt x="988047" y="56984"/>
                  </a:lnTo>
                  <a:lnTo>
                    <a:pt x="988314" y="57327"/>
                  </a:lnTo>
                  <a:lnTo>
                    <a:pt x="971638" y="68186"/>
                  </a:lnTo>
                  <a:lnTo>
                    <a:pt x="969911" y="66040"/>
                  </a:lnTo>
                  <a:lnTo>
                    <a:pt x="954544" y="78486"/>
                  </a:lnTo>
                  <a:lnTo>
                    <a:pt x="954976" y="79044"/>
                  </a:lnTo>
                  <a:lnTo>
                    <a:pt x="941209" y="88011"/>
                  </a:lnTo>
                  <a:lnTo>
                    <a:pt x="936637" y="90932"/>
                  </a:lnTo>
                  <a:lnTo>
                    <a:pt x="936015" y="93624"/>
                  </a:lnTo>
                  <a:lnTo>
                    <a:pt x="923810" y="103505"/>
                  </a:lnTo>
                  <a:lnTo>
                    <a:pt x="936256" y="118872"/>
                  </a:lnTo>
                  <a:lnTo>
                    <a:pt x="951623" y="106426"/>
                  </a:lnTo>
                  <a:lnTo>
                    <a:pt x="950747" y="105359"/>
                  </a:lnTo>
                  <a:lnTo>
                    <a:pt x="952004" y="104521"/>
                  </a:lnTo>
                  <a:lnTo>
                    <a:pt x="989584" y="80060"/>
                  </a:lnTo>
                  <a:lnTo>
                    <a:pt x="977887" y="110921"/>
                  </a:lnTo>
                  <a:lnTo>
                    <a:pt x="977658" y="111379"/>
                  </a:lnTo>
                  <a:lnTo>
                    <a:pt x="973721" y="121920"/>
                  </a:lnTo>
                  <a:lnTo>
                    <a:pt x="971816" y="127000"/>
                  </a:lnTo>
                  <a:lnTo>
                    <a:pt x="973861" y="131737"/>
                  </a:lnTo>
                  <a:lnTo>
                    <a:pt x="968768" y="129159"/>
                  </a:lnTo>
                  <a:lnTo>
                    <a:pt x="959878" y="146812"/>
                  </a:lnTo>
                  <a:lnTo>
                    <a:pt x="977531" y="155702"/>
                  </a:lnTo>
                  <a:lnTo>
                    <a:pt x="986421" y="138049"/>
                  </a:lnTo>
                  <a:lnTo>
                    <a:pt x="980871" y="135267"/>
                  </a:lnTo>
                  <a:lnTo>
                    <a:pt x="984643" y="136652"/>
                  </a:lnTo>
                  <a:lnTo>
                    <a:pt x="990358" y="134112"/>
                  </a:lnTo>
                  <a:lnTo>
                    <a:pt x="992263" y="128905"/>
                  </a:lnTo>
                  <a:lnTo>
                    <a:pt x="996188" y="118516"/>
                  </a:lnTo>
                  <a:lnTo>
                    <a:pt x="1004201" y="102616"/>
                  </a:lnTo>
                  <a:lnTo>
                    <a:pt x="1002525" y="101777"/>
                  </a:lnTo>
                  <a:lnTo>
                    <a:pt x="1009561" y="83185"/>
                  </a:lnTo>
                  <a:lnTo>
                    <a:pt x="1011301" y="84074"/>
                  </a:lnTo>
                  <a:lnTo>
                    <a:pt x="996073" y="130556"/>
                  </a:lnTo>
                  <a:lnTo>
                    <a:pt x="994422" y="135763"/>
                  </a:lnTo>
                  <a:lnTo>
                    <a:pt x="997216" y="141351"/>
                  </a:lnTo>
                  <a:lnTo>
                    <a:pt x="1002423" y="143002"/>
                  </a:lnTo>
                  <a:lnTo>
                    <a:pt x="1007630" y="144780"/>
                  </a:lnTo>
                  <a:lnTo>
                    <a:pt x="1013218" y="141859"/>
                  </a:lnTo>
                  <a:lnTo>
                    <a:pt x="1014996" y="136652"/>
                  </a:lnTo>
                  <a:lnTo>
                    <a:pt x="1015936" y="133756"/>
                  </a:lnTo>
                  <a:lnTo>
                    <a:pt x="1016215" y="138049"/>
                  </a:lnTo>
                  <a:lnTo>
                    <a:pt x="1016520" y="142240"/>
                  </a:lnTo>
                  <a:lnTo>
                    <a:pt x="1021219" y="146431"/>
                  </a:lnTo>
                  <a:lnTo>
                    <a:pt x="1032141" y="145669"/>
                  </a:lnTo>
                  <a:lnTo>
                    <a:pt x="1036205" y="140970"/>
                  </a:lnTo>
                  <a:lnTo>
                    <a:pt x="1035951" y="135509"/>
                  </a:lnTo>
                  <a:lnTo>
                    <a:pt x="1032764" y="84963"/>
                  </a:lnTo>
                  <a:lnTo>
                    <a:pt x="1032281" y="84963"/>
                  </a:lnTo>
                  <a:lnTo>
                    <a:pt x="1032624" y="84886"/>
                  </a:lnTo>
                  <a:lnTo>
                    <a:pt x="1032764" y="84886"/>
                  </a:lnTo>
                  <a:lnTo>
                    <a:pt x="1048410" y="81457"/>
                  </a:lnTo>
                  <a:lnTo>
                    <a:pt x="1085100" y="121666"/>
                  </a:lnTo>
                  <a:lnTo>
                    <a:pt x="1088783" y="125603"/>
                  </a:lnTo>
                  <a:lnTo>
                    <a:pt x="1095133" y="125984"/>
                  </a:lnTo>
                  <a:lnTo>
                    <a:pt x="1099070" y="122301"/>
                  </a:lnTo>
                  <a:lnTo>
                    <a:pt x="1103134" y="118618"/>
                  </a:lnTo>
                  <a:lnTo>
                    <a:pt x="1103388" y="112268"/>
                  </a:lnTo>
                  <a:lnTo>
                    <a:pt x="1057249" y="61722"/>
                  </a:lnTo>
                  <a:lnTo>
                    <a:pt x="1049134" y="52832"/>
                  </a:lnTo>
                  <a:lnTo>
                    <a:pt x="1029373" y="31203"/>
                  </a:lnTo>
                  <a:lnTo>
                    <a:pt x="1103896" y="104267"/>
                  </a:lnTo>
                  <a:lnTo>
                    <a:pt x="1107833" y="108077"/>
                  </a:lnTo>
                  <a:lnTo>
                    <a:pt x="1114056" y="108077"/>
                  </a:lnTo>
                  <a:lnTo>
                    <a:pt x="1121676" y="100203"/>
                  </a:lnTo>
                  <a:lnTo>
                    <a:pt x="1121676" y="93980"/>
                  </a:lnTo>
                  <a:lnTo>
                    <a:pt x="1117739" y="90170"/>
                  </a:lnTo>
                  <a:lnTo>
                    <a:pt x="1080223" y="53340"/>
                  </a:lnTo>
                  <a:lnTo>
                    <a:pt x="1078839" y="51981"/>
                  </a:lnTo>
                  <a:lnTo>
                    <a:pt x="1082941" y="35648"/>
                  </a:lnTo>
                  <a:lnTo>
                    <a:pt x="1104900" y="29337"/>
                  </a:lnTo>
                  <a:lnTo>
                    <a:pt x="1108430" y="28321"/>
                  </a:lnTo>
                  <a:lnTo>
                    <a:pt x="1140599" y="19050"/>
                  </a:lnTo>
                  <a:lnTo>
                    <a:pt x="1143647" y="13589"/>
                  </a:lnTo>
                  <a:close/>
                </a:path>
                <a:path w="1813560" h="867410">
                  <a:moveTo>
                    <a:pt x="1149743" y="545973"/>
                  </a:moveTo>
                  <a:lnTo>
                    <a:pt x="1145679" y="526669"/>
                  </a:lnTo>
                  <a:lnTo>
                    <a:pt x="1126248" y="530860"/>
                  </a:lnTo>
                  <a:lnTo>
                    <a:pt x="1130439" y="550164"/>
                  </a:lnTo>
                  <a:lnTo>
                    <a:pt x="1149743" y="545973"/>
                  </a:lnTo>
                  <a:close/>
                </a:path>
                <a:path w="1813560" h="867410">
                  <a:moveTo>
                    <a:pt x="1158125" y="584708"/>
                  </a:moveTo>
                  <a:lnTo>
                    <a:pt x="1153934" y="565404"/>
                  </a:lnTo>
                  <a:lnTo>
                    <a:pt x="1134630" y="569595"/>
                  </a:lnTo>
                  <a:lnTo>
                    <a:pt x="1138694" y="588899"/>
                  </a:lnTo>
                  <a:lnTo>
                    <a:pt x="1158125" y="584708"/>
                  </a:lnTo>
                  <a:close/>
                </a:path>
                <a:path w="1813560" h="867410">
                  <a:moveTo>
                    <a:pt x="1160157" y="53594"/>
                  </a:moveTo>
                  <a:lnTo>
                    <a:pt x="1140980" y="48768"/>
                  </a:lnTo>
                  <a:lnTo>
                    <a:pt x="1136154" y="67945"/>
                  </a:lnTo>
                  <a:lnTo>
                    <a:pt x="1155331" y="72771"/>
                  </a:lnTo>
                  <a:lnTo>
                    <a:pt x="1160157" y="53594"/>
                  </a:lnTo>
                  <a:close/>
                </a:path>
                <a:path w="1813560" h="867410">
                  <a:moveTo>
                    <a:pt x="1166380" y="623443"/>
                  </a:moveTo>
                  <a:lnTo>
                    <a:pt x="1162316" y="604139"/>
                  </a:lnTo>
                  <a:lnTo>
                    <a:pt x="1142885" y="608330"/>
                  </a:lnTo>
                  <a:lnTo>
                    <a:pt x="1147076" y="627634"/>
                  </a:lnTo>
                  <a:lnTo>
                    <a:pt x="1166380" y="623443"/>
                  </a:lnTo>
                  <a:close/>
                </a:path>
                <a:path w="1813560" h="867410">
                  <a:moveTo>
                    <a:pt x="1174762" y="662178"/>
                  </a:moveTo>
                  <a:lnTo>
                    <a:pt x="1170571" y="642874"/>
                  </a:lnTo>
                  <a:lnTo>
                    <a:pt x="1151267" y="647065"/>
                  </a:lnTo>
                  <a:lnTo>
                    <a:pt x="1155458" y="666369"/>
                  </a:lnTo>
                  <a:lnTo>
                    <a:pt x="1174762" y="662178"/>
                  </a:lnTo>
                  <a:close/>
                </a:path>
                <a:path w="1813560" h="867410">
                  <a:moveTo>
                    <a:pt x="1183144" y="700913"/>
                  </a:moveTo>
                  <a:lnTo>
                    <a:pt x="1178953" y="681609"/>
                  </a:lnTo>
                  <a:lnTo>
                    <a:pt x="1159522" y="685800"/>
                  </a:lnTo>
                  <a:lnTo>
                    <a:pt x="1163713" y="705104"/>
                  </a:lnTo>
                  <a:lnTo>
                    <a:pt x="1183144" y="700913"/>
                  </a:lnTo>
                  <a:close/>
                </a:path>
                <a:path w="1813560" h="867410">
                  <a:moveTo>
                    <a:pt x="1191399" y="739648"/>
                  </a:moveTo>
                  <a:lnTo>
                    <a:pt x="1187208" y="720344"/>
                  </a:lnTo>
                  <a:lnTo>
                    <a:pt x="1167904" y="724535"/>
                  </a:lnTo>
                  <a:lnTo>
                    <a:pt x="1172095" y="743839"/>
                  </a:lnTo>
                  <a:lnTo>
                    <a:pt x="1191399" y="739648"/>
                  </a:lnTo>
                  <a:close/>
                </a:path>
                <a:path w="1813560" h="867410">
                  <a:moveTo>
                    <a:pt x="1198638" y="63373"/>
                  </a:moveTo>
                  <a:lnTo>
                    <a:pt x="1179461" y="58420"/>
                  </a:lnTo>
                  <a:lnTo>
                    <a:pt x="1174508" y="77724"/>
                  </a:lnTo>
                  <a:lnTo>
                    <a:pt x="1193685" y="82550"/>
                  </a:lnTo>
                  <a:lnTo>
                    <a:pt x="1198638" y="63373"/>
                  </a:lnTo>
                  <a:close/>
                </a:path>
                <a:path w="1813560" h="867410">
                  <a:moveTo>
                    <a:pt x="1199781" y="778510"/>
                  </a:moveTo>
                  <a:lnTo>
                    <a:pt x="1195590" y="759079"/>
                  </a:lnTo>
                  <a:lnTo>
                    <a:pt x="1176159" y="763270"/>
                  </a:lnTo>
                  <a:lnTo>
                    <a:pt x="1180350" y="782574"/>
                  </a:lnTo>
                  <a:lnTo>
                    <a:pt x="1199781" y="778510"/>
                  </a:lnTo>
                  <a:close/>
                </a:path>
                <a:path w="1813560" h="867410">
                  <a:moveTo>
                    <a:pt x="1208036" y="817245"/>
                  </a:moveTo>
                  <a:lnTo>
                    <a:pt x="1203972" y="797814"/>
                  </a:lnTo>
                  <a:lnTo>
                    <a:pt x="1184541" y="802005"/>
                  </a:lnTo>
                  <a:lnTo>
                    <a:pt x="1188732" y="821309"/>
                  </a:lnTo>
                  <a:lnTo>
                    <a:pt x="1208036" y="817245"/>
                  </a:lnTo>
                  <a:close/>
                </a:path>
                <a:path w="1813560" h="867410">
                  <a:moveTo>
                    <a:pt x="1216418" y="855980"/>
                  </a:moveTo>
                  <a:lnTo>
                    <a:pt x="1212227" y="836549"/>
                  </a:lnTo>
                  <a:lnTo>
                    <a:pt x="1192923" y="840740"/>
                  </a:lnTo>
                  <a:lnTo>
                    <a:pt x="1196987" y="860044"/>
                  </a:lnTo>
                  <a:lnTo>
                    <a:pt x="1216418" y="855980"/>
                  </a:lnTo>
                  <a:close/>
                </a:path>
                <a:path w="1813560" h="867410">
                  <a:moveTo>
                    <a:pt x="1236992" y="73025"/>
                  </a:moveTo>
                  <a:lnTo>
                    <a:pt x="1217815" y="68199"/>
                  </a:lnTo>
                  <a:lnTo>
                    <a:pt x="1212989" y="87376"/>
                  </a:lnTo>
                  <a:lnTo>
                    <a:pt x="1232166" y="92202"/>
                  </a:lnTo>
                  <a:lnTo>
                    <a:pt x="1236992" y="73025"/>
                  </a:lnTo>
                  <a:close/>
                </a:path>
                <a:path w="1813560" h="867410">
                  <a:moveTo>
                    <a:pt x="1275473" y="82804"/>
                  </a:moveTo>
                  <a:lnTo>
                    <a:pt x="1256169" y="77851"/>
                  </a:lnTo>
                  <a:lnTo>
                    <a:pt x="1251343" y="97155"/>
                  </a:lnTo>
                  <a:lnTo>
                    <a:pt x="1270520" y="101981"/>
                  </a:lnTo>
                  <a:lnTo>
                    <a:pt x="1275473" y="82804"/>
                  </a:lnTo>
                  <a:close/>
                </a:path>
                <a:path w="1813560" h="867410">
                  <a:moveTo>
                    <a:pt x="1313827" y="92456"/>
                  </a:moveTo>
                  <a:lnTo>
                    <a:pt x="1294650" y="87630"/>
                  </a:lnTo>
                  <a:lnTo>
                    <a:pt x="1289824" y="106807"/>
                  </a:lnTo>
                  <a:lnTo>
                    <a:pt x="1309001" y="111633"/>
                  </a:lnTo>
                  <a:lnTo>
                    <a:pt x="1313827" y="92456"/>
                  </a:lnTo>
                  <a:close/>
                </a:path>
                <a:path w="1813560" h="867410">
                  <a:moveTo>
                    <a:pt x="1352308" y="102235"/>
                  </a:moveTo>
                  <a:lnTo>
                    <a:pt x="1333004" y="97282"/>
                  </a:lnTo>
                  <a:lnTo>
                    <a:pt x="1328178" y="116586"/>
                  </a:lnTo>
                  <a:lnTo>
                    <a:pt x="1347355" y="121412"/>
                  </a:lnTo>
                  <a:lnTo>
                    <a:pt x="1352308" y="102235"/>
                  </a:lnTo>
                  <a:close/>
                </a:path>
                <a:path w="1813560" h="867410">
                  <a:moveTo>
                    <a:pt x="1390662" y="111887"/>
                  </a:moveTo>
                  <a:lnTo>
                    <a:pt x="1371485" y="107061"/>
                  </a:lnTo>
                  <a:lnTo>
                    <a:pt x="1366659" y="126238"/>
                  </a:lnTo>
                  <a:lnTo>
                    <a:pt x="1385836" y="131064"/>
                  </a:lnTo>
                  <a:lnTo>
                    <a:pt x="1390662" y="111887"/>
                  </a:lnTo>
                  <a:close/>
                </a:path>
                <a:path w="1813560" h="867410">
                  <a:moveTo>
                    <a:pt x="1429143" y="121666"/>
                  </a:moveTo>
                  <a:lnTo>
                    <a:pt x="1409839" y="116840"/>
                  </a:lnTo>
                  <a:lnTo>
                    <a:pt x="1405013" y="136017"/>
                  </a:lnTo>
                  <a:lnTo>
                    <a:pt x="1424190" y="140843"/>
                  </a:lnTo>
                  <a:lnTo>
                    <a:pt x="1429143" y="121666"/>
                  </a:lnTo>
                  <a:close/>
                </a:path>
                <a:path w="1813560" h="867410">
                  <a:moveTo>
                    <a:pt x="1467497" y="131318"/>
                  </a:moveTo>
                  <a:lnTo>
                    <a:pt x="1448320" y="126492"/>
                  </a:lnTo>
                  <a:lnTo>
                    <a:pt x="1443494" y="145669"/>
                  </a:lnTo>
                  <a:lnTo>
                    <a:pt x="1462671" y="150622"/>
                  </a:lnTo>
                  <a:lnTo>
                    <a:pt x="1467497" y="131318"/>
                  </a:lnTo>
                  <a:close/>
                </a:path>
                <a:path w="1813560" h="867410">
                  <a:moveTo>
                    <a:pt x="1505978" y="141097"/>
                  </a:moveTo>
                  <a:lnTo>
                    <a:pt x="1486674" y="136271"/>
                  </a:lnTo>
                  <a:lnTo>
                    <a:pt x="1481848" y="155448"/>
                  </a:lnTo>
                  <a:lnTo>
                    <a:pt x="1501025" y="160274"/>
                  </a:lnTo>
                  <a:lnTo>
                    <a:pt x="1505978" y="141097"/>
                  </a:lnTo>
                  <a:close/>
                </a:path>
                <a:path w="1813560" h="867410">
                  <a:moveTo>
                    <a:pt x="1544332" y="150749"/>
                  </a:moveTo>
                  <a:lnTo>
                    <a:pt x="1525155" y="145923"/>
                  </a:lnTo>
                  <a:lnTo>
                    <a:pt x="1520329" y="165100"/>
                  </a:lnTo>
                  <a:lnTo>
                    <a:pt x="1539506" y="170053"/>
                  </a:lnTo>
                  <a:lnTo>
                    <a:pt x="1544332" y="150749"/>
                  </a:lnTo>
                  <a:close/>
                </a:path>
                <a:path w="1813560" h="867410">
                  <a:moveTo>
                    <a:pt x="1582686" y="160528"/>
                  </a:moveTo>
                  <a:lnTo>
                    <a:pt x="1563509" y="155702"/>
                  </a:lnTo>
                  <a:lnTo>
                    <a:pt x="1558683" y="174879"/>
                  </a:lnTo>
                  <a:lnTo>
                    <a:pt x="1577860" y="179705"/>
                  </a:lnTo>
                  <a:lnTo>
                    <a:pt x="1582686" y="160528"/>
                  </a:lnTo>
                  <a:close/>
                </a:path>
                <a:path w="1813560" h="867410">
                  <a:moveTo>
                    <a:pt x="1621167" y="170180"/>
                  </a:moveTo>
                  <a:lnTo>
                    <a:pt x="1601990" y="165354"/>
                  </a:lnTo>
                  <a:lnTo>
                    <a:pt x="1597037" y="184531"/>
                  </a:lnTo>
                  <a:lnTo>
                    <a:pt x="1616341" y="189484"/>
                  </a:lnTo>
                  <a:lnTo>
                    <a:pt x="1621167" y="170180"/>
                  </a:lnTo>
                  <a:close/>
                </a:path>
                <a:path w="1813560" h="867410">
                  <a:moveTo>
                    <a:pt x="1659521" y="179959"/>
                  </a:moveTo>
                  <a:lnTo>
                    <a:pt x="1640344" y="175133"/>
                  </a:lnTo>
                  <a:lnTo>
                    <a:pt x="1635518" y="194310"/>
                  </a:lnTo>
                  <a:lnTo>
                    <a:pt x="1654695" y="199136"/>
                  </a:lnTo>
                  <a:lnTo>
                    <a:pt x="1659521" y="179959"/>
                  </a:lnTo>
                  <a:close/>
                </a:path>
                <a:path w="1813560" h="867410">
                  <a:moveTo>
                    <a:pt x="1698002" y="189611"/>
                  </a:moveTo>
                  <a:lnTo>
                    <a:pt x="1678825" y="184785"/>
                  </a:lnTo>
                  <a:lnTo>
                    <a:pt x="1673872" y="203962"/>
                  </a:lnTo>
                  <a:lnTo>
                    <a:pt x="1693176" y="208915"/>
                  </a:lnTo>
                  <a:lnTo>
                    <a:pt x="1698002" y="189611"/>
                  </a:lnTo>
                  <a:close/>
                </a:path>
                <a:path w="1813560" h="867410">
                  <a:moveTo>
                    <a:pt x="1736356" y="199390"/>
                  </a:moveTo>
                  <a:lnTo>
                    <a:pt x="1717179" y="194564"/>
                  </a:lnTo>
                  <a:lnTo>
                    <a:pt x="1712353" y="213741"/>
                  </a:lnTo>
                  <a:lnTo>
                    <a:pt x="1731530" y="218567"/>
                  </a:lnTo>
                  <a:lnTo>
                    <a:pt x="1736356" y="199390"/>
                  </a:lnTo>
                  <a:close/>
                </a:path>
                <a:path w="1813560" h="867410">
                  <a:moveTo>
                    <a:pt x="1774837" y="209042"/>
                  </a:moveTo>
                  <a:lnTo>
                    <a:pt x="1755660" y="204216"/>
                  </a:lnTo>
                  <a:lnTo>
                    <a:pt x="1750707" y="223393"/>
                  </a:lnTo>
                  <a:lnTo>
                    <a:pt x="1770011" y="228346"/>
                  </a:lnTo>
                  <a:lnTo>
                    <a:pt x="1774837" y="209042"/>
                  </a:lnTo>
                  <a:close/>
                </a:path>
                <a:path w="1813560" h="867410">
                  <a:moveTo>
                    <a:pt x="1813191" y="218821"/>
                  </a:moveTo>
                  <a:lnTo>
                    <a:pt x="1794014" y="213995"/>
                  </a:lnTo>
                  <a:lnTo>
                    <a:pt x="1789188" y="233172"/>
                  </a:lnTo>
                  <a:lnTo>
                    <a:pt x="1808365" y="237998"/>
                  </a:lnTo>
                  <a:lnTo>
                    <a:pt x="1813191" y="218821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endParaRPr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6799542" y="5337517"/>
            <a:ext cx="36615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had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449059" y="5332946"/>
            <a:ext cx="95440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>
                <a:tab pos="575945" algn="l"/>
              </a:tabLst>
              <a:defRPr/>
            </a:pPr>
            <a:r>
              <a:rPr kumimoji="0" lang="en-US" sz="1600" b="0" i="1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gone</a:t>
            </a:r>
            <a:r>
              <a:rPr kumimoji="0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	</a:t>
            </a: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  </a:t>
            </a:r>
            <a:r>
              <a:rPr kumimoji="0" lang="en-US" sz="16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to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8656988" y="5329288"/>
            <a:ext cx="306198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the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8745093" y="1177049"/>
            <a:ext cx="111760" cy="347345"/>
          </a:xfrm>
          <a:custGeom>
            <a:avLst/>
            <a:gdLst/>
            <a:ahLst/>
            <a:cxnLst/>
            <a:rect l="l" t="t" r="r" b="b"/>
            <a:pathLst>
              <a:path w="111759" h="347344">
                <a:moveTo>
                  <a:pt x="55448" y="39182"/>
                </a:moveTo>
                <a:lnTo>
                  <a:pt x="45664" y="56206"/>
                </a:lnTo>
                <a:lnTo>
                  <a:pt x="47243" y="347217"/>
                </a:lnTo>
                <a:lnTo>
                  <a:pt x="67055" y="347217"/>
                </a:lnTo>
                <a:lnTo>
                  <a:pt x="65476" y="56170"/>
                </a:lnTo>
                <a:lnTo>
                  <a:pt x="55448" y="39182"/>
                </a:lnTo>
                <a:close/>
              </a:path>
              <a:path w="111759" h="347344">
                <a:moveTo>
                  <a:pt x="55245" y="0"/>
                </a:moveTo>
                <a:lnTo>
                  <a:pt x="2666" y="91058"/>
                </a:lnTo>
                <a:lnTo>
                  <a:pt x="0" y="95884"/>
                </a:lnTo>
                <a:lnTo>
                  <a:pt x="1650" y="101853"/>
                </a:lnTo>
                <a:lnTo>
                  <a:pt x="6350" y="104647"/>
                </a:lnTo>
                <a:lnTo>
                  <a:pt x="11049" y="107314"/>
                </a:lnTo>
                <a:lnTo>
                  <a:pt x="17145" y="105790"/>
                </a:lnTo>
                <a:lnTo>
                  <a:pt x="19938" y="100964"/>
                </a:lnTo>
                <a:lnTo>
                  <a:pt x="45664" y="56206"/>
                </a:lnTo>
                <a:lnTo>
                  <a:pt x="45465" y="19684"/>
                </a:lnTo>
                <a:lnTo>
                  <a:pt x="66793" y="19557"/>
                </a:lnTo>
                <a:lnTo>
                  <a:pt x="55245" y="0"/>
                </a:lnTo>
                <a:close/>
              </a:path>
              <a:path w="111759" h="347344">
                <a:moveTo>
                  <a:pt x="66793" y="19557"/>
                </a:moveTo>
                <a:lnTo>
                  <a:pt x="65277" y="19557"/>
                </a:lnTo>
                <a:lnTo>
                  <a:pt x="65497" y="56206"/>
                </a:lnTo>
                <a:lnTo>
                  <a:pt x="91693" y="100583"/>
                </a:lnTo>
                <a:lnTo>
                  <a:pt x="94487" y="105282"/>
                </a:lnTo>
                <a:lnTo>
                  <a:pt x="100583" y="106933"/>
                </a:lnTo>
                <a:lnTo>
                  <a:pt x="109981" y="101345"/>
                </a:lnTo>
                <a:lnTo>
                  <a:pt x="111505" y="95250"/>
                </a:lnTo>
                <a:lnTo>
                  <a:pt x="108711" y="90550"/>
                </a:lnTo>
                <a:lnTo>
                  <a:pt x="66793" y="19557"/>
                </a:lnTo>
                <a:close/>
              </a:path>
              <a:path w="111759" h="347344">
                <a:moveTo>
                  <a:pt x="65277" y="19557"/>
                </a:moveTo>
                <a:lnTo>
                  <a:pt x="45465" y="19684"/>
                </a:lnTo>
                <a:lnTo>
                  <a:pt x="45664" y="56206"/>
                </a:lnTo>
                <a:lnTo>
                  <a:pt x="55448" y="39182"/>
                </a:lnTo>
                <a:lnTo>
                  <a:pt x="46862" y="24637"/>
                </a:lnTo>
                <a:lnTo>
                  <a:pt x="65304" y="24510"/>
                </a:lnTo>
                <a:lnTo>
                  <a:pt x="65277" y="19557"/>
                </a:lnTo>
                <a:close/>
              </a:path>
              <a:path w="111759" h="347344">
                <a:moveTo>
                  <a:pt x="65304" y="24510"/>
                </a:moveTo>
                <a:lnTo>
                  <a:pt x="63880" y="24510"/>
                </a:lnTo>
                <a:lnTo>
                  <a:pt x="55448" y="39182"/>
                </a:lnTo>
                <a:lnTo>
                  <a:pt x="65476" y="56170"/>
                </a:lnTo>
                <a:lnTo>
                  <a:pt x="65304" y="24510"/>
                </a:lnTo>
                <a:close/>
              </a:path>
              <a:path w="111759" h="347344">
                <a:moveTo>
                  <a:pt x="63880" y="24510"/>
                </a:moveTo>
                <a:lnTo>
                  <a:pt x="46862" y="24637"/>
                </a:lnTo>
                <a:lnTo>
                  <a:pt x="55448" y="39182"/>
                </a:lnTo>
                <a:lnTo>
                  <a:pt x="63880" y="2451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462867" y="858152"/>
            <a:ext cx="631601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market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pic>
        <p:nvPicPr>
          <p:cNvPr id="56" name="Picture 5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62796" y="1538808"/>
            <a:ext cx="304800" cy="323850"/>
          </a:xfrm>
          <a:prstGeom prst="rect">
            <a:avLst/>
          </a:prstGeom>
        </p:spPr>
      </p:pic>
      <p:sp>
        <p:nvSpPr>
          <p:cNvPr id="57" name="object 2">
            <a:extLst>
              <a:ext uri="{FF2B5EF4-FFF2-40B4-BE49-F238E27FC236}">
                <a16:creationId xmlns:a16="http://schemas.microsoft.com/office/drawing/2014/main" id="{2D2D7048-2036-7AEE-1F8F-570DABD8E5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1325" y="46597"/>
            <a:ext cx="11307763" cy="629018"/>
          </a:xfrm>
          <a:prstGeom prst="rect">
            <a:avLst/>
          </a:prstGeom>
        </p:spPr>
        <p:txBody>
          <a:bodyPr vert="horz" wrap="square" lIns="0" tIns="1333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pc="-5" dirty="0"/>
              <a:t>Sequence-to-Sequence</a:t>
            </a:r>
            <a:r>
              <a:rPr lang="en-IN" spc="-40" dirty="0"/>
              <a:t> </a:t>
            </a:r>
            <a:r>
              <a:rPr lang="en-IN" spc="-5" dirty="0"/>
              <a:t>With</a:t>
            </a:r>
            <a:r>
              <a:rPr lang="en-IN" spc="15" dirty="0"/>
              <a:t> A</a:t>
            </a:r>
            <a:r>
              <a:rPr lang="en-IN" dirty="0"/>
              <a:t>ttention</a:t>
            </a:r>
            <a:endParaRPr dirty="0"/>
          </a:p>
        </p:txBody>
      </p:sp>
      <p:sp>
        <p:nvSpPr>
          <p:cNvPr id="58" name="object 22">
            <a:extLst>
              <a:ext uri="{FF2B5EF4-FFF2-40B4-BE49-F238E27FC236}">
                <a16:creationId xmlns:a16="http://schemas.microsoft.com/office/drawing/2014/main" id="{2BE38F0F-05E9-6380-6E02-9E4104309F5F}"/>
              </a:ext>
            </a:extLst>
          </p:cNvPr>
          <p:cNvSpPr txBox="1"/>
          <p:nvPr/>
        </p:nvSpPr>
        <p:spPr>
          <a:xfrm>
            <a:off x="10372554" y="3700406"/>
            <a:ext cx="467885" cy="128270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Decoder</a:t>
            </a:r>
            <a:r>
              <a:rPr kumimoji="0" sz="1800" b="0" i="0" u="none" strike="noStrike" kern="1200" cap="none" spc="-3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RNN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61" name="object 13">
            <a:extLst>
              <a:ext uri="{FF2B5EF4-FFF2-40B4-BE49-F238E27FC236}">
                <a16:creationId xmlns:a16="http://schemas.microsoft.com/office/drawing/2014/main" id="{0C61EDA5-701F-5FA8-12C7-1BAFAACDDB42}"/>
              </a:ext>
            </a:extLst>
          </p:cNvPr>
          <p:cNvSpPr txBox="1"/>
          <p:nvPr/>
        </p:nvSpPr>
        <p:spPr>
          <a:xfrm>
            <a:off x="2433333" y="5954560"/>
            <a:ext cx="2230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Source sentence</a:t>
            </a:r>
            <a:r>
              <a:rPr kumimoji="0" sz="1800" b="0" i="0" u="none" strike="noStrike" kern="120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(input)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62" name="object 14">
            <a:extLst>
              <a:ext uri="{FF2B5EF4-FFF2-40B4-BE49-F238E27FC236}">
                <a16:creationId xmlns:a16="http://schemas.microsoft.com/office/drawing/2014/main" id="{24BB966E-E90A-8741-2294-2EF8F1B12DEF}"/>
              </a:ext>
            </a:extLst>
          </p:cNvPr>
          <p:cNvSpPr/>
          <p:nvPr/>
        </p:nvSpPr>
        <p:spPr>
          <a:xfrm>
            <a:off x="2357710" y="5780012"/>
            <a:ext cx="2343455" cy="197550"/>
          </a:xfrm>
          <a:custGeom>
            <a:avLst/>
            <a:gdLst/>
            <a:ahLst/>
            <a:cxnLst/>
            <a:rect l="l" t="t" r="r" b="b"/>
            <a:pathLst>
              <a:path w="2435860" h="271779">
                <a:moveTo>
                  <a:pt x="2435352" y="0"/>
                </a:moveTo>
                <a:lnTo>
                  <a:pt x="2427013" y="52804"/>
                </a:lnTo>
                <a:lnTo>
                  <a:pt x="2404268" y="95916"/>
                </a:lnTo>
                <a:lnTo>
                  <a:pt x="2370522" y="124979"/>
                </a:lnTo>
                <a:lnTo>
                  <a:pt x="2329180" y="135636"/>
                </a:lnTo>
                <a:lnTo>
                  <a:pt x="1323848" y="135636"/>
                </a:lnTo>
                <a:lnTo>
                  <a:pt x="1282505" y="146292"/>
                </a:lnTo>
                <a:lnTo>
                  <a:pt x="1248759" y="175355"/>
                </a:lnTo>
                <a:lnTo>
                  <a:pt x="1226014" y="218467"/>
                </a:lnTo>
                <a:lnTo>
                  <a:pt x="1217676" y="271272"/>
                </a:lnTo>
                <a:lnTo>
                  <a:pt x="1209337" y="218467"/>
                </a:lnTo>
                <a:lnTo>
                  <a:pt x="1186592" y="175355"/>
                </a:lnTo>
                <a:lnTo>
                  <a:pt x="1152846" y="146292"/>
                </a:lnTo>
                <a:lnTo>
                  <a:pt x="1111504" y="135636"/>
                </a:lnTo>
                <a:lnTo>
                  <a:pt x="106146" y="135636"/>
                </a:lnTo>
                <a:lnTo>
                  <a:pt x="64829" y="124979"/>
                </a:lnTo>
                <a:lnTo>
                  <a:pt x="31089" y="95916"/>
                </a:lnTo>
                <a:lnTo>
                  <a:pt x="8341" y="52804"/>
                </a:lnTo>
                <a:lnTo>
                  <a:pt x="0" y="0"/>
                </a:lnTo>
              </a:path>
            </a:pathLst>
          </a:custGeom>
          <a:ln w="198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63" name="object 21">
            <a:extLst>
              <a:ext uri="{FF2B5EF4-FFF2-40B4-BE49-F238E27FC236}">
                <a16:creationId xmlns:a16="http://schemas.microsoft.com/office/drawing/2014/main" id="{C635B217-5593-00B5-DBF7-F2B1370F68FE}"/>
              </a:ext>
            </a:extLst>
          </p:cNvPr>
          <p:cNvSpPr txBox="1"/>
          <p:nvPr/>
        </p:nvSpPr>
        <p:spPr>
          <a:xfrm>
            <a:off x="2426336" y="5313638"/>
            <a:ext cx="40980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i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हम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64" name="object 22">
            <a:extLst>
              <a:ext uri="{FF2B5EF4-FFF2-40B4-BE49-F238E27FC236}">
                <a16:creationId xmlns:a16="http://schemas.microsoft.com/office/drawing/2014/main" id="{20338682-1550-DD94-E125-79F3A2AD435F}"/>
              </a:ext>
            </a:extLst>
          </p:cNvPr>
          <p:cNvSpPr txBox="1"/>
          <p:nvPr/>
        </p:nvSpPr>
        <p:spPr>
          <a:xfrm>
            <a:off x="3002623" y="5313638"/>
            <a:ext cx="53340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i-IN" sz="16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बाजार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65" name="object 21">
            <a:extLst>
              <a:ext uri="{FF2B5EF4-FFF2-40B4-BE49-F238E27FC236}">
                <a16:creationId xmlns:a16="http://schemas.microsoft.com/office/drawing/2014/main" id="{1182499C-E946-834C-395C-08A5C39EE638}"/>
              </a:ext>
            </a:extLst>
          </p:cNvPr>
          <p:cNvSpPr txBox="1"/>
          <p:nvPr/>
        </p:nvSpPr>
        <p:spPr>
          <a:xfrm>
            <a:off x="3658511" y="5317123"/>
            <a:ext cx="40980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i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गये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66" name="object 21">
            <a:extLst>
              <a:ext uri="{FF2B5EF4-FFF2-40B4-BE49-F238E27FC236}">
                <a16:creationId xmlns:a16="http://schemas.microsoft.com/office/drawing/2014/main" id="{E381A784-42E5-062E-00EE-8E2CADE7A5D0}"/>
              </a:ext>
            </a:extLst>
          </p:cNvPr>
          <p:cNvSpPr txBox="1"/>
          <p:nvPr/>
        </p:nvSpPr>
        <p:spPr>
          <a:xfrm>
            <a:off x="4268105" y="5310901"/>
            <a:ext cx="40980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i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थे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89D3980-D6FD-2975-FDFF-95A9A7B7CA4D}"/>
              </a:ext>
            </a:extLst>
          </p:cNvPr>
          <p:cNvSpPr/>
          <p:nvPr/>
        </p:nvSpPr>
        <p:spPr>
          <a:xfrm>
            <a:off x="2442470" y="1527442"/>
            <a:ext cx="2308860" cy="85546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82AA3BF-F83D-EC38-EA2E-DF10AA59FF3E}"/>
              </a:ext>
            </a:extLst>
          </p:cNvPr>
          <p:cNvSpPr/>
          <p:nvPr/>
        </p:nvSpPr>
        <p:spPr>
          <a:xfrm>
            <a:off x="3212938" y="1865896"/>
            <a:ext cx="126000" cy="511212"/>
          </a:xfrm>
          <a:prstGeom prst="rect">
            <a:avLst/>
          </a:prstGeom>
          <a:solidFill>
            <a:srgbClr val="BCD6FF"/>
          </a:solidFill>
          <a:ln w="19050">
            <a:solidFill>
              <a:srgbClr val="388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7F08AF49-F452-D6A5-E8EF-7CE8F4CFC5D3}"/>
              </a:ext>
            </a:extLst>
          </p:cNvPr>
          <p:cNvSpPr/>
          <p:nvPr/>
        </p:nvSpPr>
        <p:spPr>
          <a:xfrm>
            <a:off x="2592250" y="2318992"/>
            <a:ext cx="126000" cy="59606"/>
          </a:xfrm>
          <a:prstGeom prst="rect">
            <a:avLst/>
          </a:prstGeom>
          <a:solidFill>
            <a:srgbClr val="BCD6FF"/>
          </a:solidFill>
          <a:ln w="19050">
            <a:solidFill>
              <a:srgbClr val="388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10559C7-C48A-119F-42A6-156662D46D10}"/>
              </a:ext>
            </a:extLst>
          </p:cNvPr>
          <p:cNvSpPr/>
          <p:nvPr/>
        </p:nvSpPr>
        <p:spPr>
          <a:xfrm>
            <a:off x="3775415" y="2320894"/>
            <a:ext cx="126000" cy="59606"/>
          </a:xfrm>
          <a:prstGeom prst="rect">
            <a:avLst/>
          </a:prstGeom>
          <a:solidFill>
            <a:srgbClr val="BCD6FF"/>
          </a:solidFill>
          <a:ln w="19050">
            <a:solidFill>
              <a:srgbClr val="388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DD74883D-C3B7-3725-EC70-3793B04744BD}"/>
              </a:ext>
            </a:extLst>
          </p:cNvPr>
          <p:cNvSpPr/>
          <p:nvPr/>
        </p:nvSpPr>
        <p:spPr>
          <a:xfrm>
            <a:off x="4395910" y="2330773"/>
            <a:ext cx="126000" cy="59606"/>
          </a:xfrm>
          <a:prstGeom prst="rect">
            <a:avLst/>
          </a:prstGeom>
          <a:solidFill>
            <a:srgbClr val="BCD6FF"/>
          </a:solidFill>
          <a:ln w="19050">
            <a:solidFill>
              <a:srgbClr val="388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F86BAFDC-AF06-9626-B6D0-813D487D759D}"/>
              </a:ext>
            </a:extLst>
          </p:cNvPr>
          <p:cNvCxnSpPr>
            <a:cxnSpLocks/>
            <a:endCxn id="67" idx="0"/>
          </p:cNvCxnSpPr>
          <p:nvPr/>
        </p:nvCxnSpPr>
        <p:spPr>
          <a:xfrm flipV="1">
            <a:off x="2647386" y="1527442"/>
            <a:ext cx="949514" cy="77865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EFD3EF4B-552F-C760-C0FA-034F52B10868}"/>
              </a:ext>
            </a:extLst>
          </p:cNvPr>
          <p:cNvCxnSpPr>
            <a:cxnSpLocks/>
            <a:stCxn id="68" idx="0"/>
            <a:endCxn id="67" idx="0"/>
          </p:cNvCxnSpPr>
          <p:nvPr/>
        </p:nvCxnSpPr>
        <p:spPr>
          <a:xfrm flipV="1">
            <a:off x="3275938" y="1527442"/>
            <a:ext cx="320962" cy="338454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48916776-F542-BCF6-BFD7-169D88F3B845}"/>
              </a:ext>
            </a:extLst>
          </p:cNvPr>
          <p:cNvCxnSpPr>
            <a:cxnSpLocks/>
          </p:cNvCxnSpPr>
          <p:nvPr/>
        </p:nvCxnSpPr>
        <p:spPr>
          <a:xfrm flipH="1" flipV="1">
            <a:off x="3658511" y="1525032"/>
            <a:ext cx="165205" cy="76316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A0DB1C60-1C7C-379D-EF1F-7BB2E0DFFBDA}"/>
              </a:ext>
            </a:extLst>
          </p:cNvPr>
          <p:cNvCxnSpPr>
            <a:cxnSpLocks/>
          </p:cNvCxnSpPr>
          <p:nvPr/>
        </p:nvCxnSpPr>
        <p:spPr>
          <a:xfrm flipH="1" flipV="1">
            <a:off x="3740086" y="1525032"/>
            <a:ext cx="655824" cy="79396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4D81B6F8-0436-2E51-73B7-2C0CA90AD713}"/>
              </a:ext>
            </a:extLst>
          </p:cNvPr>
          <p:cNvSpPr txBox="1"/>
          <p:nvPr/>
        </p:nvSpPr>
        <p:spPr>
          <a:xfrm>
            <a:off x="2412364" y="5540067"/>
            <a:ext cx="2321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ham      baajaar     gaye         the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1325" y="607035"/>
            <a:ext cx="11307763" cy="629018"/>
          </a:xfrm>
          <a:prstGeom prst="rect">
            <a:avLst/>
          </a:prstGeom>
        </p:spPr>
        <p:txBody>
          <a:bodyPr vert="horz" wrap="square" lIns="0" tIns="1333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Attention:</a:t>
            </a:r>
            <a:r>
              <a:rPr spc="-40" dirty="0"/>
              <a:t> </a:t>
            </a:r>
            <a:r>
              <a:rPr lang="en-US" dirty="0"/>
              <a:t>I</a:t>
            </a:r>
            <a:r>
              <a:rPr dirty="0"/>
              <a:t>n</a:t>
            </a:r>
            <a:r>
              <a:rPr spc="-10" dirty="0"/>
              <a:t> </a:t>
            </a:r>
            <a:r>
              <a:rPr lang="en-US" spc="-5" dirty="0"/>
              <a:t>E</a:t>
            </a:r>
            <a:r>
              <a:rPr spc="-5" dirty="0"/>
              <a:t>quations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1527" y="1196219"/>
            <a:ext cx="9438885" cy="1125308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We</a:t>
            </a:r>
            <a:r>
              <a:rPr kumimoji="0" lang="en-US" sz="20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have</a:t>
            </a:r>
            <a:r>
              <a:rPr kumimoji="0" lang="en-US" sz="20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encoder</a:t>
            </a:r>
            <a:r>
              <a:rPr kumimoji="0" lang="en-US" sz="20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hidden states </a:t>
            </a:r>
            <a:r>
              <a:rPr kumimoji="0" lang="en-US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h</a:t>
            </a:r>
            <a:r>
              <a:rPr kumimoji="0" lang="en-US" sz="2000" b="0" i="1" u="none" strike="noStrike" kern="1200" cap="none" spc="-5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1 </a:t>
            </a:r>
            <a:r>
              <a:rPr kumimoji="0" lang="en-US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, . . . , </a:t>
            </a:r>
            <a:r>
              <a:rPr kumimoji="0" lang="en-US" sz="2000" b="0" i="1" u="none" strike="noStrike" kern="1200" cap="none" spc="-5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h</a:t>
            </a:r>
            <a:r>
              <a:rPr kumimoji="0" lang="en-US" sz="2000" b="0" i="1" u="none" strike="noStrike" kern="1200" cap="none" spc="-5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N</a:t>
            </a:r>
            <a:r>
              <a:rPr kumimoji="0" lang="en-US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highlight>
                  <a:srgbClr val="FFFFFF"/>
                </a:highlight>
                <a:uLnTx/>
                <a:uFillTx/>
                <a:latin typeface="Aptos Display"/>
                <a:ea typeface="+mn-ea"/>
                <a:cs typeface="+mn-cs"/>
              </a:rPr>
              <a:t>∈ </a:t>
            </a: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1F1F1F"/>
                </a:solidFill>
                <a:effectLst/>
                <a:highlight>
                  <a:srgbClr val="FFFFFF"/>
                </a:highlight>
                <a:uLnTx/>
                <a:uFillTx/>
                <a:latin typeface="Aptos Display"/>
                <a:ea typeface="+mn-ea"/>
                <a:cs typeface="+mn-cs"/>
              </a:rPr>
              <a:t>ℝ</a:t>
            </a:r>
            <a:r>
              <a:rPr kumimoji="0" lang="en-IN" sz="2000" b="0" i="0" u="none" strike="noStrike" kern="1200" cap="none" spc="0" normalizeH="0" baseline="30000" noProof="0" dirty="0" err="1">
                <a:ln>
                  <a:noFill/>
                </a:ln>
                <a:solidFill>
                  <a:srgbClr val="1F1F1F"/>
                </a:solidFill>
                <a:effectLst/>
                <a:highlight>
                  <a:srgbClr val="FFFFFF"/>
                </a:highlight>
                <a:uLnTx/>
                <a:uFillTx/>
                <a:latin typeface="Aptos Display"/>
                <a:ea typeface="+mn-ea"/>
                <a:cs typeface="+mn-cs"/>
              </a:rPr>
              <a:t>h</a:t>
            </a:r>
            <a:endParaRPr kumimoji="0" lang="en-US" sz="2000" b="0" i="0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On</a:t>
            </a:r>
            <a:r>
              <a:rPr kumimoji="0" lang="en-US" sz="20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timestep</a:t>
            </a:r>
            <a:r>
              <a:rPr kumimoji="0" lang="en-US" sz="2000" b="0" i="0" u="none" strike="noStrike" kern="1200" cap="none" spc="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lang="en-US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, we</a:t>
            </a:r>
            <a:r>
              <a:rPr kumimoji="0" lang="en-US" sz="20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have</a:t>
            </a:r>
            <a:r>
              <a:rPr kumimoji="0" lang="en-US" sz="20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decoder</a:t>
            </a:r>
            <a:r>
              <a:rPr kumimoji="0" lang="en-US" sz="2000" b="0" i="0" u="none" strike="noStrike" kern="120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hidden state </a:t>
            </a:r>
            <a:r>
              <a:rPr kumimoji="0" lang="en-US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</a:t>
            </a:r>
            <a:r>
              <a:rPr kumimoji="0" lang="en-US" sz="2000" b="0" i="1" u="none" strike="noStrike" kern="1200" cap="none" spc="-5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</a:t>
            </a:r>
            <a:r>
              <a:rPr kumimoji="0" lang="en-US" sz="20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highlight>
                  <a:srgbClr val="FFFFFF"/>
                </a:highlight>
                <a:uLnTx/>
                <a:uFillTx/>
                <a:latin typeface="Aptos Display"/>
                <a:ea typeface="+mn-ea"/>
                <a:cs typeface="+mn-cs"/>
              </a:rPr>
              <a:t>∈ </a:t>
            </a: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1F1F1F"/>
                </a:solidFill>
                <a:effectLst/>
                <a:highlight>
                  <a:srgbClr val="FFFFFF"/>
                </a:highlight>
                <a:uLnTx/>
                <a:uFillTx/>
                <a:latin typeface="Aptos Display"/>
                <a:ea typeface="+mn-ea"/>
                <a:cs typeface="+mn-cs"/>
              </a:rPr>
              <a:t>ℝ</a:t>
            </a:r>
            <a:r>
              <a:rPr kumimoji="0" lang="en-IN" sz="2000" b="0" i="0" u="none" strike="noStrike" kern="1200" cap="none" spc="0" normalizeH="0" baseline="30000" noProof="0" dirty="0" err="1">
                <a:ln>
                  <a:noFill/>
                </a:ln>
                <a:solidFill>
                  <a:srgbClr val="1F1F1F"/>
                </a:solidFill>
                <a:effectLst/>
                <a:highlight>
                  <a:srgbClr val="FFFFFF"/>
                </a:highlight>
                <a:uLnTx/>
                <a:uFillTx/>
                <a:latin typeface="Aptos Display"/>
                <a:ea typeface="+mn-ea"/>
                <a:cs typeface="+mn-cs"/>
              </a:rPr>
              <a:t>h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  <a:tab pos="3750945" algn="l"/>
              </a:tabLst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We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get the</a:t>
            </a:r>
            <a:r>
              <a:rPr kumimoji="0" lang="en-US" sz="2000" b="0" i="0" u="none" strike="noStrike" kern="120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attention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scores e</a:t>
            </a:r>
            <a:r>
              <a:rPr kumimoji="0" lang="en-US" sz="2000" b="0" i="0" u="none" strike="noStrike" kern="1200" cap="none" spc="-5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 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for</a:t>
            </a:r>
            <a:r>
              <a:rPr kumimoji="0" lang="en-US" sz="2000" b="0" i="0" u="none" strike="noStrike" kern="1200" cap="none" spc="-3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this</a:t>
            </a:r>
            <a:r>
              <a:rPr kumimoji="0" lang="en-US" sz="2000" b="0" i="0" u="none" strike="noStrike" kern="120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step: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1324" y="2943358"/>
            <a:ext cx="11464537" cy="352468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We</a:t>
            </a:r>
            <a:r>
              <a:rPr kumimoji="0" lang="en-US" sz="20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take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softmax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to get</a:t>
            </a:r>
            <a:r>
              <a:rPr kumimoji="0" lang="en-US" sz="20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the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attention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distribution </a:t>
            </a:r>
            <a:r>
              <a:rPr kumimoji="0" lang="el-GR" sz="200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highlight>
                  <a:srgbClr val="FFFFFF"/>
                </a:highlight>
                <a:uLnTx/>
                <a:uFillTx/>
                <a:latin typeface="Aptos Display"/>
                <a:ea typeface="+mn-ea"/>
                <a:cs typeface="+mn-cs"/>
              </a:rPr>
              <a:t>α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1F1F1F"/>
                </a:solidFill>
                <a:effectLst/>
                <a:highlight>
                  <a:srgbClr val="FFFFFF"/>
                </a:highlight>
                <a:uLnTx/>
                <a:uFillTx/>
                <a:latin typeface="Aptos Display"/>
                <a:ea typeface="+mn-ea"/>
                <a:cs typeface="+mn-cs"/>
              </a:rPr>
              <a:t>t 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for</a:t>
            </a:r>
            <a:r>
              <a:rPr kumimoji="0" lang="en-US" sz="2000" b="0" i="0" u="none" strike="noStrike" kern="120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this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step</a:t>
            </a:r>
            <a:r>
              <a:rPr kumimoji="0" lang="en-US" sz="20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(this</a:t>
            </a:r>
            <a:r>
              <a:rPr kumimoji="0" lang="en-US" sz="20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is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probability</a:t>
            </a:r>
            <a:r>
              <a:rPr kumimoji="0" lang="en-US" sz="20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distribution</a:t>
            </a:r>
            <a:r>
              <a:rPr kumimoji="0" lang="en-US" sz="20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,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sums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to</a:t>
            </a:r>
            <a:r>
              <a:rPr kumimoji="0" lang="en-US" sz="20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1)</a:t>
            </a:r>
          </a:p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>
                <a:srgbClr val="CC0000"/>
              </a:buClr>
              <a:buSzTx/>
              <a:buFontTx/>
              <a:buNone/>
              <a:tabLst>
                <a:tab pos="354965" algn="l"/>
                <a:tab pos="355600" algn="l"/>
              </a:tabLst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  <a:tab pos="1582420" algn="l"/>
              </a:tabLst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We</a:t>
            </a:r>
            <a:r>
              <a:rPr kumimoji="0" lang="en-US" sz="20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use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highlight>
                  <a:srgbClr val="FFFFFF"/>
                </a:highlight>
                <a:uLnTx/>
                <a:uFillTx/>
                <a:latin typeface="Aptos Display"/>
                <a:ea typeface="+mn-ea"/>
                <a:cs typeface="+mn-cs"/>
              </a:rPr>
              <a:t>α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1F1F1F"/>
                </a:solidFill>
                <a:effectLst/>
                <a:highlight>
                  <a:srgbClr val="FFFFFF"/>
                </a:highlight>
                <a:uLnTx/>
                <a:uFillTx/>
                <a:latin typeface="Aptos Display"/>
                <a:ea typeface="+mn-ea"/>
                <a:cs typeface="+mn-cs"/>
              </a:rPr>
              <a:t>t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to</a:t>
            </a:r>
            <a:r>
              <a:rPr kumimoji="0" lang="en-US" sz="20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take</a:t>
            </a:r>
            <a:r>
              <a:rPr kumimoji="0" lang="en-US" sz="2000" b="0" i="0" u="none" strike="noStrike" kern="120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</a:t>
            </a:r>
            <a:r>
              <a:rPr kumimoji="0" lang="en-US" sz="20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weighted</a:t>
            </a:r>
            <a:r>
              <a:rPr kumimoji="0" lang="en-US" sz="20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sum</a:t>
            </a:r>
            <a:r>
              <a:rPr kumimoji="0" lang="en-US" sz="20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of</a:t>
            </a:r>
            <a:r>
              <a:rPr kumimoji="0" lang="en-US" sz="20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the encoder</a:t>
            </a:r>
            <a:r>
              <a:rPr kumimoji="0" lang="en-US" sz="20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hidden</a:t>
            </a:r>
            <a:r>
              <a:rPr kumimoji="0" lang="en-US" sz="20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states</a:t>
            </a:r>
            <a:r>
              <a:rPr kumimoji="0" lang="en-US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to</a:t>
            </a:r>
            <a:r>
              <a:rPr kumimoji="0" lang="en-US" sz="20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get the attention</a:t>
            </a:r>
            <a:r>
              <a:rPr kumimoji="0" lang="en-US" sz="2000" b="0" i="0" u="none" strike="noStrike" kern="1200" cap="none" spc="-3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output a</a:t>
            </a:r>
            <a:r>
              <a:rPr kumimoji="0" lang="en-US" sz="2000" b="0" i="0" u="none" strike="noStrike" kern="1200" cap="none" spc="-5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</a:t>
            </a:r>
            <a:endParaRPr kumimoji="0" lang="en-US" sz="2000" b="0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  <a:p>
            <a:pPr marL="355600" marR="190500" lvl="0" indent="-34290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  <a:tab pos="1217930" algn="l"/>
                <a:tab pos="5371465" algn="l"/>
              </a:tabLst>
              <a:defRPr/>
            </a:pP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Finally</a:t>
            </a:r>
            <a:r>
              <a:rPr kumimoji="0" lang="en-US" sz="2000" b="0" i="0" u="none" strike="noStrike" kern="1200" cap="none" spc="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we concatenate</a:t>
            </a:r>
            <a:r>
              <a:rPr kumimoji="0" lang="en-US" sz="2000" b="0" i="0" u="none" strike="noStrike" kern="1200" cap="none" spc="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the</a:t>
            </a:r>
            <a:r>
              <a:rPr kumimoji="0" lang="en-US" sz="20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attention</a:t>
            </a:r>
            <a:r>
              <a:rPr kumimoji="0" lang="en-US" sz="2000" b="0" i="0" u="none" strike="noStrike" kern="1200" cap="none" spc="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output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</a:t>
            </a:r>
            <a:r>
              <a:rPr kumimoji="0" lang="en-US" sz="2000" b="0" i="0" u="none" strike="noStrike" kern="1200" cap="none" spc="-5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with</a:t>
            </a:r>
            <a:r>
              <a:rPr kumimoji="0" lang="en-US" sz="20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the</a:t>
            </a:r>
            <a:r>
              <a:rPr kumimoji="0" lang="en-US" sz="20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decoder</a:t>
            </a:r>
            <a:r>
              <a:rPr kumimoji="0" lang="en-US" sz="2000" b="0" i="0" u="none" strike="noStrike" kern="120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hidden </a:t>
            </a:r>
            <a:r>
              <a:rPr kumimoji="0" lang="en-US" sz="2000" b="0" i="0" u="none" strike="noStrike" kern="1200" cap="none" spc="-43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state s</a:t>
            </a:r>
            <a:r>
              <a:rPr kumimoji="0" lang="en-US" sz="2000" b="0" i="0" u="none" strike="noStrike" kern="1200" cap="none" spc="-5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and</a:t>
            </a:r>
            <a:r>
              <a:rPr kumimoji="0" lang="en-US" sz="20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proceed 		 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as</a:t>
            </a:r>
            <a:r>
              <a:rPr kumimoji="0" lang="en-US" sz="20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in</a:t>
            </a:r>
            <a:r>
              <a:rPr kumimoji="0" lang="en-US" sz="20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the non-attention</a:t>
            </a:r>
            <a:r>
              <a:rPr kumimoji="0" lang="en-US" sz="20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seq2seq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model</a:t>
            </a:r>
          </a:p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>
                <a:srgbClr val="CC0000"/>
              </a:buClr>
              <a:buSzTx/>
              <a:buFont typeface="Times New Roman"/>
              <a:buChar char="•"/>
              <a:tabLst>
                <a:tab pos="354965" algn="l"/>
                <a:tab pos="355600" algn="l"/>
              </a:tabLst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>
                <a:srgbClr val="CC0000"/>
              </a:buClr>
              <a:buSzTx/>
              <a:buFontTx/>
              <a:buNone/>
              <a:tabLst>
                <a:tab pos="354965" algn="l"/>
                <a:tab pos="355600" algn="l"/>
              </a:tabLst>
              <a:defRPr/>
            </a:pP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Calibri"/>
              </a:rPr>
              <a:t> 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12446" y="2497076"/>
            <a:ext cx="3543930" cy="37736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55372" y="3406901"/>
            <a:ext cx="3096101" cy="362323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22909" y="4260946"/>
            <a:ext cx="2195299" cy="78274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26365" y="5742567"/>
            <a:ext cx="1388385" cy="279191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1325" y="963245"/>
            <a:ext cx="11307763" cy="629018"/>
          </a:xfrm>
          <a:prstGeom prst="rect">
            <a:avLst/>
          </a:prstGeom>
        </p:spPr>
        <p:txBody>
          <a:bodyPr vert="horz" wrap="square" lIns="0" tIns="1333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Attention</a:t>
            </a:r>
            <a:r>
              <a:rPr spc="-60" dirty="0"/>
              <a:t> </a:t>
            </a:r>
            <a:r>
              <a:rPr lang="en-US" spc="-60" dirty="0"/>
              <a:t>i</a:t>
            </a:r>
            <a:r>
              <a:rPr dirty="0"/>
              <a:t>s</a:t>
            </a:r>
            <a:r>
              <a:rPr spc="-30" dirty="0"/>
              <a:t> </a:t>
            </a:r>
            <a:r>
              <a:rPr lang="en-US" spc="-5" dirty="0">
                <a:solidFill>
                  <a:schemeClr val="accent5"/>
                </a:solidFill>
              </a:rPr>
              <a:t>G</a:t>
            </a:r>
            <a:r>
              <a:rPr spc="-5" dirty="0">
                <a:solidFill>
                  <a:schemeClr val="accent5"/>
                </a:solidFill>
              </a:rPr>
              <a:t>reat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3610D9-7805-4EE9-21FF-620CAADA43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326" y="1808163"/>
            <a:ext cx="8132404" cy="4356663"/>
          </a:xfrm>
        </p:spPr>
        <p:txBody>
          <a:bodyPr/>
          <a:lstStyle/>
          <a:p>
            <a:pPr marL="355600" indent="-342900">
              <a:spcBef>
                <a:spcPts val="705"/>
              </a:spcBef>
              <a:buClr>
                <a:srgbClr val="CC0000"/>
              </a:buClr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lang="en-US" dirty="0">
                <a:cs typeface="Calibri"/>
              </a:rPr>
              <a:t>Attention</a:t>
            </a:r>
            <a:r>
              <a:rPr lang="en-US" spc="-35" dirty="0">
                <a:cs typeface="Calibri"/>
              </a:rPr>
              <a:t> </a:t>
            </a:r>
            <a:r>
              <a:rPr lang="en-US" spc="-5" dirty="0">
                <a:cs typeface="Calibri"/>
              </a:rPr>
              <a:t>significantly</a:t>
            </a:r>
            <a:r>
              <a:rPr lang="en-US" spc="-25" dirty="0">
                <a:cs typeface="Calibri"/>
              </a:rPr>
              <a:t> </a:t>
            </a:r>
            <a:r>
              <a:rPr lang="en-US" dirty="0">
                <a:solidFill>
                  <a:schemeClr val="accent5"/>
                </a:solidFill>
                <a:cs typeface="Calibri"/>
              </a:rPr>
              <a:t>improves</a:t>
            </a:r>
            <a:r>
              <a:rPr lang="en-US" spc="-15" dirty="0">
                <a:solidFill>
                  <a:schemeClr val="accent5"/>
                </a:solidFill>
                <a:cs typeface="Calibri"/>
              </a:rPr>
              <a:t> </a:t>
            </a:r>
            <a:r>
              <a:rPr lang="en-US" spc="-5" dirty="0">
                <a:solidFill>
                  <a:schemeClr val="accent5"/>
                </a:solidFill>
                <a:cs typeface="Calibri"/>
              </a:rPr>
              <a:t>NMT</a:t>
            </a:r>
            <a:r>
              <a:rPr lang="en-US" spc="-20" dirty="0">
                <a:solidFill>
                  <a:schemeClr val="accent5"/>
                </a:solidFill>
                <a:cs typeface="Calibri"/>
              </a:rPr>
              <a:t> </a:t>
            </a:r>
            <a:r>
              <a:rPr lang="en-US" dirty="0">
                <a:solidFill>
                  <a:schemeClr val="accent5"/>
                </a:solidFill>
                <a:cs typeface="Calibri"/>
              </a:rPr>
              <a:t>performance</a:t>
            </a:r>
          </a:p>
          <a:p>
            <a:pPr marL="812800" lvl="1" indent="-342900">
              <a:spcBef>
                <a:spcPts val="705"/>
              </a:spcBef>
              <a:buClr>
                <a:srgbClr val="CC0000"/>
              </a:buClr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lang="en-US" dirty="0">
                <a:cs typeface="Calibri"/>
              </a:rPr>
              <a:t>It’s </a:t>
            </a:r>
            <a:r>
              <a:rPr lang="en-US" spc="-5" dirty="0">
                <a:cs typeface="Calibri"/>
              </a:rPr>
              <a:t>very</a:t>
            </a:r>
            <a:r>
              <a:rPr lang="en-US" spc="5" dirty="0">
                <a:cs typeface="Calibri"/>
              </a:rPr>
              <a:t> </a:t>
            </a:r>
            <a:r>
              <a:rPr lang="en-US" spc="-5" dirty="0">
                <a:cs typeface="Calibri"/>
              </a:rPr>
              <a:t>useful</a:t>
            </a:r>
            <a:r>
              <a:rPr lang="en-US" dirty="0">
                <a:cs typeface="Calibri"/>
              </a:rPr>
              <a:t> to</a:t>
            </a:r>
            <a:r>
              <a:rPr lang="en-US" spc="5" dirty="0">
                <a:cs typeface="Calibri"/>
              </a:rPr>
              <a:t> </a:t>
            </a:r>
            <a:r>
              <a:rPr lang="en-US" spc="-5" dirty="0">
                <a:cs typeface="Calibri"/>
              </a:rPr>
              <a:t>allow </a:t>
            </a:r>
            <a:r>
              <a:rPr lang="en-US" dirty="0">
                <a:cs typeface="Calibri"/>
              </a:rPr>
              <a:t>decoder</a:t>
            </a:r>
            <a:r>
              <a:rPr lang="en-US" spc="-15" dirty="0">
                <a:cs typeface="Calibri"/>
              </a:rPr>
              <a:t> </a:t>
            </a:r>
            <a:r>
              <a:rPr lang="en-US" dirty="0">
                <a:cs typeface="Calibri"/>
              </a:rPr>
              <a:t>to</a:t>
            </a:r>
            <a:r>
              <a:rPr lang="en-US" spc="-5" dirty="0">
                <a:cs typeface="Calibri"/>
              </a:rPr>
              <a:t> focus</a:t>
            </a:r>
            <a:r>
              <a:rPr lang="en-US" spc="-10" dirty="0">
                <a:cs typeface="Calibri"/>
              </a:rPr>
              <a:t> </a:t>
            </a:r>
            <a:r>
              <a:rPr lang="en-US" spc="-5" dirty="0">
                <a:cs typeface="Calibri"/>
              </a:rPr>
              <a:t>on </a:t>
            </a:r>
            <a:r>
              <a:rPr lang="en-US" dirty="0">
                <a:cs typeface="Calibri"/>
              </a:rPr>
              <a:t>certain</a:t>
            </a:r>
            <a:r>
              <a:rPr lang="en-US" spc="5" dirty="0">
                <a:cs typeface="Calibri"/>
              </a:rPr>
              <a:t> </a:t>
            </a:r>
            <a:r>
              <a:rPr lang="en-US" dirty="0">
                <a:cs typeface="Calibri"/>
              </a:rPr>
              <a:t>parts</a:t>
            </a:r>
            <a:r>
              <a:rPr lang="en-US" spc="10" dirty="0">
                <a:cs typeface="Calibri"/>
              </a:rPr>
              <a:t> </a:t>
            </a:r>
            <a:r>
              <a:rPr lang="en-US" spc="-5" dirty="0">
                <a:cs typeface="Calibri"/>
              </a:rPr>
              <a:t>of</a:t>
            </a:r>
            <a:r>
              <a:rPr lang="en-US" spc="-10" dirty="0">
                <a:cs typeface="Calibri"/>
              </a:rPr>
              <a:t> </a:t>
            </a:r>
            <a:r>
              <a:rPr lang="en-US" dirty="0">
                <a:cs typeface="Calibri"/>
              </a:rPr>
              <a:t>the</a:t>
            </a:r>
            <a:r>
              <a:rPr lang="en-US" spc="-5" dirty="0">
                <a:cs typeface="Calibri"/>
              </a:rPr>
              <a:t> source</a:t>
            </a:r>
            <a:endParaRPr lang="en-US" dirty="0">
              <a:cs typeface="Calibri"/>
            </a:endParaRPr>
          </a:p>
          <a:p>
            <a:pPr marL="355600" indent="-342900">
              <a:spcBef>
                <a:spcPts val="545"/>
              </a:spcBef>
              <a:buClr>
                <a:srgbClr val="CC0000"/>
              </a:buClr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lang="en-US" dirty="0">
                <a:cs typeface="Calibri"/>
              </a:rPr>
              <a:t>Attention</a:t>
            </a:r>
            <a:r>
              <a:rPr lang="en-US" spc="-35" dirty="0">
                <a:cs typeface="Calibri"/>
              </a:rPr>
              <a:t> </a:t>
            </a:r>
            <a:r>
              <a:rPr lang="en-US" spc="-5" dirty="0">
                <a:solidFill>
                  <a:schemeClr val="accent5"/>
                </a:solidFill>
                <a:cs typeface="Calibri"/>
              </a:rPr>
              <a:t>solves </a:t>
            </a:r>
            <a:r>
              <a:rPr lang="en-US" dirty="0">
                <a:solidFill>
                  <a:schemeClr val="accent5"/>
                </a:solidFill>
                <a:cs typeface="Calibri"/>
              </a:rPr>
              <a:t>the</a:t>
            </a:r>
            <a:r>
              <a:rPr lang="en-US" spc="-25" dirty="0">
                <a:solidFill>
                  <a:schemeClr val="accent5"/>
                </a:solidFill>
                <a:cs typeface="Calibri"/>
              </a:rPr>
              <a:t> </a:t>
            </a:r>
            <a:r>
              <a:rPr lang="en-US" spc="-5" dirty="0">
                <a:solidFill>
                  <a:schemeClr val="accent5"/>
                </a:solidFill>
                <a:cs typeface="Calibri"/>
              </a:rPr>
              <a:t>bottleneck</a:t>
            </a:r>
            <a:r>
              <a:rPr lang="en-US" spc="-25" dirty="0">
                <a:solidFill>
                  <a:schemeClr val="accent5"/>
                </a:solidFill>
                <a:cs typeface="Calibri"/>
              </a:rPr>
              <a:t> </a:t>
            </a:r>
            <a:r>
              <a:rPr lang="en-US" spc="-5" dirty="0">
                <a:solidFill>
                  <a:schemeClr val="accent5"/>
                </a:solidFill>
                <a:cs typeface="Calibri"/>
              </a:rPr>
              <a:t>problem</a:t>
            </a:r>
            <a:endParaRPr lang="en-US" sz="2000" spc="-5" dirty="0">
              <a:solidFill>
                <a:schemeClr val="accent5"/>
              </a:solidFill>
              <a:cs typeface="Calibri"/>
            </a:endParaRPr>
          </a:p>
          <a:p>
            <a:pPr marL="812800" lvl="1" indent="-342900">
              <a:spcBef>
                <a:spcPts val="545"/>
              </a:spcBef>
              <a:buClr>
                <a:srgbClr val="CC0000"/>
              </a:buClr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lang="en-US" dirty="0">
                <a:cs typeface="Calibri"/>
              </a:rPr>
              <a:t>Attention</a:t>
            </a:r>
            <a:r>
              <a:rPr lang="en-US" spc="-5" dirty="0">
                <a:cs typeface="Calibri"/>
              </a:rPr>
              <a:t> allows</a:t>
            </a:r>
            <a:r>
              <a:rPr lang="en-US" spc="10" dirty="0">
                <a:cs typeface="Calibri"/>
              </a:rPr>
              <a:t> </a:t>
            </a:r>
            <a:r>
              <a:rPr lang="en-US" spc="-5" dirty="0">
                <a:cs typeface="Calibri"/>
              </a:rPr>
              <a:t>decoder</a:t>
            </a:r>
            <a:r>
              <a:rPr lang="en-US" spc="-10" dirty="0">
                <a:cs typeface="Calibri"/>
              </a:rPr>
              <a:t> </a:t>
            </a:r>
            <a:r>
              <a:rPr lang="en-US" dirty="0">
                <a:cs typeface="Calibri"/>
              </a:rPr>
              <a:t>to</a:t>
            </a:r>
            <a:r>
              <a:rPr lang="en-US" spc="-5" dirty="0">
                <a:cs typeface="Calibri"/>
              </a:rPr>
              <a:t> </a:t>
            </a:r>
            <a:r>
              <a:rPr lang="en-US" dirty="0">
                <a:cs typeface="Calibri"/>
              </a:rPr>
              <a:t>look</a:t>
            </a:r>
            <a:r>
              <a:rPr lang="en-US" spc="-10" dirty="0">
                <a:cs typeface="Calibri"/>
              </a:rPr>
              <a:t> </a:t>
            </a:r>
            <a:r>
              <a:rPr lang="en-US" spc="-5" dirty="0">
                <a:cs typeface="Calibri"/>
              </a:rPr>
              <a:t>directly</a:t>
            </a:r>
            <a:r>
              <a:rPr lang="en-US" spc="10" dirty="0">
                <a:cs typeface="Calibri"/>
              </a:rPr>
              <a:t> </a:t>
            </a:r>
            <a:r>
              <a:rPr lang="en-US" dirty="0">
                <a:cs typeface="Calibri"/>
              </a:rPr>
              <a:t>at</a:t>
            </a:r>
            <a:r>
              <a:rPr lang="en-US" spc="10" dirty="0">
                <a:cs typeface="Calibri"/>
              </a:rPr>
              <a:t> </a:t>
            </a:r>
            <a:r>
              <a:rPr lang="en-US" spc="-5" dirty="0">
                <a:cs typeface="Calibri"/>
              </a:rPr>
              <a:t>source;</a:t>
            </a:r>
            <a:r>
              <a:rPr lang="en-US" spc="10" dirty="0">
                <a:cs typeface="Calibri"/>
              </a:rPr>
              <a:t> </a:t>
            </a:r>
            <a:r>
              <a:rPr lang="en-US" spc="-5" dirty="0">
                <a:cs typeface="Calibri"/>
              </a:rPr>
              <a:t>bypass</a:t>
            </a:r>
            <a:r>
              <a:rPr lang="en-US" spc="-10" dirty="0">
                <a:cs typeface="Calibri"/>
              </a:rPr>
              <a:t> </a:t>
            </a:r>
            <a:r>
              <a:rPr lang="en-US" spc="-5" dirty="0">
                <a:cs typeface="Calibri"/>
              </a:rPr>
              <a:t>bottleneck</a:t>
            </a:r>
            <a:endParaRPr lang="en-US" dirty="0">
              <a:cs typeface="Calibri"/>
            </a:endParaRPr>
          </a:p>
          <a:p>
            <a:pPr marL="355600" indent="-342900">
              <a:spcBef>
                <a:spcPts val="550"/>
              </a:spcBef>
              <a:buClr>
                <a:srgbClr val="CC0000"/>
              </a:buClr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lang="en-US" dirty="0">
                <a:cs typeface="Calibri"/>
              </a:rPr>
              <a:t>Attention</a:t>
            </a:r>
            <a:r>
              <a:rPr lang="en-US" spc="-40" dirty="0">
                <a:cs typeface="Calibri"/>
              </a:rPr>
              <a:t> </a:t>
            </a:r>
            <a:r>
              <a:rPr lang="en-US" spc="-5" dirty="0">
                <a:solidFill>
                  <a:schemeClr val="accent5"/>
                </a:solidFill>
                <a:cs typeface="Calibri"/>
              </a:rPr>
              <a:t>helps with</a:t>
            </a:r>
            <a:r>
              <a:rPr lang="en-US" spc="-20" dirty="0">
                <a:solidFill>
                  <a:schemeClr val="accent5"/>
                </a:solidFill>
                <a:cs typeface="Calibri"/>
              </a:rPr>
              <a:t> </a:t>
            </a:r>
            <a:r>
              <a:rPr lang="en-US" spc="-5" dirty="0">
                <a:solidFill>
                  <a:schemeClr val="accent5"/>
                </a:solidFill>
                <a:cs typeface="Calibri"/>
              </a:rPr>
              <a:t>vanishing </a:t>
            </a:r>
            <a:r>
              <a:rPr lang="en-US" dirty="0">
                <a:solidFill>
                  <a:schemeClr val="accent5"/>
                </a:solidFill>
                <a:cs typeface="Calibri"/>
              </a:rPr>
              <a:t>gradient</a:t>
            </a:r>
            <a:r>
              <a:rPr lang="en-US" spc="-20" dirty="0">
                <a:solidFill>
                  <a:schemeClr val="accent5"/>
                </a:solidFill>
                <a:cs typeface="Calibri"/>
              </a:rPr>
              <a:t> </a:t>
            </a:r>
            <a:r>
              <a:rPr lang="en-US" spc="-5" dirty="0">
                <a:solidFill>
                  <a:schemeClr val="accent5"/>
                </a:solidFill>
                <a:cs typeface="Calibri"/>
              </a:rPr>
              <a:t>problem</a:t>
            </a:r>
            <a:endParaRPr lang="en-US" sz="2000" dirty="0">
              <a:solidFill>
                <a:schemeClr val="accent5"/>
              </a:solidFill>
              <a:cs typeface="Calibri"/>
            </a:endParaRPr>
          </a:p>
          <a:p>
            <a:pPr marL="812800" lvl="1" indent="-342900">
              <a:spcBef>
                <a:spcPts val="550"/>
              </a:spcBef>
              <a:buClr>
                <a:srgbClr val="CC0000"/>
              </a:buClr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lang="en-US" spc="-5" dirty="0">
                <a:cs typeface="Calibri"/>
              </a:rPr>
              <a:t>Provides</a:t>
            </a:r>
            <a:r>
              <a:rPr lang="en-US" dirty="0">
                <a:cs typeface="Calibri"/>
              </a:rPr>
              <a:t> </a:t>
            </a:r>
            <a:r>
              <a:rPr lang="en-US" spc="-5" dirty="0">
                <a:cs typeface="Calibri"/>
              </a:rPr>
              <a:t>shortcut</a:t>
            </a:r>
            <a:r>
              <a:rPr lang="en-US" spc="-15" dirty="0">
                <a:cs typeface="Calibri"/>
              </a:rPr>
              <a:t> </a:t>
            </a:r>
            <a:r>
              <a:rPr lang="en-US" dirty="0">
                <a:cs typeface="Calibri"/>
              </a:rPr>
              <a:t>to</a:t>
            </a:r>
            <a:r>
              <a:rPr lang="en-US" spc="-15" dirty="0">
                <a:cs typeface="Calibri"/>
              </a:rPr>
              <a:t> </a:t>
            </a:r>
            <a:r>
              <a:rPr lang="en-US" spc="-5" dirty="0">
                <a:cs typeface="Calibri"/>
              </a:rPr>
              <a:t>faraway states</a:t>
            </a:r>
            <a:endParaRPr lang="en-US" dirty="0">
              <a:cs typeface="Calibri"/>
            </a:endParaRPr>
          </a:p>
          <a:p>
            <a:pPr marL="355600" indent="-342900">
              <a:spcBef>
                <a:spcPts val="545"/>
              </a:spcBef>
              <a:buClr>
                <a:srgbClr val="CC0000"/>
              </a:buClr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lang="en-US" dirty="0">
                <a:cs typeface="Calibri"/>
              </a:rPr>
              <a:t>Attention</a:t>
            </a:r>
            <a:r>
              <a:rPr lang="en-US" spc="-20" dirty="0">
                <a:cs typeface="Calibri"/>
              </a:rPr>
              <a:t> </a:t>
            </a:r>
            <a:r>
              <a:rPr lang="en-US" spc="-5" dirty="0">
                <a:cs typeface="Calibri"/>
              </a:rPr>
              <a:t>provides</a:t>
            </a:r>
            <a:r>
              <a:rPr lang="en-US" spc="10" dirty="0">
                <a:cs typeface="Calibri"/>
              </a:rPr>
              <a:t> </a:t>
            </a:r>
            <a:r>
              <a:rPr lang="en-US" spc="-5" dirty="0">
                <a:solidFill>
                  <a:schemeClr val="accent5"/>
                </a:solidFill>
                <a:cs typeface="Calibri"/>
              </a:rPr>
              <a:t>some</a:t>
            </a:r>
            <a:r>
              <a:rPr lang="en-US" spc="-10" dirty="0">
                <a:solidFill>
                  <a:schemeClr val="accent5"/>
                </a:solidFill>
                <a:cs typeface="Calibri"/>
              </a:rPr>
              <a:t> </a:t>
            </a:r>
            <a:r>
              <a:rPr lang="en-US" spc="-5" dirty="0">
                <a:solidFill>
                  <a:schemeClr val="accent5"/>
                </a:solidFill>
                <a:cs typeface="Calibri"/>
              </a:rPr>
              <a:t>interpretability</a:t>
            </a:r>
            <a:endParaRPr lang="en-US" sz="2000" spc="-5" dirty="0">
              <a:solidFill>
                <a:schemeClr val="accent5"/>
              </a:solidFill>
              <a:cs typeface="Calibri"/>
            </a:endParaRPr>
          </a:p>
          <a:p>
            <a:pPr marL="812800" lvl="1" indent="-342900">
              <a:spcBef>
                <a:spcPts val="545"/>
              </a:spcBef>
              <a:buClr>
                <a:srgbClr val="CC0000"/>
              </a:buClr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lang="en-US" dirty="0">
                <a:cs typeface="Calibri"/>
              </a:rPr>
              <a:t>By inspecting attention distribution, we can </a:t>
            </a:r>
            <a:r>
              <a:rPr lang="en-US" spc="-5" dirty="0">
                <a:cs typeface="Calibri"/>
              </a:rPr>
              <a:t>see </a:t>
            </a:r>
            <a:r>
              <a:rPr lang="en-US" spc="-445" dirty="0">
                <a:cs typeface="Calibri"/>
              </a:rPr>
              <a:t> </a:t>
            </a:r>
            <a:r>
              <a:rPr lang="en-US" dirty="0">
                <a:cs typeface="Calibri"/>
              </a:rPr>
              <a:t>what</a:t>
            </a:r>
            <a:r>
              <a:rPr lang="en-US" spc="-15" dirty="0">
                <a:cs typeface="Calibri"/>
              </a:rPr>
              <a:t> </a:t>
            </a:r>
            <a:r>
              <a:rPr lang="en-US" dirty="0">
                <a:cs typeface="Calibri"/>
              </a:rPr>
              <a:t>the decoder</a:t>
            </a:r>
            <a:r>
              <a:rPr lang="en-US" spc="-15" dirty="0">
                <a:cs typeface="Calibri"/>
              </a:rPr>
              <a:t> </a:t>
            </a:r>
            <a:r>
              <a:rPr lang="en-US" dirty="0">
                <a:cs typeface="Calibri"/>
              </a:rPr>
              <a:t>was</a:t>
            </a:r>
            <a:r>
              <a:rPr lang="en-US" spc="-10" dirty="0">
                <a:cs typeface="Calibri"/>
              </a:rPr>
              <a:t> </a:t>
            </a:r>
            <a:r>
              <a:rPr lang="en-US" spc="-5" dirty="0">
                <a:cs typeface="Calibri"/>
              </a:rPr>
              <a:t>focusing</a:t>
            </a:r>
            <a:r>
              <a:rPr lang="en-US" spc="-20" dirty="0">
                <a:cs typeface="Calibri"/>
              </a:rPr>
              <a:t> </a:t>
            </a:r>
            <a:r>
              <a:rPr lang="en-US" spc="-5" dirty="0">
                <a:cs typeface="Calibri"/>
              </a:rPr>
              <a:t>on</a:t>
            </a:r>
          </a:p>
          <a:p>
            <a:pPr marL="812800" lvl="1" indent="-342900">
              <a:spcBef>
                <a:spcPts val="545"/>
              </a:spcBef>
              <a:buClr>
                <a:srgbClr val="CC0000"/>
              </a:buClr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lang="en-US" dirty="0">
                <a:cs typeface="Calibri"/>
              </a:rPr>
              <a:t>We</a:t>
            </a:r>
            <a:r>
              <a:rPr lang="en-US" spc="-10" dirty="0">
                <a:cs typeface="Calibri"/>
              </a:rPr>
              <a:t> </a:t>
            </a:r>
            <a:r>
              <a:rPr lang="en-US" dirty="0">
                <a:cs typeface="Calibri"/>
              </a:rPr>
              <a:t>get</a:t>
            </a:r>
            <a:r>
              <a:rPr lang="en-US" spc="-10" dirty="0">
                <a:cs typeface="Calibri"/>
              </a:rPr>
              <a:t> </a:t>
            </a:r>
            <a:r>
              <a:rPr lang="en-US" spc="-5" dirty="0">
                <a:cs typeface="Calibri"/>
              </a:rPr>
              <a:t>(soft)</a:t>
            </a:r>
            <a:r>
              <a:rPr lang="en-US" spc="5" dirty="0">
                <a:cs typeface="Calibri"/>
              </a:rPr>
              <a:t> </a:t>
            </a:r>
            <a:r>
              <a:rPr lang="en-US" spc="-5" dirty="0">
                <a:solidFill>
                  <a:schemeClr val="accent5"/>
                </a:solidFill>
                <a:cs typeface="Calibri"/>
              </a:rPr>
              <a:t>alignment</a:t>
            </a:r>
            <a:r>
              <a:rPr lang="en-US" dirty="0">
                <a:solidFill>
                  <a:schemeClr val="accent5"/>
                </a:solidFill>
                <a:cs typeface="Calibri"/>
              </a:rPr>
              <a:t> </a:t>
            </a:r>
            <a:r>
              <a:rPr lang="en-US" spc="-5" dirty="0">
                <a:solidFill>
                  <a:schemeClr val="accent5"/>
                </a:solidFill>
                <a:cs typeface="Calibri"/>
              </a:rPr>
              <a:t>for</a:t>
            </a:r>
            <a:r>
              <a:rPr lang="en-US" spc="-20" dirty="0">
                <a:solidFill>
                  <a:schemeClr val="accent5"/>
                </a:solidFill>
                <a:cs typeface="Calibri"/>
              </a:rPr>
              <a:t> </a:t>
            </a:r>
            <a:r>
              <a:rPr lang="en-US" dirty="0">
                <a:solidFill>
                  <a:schemeClr val="accent5"/>
                </a:solidFill>
                <a:cs typeface="Calibri"/>
              </a:rPr>
              <a:t>free!</a:t>
            </a:r>
          </a:p>
          <a:p>
            <a:pPr marL="812800" lvl="1" indent="-342900">
              <a:spcBef>
                <a:spcPts val="545"/>
              </a:spcBef>
              <a:buClr>
                <a:srgbClr val="CC0000"/>
              </a:buClr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lang="en-US" spc="-5" dirty="0">
                <a:cs typeface="Calibri"/>
              </a:rPr>
              <a:t>This </a:t>
            </a:r>
            <a:r>
              <a:rPr lang="en-US" dirty="0">
                <a:cs typeface="Calibri"/>
              </a:rPr>
              <a:t>is cool because we </a:t>
            </a:r>
            <a:r>
              <a:rPr lang="en-US" spc="-5" dirty="0">
                <a:cs typeface="Calibri"/>
              </a:rPr>
              <a:t>never </a:t>
            </a:r>
            <a:r>
              <a:rPr lang="en-US" dirty="0">
                <a:cs typeface="Calibri"/>
              </a:rPr>
              <a:t>explicitly </a:t>
            </a:r>
            <a:r>
              <a:rPr lang="en-US" spc="-5" dirty="0">
                <a:cs typeface="Calibri"/>
              </a:rPr>
              <a:t>trained </a:t>
            </a:r>
            <a:r>
              <a:rPr lang="en-US" spc="-440" dirty="0">
                <a:cs typeface="Calibri"/>
              </a:rPr>
              <a:t> </a:t>
            </a:r>
            <a:r>
              <a:rPr lang="en-US" dirty="0">
                <a:cs typeface="Calibri"/>
              </a:rPr>
              <a:t>an</a:t>
            </a:r>
            <a:r>
              <a:rPr lang="en-US" spc="-5" dirty="0">
                <a:cs typeface="Calibri"/>
              </a:rPr>
              <a:t> </a:t>
            </a:r>
            <a:r>
              <a:rPr lang="en-US" dirty="0">
                <a:cs typeface="Calibri"/>
              </a:rPr>
              <a:t>alignment </a:t>
            </a:r>
            <a:r>
              <a:rPr lang="en-US" spc="-5" dirty="0">
                <a:cs typeface="Calibri"/>
              </a:rPr>
              <a:t>system</a:t>
            </a:r>
            <a:endParaRPr lang="en-US" dirty="0">
              <a:cs typeface="Calibri"/>
            </a:endParaRPr>
          </a:p>
          <a:p>
            <a:pPr marL="812800" lvl="1" indent="-342900">
              <a:spcBef>
                <a:spcPts val="545"/>
              </a:spcBef>
              <a:buClr>
                <a:srgbClr val="CC0000"/>
              </a:buClr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lang="en-US" spc="-5" dirty="0">
                <a:cs typeface="Calibri"/>
              </a:rPr>
              <a:t>The network</a:t>
            </a:r>
            <a:r>
              <a:rPr lang="en-US" spc="-15" dirty="0">
                <a:cs typeface="Calibri"/>
              </a:rPr>
              <a:t> </a:t>
            </a:r>
            <a:r>
              <a:rPr lang="en-US" spc="-5" dirty="0">
                <a:cs typeface="Calibri"/>
              </a:rPr>
              <a:t>just </a:t>
            </a:r>
            <a:r>
              <a:rPr lang="en-US" dirty="0">
                <a:cs typeface="Calibri"/>
              </a:rPr>
              <a:t>learned</a:t>
            </a:r>
            <a:r>
              <a:rPr lang="en-US" spc="15" dirty="0">
                <a:cs typeface="Calibri"/>
              </a:rPr>
              <a:t> </a:t>
            </a:r>
            <a:r>
              <a:rPr lang="en-US" spc="-5" dirty="0">
                <a:cs typeface="Calibri"/>
              </a:rPr>
              <a:t>alignment</a:t>
            </a:r>
            <a:r>
              <a:rPr lang="en-US" dirty="0">
                <a:cs typeface="Calibri"/>
              </a:rPr>
              <a:t> </a:t>
            </a:r>
            <a:r>
              <a:rPr lang="en-US" spc="-5" dirty="0">
                <a:cs typeface="Calibri"/>
              </a:rPr>
              <a:t>by</a:t>
            </a:r>
            <a:r>
              <a:rPr lang="en-US" spc="-20" dirty="0">
                <a:cs typeface="Calibri"/>
              </a:rPr>
              <a:t> </a:t>
            </a:r>
            <a:r>
              <a:rPr lang="en-US" spc="-5" dirty="0">
                <a:cs typeface="Calibri"/>
              </a:rPr>
              <a:t>itself</a:t>
            </a:r>
            <a:endParaRPr lang="en-US" dirty="0">
              <a:cs typeface="Calibri"/>
            </a:endParaRPr>
          </a:p>
          <a:p>
            <a:endParaRPr lang="en-IN" dirty="0"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737532" y="2613054"/>
          <a:ext cx="2881774" cy="192813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96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3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3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53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53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535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748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9845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sz="1200" spc="-5" dirty="0">
                          <a:latin typeface="Arial MT"/>
                          <a:cs typeface="Arial MT"/>
                        </a:rPr>
                        <a:t>he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59054" marB="0" vert="vert27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84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200" spc="-5" dirty="0">
                          <a:latin typeface="Arial MT"/>
                          <a:cs typeface="Arial MT"/>
                        </a:rPr>
                        <a:t>hit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58419" marB="0" vert="vert27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84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me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59055" marB="0" vert="vert27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845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sz="1200" spc="-20" dirty="0">
                          <a:latin typeface="Arial MT"/>
                          <a:cs typeface="Arial MT"/>
                        </a:rPr>
                        <a:t>w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ith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59054" marB="0" vert="vert27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84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a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59055" marB="0" vert="vert27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84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200" spc="-5" dirty="0">
                          <a:latin typeface="Arial MT"/>
                          <a:cs typeface="Arial MT"/>
                        </a:rPr>
                        <a:t>pie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59055" marB="0" vert="vert27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670">
                <a:tc>
                  <a:txBody>
                    <a:bodyPr/>
                    <a:lstStyle/>
                    <a:p>
                      <a:pPr marR="55244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spc="-5" dirty="0">
                          <a:latin typeface="Arial MT"/>
                          <a:cs typeface="Arial MT"/>
                        </a:rPr>
                        <a:t>il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670">
                <a:tc>
                  <a:txBody>
                    <a:bodyPr/>
                    <a:lstStyle/>
                    <a:p>
                      <a:pPr marR="5461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a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671">
                <a:tc>
                  <a:txBody>
                    <a:bodyPr/>
                    <a:lstStyle/>
                    <a:p>
                      <a:pPr marR="5270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spc="5" dirty="0">
                          <a:latin typeface="Arial MT"/>
                          <a:cs typeface="Arial MT"/>
                        </a:rPr>
                        <a:t>m’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639">
                <a:tc>
                  <a:txBody>
                    <a:bodyPr/>
                    <a:lstStyle/>
                    <a:p>
                      <a:pPr marR="55244"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entarté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279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858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325" y="258763"/>
            <a:ext cx="11307763" cy="1060289"/>
          </a:xfrm>
        </p:spPr>
        <p:txBody>
          <a:bodyPr/>
          <a:lstStyle/>
          <a:p>
            <a:r>
              <a:rPr lang="en-US" dirty="0"/>
              <a:t>Seq2Seq+Attention for LM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6616" y="1319052"/>
            <a:ext cx="7992467" cy="4767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02735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1325" y="607035"/>
            <a:ext cx="11307763" cy="629018"/>
          </a:xfrm>
          <a:prstGeom prst="rect">
            <a:avLst/>
          </a:prstGeom>
        </p:spPr>
        <p:txBody>
          <a:bodyPr vert="horz" wrap="square" lIns="0" tIns="1333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Attention</a:t>
            </a:r>
            <a:r>
              <a:rPr spc="-35" dirty="0"/>
              <a:t> </a:t>
            </a:r>
            <a:r>
              <a:rPr lang="en-US" spc="-35" dirty="0"/>
              <a:t>i</a:t>
            </a:r>
            <a:r>
              <a:rPr dirty="0"/>
              <a:t>s </a:t>
            </a:r>
            <a:r>
              <a:rPr lang="en-US" dirty="0"/>
              <a:t>a</a:t>
            </a:r>
            <a:r>
              <a:rPr spc="-15" dirty="0"/>
              <a:t> </a:t>
            </a:r>
            <a:r>
              <a:rPr lang="en-US" i="1" spc="-15" dirty="0">
                <a:solidFill>
                  <a:srgbClr val="FF0000"/>
                </a:solidFill>
                <a:latin typeface="Calibri"/>
                <a:cs typeface="Calibri"/>
              </a:rPr>
              <a:t>G</a:t>
            </a:r>
            <a:r>
              <a:rPr i="1" dirty="0">
                <a:solidFill>
                  <a:srgbClr val="FF0000"/>
                </a:solidFill>
                <a:latin typeface="Calibri"/>
                <a:cs typeface="Calibri"/>
              </a:rPr>
              <a:t>eneral</a:t>
            </a:r>
            <a:r>
              <a:rPr i="1" spc="-20" dirty="0">
                <a:latin typeface="Calibri"/>
                <a:cs typeface="Calibri"/>
              </a:rPr>
              <a:t> </a:t>
            </a:r>
            <a:r>
              <a:rPr spc="-5" dirty="0"/>
              <a:t>Deep </a:t>
            </a:r>
            <a:r>
              <a:rPr dirty="0"/>
              <a:t>Learning</a:t>
            </a:r>
            <a:r>
              <a:rPr spc="-35" dirty="0"/>
              <a:t> </a:t>
            </a:r>
            <a:r>
              <a:rPr lang="en-US" spc="-35" dirty="0"/>
              <a:t>T</a:t>
            </a:r>
            <a:r>
              <a:rPr dirty="0"/>
              <a:t>echnique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7825C6-D049-ED13-5F77-1DB161F62F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94" y="1336215"/>
            <a:ext cx="11307763" cy="5172740"/>
          </a:xfrm>
        </p:spPr>
        <p:txBody>
          <a:bodyPr/>
          <a:lstStyle/>
          <a:p>
            <a:pPr marL="355600" indent="-342900">
              <a:spcBef>
                <a:spcPts val="100"/>
              </a:spcBef>
              <a:buClr>
                <a:srgbClr val="CC0000"/>
              </a:buClr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lang="en-US" sz="2000" dirty="0">
                <a:cs typeface="Calibri"/>
              </a:rPr>
              <a:t>We’ve</a:t>
            </a:r>
            <a:r>
              <a:rPr lang="en-US" sz="2000" spc="-5" dirty="0">
                <a:cs typeface="Calibri"/>
              </a:rPr>
              <a:t> seen</a:t>
            </a:r>
            <a:r>
              <a:rPr lang="en-US" sz="2000" spc="-10" dirty="0">
                <a:cs typeface="Calibri"/>
              </a:rPr>
              <a:t> </a:t>
            </a:r>
            <a:r>
              <a:rPr lang="en-US" sz="2000" dirty="0">
                <a:cs typeface="Calibri"/>
              </a:rPr>
              <a:t>that</a:t>
            </a:r>
            <a:r>
              <a:rPr lang="en-US" sz="2000" spc="-20" dirty="0">
                <a:cs typeface="Calibri"/>
              </a:rPr>
              <a:t> </a:t>
            </a:r>
            <a:r>
              <a:rPr lang="en-US" sz="2000" dirty="0">
                <a:cs typeface="Calibri"/>
              </a:rPr>
              <a:t>attention</a:t>
            </a:r>
            <a:r>
              <a:rPr lang="en-US" sz="2000" spc="-25" dirty="0">
                <a:cs typeface="Calibri"/>
              </a:rPr>
              <a:t> </a:t>
            </a:r>
            <a:r>
              <a:rPr lang="en-US" sz="2000" dirty="0">
                <a:cs typeface="Calibri"/>
              </a:rPr>
              <a:t>is</a:t>
            </a:r>
            <a:r>
              <a:rPr lang="en-US" sz="2000" spc="-5" dirty="0">
                <a:cs typeface="Calibri"/>
              </a:rPr>
              <a:t> </a:t>
            </a:r>
            <a:r>
              <a:rPr lang="en-US" sz="2000" dirty="0">
                <a:cs typeface="Calibri"/>
              </a:rPr>
              <a:t>a</a:t>
            </a:r>
            <a:r>
              <a:rPr lang="en-US" sz="2000" spc="-25" dirty="0">
                <a:cs typeface="Calibri"/>
              </a:rPr>
              <a:t> </a:t>
            </a:r>
            <a:r>
              <a:rPr lang="en-US" sz="2000" dirty="0">
                <a:cs typeface="Calibri"/>
              </a:rPr>
              <a:t>great</a:t>
            </a:r>
            <a:r>
              <a:rPr lang="en-US" sz="2000" spc="-20" dirty="0">
                <a:cs typeface="Calibri"/>
              </a:rPr>
              <a:t> </a:t>
            </a:r>
            <a:r>
              <a:rPr lang="en-US" sz="2000" dirty="0">
                <a:cs typeface="Calibri"/>
              </a:rPr>
              <a:t>way</a:t>
            </a:r>
            <a:r>
              <a:rPr lang="en-US" sz="2000" spc="-15" dirty="0">
                <a:cs typeface="Calibri"/>
              </a:rPr>
              <a:t> </a:t>
            </a:r>
            <a:r>
              <a:rPr lang="en-US" sz="2000" dirty="0">
                <a:cs typeface="Calibri"/>
              </a:rPr>
              <a:t>to</a:t>
            </a:r>
            <a:r>
              <a:rPr lang="en-US" sz="2000" spc="-5" dirty="0">
                <a:cs typeface="Calibri"/>
              </a:rPr>
              <a:t> improve </a:t>
            </a:r>
            <a:r>
              <a:rPr lang="en-US" sz="2000" dirty="0">
                <a:cs typeface="Calibri"/>
              </a:rPr>
              <a:t>the </a:t>
            </a:r>
            <a:r>
              <a:rPr lang="en-US" sz="2000" spc="-5" dirty="0">
                <a:cs typeface="Calibri"/>
              </a:rPr>
              <a:t>sequence-to-sequence</a:t>
            </a:r>
            <a:r>
              <a:rPr lang="en-US" sz="2000" dirty="0">
                <a:cs typeface="Calibri"/>
              </a:rPr>
              <a:t> model</a:t>
            </a:r>
            <a:r>
              <a:rPr lang="en-US" sz="2000" spc="-20" dirty="0">
                <a:cs typeface="Calibri"/>
              </a:rPr>
              <a:t> </a:t>
            </a:r>
            <a:r>
              <a:rPr lang="en-US" sz="2000" spc="-5" dirty="0">
                <a:cs typeface="Calibri"/>
              </a:rPr>
              <a:t>for</a:t>
            </a:r>
            <a:r>
              <a:rPr lang="en-US" sz="2000" spc="-10" dirty="0">
                <a:cs typeface="Calibri"/>
              </a:rPr>
              <a:t> </a:t>
            </a:r>
            <a:r>
              <a:rPr lang="en-US" sz="2000" spc="-5" dirty="0">
                <a:cs typeface="Calibri"/>
              </a:rPr>
              <a:t>Machine</a:t>
            </a:r>
            <a:r>
              <a:rPr lang="en-US" sz="2000" spc="-20" dirty="0">
                <a:cs typeface="Calibri"/>
              </a:rPr>
              <a:t> </a:t>
            </a:r>
            <a:r>
              <a:rPr lang="en-US" sz="2000" spc="-5" dirty="0">
                <a:cs typeface="Calibri"/>
              </a:rPr>
              <a:t>Translation.</a:t>
            </a:r>
            <a:endParaRPr lang="en-US" sz="2000" dirty="0">
              <a:cs typeface="Calibri"/>
            </a:endParaRPr>
          </a:p>
          <a:p>
            <a:pPr marL="355600" marR="194945" indent="-342900">
              <a:spcBef>
                <a:spcPts val="575"/>
              </a:spcBef>
              <a:buClr>
                <a:srgbClr val="CC0000"/>
              </a:buClr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lang="en-US" sz="2000" u="heavy" spc="-5" dirty="0">
                <a:uFill>
                  <a:solidFill>
                    <a:srgbClr val="000000"/>
                  </a:solidFill>
                </a:uFill>
                <a:cs typeface="Calibri"/>
              </a:rPr>
              <a:t>However</a:t>
            </a:r>
            <a:r>
              <a:rPr lang="en-US" sz="2000" spc="-5" dirty="0">
                <a:cs typeface="Calibri"/>
              </a:rPr>
              <a:t>: </a:t>
            </a:r>
            <a:r>
              <a:rPr lang="en-US" sz="2000" spc="-10" dirty="0">
                <a:cs typeface="Calibri"/>
              </a:rPr>
              <a:t>You </a:t>
            </a:r>
            <a:r>
              <a:rPr lang="en-US" sz="2000" dirty="0">
                <a:cs typeface="Calibri"/>
              </a:rPr>
              <a:t>can </a:t>
            </a:r>
            <a:r>
              <a:rPr lang="en-US" sz="2000" spc="-5" dirty="0">
                <a:cs typeface="Calibri"/>
              </a:rPr>
              <a:t>use attention </a:t>
            </a:r>
            <a:r>
              <a:rPr lang="en-US" sz="2000" dirty="0">
                <a:cs typeface="Calibri"/>
              </a:rPr>
              <a:t>in </a:t>
            </a:r>
            <a:r>
              <a:rPr lang="en-US" sz="2000" dirty="0">
                <a:solidFill>
                  <a:srgbClr val="BA56BD"/>
                </a:solidFill>
                <a:cs typeface="Calibri"/>
              </a:rPr>
              <a:t>many architectures </a:t>
            </a:r>
            <a:r>
              <a:rPr lang="en-US" sz="2000" spc="-530" dirty="0">
                <a:solidFill>
                  <a:srgbClr val="BA56BD"/>
                </a:solidFill>
                <a:cs typeface="Calibri"/>
              </a:rPr>
              <a:t> </a:t>
            </a:r>
            <a:r>
              <a:rPr lang="en-US" sz="2000" spc="-5" dirty="0">
                <a:cs typeface="Calibri"/>
              </a:rPr>
              <a:t>(not</a:t>
            </a:r>
            <a:r>
              <a:rPr lang="en-US" sz="2000" spc="-25" dirty="0">
                <a:cs typeface="Calibri"/>
              </a:rPr>
              <a:t> </a:t>
            </a:r>
            <a:r>
              <a:rPr lang="en-US" sz="2000" spc="-5" dirty="0">
                <a:cs typeface="Calibri"/>
              </a:rPr>
              <a:t>just</a:t>
            </a:r>
            <a:r>
              <a:rPr lang="en-US" sz="2000" spc="-10" dirty="0">
                <a:cs typeface="Calibri"/>
              </a:rPr>
              <a:t> </a:t>
            </a:r>
            <a:r>
              <a:rPr lang="en-US" sz="2000" spc="-5" dirty="0">
                <a:cs typeface="Calibri"/>
              </a:rPr>
              <a:t>seq2seq) </a:t>
            </a:r>
            <a:r>
              <a:rPr lang="en-US" sz="2000" dirty="0">
                <a:cs typeface="Calibri"/>
              </a:rPr>
              <a:t>and</a:t>
            </a:r>
            <a:r>
              <a:rPr lang="en-US" sz="2000" spc="5" dirty="0">
                <a:cs typeface="Calibri"/>
              </a:rPr>
              <a:t> </a:t>
            </a:r>
            <a:r>
              <a:rPr lang="en-US" sz="2000" dirty="0">
                <a:solidFill>
                  <a:srgbClr val="BA56BD"/>
                </a:solidFill>
                <a:cs typeface="Calibri"/>
              </a:rPr>
              <a:t>many</a:t>
            </a:r>
            <a:r>
              <a:rPr lang="en-US" sz="2000" spc="-10" dirty="0">
                <a:solidFill>
                  <a:srgbClr val="BA56BD"/>
                </a:solidFill>
                <a:cs typeface="Calibri"/>
              </a:rPr>
              <a:t> </a:t>
            </a:r>
            <a:r>
              <a:rPr lang="en-US" sz="2000" dirty="0">
                <a:solidFill>
                  <a:srgbClr val="BA56BD"/>
                </a:solidFill>
                <a:cs typeface="Calibri"/>
              </a:rPr>
              <a:t>tasks</a:t>
            </a:r>
            <a:r>
              <a:rPr lang="en-US" sz="2000" spc="-25" dirty="0">
                <a:solidFill>
                  <a:srgbClr val="BA56BD"/>
                </a:solidFill>
                <a:cs typeface="Calibri"/>
              </a:rPr>
              <a:t> </a:t>
            </a:r>
            <a:r>
              <a:rPr lang="en-US" sz="2000" spc="-5" dirty="0">
                <a:cs typeface="Calibri"/>
              </a:rPr>
              <a:t>(not</a:t>
            </a:r>
            <a:r>
              <a:rPr lang="en-US" sz="2000" spc="-20" dirty="0">
                <a:cs typeface="Calibri"/>
              </a:rPr>
              <a:t> </a:t>
            </a:r>
            <a:r>
              <a:rPr lang="en-US" sz="2000" spc="-5" dirty="0">
                <a:cs typeface="Calibri"/>
              </a:rPr>
              <a:t>just </a:t>
            </a:r>
            <a:r>
              <a:rPr lang="en-US" sz="2000" dirty="0">
                <a:cs typeface="Calibri"/>
              </a:rPr>
              <a:t>MT)</a:t>
            </a:r>
          </a:p>
          <a:p>
            <a:pPr marL="355600" marR="194945" indent="-342900">
              <a:spcBef>
                <a:spcPts val="575"/>
              </a:spcBef>
              <a:buClr>
                <a:srgbClr val="CC0000"/>
              </a:buClr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lang="en-US" sz="2000" spc="-5" dirty="0">
                <a:solidFill>
                  <a:srgbClr val="3986FF"/>
                </a:solidFill>
                <a:uFill>
                  <a:solidFill>
                    <a:srgbClr val="3986FF"/>
                  </a:solidFill>
                </a:uFill>
                <a:cs typeface="Calibri"/>
              </a:rPr>
              <a:t>More</a:t>
            </a:r>
            <a:r>
              <a:rPr lang="en-US" sz="2000" spc="-20" dirty="0">
                <a:solidFill>
                  <a:srgbClr val="3986FF"/>
                </a:solidFill>
                <a:uFill>
                  <a:solidFill>
                    <a:srgbClr val="3986FF"/>
                  </a:solidFill>
                </a:uFill>
                <a:cs typeface="Calibri"/>
              </a:rPr>
              <a:t> </a:t>
            </a:r>
            <a:r>
              <a:rPr lang="en-US" sz="2000" spc="-5" dirty="0">
                <a:solidFill>
                  <a:srgbClr val="3986FF"/>
                </a:solidFill>
                <a:uFill>
                  <a:solidFill>
                    <a:srgbClr val="3986FF"/>
                  </a:solidFill>
                </a:uFill>
                <a:cs typeface="Calibri"/>
              </a:rPr>
              <a:t>general definition</a:t>
            </a:r>
            <a:r>
              <a:rPr lang="en-US" sz="2000" dirty="0">
                <a:solidFill>
                  <a:srgbClr val="3986FF"/>
                </a:solidFill>
                <a:uFill>
                  <a:solidFill>
                    <a:srgbClr val="3986FF"/>
                  </a:solidFill>
                </a:uFill>
                <a:cs typeface="Calibri"/>
              </a:rPr>
              <a:t> of </a:t>
            </a:r>
            <a:r>
              <a:rPr lang="en-US" sz="2000" spc="-5" dirty="0">
                <a:solidFill>
                  <a:srgbClr val="3986FF"/>
                </a:solidFill>
                <a:uFill>
                  <a:solidFill>
                    <a:srgbClr val="3986FF"/>
                  </a:solidFill>
                </a:uFill>
                <a:cs typeface="Calibri"/>
              </a:rPr>
              <a:t>attention</a:t>
            </a:r>
            <a:r>
              <a:rPr lang="en-US" sz="2000" spc="-5" dirty="0">
                <a:cs typeface="Calibri"/>
              </a:rPr>
              <a:t>:</a:t>
            </a:r>
          </a:p>
          <a:p>
            <a:pPr marL="812800" marR="194945" lvl="1" indent="-342900">
              <a:spcBef>
                <a:spcPts val="575"/>
              </a:spcBef>
              <a:buClr>
                <a:srgbClr val="CC0000"/>
              </a:buClr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lang="en-US" sz="1800" dirty="0">
                <a:cs typeface="Calibri"/>
              </a:rPr>
              <a:t>Given a </a:t>
            </a:r>
            <a:r>
              <a:rPr lang="en-US" sz="1800" spc="-5" dirty="0">
                <a:cs typeface="Calibri"/>
              </a:rPr>
              <a:t>set of vector </a:t>
            </a:r>
            <a:r>
              <a:rPr lang="en-US" sz="1800" i="1" dirty="0">
                <a:solidFill>
                  <a:srgbClr val="BA56BD"/>
                </a:solidFill>
                <a:cs typeface="Calibri"/>
              </a:rPr>
              <a:t>values</a:t>
            </a:r>
            <a:r>
              <a:rPr lang="en-US" sz="1800" dirty="0">
                <a:cs typeface="Calibri"/>
              </a:rPr>
              <a:t>, and a </a:t>
            </a:r>
            <a:r>
              <a:rPr lang="en-US" sz="1800" spc="-5" dirty="0">
                <a:cs typeface="Calibri"/>
              </a:rPr>
              <a:t>vector </a:t>
            </a:r>
            <a:r>
              <a:rPr lang="en-US" sz="1800" i="1" spc="-5" dirty="0">
                <a:solidFill>
                  <a:srgbClr val="BA56BD"/>
                </a:solidFill>
                <a:cs typeface="Calibri"/>
              </a:rPr>
              <a:t>query</a:t>
            </a:r>
            <a:r>
              <a:rPr lang="en-US" sz="1800" spc="-5" dirty="0">
                <a:cs typeface="Calibri"/>
              </a:rPr>
              <a:t>,</a:t>
            </a:r>
            <a:r>
              <a:rPr lang="en-US" sz="1800" spc="-5" dirty="0">
                <a:solidFill>
                  <a:srgbClr val="3986FF"/>
                </a:solidFill>
                <a:cs typeface="Calibri"/>
              </a:rPr>
              <a:t> </a:t>
            </a:r>
            <a:r>
              <a:rPr lang="en-US" sz="1800" dirty="0">
                <a:solidFill>
                  <a:srgbClr val="3986FF"/>
                </a:solidFill>
                <a:uFill>
                  <a:solidFill>
                    <a:srgbClr val="3986FF"/>
                  </a:solidFill>
                </a:uFill>
                <a:cs typeface="Calibri"/>
              </a:rPr>
              <a:t>attention</a:t>
            </a:r>
            <a:r>
              <a:rPr lang="en-US" sz="1800" b="1" dirty="0">
                <a:solidFill>
                  <a:srgbClr val="3986FF"/>
                </a:solidFill>
                <a:cs typeface="Calibri"/>
              </a:rPr>
              <a:t> </a:t>
            </a:r>
            <a:r>
              <a:rPr lang="en-US" sz="1800" dirty="0">
                <a:cs typeface="Calibri"/>
              </a:rPr>
              <a:t>is a </a:t>
            </a:r>
            <a:r>
              <a:rPr lang="en-US" sz="1800" spc="-530" dirty="0">
                <a:cs typeface="Calibri"/>
              </a:rPr>
              <a:t> </a:t>
            </a:r>
            <a:r>
              <a:rPr lang="en-US" sz="1800" spc="-5" dirty="0">
                <a:cs typeface="Calibri"/>
              </a:rPr>
              <a:t>technique </a:t>
            </a:r>
            <a:r>
              <a:rPr lang="en-US" sz="1800" dirty="0">
                <a:cs typeface="Calibri"/>
              </a:rPr>
              <a:t>to </a:t>
            </a:r>
            <a:r>
              <a:rPr lang="en-US" sz="1800" spc="-5" dirty="0">
                <a:cs typeface="Calibri"/>
              </a:rPr>
              <a:t>compute </a:t>
            </a:r>
            <a:r>
              <a:rPr lang="en-US" sz="1800" dirty="0">
                <a:cs typeface="Calibri"/>
              </a:rPr>
              <a:t>a weighted </a:t>
            </a:r>
            <a:r>
              <a:rPr lang="en-US" sz="1800" spc="-5" dirty="0">
                <a:cs typeface="Calibri"/>
              </a:rPr>
              <a:t>sum of </a:t>
            </a:r>
            <a:r>
              <a:rPr lang="en-US" sz="1800" dirty="0">
                <a:cs typeface="Calibri"/>
              </a:rPr>
              <a:t>the values, </a:t>
            </a:r>
            <a:r>
              <a:rPr lang="en-US" sz="1800" spc="5" dirty="0">
                <a:cs typeface="Calibri"/>
              </a:rPr>
              <a:t> </a:t>
            </a:r>
            <a:r>
              <a:rPr lang="en-US" sz="1800" spc="-5" dirty="0">
                <a:cs typeface="Calibri"/>
              </a:rPr>
              <a:t>dependent</a:t>
            </a:r>
            <a:r>
              <a:rPr lang="en-US" sz="1800" spc="-10" dirty="0">
                <a:cs typeface="Calibri"/>
              </a:rPr>
              <a:t> </a:t>
            </a:r>
            <a:r>
              <a:rPr lang="en-US" sz="1800" spc="-5" dirty="0">
                <a:cs typeface="Calibri"/>
              </a:rPr>
              <a:t>on </a:t>
            </a:r>
            <a:r>
              <a:rPr lang="en-US" sz="1800" dirty="0">
                <a:cs typeface="Calibri"/>
              </a:rPr>
              <a:t>the</a:t>
            </a:r>
            <a:r>
              <a:rPr lang="en-US" sz="1800" spc="-15" dirty="0">
                <a:cs typeface="Calibri"/>
              </a:rPr>
              <a:t> </a:t>
            </a:r>
            <a:r>
              <a:rPr lang="en-US" sz="1800" spc="-5" dirty="0">
                <a:cs typeface="Calibri"/>
              </a:rPr>
              <a:t>query.</a:t>
            </a:r>
            <a:endParaRPr lang="en-US" sz="1800" dirty="0">
              <a:cs typeface="Calibri"/>
            </a:endParaRPr>
          </a:p>
          <a:p>
            <a:pPr marL="355600" indent="-342900" algn="just">
              <a:spcBef>
                <a:spcPts val="675"/>
              </a:spcBef>
              <a:buClr>
                <a:srgbClr val="CC0000"/>
              </a:buClr>
              <a:buFont typeface="Times New Roman"/>
              <a:buChar char="•"/>
              <a:tabLst>
                <a:tab pos="355600" algn="l"/>
              </a:tabLst>
            </a:pPr>
            <a:r>
              <a:rPr lang="en-US" sz="2000" dirty="0">
                <a:cs typeface="Calibri"/>
              </a:rPr>
              <a:t>We </a:t>
            </a:r>
            <a:r>
              <a:rPr lang="en-US" sz="2000" spc="-5" dirty="0">
                <a:cs typeface="Calibri"/>
              </a:rPr>
              <a:t>sometimes</a:t>
            </a:r>
            <a:r>
              <a:rPr lang="en-US" sz="2000" spc="-35" dirty="0">
                <a:cs typeface="Calibri"/>
              </a:rPr>
              <a:t> </a:t>
            </a:r>
            <a:r>
              <a:rPr lang="en-US" sz="2000" spc="-5" dirty="0">
                <a:cs typeface="Calibri"/>
              </a:rPr>
              <a:t>say</a:t>
            </a:r>
            <a:r>
              <a:rPr lang="en-US" sz="2000" spc="-10" dirty="0">
                <a:cs typeface="Calibri"/>
              </a:rPr>
              <a:t> </a:t>
            </a:r>
            <a:r>
              <a:rPr lang="en-US" sz="2000" dirty="0">
                <a:cs typeface="Calibri"/>
              </a:rPr>
              <a:t>that</a:t>
            </a:r>
            <a:r>
              <a:rPr lang="en-US" sz="2000" spc="-15" dirty="0">
                <a:cs typeface="Calibri"/>
              </a:rPr>
              <a:t> </a:t>
            </a:r>
            <a:r>
              <a:rPr lang="en-US" sz="2000" dirty="0">
                <a:cs typeface="Calibri"/>
              </a:rPr>
              <a:t>the</a:t>
            </a:r>
            <a:r>
              <a:rPr lang="en-US" sz="2000" spc="5" dirty="0">
                <a:cs typeface="Calibri"/>
              </a:rPr>
              <a:t> </a:t>
            </a:r>
            <a:r>
              <a:rPr lang="en-US" sz="2000" spc="-5" dirty="0">
                <a:solidFill>
                  <a:srgbClr val="3986FF"/>
                </a:solidFill>
                <a:cs typeface="Calibri"/>
              </a:rPr>
              <a:t>query</a:t>
            </a:r>
            <a:r>
              <a:rPr lang="en-US" sz="2000" spc="-10" dirty="0">
                <a:solidFill>
                  <a:srgbClr val="3986FF"/>
                </a:solidFill>
                <a:cs typeface="Calibri"/>
              </a:rPr>
              <a:t> </a:t>
            </a:r>
            <a:r>
              <a:rPr lang="en-US" sz="2000" i="1" dirty="0">
                <a:solidFill>
                  <a:srgbClr val="3986FF"/>
                </a:solidFill>
                <a:cs typeface="Calibri"/>
              </a:rPr>
              <a:t>attends</a:t>
            </a:r>
            <a:r>
              <a:rPr lang="en-US" sz="2000" i="1" spc="-5" dirty="0">
                <a:solidFill>
                  <a:srgbClr val="3986FF"/>
                </a:solidFill>
                <a:cs typeface="Calibri"/>
              </a:rPr>
              <a:t> </a:t>
            </a:r>
            <a:r>
              <a:rPr lang="en-US" sz="2000" i="1" dirty="0">
                <a:solidFill>
                  <a:srgbClr val="3986FF"/>
                </a:solidFill>
                <a:cs typeface="Calibri"/>
              </a:rPr>
              <a:t>to</a:t>
            </a:r>
            <a:r>
              <a:rPr lang="en-US" sz="2000" i="1" spc="-20" dirty="0">
                <a:solidFill>
                  <a:srgbClr val="3986FF"/>
                </a:solidFill>
                <a:cs typeface="Calibri"/>
              </a:rPr>
              <a:t> </a:t>
            </a:r>
            <a:r>
              <a:rPr lang="en-US" sz="2000" dirty="0">
                <a:solidFill>
                  <a:srgbClr val="3986FF"/>
                </a:solidFill>
                <a:cs typeface="Calibri"/>
              </a:rPr>
              <a:t>the</a:t>
            </a:r>
            <a:r>
              <a:rPr lang="en-US" sz="2000" spc="-5" dirty="0">
                <a:solidFill>
                  <a:srgbClr val="3986FF"/>
                </a:solidFill>
                <a:cs typeface="Calibri"/>
              </a:rPr>
              <a:t> </a:t>
            </a:r>
            <a:r>
              <a:rPr lang="en-US" sz="2000" dirty="0">
                <a:solidFill>
                  <a:srgbClr val="3986FF"/>
                </a:solidFill>
                <a:cs typeface="Calibri"/>
              </a:rPr>
              <a:t>values</a:t>
            </a:r>
            <a:r>
              <a:rPr lang="en-US" sz="2000" dirty="0">
                <a:cs typeface="Calibri"/>
              </a:rPr>
              <a:t>.</a:t>
            </a:r>
          </a:p>
          <a:p>
            <a:pPr marL="355600" marR="5080" indent="-342900" algn="just">
              <a:spcBef>
                <a:spcPts val="575"/>
              </a:spcBef>
              <a:buClr>
                <a:srgbClr val="CC0000"/>
              </a:buClr>
              <a:buFont typeface="Times New Roman"/>
              <a:buChar char="•"/>
              <a:tabLst>
                <a:tab pos="355600" algn="l"/>
              </a:tabLst>
            </a:pPr>
            <a:r>
              <a:rPr lang="en-US" sz="2000" spc="-5" dirty="0">
                <a:cs typeface="Calibri"/>
              </a:rPr>
              <a:t>For </a:t>
            </a:r>
            <a:r>
              <a:rPr lang="en-US" sz="2000" dirty="0">
                <a:cs typeface="Calibri"/>
              </a:rPr>
              <a:t>example, in the </a:t>
            </a:r>
            <a:r>
              <a:rPr lang="en-US" sz="2000" spc="-5" dirty="0">
                <a:cs typeface="Calibri"/>
              </a:rPr>
              <a:t>seq2seq </a:t>
            </a:r>
            <a:r>
              <a:rPr lang="en-US" sz="2000" dirty="0">
                <a:cs typeface="Calibri"/>
              </a:rPr>
              <a:t>+ </a:t>
            </a:r>
            <a:r>
              <a:rPr lang="en-US" sz="2000" spc="-5" dirty="0">
                <a:cs typeface="Calibri"/>
              </a:rPr>
              <a:t>attention </a:t>
            </a:r>
            <a:r>
              <a:rPr lang="en-US" sz="2000" dirty="0">
                <a:cs typeface="Calibri"/>
              </a:rPr>
              <a:t>model, each </a:t>
            </a:r>
            <a:r>
              <a:rPr lang="en-US" sz="2000" spc="-5" dirty="0">
                <a:cs typeface="Calibri"/>
              </a:rPr>
              <a:t>decoder </a:t>
            </a:r>
            <a:r>
              <a:rPr lang="en-US" sz="2000" spc="-535" dirty="0">
                <a:cs typeface="Calibri"/>
              </a:rPr>
              <a:t> </a:t>
            </a:r>
            <a:r>
              <a:rPr lang="en-US" sz="2000" spc="-5" dirty="0">
                <a:cs typeface="Calibri"/>
              </a:rPr>
              <a:t>hidden state (query) </a:t>
            </a:r>
            <a:r>
              <a:rPr lang="en-US" sz="2000" i="1" spc="-5" dirty="0">
                <a:cs typeface="Calibri"/>
              </a:rPr>
              <a:t>attends </a:t>
            </a:r>
            <a:r>
              <a:rPr lang="en-US" sz="2000" i="1" dirty="0">
                <a:cs typeface="Calibri"/>
              </a:rPr>
              <a:t>to </a:t>
            </a:r>
            <a:r>
              <a:rPr lang="en-US" sz="2000" dirty="0">
                <a:cs typeface="Calibri"/>
              </a:rPr>
              <a:t>all the encoder </a:t>
            </a:r>
            <a:r>
              <a:rPr lang="en-US" sz="2000" spc="-5" dirty="0">
                <a:cs typeface="Calibri"/>
              </a:rPr>
              <a:t>hidden states </a:t>
            </a:r>
            <a:r>
              <a:rPr lang="en-US" sz="2000" dirty="0">
                <a:cs typeface="Calibri"/>
              </a:rPr>
              <a:t> </a:t>
            </a:r>
            <a:r>
              <a:rPr lang="en-US" sz="2000" spc="-5" dirty="0">
                <a:cs typeface="Calibri"/>
              </a:rPr>
              <a:t>(values).</a:t>
            </a:r>
          </a:p>
          <a:p>
            <a:pPr marL="12700">
              <a:spcBef>
                <a:spcPts val="680"/>
              </a:spcBef>
            </a:pPr>
            <a:r>
              <a:rPr lang="en-US" sz="2000" b="1" spc="-5" dirty="0">
                <a:cs typeface="Calibri"/>
              </a:rPr>
              <a:t>Intuition</a:t>
            </a:r>
            <a:r>
              <a:rPr lang="en-US" sz="2000" spc="-5" dirty="0">
                <a:cs typeface="Calibri"/>
              </a:rPr>
              <a:t>:</a:t>
            </a:r>
            <a:endParaRPr lang="en-US" sz="2000" dirty="0">
              <a:cs typeface="Calibri"/>
            </a:endParaRPr>
          </a:p>
          <a:p>
            <a:pPr marL="698500" marR="5080" indent="-229235" algn="just">
              <a:spcBef>
                <a:spcPts val="575"/>
              </a:spcBef>
              <a:buClr>
                <a:srgbClr val="3986FF"/>
              </a:buClr>
              <a:buFont typeface="Times New Roman"/>
              <a:buChar char="•"/>
              <a:tabLst>
                <a:tab pos="699135" algn="l"/>
              </a:tabLst>
            </a:pPr>
            <a:r>
              <a:rPr lang="en-US" sz="1800" spc="-5" dirty="0">
                <a:cs typeface="Calibri"/>
              </a:rPr>
              <a:t>The </a:t>
            </a:r>
            <a:r>
              <a:rPr lang="en-US" sz="1800" dirty="0">
                <a:cs typeface="Calibri"/>
              </a:rPr>
              <a:t>weighted </a:t>
            </a:r>
            <a:r>
              <a:rPr lang="en-US" sz="1800" spc="-5" dirty="0">
                <a:cs typeface="Calibri"/>
              </a:rPr>
              <a:t>sum </a:t>
            </a:r>
            <a:r>
              <a:rPr lang="en-US" sz="1800" dirty="0">
                <a:cs typeface="Calibri"/>
              </a:rPr>
              <a:t>is a </a:t>
            </a:r>
            <a:r>
              <a:rPr lang="en-US" sz="1800" i="1" spc="-5" dirty="0">
                <a:solidFill>
                  <a:srgbClr val="BA56BD"/>
                </a:solidFill>
                <a:cs typeface="Calibri"/>
              </a:rPr>
              <a:t>selective summary </a:t>
            </a:r>
            <a:r>
              <a:rPr lang="en-US" sz="1800" spc="-5" dirty="0">
                <a:cs typeface="Calibri"/>
              </a:rPr>
              <a:t>of </a:t>
            </a:r>
            <a:r>
              <a:rPr lang="en-US" sz="1800" dirty="0">
                <a:cs typeface="Calibri"/>
              </a:rPr>
              <a:t>the information </a:t>
            </a:r>
            <a:r>
              <a:rPr lang="en-US" sz="1800" spc="-530" dirty="0">
                <a:cs typeface="Calibri"/>
              </a:rPr>
              <a:t> </a:t>
            </a:r>
            <a:r>
              <a:rPr lang="en-US" sz="1800" dirty="0">
                <a:cs typeface="Calibri"/>
              </a:rPr>
              <a:t>contained in the values, where the </a:t>
            </a:r>
            <a:r>
              <a:rPr lang="en-US" sz="1800" spc="-5" dirty="0">
                <a:cs typeface="Calibri"/>
              </a:rPr>
              <a:t>query determines </a:t>
            </a:r>
            <a:r>
              <a:rPr lang="en-US" sz="1800" dirty="0">
                <a:cs typeface="Calibri"/>
              </a:rPr>
              <a:t>which </a:t>
            </a:r>
            <a:r>
              <a:rPr lang="en-US" sz="1800" spc="5" dirty="0">
                <a:cs typeface="Calibri"/>
              </a:rPr>
              <a:t> </a:t>
            </a:r>
            <a:r>
              <a:rPr lang="en-US" sz="1800" dirty="0">
                <a:cs typeface="Calibri"/>
              </a:rPr>
              <a:t>values</a:t>
            </a:r>
            <a:r>
              <a:rPr lang="en-US" sz="1800" spc="-5" dirty="0">
                <a:cs typeface="Calibri"/>
              </a:rPr>
              <a:t> </a:t>
            </a:r>
            <a:r>
              <a:rPr lang="en-US" sz="1800" dirty="0">
                <a:cs typeface="Calibri"/>
              </a:rPr>
              <a:t>to</a:t>
            </a:r>
            <a:r>
              <a:rPr lang="en-US" sz="1800" spc="-10" dirty="0">
                <a:cs typeface="Calibri"/>
              </a:rPr>
              <a:t> </a:t>
            </a:r>
            <a:r>
              <a:rPr lang="en-US" sz="1800" spc="-5" dirty="0">
                <a:cs typeface="Calibri"/>
              </a:rPr>
              <a:t>focus</a:t>
            </a:r>
            <a:r>
              <a:rPr lang="en-US" sz="1800" dirty="0">
                <a:cs typeface="Calibri"/>
              </a:rPr>
              <a:t> </a:t>
            </a:r>
            <a:r>
              <a:rPr lang="en-US" sz="1800" spc="-5" dirty="0">
                <a:cs typeface="Calibri"/>
              </a:rPr>
              <a:t>on.</a:t>
            </a:r>
            <a:endParaRPr lang="en-US" sz="1800" dirty="0">
              <a:cs typeface="Calibri"/>
            </a:endParaRPr>
          </a:p>
          <a:p>
            <a:pPr marL="698500" marR="13970" indent="-229235">
              <a:spcBef>
                <a:spcPts val="580"/>
              </a:spcBef>
              <a:buClr>
                <a:srgbClr val="3986FF"/>
              </a:buClr>
              <a:buFont typeface="Times New Roman"/>
              <a:buChar char="•"/>
              <a:tabLst>
                <a:tab pos="699135" algn="l"/>
              </a:tabLst>
            </a:pPr>
            <a:r>
              <a:rPr lang="en-US" sz="1800" dirty="0">
                <a:cs typeface="Calibri"/>
              </a:rPr>
              <a:t>Attention is a way to </a:t>
            </a:r>
            <a:r>
              <a:rPr lang="en-US" sz="1800" spc="-5" dirty="0">
                <a:cs typeface="Calibri"/>
              </a:rPr>
              <a:t>obtain </a:t>
            </a:r>
            <a:r>
              <a:rPr lang="en-US" sz="1800" dirty="0">
                <a:cs typeface="Calibri"/>
              </a:rPr>
              <a:t>a </a:t>
            </a:r>
            <a:r>
              <a:rPr lang="en-US" sz="1800" i="1" spc="-5" dirty="0">
                <a:solidFill>
                  <a:srgbClr val="BA56BD"/>
                </a:solidFill>
                <a:cs typeface="Calibri"/>
              </a:rPr>
              <a:t>fixed-size representation of an </a:t>
            </a:r>
            <a:r>
              <a:rPr lang="en-US" sz="1800" i="1" spc="-530" dirty="0">
                <a:solidFill>
                  <a:srgbClr val="BA56BD"/>
                </a:solidFill>
                <a:cs typeface="Calibri"/>
              </a:rPr>
              <a:t> </a:t>
            </a:r>
            <a:r>
              <a:rPr lang="en-US" sz="1800" i="1" spc="-5" dirty="0">
                <a:solidFill>
                  <a:srgbClr val="BA56BD"/>
                </a:solidFill>
                <a:cs typeface="Calibri"/>
              </a:rPr>
              <a:t>arbitrary</a:t>
            </a:r>
            <a:r>
              <a:rPr lang="en-US" sz="1800" i="1" spc="-25" dirty="0">
                <a:solidFill>
                  <a:srgbClr val="BA56BD"/>
                </a:solidFill>
                <a:cs typeface="Calibri"/>
              </a:rPr>
              <a:t> </a:t>
            </a:r>
            <a:r>
              <a:rPr lang="en-US" sz="1800" i="1" spc="-5" dirty="0">
                <a:solidFill>
                  <a:srgbClr val="BA56BD"/>
                </a:solidFill>
                <a:cs typeface="Calibri"/>
              </a:rPr>
              <a:t>set</a:t>
            </a:r>
            <a:r>
              <a:rPr lang="en-US" sz="1800" i="1" dirty="0">
                <a:solidFill>
                  <a:srgbClr val="BA56BD"/>
                </a:solidFill>
                <a:cs typeface="Calibri"/>
              </a:rPr>
              <a:t> </a:t>
            </a:r>
            <a:r>
              <a:rPr lang="en-US" sz="1800" i="1" spc="-5" dirty="0">
                <a:solidFill>
                  <a:srgbClr val="BA56BD"/>
                </a:solidFill>
                <a:cs typeface="Calibri"/>
              </a:rPr>
              <a:t>of </a:t>
            </a:r>
            <a:r>
              <a:rPr lang="en-US" sz="1800" i="1" dirty="0">
                <a:solidFill>
                  <a:srgbClr val="BA56BD"/>
                </a:solidFill>
                <a:cs typeface="Calibri"/>
              </a:rPr>
              <a:t>representations</a:t>
            </a:r>
            <a:r>
              <a:rPr lang="en-US" sz="1800" i="1" spc="20" dirty="0">
                <a:solidFill>
                  <a:srgbClr val="BA56BD"/>
                </a:solidFill>
                <a:cs typeface="Calibri"/>
              </a:rPr>
              <a:t> 			</a:t>
            </a:r>
            <a:r>
              <a:rPr lang="en-US" sz="1800" spc="-5" dirty="0">
                <a:cs typeface="Calibri"/>
              </a:rPr>
              <a:t>(the</a:t>
            </a:r>
            <a:r>
              <a:rPr lang="en-US" sz="1800" spc="-10" dirty="0">
                <a:cs typeface="Calibri"/>
              </a:rPr>
              <a:t> </a:t>
            </a:r>
            <a:r>
              <a:rPr lang="en-US" sz="1800" dirty="0">
                <a:cs typeface="Calibri"/>
              </a:rPr>
              <a:t>values), </a:t>
            </a:r>
            <a:r>
              <a:rPr lang="en-US" sz="1800" spc="-5" dirty="0">
                <a:cs typeface="Calibri"/>
              </a:rPr>
              <a:t>dependent</a:t>
            </a:r>
            <a:r>
              <a:rPr lang="en-US" sz="1800" spc="10" dirty="0">
                <a:cs typeface="Calibri"/>
              </a:rPr>
              <a:t> </a:t>
            </a:r>
            <a:r>
              <a:rPr lang="en-US" sz="1800" spc="-5" dirty="0">
                <a:cs typeface="Calibri"/>
              </a:rPr>
              <a:t>on </a:t>
            </a:r>
            <a:r>
              <a:rPr lang="en-US" sz="1800" dirty="0">
                <a:cs typeface="Calibri"/>
              </a:rPr>
              <a:t> </a:t>
            </a:r>
            <a:r>
              <a:rPr lang="en-US" sz="1800" spc="-5" dirty="0">
                <a:cs typeface="Calibri"/>
              </a:rPr>
              <a:t>some</a:t>
            </a:r>
            <a:r>
              <a:rPr lang="en-US" sz="1800" spc="-15" dirty="0">
                <a:cs typeface="Calibri"/>
              </a:rPr>
              <a:t> </a:t>
            </a:r>
            <a:r>
              <a:rPr lang="en-US" sz="1800" spc="-5" dirty="0">
                <a:cs typeface="Calibri"/>
              </a:rPr>
              <a:t>other representation (the</a:t>
            </a:r>
            <a:r>
              <a:rPr lang="en-US" sz="1800" spc="-15" dirty="0">
                <a:cs typeface="Calibri"/>
              </a:rPr>
              <a:t> </a:t>
            </a:r>
            <a:r>
              <a:rPr lang="en-US" sz="1800" spc="-5" dirty="0">
                <a:cs typeface="Calibri"/>
              </a:rPr>
              <a:t>query).</a:t>
            </a:r>
            <a:endParaRPr lang="en-US" sz="1800" dirty="0">
              <a:cs typeface="Calibri"/>
            </a:endParaRPr>
          </a:p>
          <a:p>
            <a:endParaRPr lang="en-IN" sz="2000" dirty="0"/>
          </a:p>
        </p:txBody>
      </p:sp>
      <p:sp>
        <p:nvSpPr>
          <p:cNvPr id="6" name="object 6"/>
          <p:cNvSpPr txBox="1"/>
          <p:nvPr/>
        </p:nvSpPr>
        <p:spPr>
          <a:xfrm>
            <a:off x="1907540" y="6421018"/>
            <a:ext cx="20574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75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9CB17-CDA2-45DA-86A5-300A5DDBA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325" y="-468827"/>
            <a:ext cx="11307763" cy="1325562"/>
          </a:xfrm>
        </p:spPr>
        <p:txBody>
          <a:bodyPr/>
          <a:lstStyle/>
          <a:p>
            <a:r>
              <a:rPr lang="en-US" dirty="0"/>
              <a:t>Attention</a:t>
            </a:r>
            <a:endParaRPr lang="en-IN" dirty="0"/>
          </a:p>
        </p:txBody>
      </p:sp>
      <p:sp>
        <p:nvSpPr>
          <p:cNvPr id="5" name="Google Shape;254;p23">
            <a:extLst>
              <a:ext uri="{FF2B5EF4-FFF2-40B4-BE49-F238E27FC236}">
                <a16:creationId xmlns:a16="http://schemas.microsoft.com/office/drawing/2014/main" id="{1DE84891-CFE3-844F-5DF2-A4F7727FA81B}"/>
              </a:ext>
            </a:extLst>
          </p:cNvPr>
          <p:cNvSpPr/>
          <p:nvPr/>
        </p:nvSpPr>
        <p:spPr>
          <a:xfrm>
            <a:off x="2818933" y="4280087"/>
            <a:ext cx="488800" cy="1015928"/>
          </a:xfrm>
          <a:prstGeom prst="rect">
            <a:avLst/>
          </a:prstGeom>
          <a:solidFill>
            <a:srgbClr val="FFE599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h</a:t>
            </a:r>
            <a:r>
              <a:rPr kumimoji="0" lang="en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1</a:t>
            </a:r>
            <a:endParaRPr kumimoji="0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Nunito"/>
              <a:cs typeface="Nunito"/>
              <a:sym typeface="Nunito"/>
            </a:endParaRPr>
          </a:p>
        </p:txBody>
      </p:sp>
      <p:cxnSp>
        <p:nvCxnSpPr>
          <p:cNvPr id="6" name="Google Shape;255;p23">
            <a:extLst>
              <a:ext uri="{FF2B5EF4-FFF2-40B4-BE49-F238E27FC236}">
                <a16:creationId xmlns:a16="http://schemas.microsoft.com/office/drawing/2014/main" id="{A3F02AEB-6CB8-5260-2699-F312DB4297C5}"/>
              </a:ext>
            </a:extLst>
          </p:cNvPr>
          <p:cNvCxnSpPr/>
          <p:nvPr/>
        </p:nvCxnSpPr>
        <p:spPr>
          <a:xfrm rot="10800000">
            <a:off x="3064133" y="5324013"/>
            <a:ext cx="0" cy="353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" name="Google Shape;256;p23">
            <a:extLst>
              <a:ext uri="{FF2B5EF4-FFF2-40B4-BE49-F238E27FC236}">
                <a16:creationId xmlns:a16="http://schemas.microsoft.com/office/drawing/2014/main" id="{D9A7CAFD-976D-51C9-3C3B-AD7B5237B930}"/>
              </a:ext>
            </a:extLst>
          </p:cNvPr>
          <p:cNvSpPr txBox="1"/>
          <p:nvPr/>
        </p:nvSpPr>
        <p:spPr>
          <a:xfrm>
            <a:off x="2852200" y="5492384"/>
            <a:ext cx="4888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x</a:t>
            </a:r>
            <a:r>
              <a:rPr kumimoji="0" lang="en" sz="18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1</a:t>
            </a:r>
            <a:endParaRPr kumimoji="0" sz="1800" b="0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Nunito"/>
              <a:cs typeface="Nunito"/>
              <a:sym typeface="Nunito"/>
            </a:endParaRPr>
          </a:p>
        </p:txBody>
      </p:sp>
      <p:sp>
        <p:nvSpPr>
          <p:cNvPr id="8" name="Google Shape;257;p23">
            <a:extLst>
              <a:ext uri="{FF2B5EF4-FFF2-40B4-BE49-F238E27FC236}">
                <a16:creationId xmlns:a16="http://schemas.microsoft.com/office/drawing/2014/main" id="{9404FDBA-8BB7-C977-236E-EF42768F838F}"/>
              </a:ext>
            </a:extLst>
          </p:cNvPr>
          <p:cNvSpPr/>
          <p:nvPr/>
        </p:nvSpPr>
        <p:spPr>
          <a:xfrm>
            <a:off x="3834933" y="4280087"/>
            <a:ext cx="488800" cy="1015928"/>
          </a:xfrm>
          <a:prstGeom prst="rect">
            <a:avLst/>
          </a:prstGeom>
          <a:solidFill>
            <a:srgbClr val="FFE599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h</a:t>
            </a:r>
            <a:r>
              <a:rPr kumimoji="0" lang="en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2</a:t>
            </a:r>
            <a:endParaRPr kumimoji="0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Nunito"/>
              <a:cs typeface="Nunito"/>
              <a:sym typeface="Nunito"/>
            </a:endParaRPr>
          </a:p>
        </p:txBody>
      </p:sp>
      <p:cxnSp>
        <p:nvCxnSpPr>
          <p:cNvPr id="9" name="Google Shape;258;p23">
            <a:extLst>
              <a:ext uri="{FF2B5EF4-FFF2-40B4-BE49-F238E27FC236}">
                <a16:creationId xmlns:a16="http://schemas.microsoft.com/office/drawing/2014/main" id="{DFE0AEF8-035C-CDDC-7739-CF336C1BD991}"/>
              </a:ext>
            </a:extLst>
          </p:cNvPr>
          <p:cNvCxnSpPr/>
          <p:nvPr/>
        </p:nvCxnSpPr>
        <p:spPr>
          <a:xfrm rot="10800000">
            <a:off x="4080133" y="5324013"/>
            <a:ext cx="0" cy="353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" name="Google Shape;259;p23">
            <a:extLst>
              <a:ext uri="{FF2B5EF4-FFF2-40B4-BE49-F238E27FC236}">
                <a16:creationId xmlns:a16="http://schemas.microsoft.com/office/drawing/2014/main" id="{56BCD904-2049-888D-FADB-7882A6D7C855}"/>
              </a:ext>
            </a:extLst>
          </p:cNvPr>
          <p:cNvSpPr txBox="1"/>
          <p:nvPr/>
        </p:nvSpPr>
        <p:spPr>
          <a:xfrm>
            <a:off x="3868200" y="5492384"/>
            <a:ext cx="4888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x</a:t>
            </a:r>
            <a:r>
              <a:rPr kumimoji="0" lang="en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2</a:t>
            </a:r>
            <a:endParaRPr kumimoji="0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Nunito"/>
              <a:cs typeface="Nunito"/>
              <a:sym typeface="Nunito"/>
            </a:endParaRPr>
          </a:p>
        </p:txBody>
      </p:sp>
      <p:sp>
        <p:nvSpPr>
          <p:cNvPr id="11" name="Google Shape;260;p23">
            <a:extLst>
              <a:ext uri="{FF2B5EF4-FFF2-40B4-BE49-F238E27FC236}">
                <a16:creationId xmlns:a16="http://schemas.microsoft.com/office/drawing/2014/main" id="{D54640C2-6B44-EA59-41E8-CC5B1BDF9B54}"/>
              </a:ext>
            </a:extLst>
          </p:cNvPr>
          <p:cNvSpPr/>
          <p:nvPr/>
        </p:nvSpPr>
        <p:spPr>
          <a:xfrm>
            <a:off x="4850933" y="4280087"/>
            <a:ext cx="488800" cy="1015928"/>
          </a:xfrm>
          <a:prstGeom prst="rect">
            <a:avLst/>
          </a:prstGeom>
          <a:solidFill>
            <a:srgbClr val="FFE599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h</a:t>
            </a:r>
            <a:r>
              <a:rPr kumimoji="0" lang="en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3</a:t>
            </a:r>
            <a:endParaRPr kumimoji="0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Nunito"/>
              <a:cs typeface="Nunito"/>
              <a:sym typeface="Nunito"/>
            </a:endParaRPr>
          </a:p>
        </p:txBody>
      </p:sp>
      <p:cxnSp>
        <p:nvCxnSpPr>
          <p:cNvPr id="12" name="Google Shape;261;p23">
            <a:extLst>
              <a:ext uri="{FF2B5EF4-FFF2-40B4-BE49-F238E27FC236}">
                <a16:creationId xmlns:a16="http://schemas.microsoft.com/office/drawing/2014/main" id="{20CEA0A4-E3DF-D0BE-B40E-27906DB7F240}"/>
              </a:ext>
            </a:extLst>
          </p:cNvPr>
          <p:cNvCxnSpPr/>
          <p:nvPr/>
        </p:nvCxnSpPr>
        <p:spPr>
          <a:xfrm rot="10800000">
            <a:off x="5096133" y="5324013"/>
            <a:ext cx="0" cy="353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" name="Google Shape;262;p23">
            <a:extLst>
              <a:ext uri="{FF2B5EF4-FFF2-40B4-BE49-F238E27FC236}">
                <a16:creationId xmlns:a16="http://schemas.microsoft.com/office/drawing/2014/main" id="{1691FB65-3891-76E9-16A7-36BD006C0521}"/>
              </a:ext>
            </a:extLst>
          </p:cNvPr>
          <p:cNvSpPr txBox="1"/>
          <p:nvPr/>
        </p:nvSpPr>
        <p:spPr>
          <a:xfrm>
            <a:off x="4884200" y="5492384"/>
            <a:ext cx="4888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x</a:t>
            </a:r>
            <a:r>
              <a:rPr kumimoji="0" lang="en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3</a:t>
            </a:r>
            <a:endParaRPr kumimoji="0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Nunito"/>
              <a:cs typeface="Nunito"/>
              <a:sym typeface="Nunito"/>
            </a:endParaRPr>
          </a:p>
        </p:txBody>
      </p:sp>
      <p:cxnSp>
        <p:nvCxnSpPr>
          <p:cNvPr id="14" name="Google Shape;263;p23">
            <a:extLst>
              <a:ext uri="{FF2B5EF4-FFF2-40B4-BE49-F238E27FC236}">
                <a16:creationId xmlns:a16="http://schemas.microsoft.com/office/drawing/2014/main" id="{DEFD259F-4E18-B90A-2B1A-E14140EBE3FD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>
            <a:off x="3307733" y="4788051"/>
            <a:ext cx="5272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" name="Google Shape;264;p23">
            <a:extLst>
              <a:ext uri="{FF2B5EF4-FFF2-40B4-BE49-F238E27FC236}">
                <a16:creationId xmlns:a16="http://schemas.microsoft.com/office/drawing/2014/main" id="{D9A70D6C-A725-B0E7-AFDF-8DA03DA31BD5}"/>
              </a:ext>
            </a:extLst>
          </p:cNvPr>
          <p:cNvCxnSpPr/>
          <p:nvPr/>
        </p:nvCxnSpPr>
        <p:spPr>
          <a:xfrm>
            <a:off x="4325333" y="4814565"/>
            <a:ext cx="5256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CB05C40E-5EAF-C559-7D0F-4E57C93098F3}"/>
              </a:ext>
            </a:extLst>
          </p:cNvPr>
          <p:cNvSpPr txBox="1"/>
          <p:nvPr/>
        </p:nvSpPr>
        <p:spPr>
          <a:xfrm>
            <a:off x="2954100" y="5909183"/>
            <a:ext cx="2385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Input Sequence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3BCC74E-2B99-5A98-11A7-57824DFE94B9}"/>
              </a:ext>
            </a:extLst>
          </p:cNvPr>
          <p:cNvSpPr txBox="1"/>
          <p:nvPr/>
        </p:nvSpPr>
        <p:spPr>
          <a:xfrm>
            <a:off x="240936" y="4410815"/>
            <a:ext cx="2385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Encoding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930182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9CB17-CDA2-45DA-86A5-300A5DDBA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325" y="-468827"/>
            <a:ext cx="11307763" cy="1325562"/>
          </a:xfrm>
        </p:spPr>
        <p:txBody>
          <a:bodyPr/>
          <a:lstStyle/>
          <a:p>
            <a:r>
              <a:rPr lang="en-US" dirty="0"/>
              <a:t>Attention</a:t>
            </a:r>
            <a:endParaRPr lang="en-IN" dirty="0"/>
          </a:p>
        </p:txBody>
      </p:sp>
      <p:sp>
        <p:nvSpPr>
          <p:cNvPr id="5" name="Google Shape;254;p23">
            <a:extLst>
              <a:ext uri="{FF2B5EF4-FFF2-40B4-BE49-F238E27FC236}">
                <a16:creationId xmlns:a16="http://schemas.microsoft.com/office/drawing/2014/main" id="{1DE84891-CFE3-844F-5DF2-A4F7727FA81B}"/>
              </a:ext>
            </a:extLst>
          </p:cNvPr>
          <p:cNvSpPr/>
          <p:nvPr/>
        </p:nvSpPr>
        <p:spPr>
          <a:xfrm>
            <a:off x="2818933" y="4280087"/>
            <a:ext cx="488800" cy="1015928"/>
          </a:xfrm>
          <a:prstGeom prst="rect">
            <a:avLst/>
          </a:prstGeom>
          <a:solidFill>
            <a:srgbClr val="FFE599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h</a:t>
            </a:r>
            <a:r>
              <a:rPr kumimoji="0" lang="en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1</a:t>
            </a:r>
            <a:endParaRPr kumimoji="0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Nunito"/>
              <a:cs typeface="Nunito"/>
              <a:sym typeface="Nunito"/>
            </a:endParaRPr>
          </a:p>
        </p:txBody>
      </p:sp>
      <p:cxnSp>
        <p:nvCxnSpPr>
          <p:cNvPr id="6" name="Google Shape;255;p23">
            <a:extLst>
              <a:ext uri="{FF2B5EF4-FFF2-40B4-BE49-F238E27FC236}">
                <a16:creationId xmlns:a16="http://schemas.microsoft.com/office/drawing/2014/main" id="{A3F02AEB-6CB8-5260-2699-F312DB4297C5}"/>
              </a:ext>
            </a:extLst>
          </p:cNvPr>
          <p:cNvCxnSpPr/>
          <p:nvPr/>
        </p:nvCxnSpPr>
        <p:spPr>
          <a:xfrm rot="10800000">
            <a:off x="3064133" y="5324013"/>
            <a:ext cx="0" cy="353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" name="Google Shape;256;p23">
            <a:extLst>
              <a:ext uri="{FF2B5EF4-FFF2-40B4-BE49-F238E27FC236}">
                <a16:creationId xmlns:a16="http://schemas.microsoft.com/office/drawing/2014/main" id="{D9A7CAFD-976D-51C9-3C3B-AD7B5237B930}"/>
              </a:ext>
            </a:extLst>
          </p:cNvPr>
          <p:cNvSpPr txBox="1"/>
          <p:nvPr/>
        </p:nvSpPr>
        <p:spPr>
          <a:xfrm>
            <a:off x="2852200" y="5492384"/>
            <a:ext cx="4888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x</a:t>
            </a:r>
            <a:r>
              <a:rPr kumimoji="0" lang="en" sz="18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1</a:t>
            </a:r>
            <a:endParaRPr kumimoji="0" sz="1800" b="0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Nunito"/>
              <a:cs typeface="Nunito"/>
              <a:sym typeface="Nunito"/>
            </a:endParaRPr>
          </a:p>
        </p:txBody>
      </p:sp>
      <p:sp>
        <p:nvSpPr>
          <p:cNvPr id="8" name="Google Shape;257;p23">
            <a:extLst>
              <a:ext uri="{FF2B5EF4-FFF2-40B4-BE49-F238E27FC236}">
                <a16:creationId xmlns:a16="http://schemas.microsoft.com/office/drawing/2014/main" id="{9404FDBA-8BB7-C977-236E-EF42768F838F}"/>
              </a:ext>
            </a:extLst>
          </p:cNvPr>
          <p:cNvSpPr/>
          <p:nvPr/>
        </p:nvSpPr>
        <p:spPr>
          <a:xfrm>
            <a:off x="3834933" y="4280087"/>
            <a:ext cx="488800" cy="1015928"/>
          </a:xfrm>
          <a:prstGeom prst="rect">
            <a:avLst/>
          </a:prstGeom>
          <a:solidFill>
            <a:srgbClr val="FFE599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h</a:t>
            </a:r>
            <a:r>
              <a:rPr kumimoji="0" lang="en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2</a:t>
            </a:r>
            <a:endParaRPr kumimoji="0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Nunito"/>
              <a:cs typeface="Nunito"/>
              <a:sym typeface="Nunito"/>
            </a:endParaRPr>
          </a:p>
        </p:txBody>
      </p:sp>
      <p:cxnSp>
        <p:nvCxnSpPr>
          <p:cNvPr id="9" name="Google Shape;258;p23">
            <a:extLst>
              <a:ext uri="{FF2B5EF4-FFF2-40B4-BE49-F238E27FC236}">
                <a16:creationId xmlns:a16="http://schemas.microsoft.com/office/drawing/2014/main" id="{DFE0AEF8-035C-CDDC-7739-CF336C1BD991}"/>
              </a:ext>
            </a:extLst>
          </p:cNvPr>
          <p:cNvCxnSpPr/>
          <p:nvPr/>
        </p:nvCxnSpPr>
        <p:spPr>
          <a:xfrm rot="10800000">
            <a:off x="4080133" y="5324013"/>
            <a:ext cx="0" cy="353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" name="Google Shape;259;p23">
            <a:extLst>
              <a:ext uri="{FF2B5EF4-FFF2-40B4-BE49-F238E27FC236}">
                <a16:creationId xmlns:a16="http://schemas.microsoft.com/office/drawing/2014/main" id="{56BCD904-2049-888D-FADB-7882A6D7C855}"/>
              </a:ext>
            </a:extLst>
          </p:cNvPr>
          <p:cNvSpPr txBox="1"/>
          <p:nvPr/>
        </p:nvSpPr>
        <p:spPr>
          <a:xfrm>
            <a:off x="3868200" y="5492384"/>
            <a:ext cx="4888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x</a:t>
            </a:r>
            <a:r>
              <a:rPr kumimoji="0" lang="en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2</a:t>
            </a:r>
            <a:endParaRPr kumimoji="0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Nunito"/>
              <a:cs typeface="Nunito"/>
              <a:sym typeface="Nunito"/>
            </a:endParaRPr>
          </a:p>
        </p:txBody>
      </p:sp>
      <p:sp>
        <p:nvSpPr>
          <p:cNvPr id="11" name="Google Shape;260;p23">
            <a:extLst>
              <a:ext uri="{FF2B5EF4-FFF2-40B4-BE49-F238E27FC236}">
                <a16:creationId xmlns:a16="http://schemas.microsoft.com/office/drawing/2014/main" id="{D54640C2-6B44-EA59-41E8-CC5B1BDF9B54}"/>
              </a:ext>
            </a:extLst>
          </p:cNvPr>
          <p:cNvSpPr/>
          <p:nvPr/>
        </p:nvSpPr>
        <p:spPr>
          <a:xfrm>
            <a:off x="4850933" y="4280087"/>
            <a:ext cx="488800" cy="1015928"/>
          </a:xfrm>
          <a:prstGeom prst="rect">
            <a:avLst/>
          </a:prstGeom>
          <a:solidFill>
            <a:srgbClr val="FFE599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h</a:t>
            </a:r>
            <a:r>
              <a:rPr kumimoji="0" lang="en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3</a:t>
            </a:r>
            <a:endParaRPr kumimoji="0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Nunito"/>
              <a:cs typeface="Nunito"/>
              <a:sym typeface="Nunito"/>
            </a:endParaRPr>
          </a:p>
        </p:txBody>
      </p:sp>
      <p:cxnSp>
        <p:nvCxnSpPr>
          <p:cNvPr id="12" name="Google Shape;261;p23">
            <a:extLst>
              <a:ext uri="{FF2B5EF4-FFF2-40B4-BE49-F238E27FC236}">
                <a16:creationId xmlns:a16="http://schemas.microsoft.com/office/drawing/2014/main" id="{20CEA0A4-E3DF-D0BE-B40E-27906DB7F240}"/>
              </a:ext>
            </a:extLst>
          </p:cNvPr>
          <p:cNvCxnSpPr/>
          <p:nvPr/>
        </p:nvCxnSpPr>
        <p:spPr>
          <a:xfrm rot="10800000">
            <a:off x="5096133" y="5324013"/>
            <a:ext cx="0" cy="353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" name="Google Shape;262;p23">
            <a:extLst>
              <a:ext uri="{FF2B5EF4-FFF2-40B4-BE49-F238E27FC236}">
                <a16:creationId xmlns:a16="http://schemas.microsoft.com/office/drawing/2014/main" id="{1691FB65-3891-76E9-16A7-36BD006C0521}"/>
              </a:ext>
            </a:extLst>
          </p:cNvPr>
          <p:cNvSpPr txBox="1"/>
          <p:nvPr/>
        </p:nvSpPr>
        <p:spPr>
          <a:xfrm>
            <a:off x="4884200" y="5492384"/>
            <a:ext cx="4888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x</a:t>
            </a:r>
            <a:r>
              <a:rPr kumimoji="0" lang="en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3</a:t>
            </a:r>
            <a:endParaRPr kumimoji="0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Nunito"/>
              <a:cs typeface="Nunito"/>
              <a:sym typeface="Nunito"/>
            </a:endParaRPr>
          </a:p>
        </p:txBody>
      </p:sp>
      <p:cxnSp>
        <p:nvCxnSpPr>
          <p:cNvPr id="14" name="Google Shape;263;p23">
            <a:extLst>
              <a:ext uri="{FF2B5EF4-FFF2-40B4-BE49-F238E27FC236}">
                <a16:creationId xmlns:a16="http://schemas.microsoft.com/office/drawing/2014/main" id="{DEFD259F-4E18-B90A-2B1A-E14140EBE3FD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>
            <a:off x="3307733" y="4788051"/>
            <a:ext cx="5272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" name="Google Shape;264;p23">
            <a:extLst>
              <a:ext uri="{FF2B5EF4-FFF2-40B4-BE49-F238E27FC236}">
                <a16:creationId xmlns:a16="http://schemas.microsoft.com/office/drawing/2014/main" id="{D9A70D6C-A725-B0E7-AFDF-8DA03DA31BD5}"/>
              </a:ext>
            </a:extLst>
          </p:cNvPr>
          <p:cNvCxnSpPr/>
          <p:nvPr/>
        </p:nvCxnSpPr>
        <p:spPr>
          <a:xfrm>
            <a:off x="4325333" y="4814565"/>
            <a:ext cx="5256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" name="Google Shape;265;p23">
            <a:extLst>
              <a:ext uri="{FF2B5EF4-FFF2-40B4-BE49-F238E27FC236}">
                <a16:creationId xmlns:a16="http://schemas.microsoft.com/office/drawing/2014/main" id="{EB06AD7D-8973-583C-47C9-2A7E42F871AA}"/>
              </a:ext>
            </a:extLst>
          </p:cNvPr>
          <p:cNvCxnSpPr/>
          <p:nvPr/>
        </p:nvCxnSpPr>
        <p:spPr>
          <a:xfrm rot="10800000">
            <a:off x="3064133" y="3914720"/>
            <a:ext cx="0" cy="353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" name="Google Shape;266;p23">
            <a:extLst>
              <a:ext uri="{FF2B5EF4-FFF2-40B4-BE49-F238E27FC236}">
                <a16:creationId xmlns:a16="http://schemas.microsoft.com/office/drawing/2014/main" id="{EB93655A-1E45-DFA9-3584-DDA22CC2CE16}"/>
              </a:ext>
            </a:extLst>
          </p:cNvPr>
          <p:cNvSpPr/>
          <p:nvPr/>
        </p:nvSpPr>
        <p:spPr>
          <a:xfrm>
            <a:off x="2818932" y="3390974"/>
            <a:ext cx="522051" cy="517583"/>
          </a:xfrm>
          <a:prstGeom prst="rect">
            <a:avLst/>
          </a:prstGeom>
          <a:solidFill>
            <a:srgbClr val="F9CB9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k</a:t>
            </a:r>
            <a:r>
              <a:rPr kumimoji="0" lang="en" sz="18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1</a:t>
            </a:r>
            <a:endParaRPr kumimoji="0" sz="1800" b="0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Nunito"/>
              <a:cs typeface="Nunito"/>
              <a:sym typeface="Nunito"/>
            </a:endParaRPr>
          </a:p>
        </p:txBody>
      </p:sp>
      <p:cxnSp>
        <p:nvCxnSpPr>
          <p:cNvPr id="18" name="Google Shape;267;p23">
            <a:extLst>
              <a:ext uri="{FF2B5EF4-FFF2-40B4-BE49-F238E27FC236}">
                <a16:creationId xmlns:a16="http://schemas.microsoft.com/office/drawing/2014/main" id="{CCA39B40-3032-DC08-8483-3399A503AD5B}"/>
              </a:ext>
            </a:extLst>
          </p:cNvPr>
          <p:cNvCxnSpPr/>
          <p:nvPr/>
        </p:nvCxnSpPr>
        <p:spPr>
          <a:xfrm rot="10800000">
            <a:off x="4080133" y="3914720"/>
            <a:ext cx="0" cy="353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" name="Google Shape;268;p23">
            <a:extLst>
              <a:ext uri="{FF2B5EF4-FFF2-40B4-BE49-F238E27FC236}">
                <a16:creationId xmlns:a16="http://schemas.microsoft.com/office/drawing/2014/main" id="{E112941D-7878-BBFB-60FE-45EE5972C2C7}"/>
              </a:ext>
            </a:extLst>
          </p:cNvPr>
          <p:cNvSpPr/>
          <p:nvPr/>
        </p:nvSpPr>
        <p:spPr>
          <a:xfrm>
            <a:off x="3834932" y="3390974"/>
            <a:ext cx="522051" cy="517583"/>
          </a:xfrm>
          <a:prstGeom prst="rect">
            <a:avLst/>
          </a:prstGeom>
          <a:solidFill>
            <a:srgbClr val="F9CB9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k</a:t>
            </a:r>
            <a:r>
              <a:rPr kumimoji="0" lang="en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2</a:t>
            </a:r>
            <a:endParaRPr kumimoji="0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Nunito"/>
              <a:cs typeface="Nunito"/>
              <a:sym typeface="Nunito"/>
            </a:endParaRPr>
          </a:p>
        </p:txBody>
      </p:sp>
      <p:cxnSp>
        <p:nvCxnSpPr>
          <p:cNvPr id="20" name="Google Shape;269;p23">
            <a:extLst>
              <a:ext uri="{FF2B5EF4-FFF2-40B4-BE49-F238E27FC236}">
                <a16:creationId xmlns:a16="http://schemas.microsoft.com/office/drawing/2014/main" id="{36FE0742-89B8-6116-0F69-580DB27E7EA8}"/>
              </a:ext>
            </a:extLst>
          </p:cNvPr>
          <p:cNvCxnSpPr/>
          <p:nvPr/>
        </p:nvCxnSpPr>
        <p:spPr>
          <a:xfrm rot="10800000">
            <a:off x="5096133" y="3914720"/>
            <a:ext cx="0" cy="353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" name="Google Shape;270;p23">
            <a:extLst>
              <a:ext uri="{FF2B5EF4-FFF2-40B4-BE49-F238E27FC236}">
                <a16:creationId xmlns:a16="http://schemas.microsoft.com/office/drawing/2014/main" id="{95A9E9C9-6A99-C988-DAF2-58296677EF97}"/>
              </a:ext>
            </a:extLst>
          </p:cNvPr>
          <p:cNvSpPr/>
          <p:nvPr/>
        </p:nvSpPr>
        <p:spPr>
          <a:xfrm>
            <a:off x="4850932" y="3390974"/>
            <a:ext cx="522051" cy="517583"/>
          </a:xfrm>
          <a:prstGeom prst="rect">
            <a:avLst/>
          </a:prstGeom>
          <a:solidFill>
            <a:srgbClr val="F9CB9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k</a:t>
            </a:r>
            <a:r>
              <a:rPr kumimoji="0" lang="en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3</a:t>
            </a:r>
            <a:endParaRPr kumimoji="0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Nunito"/>
              <a:cs typeface="Nunito"/>
              <a:sym typeface="Nunito"/>
            </a:endParaRPr>
          </a:p>
        </p:txBody>
      </p:sp>
      <p:sp>
        <p:nvSpPr>
          <p:cNvPr id="56" name="Google Shape;305;p23">
            <a:extLst>
              <a:ext uri="{FF2B5EF4-FFF2-40B4-BE49-F238E27FC236}">
                <a16:creationId xmlns:a16="http://schemas.microsoft.com/office/drawing/2014/main" id="{0C1D14CF-434A-B947-39EC-B352729799BE}"/>
              </a:ext>
            </a:extLst>
          </p:cNvPr>
          <p:cNvSpPr txBox="1">
            <a:spLocks/>
          </p:cNvSpPr>
          <p:nvPr/>
        </p:nvSpPr>
        <p:spPr bwMode="auto">
          <a:xfrm>
            <a:off x="191777" y="2113658"/>
            <a:ext cx="2492432" cy="17012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vert="horz" wrap="square" lIns="121900" tIns="121900" rIns="121900" bIns="121900" numCol="1" anchor="ctr" anchorCtr="0" compatLnSpc="1">
            <a:prstTxWarp prst="textNoShape">
              <a:avLst/>
            </a:prstTxWarp>
            <a:no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ts val="1600"/>
              </a:spcAft>
              <a:buClrTx/>
              <a:buSzPts val="1018"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Key vectors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 represent what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information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 is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encoded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 at each encoder time step.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B05C40E-5EAF-C559-7D0F-4E57C93098F3}"/>
              </a:ext>
            </a:extLst>
          </p:cNvPr>
          <p:cNvSpPr txBox="1"/>
          <p:nvPr/>
        </p:nvSpPr>
        <p:spPr>
          <a:xfrm>
            <a:off x="2954100" y="5909183"/>
            <a:ext cx="2385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Input Sequence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3BCC74E-2B99-5A98-11A7-57824DFE94B9}"/>
              </a:ext>
            </a:extLst>
          </p:cNvPr>
          <p:cNvSpPr txBox="1"/>
          <p:nvPr/>
        </p:nvSpPr>
        <p:spPr>
          <a:xfrm>
            <a:off x="240936" y="4410815"/>
            <a:ext cx="2385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Encoding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237612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9CB17-CDA2-45DA-86A5-300A5DDBA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325" y="-468827"/>
            <a:ext cx="11307763" cy="1325562"/>
          </a:xfrm>
        </p:spPr>
        <p:txBody>
          <a:bodyPr/>
          <a:lstStyle/>
          <a:p>
            <a:r>
              <a:rPr lang="en-US" dirty="0"/>
              <a:t>Attention</a:t>
            </a:r>
            <a:endParaRPr lang="en-IN" dirty="0"/>
          </a:p>
        </p:txBody>
      </p:sp>
      <p:sp>
        <p:nvSpPr>
          <p:cNvPr id="5" name="Google Shape;254;p23">
            <a:extLst>
              <a:ext uri="{FF2B5EF4-FFF2-40B4-BE49-F238E27FC236}">
                <a16:creationId xmlns:a16="http://schemas.microsoft.com/office/drawing/2014/main" id="{1DE84891-CFE3-844F-5DF2-A4F7727FA81B}"/>
              </a:ext>
            </a:extLst>
          </p:cNvPr>
          <p:cNvSpPr/>
          <p:nvPr/>
        </p:nvSpPr>
        <p:spPr>
          <a:xfrm>
            <a:off x="2818933" y="4280087"/>
            <a:ext cx="488800" cy="1015928"/>
          </a:xfrm>
          <a:prstGeom prst="rect">
            <a:avLst/>
          </a:prstGeom>
          <a:solidFill>
            <a:srgbClr val="FFE599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h</a:t>
            </a:r>
            <a:r>
              <a:rPr kumimoji="0" lang="en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1</a:t>
            </a:r>
            <a:endParaRPr kumimoji="0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Nunito"/>
              <a:cs typeface="Nunito"/>
              <a:sym typeface="Nunito"/>
            </a:endParaRPr>
          </a:p>
        </p:txBody>
      </p:sp>
      <p:cxnSp>
        <p:nvCxnSpPr>
          <p:cNvPr id="6" name="Google Shape;255;p23">
            <a:extLst>
              <a:ext uri="{FF2B5EF4-FFF2-40B4-BE49-F238E27FC236}">
                <a16:creationId xmlns:a16="http://schemas.microsoft.com/office/drawing/2014/main" id="{A3F02AEB-6CB8-5260-2699-F312DB4297C5}"/>
              </a:ext>
            </a:extLst>
          </p:cNvPr>
          <p:cNvCxnSpPr/>
          <p:nvPr/>
        </p:nvCxnSpPr>
        <p:spPr>
          <a:xfrm rot="10800000">
            <a:off x="3064133" y="5324013"/>
            <a:ext cx="0" cy="353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" name="Google Shape;256;p23">
            <a:extLst>
              <a:ext uri="{FF2B5EF4-FFF2-40B4-BE49-F238E27FC236}">
                <a16:creationId xmlns:a16="http://schemas.microsoft.com/office/drawing/2014/main" id="{D9A7CAFD-976D-51C9-3C3B-AD7B5237B930}"/>
              </a:ext>
            </a:extLst>
          </p:cNvPr>
          <p:cNvSpPr txBox="1"/>
          <p:nvPr/>
        </p:nvSpPr>
        <p:spPr>
          <a:xfrm>
            <a:off x="2852200" y="5492384"/>
            <a:ext cx="4888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x</a:t>
            </a:r>
            <a:r>
              <a:rPr kumimoji="0" lang="en" sz="18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1</a:t>
            </a:r>
            <a:endParaRPr kumimoji="0" sz="1800" b="0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Nunito"/>
              <a:cs typeface="Nunito"/>
              <a:sym typeface="Nunito"/>
            </a:endParaRPr>
          </a:p>
        </p:txBody>
      </p:sp>
      <p:sp>
        <p:nvSpPr>
          <p:cNvPr id="8" name="Google Shape;257;p23">
            <a:extLst>
              <a:ext uri="{FF2B5EF4-FFF2-40B4-BE49-F238E27FC236}">
                <a16:creationId xmlns:a16="http://schemas.microsoft.com/office/drawing/2014/main" id="{9404FDBA-8BB7-C977-236E-EF42768F838F}"/>
              </a:ext>
            </a:extLst>
          </p:cNvPr>
          <p:cNvSpPr/>
          <p:nvPr/>
        </p:nvSpPr>
        <p:spPr>
          <a:xfrm>
            <a:off x="3834933" y="4280087"/>
            <a:ext cx="488800" cy="1015928"/>
          </a:xfrm>
          <a:prstGeom prst="rect">
            <a:avLst/>
          </a:prstGeom>
          <a:solidFill>
            <a:srgbClr val="FFE599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h</a:t>
            </a:r>
            <a:r>
              <a:rPr kumimoji="0" lang="en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2</a:t>
            </a:r>
            <a:endParaRPr kumimoji="0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Nunito"/>
              <a:cs typeface="Nunito"/>
              <a:sym typeface="Nunito"/>
            </a:endParaRPr>
          </a:p>
        </p:txBody>
      </p:sp>
      <p:cxnSp>
        <p:nvCxnSpPr>
          <p:cNvPr id="9" name="Google Shape;258;p23">
            <a:extLst>
              <a:ext uri="{FF2B5EF4-FFF2-40B4-BE49-F238E27FC236}">
                <a16:creationId xmlns:a16="http://schemas.microsoft.com/office/drawing/2014/main" id="{DFE0AEF8-035C-CDDC-7739-CF336C1BD991}"/>
              </a:ext>
            </a:extLst>
          </p:cNvPr>
          <p:cNvCxnSpPr/>
          <p:nvPr/>
        </p:nvCxnSpPr>
        <p:spPr>
          <a:xfrm rot="10800000">
            <a:off x="4080133" y="5324013"/>
            <a:ext cx="0" cy="353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" name="Google Shape;259;p23">
            <a:extLst>
              <a:ext uri="{FF2B5EF4-FFF2-40B4-BE49-F238E27FC236}">
                <a16:creationId xmlns:a16="http://schemas.microsoft.com/office/drawing/2014/main" id="{56BCD904-2049-888D-FADB-7882A6D7C855}"/>
              </a:ext>
            </a:extLst>
          </p:cNvPr>
          <p:cNvSpPr txBox="1"/>
          <p:nvPr/>
        </p:nvSpPr>
        <p:spPr>
          <a:xfrm>
            <a:off x="3868200" y="5492384"/>
            <a:ext cx="4888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x</a:t>
            </a:r>
            <a:r>
              <a:rPr kumimoji="0" lang="en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2</a:t>
            </a:r>
            <a:endParaRPr kumimoji="0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Nunito"/>
              <a:cs typeface="Nunito"/>
              <a:sym typeface="Nunito"/>
            </a:endParaRPr>
          </a:p>
        </p:txBody>
      </p:sp>
      <p:sp>
        <p:nvSpPr>
          <p:cNvPr id="11" name="Google Shape;260;p23">
            <a:extLst>
              <a:ext uri="{FF2B5EF4-FFF2-40B4-BE49-F238E27FC236}">
                <a16:creationId xmlns:a16="http://schemas.microsoft.com/office/drawing/2014/main" id="{D54640C2-6B44-EA59-41E8-CC5B1BDF9B54}"/>
              </a:ext>
            </a:extLst>
          </p:cNvPr>
          <p:cNvSpPr/>
          <p:nvPr/>
        </p:nvSpPr>
        <p:spPr>
          <a:xfrm>
            <a:off x="4850933" y="4280087"/>
            <a:ext cx="488800" cy="1015928"/>
          </a:xfrm>
          <a:prstGeom prst="rect">
            <a:avLst/>
          </a:prstGeom>
          <a:solidFill>
            <a:srgbClr val="FFE599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h</a:t>
            </a:r>
            <a:r>
              <a:rPr kumimoji="0" lang="en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3</a:t>
            </a:r>
            <a:endParaRPr kumimoji="0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Nunito"/>
              <a:cs typeface="Nunito"/>
              <a:sym typeface="Nunito"/>
            </a:endParaRPr>
          </a:p>
        </p:txBody>
      </p:sp>
      <p:cxnSp>
        <p:nvCxnSpPr>
          <p:cNvPr id="12" name="Google Shape;261;p23">
            <a:extLst>
              <a:ext uri="{FF2B5EF4-FFF2-40B4-BE49-F238E27FC236}">
                <a16:creationId xmlns:a16="http://schemas.microsoft.com/office/drawing/2014/main" id="{20CEA0A4-E3DF-D0BE-B40E-27906DB7F240}"/>
              </a:ext>
            </a:extLst>
          </p:cNvPr>
          <p:cNvCxnSpPr/>
          <p:nvPr/>
        </p:nvCxnSpPr>
        <p:spPr>
          <a:xfrm rot="10800000">
            <a:off x="5096133" y="5324013"/>
            <a:ext cx="0" cy="353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" name="Google Shape;262;p23">
            <a:extLst>
              <a:ext uri="{FF2B5EF4-FFF2-40B4-BE49-F238E27FC236}">
                <a16:creationId xmlns:a16="http://schemas.microsoft.com/office/drawing/2014/main" id="{1691FB65-3891-76E9-16A7-36BD006C0521}"/>
              </a:ext>
            </a:extLst>
          </p:cNvPr>
          <p:cNvSpPr txBox="1"/>
          <p:nvPr/>
        </p:nvSpPr>
        <p:spPr>
          <a:xfrm>
            <a:off x="4884200" y="5492384"/>
            <a:ext cx="4888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x</a:t>
            </a:r>
            <a:r>
              <a:rPr kumimoji="0" lang="en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3</a:t>
            </a:r>
            <a:endParaRPr kumimoji="0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Nunito"/>
              <a:cs typeface="Nunito"/>
              <a:sym typeface="Nunito"/>
            </a:endParaRPr>
          </a:p>
        </p:txBody>
      </p:sp>
      <p:cxnSp>
        <p:nvCxnSpPr>
          <p:cNvPr id="14" name="Google Shape;263;p23">
            <a:extLst>
              <a:ext uri="{FF2B5EF4-FFF2-40B4-BE49-F238E27FC236}">
                <a16:creationId xmlns:a16="http://schemas.microsoft.com/office/drawing/2014/main" id="{DEFD259F-4E18-B90A-2B1A-E14140EBE3FD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>
            <a:off x="3307733" y="4788051"/>
            <a:ext cx="5272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" name="Google Shape;264;p23">
            <a:extLst>
              <a:ext uri="{FF2B5EF4-FFF2-40B4-BE49-F238E27FC236}">
                <a16:creationId xmlns:a16="http://schemas.microsoft.com/office/drawing/2014/main" id="{D9A70D6C-A725-B0E7-AFDF-8DA03DA31BD5}"/>
              </a:ext>
            </a:extLst>
          </p:cNvPr>
          <p:cNvCxnSpPr/>
          <p:nvPr/>
        </p:nvCxnSpPr>
        <p:spPr>
          <a:xfrm>
            <a:off x="4325333" y="4814565"/>
            <a:ext cx="5256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" name="Google Shape;265;p23">
            <a:extLst>
              <a:ext uri="{FF2B5EF4-FFF2-40B4-BE49-F238E27FC236}">
                <a16:creationId xmlns:a16="http://schemas.microsoft.com/office/drawing/2014/main" id="{EB06AD7D-8973-583C-47C9-2A7E42F871AA}"/>
              </a:ext>
            </a:extLst>
          </p:cNvPr>
          <p:cNvCxnSpPr/>
          <p:nvPr/>
        </p:nvCxnSpPr>
        <p:spPr>
          <a:xfrm rot="10800000">
            <a:off x="3064133" y="3914720"/>
            <a:ext cx="0" cy="353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" name="Google Shape;266;p23">
            <a:extLst>
              <a:ext uri="{FF2B5EF4-FFF2-40B4-BE49-F238E27FC236}">
                <a16:creationId xmlns:a16="http://schemas.microsoft.com/office/drawing/2014/main" id="{EB93655A-1E45-DFA9-3584-DDA22CC2CE16}"/>
              </a:ext>
            </a:extLst>
          </p:cNvPr>
          <p:cNvSpPr/>
          <p:nvPr/>
        </p:nvSpPr>
        <p:spPr>
          <a:xfrm>
            <a:off x="2818932" y="3390974"/>
            <a:ext cx="522051" cy="517583"/>
          </a:xfrm>
          <a:prstGeom prst="rect">
            <a:avLst/>
          </a:prstGeom>
          <a:solidFill>
            <a:srgbClr val="F9CB9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k</a:t>
            </a:r>
            <a:r>
              <a:rPr kumimoji="0" lang="en" sz="18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1</a:t>
            </a:r>
            <a:endParaRPr kumimoji="0" sz="1800" b="0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Nunito"/>
              <a:cs typeface="Nunito"/>
              <a:sym typeface="Nunito"/>
            </a:endParaRPr>
          </a:p>
        </p:txBody>
      </p:sp>
      <p:cxnSp>
        <p:nvCxnSpPr>
          <p:cNvPr id="18" name="Google Shape;267;p23">
            <a:extLst>
              <a:ext uri="{FF2B5EF4-FFF2-40B4-BE49-F238E27FC236}">
                <a16:creationId xmlns:a16="http://schemas.microsoft.com/office/drawing/2014/main" id="{CCA39B40-3032-DC08-8483-3399A503AD5B}"/>
              </a:ext>
            </a:extLst>
          </p:cNvPr>
          <p:cNvCxnSpPr/>
          <p:nvPr/>
        </p:nvCxnSpPr>
        <p:spPr>
          <a:xfrm rot="10800000">
            <a:off x="4080133" y="3914720"/>
            <a:ext cx="0" cy="353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" name="Google Shape;268;p23">
            <a:extLst>
              <a:ext uri="{FF2B5EF4-FFF2-40B4-BE49-F238E27FC236}">
                <a16:creationId xmlns:a16="http://schemas.microsoft.com/office/drawing/2014/main" id="{E112941D-7878-BBFB-60FE-45EE5972C2C7}"/>
              </a:ext>
            </a:extLst>
          </p:cNvPr>
          <p:cNvSpPr/>
          <p:nvPr/>
        </p:nvSpPr>
        <p:spPr>
          <a:xfrm>
            <a:off x="3834932" y="3390974"/>
            <a:ext cx="522051" cy="517583"/>
          </a:xfrm>
          <a:prstGeom prst="rect">
            <a:avLst/>
          </a:prstGeom>
          <a:solidFill>
            <a:srgbClr val="F9CB9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k</a:t>
            </a:r>
            <a:r>
              <a:rPr kumimoji="0" lang="en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2</a:t>
            </a:r>
            <a:endParaRPr kumimoji="0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Nunito"/>
              <a:cs typeface="Nunito"/>
              <a:sym typeface="Nunito"/>
            </a:endParaRPr>
          </a:p>
        </p:txBody>
      </p:sp>
      <p:cxnSp>
        <p:nvCxnSpPr>
          <p:cNvPr id="20" name="Google Shape;269;p23">
            <a:extLst>
              <a:ext uri="{FF2B5EF4-FFF2-40B4-BE49-F238E27FC236}">
                <a16:creationId xmlns:a16="http://schemas.microsoft.com/office/drawing/2014/main" id="{36FE0742-89B8-6116-0F69-580DB27E7EA8}"/>
              </a:ext>
            </a:extLst>
          </p:cNvPr>
          <p:cNvCxnSpPr/>
          <p:nvPr/>
        </p:nvCxnSpPr>
        <p:spPr>
          <a:xfrm rot="10800000">
            <a:off x="5096133" y="3914720"/>
            <a:ext cx="0" cy="353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" name="Google Shape;270;p23">
            <a:extLst>
              <a:ext uri="{FF2B5EF4-FFF2-40B4-BE49-F238E27FC236}">
                <a16:creationId xmlns:a16="http://schemas.microsoft.com/office/drawing/2014/main" id="{95A9E9C9-6A99-C988-DAF2-58296677EF97}"/>
              </a:ext>
            </a:extLst>
          </p:cNvPr>
          <p:cNvSpPr/>
          <p:nvPr/>
        </p:nvSpPr>
        <p:spPr>
          <a:xfrm>
            <a:off x="4850932" y="3390974"/>
            <a:ext cx="522051" cy="517583"/>
          </a:xfrm>
          <a:prstGeom prst="rect">
            <a:avLst/>
          </a:prstGeom>
          <a:solidFill>
            <a:srgbClr val="F9CB9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k</a:t>
            </a:r>
            <a:r>
              <a:rPr kumimoji="0" lang="en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3</a:t>
            </a:r>
            <a:endParaRPr kumimoji="0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Nunito"/>
              <a:cs typeface="Nunito"/>
              <a:sym typeface="Nunito"/>
            </a:endParaRPr>
          </a:p>
        </p:txBody>
      </p:sp>
      <p:sp>
        <p:nvSpPr>
          <p:cNvPr id="22" name="Google Shape;271;p23">
            <a:extLst>
              <a:ext uri="{FF2B5EF4-FFF2-40B4-BE49-F238E27FC236}">
                <a16:creationId xmlns:a16="http://schemas.microsoft.com/office/drawing/2014/main" id="{05E45D65-A6D9-AC62-E63E-6C64A4A68AED}"/>
              </a:ext>
            </a:extLst>
          </p:cNvPr>
          <p:cNvSpPr/>
          <p:nvPr/>
        </p:nvSpPr>
        <p:spPr>
          <a:xfrm>
            <a:off x="5866933" y="4280087"/>
            <a:ext cx="488800" cy="1015928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s</a:t>
            </a:r>
            <a:r>
              <a:rPr kumimoji="0" lang="en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0</a:t>
            </a:r>
            <a:endParaRPr kumimoji="0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Nunito"/>
              <a:cs typeface="Nunito"/>
              <a:sym typeface="Nunito"/>
            </a:endParaRPr>
          </a:p>
        </p:txBody>
      </p:sp>
      <p:cxnSp>
        <p:nvCxnSpPr>
          <p:cNvPr id="23" name="Google Shape;272;p23">
            <a:extLst>
              <a:ext uri="{FF2B5EF4-FFF2-40B4-BE49-F238E27FC236}">
                <a16:creationId xmlns:a16="http://schemas.microsoft.com/office/drawing/2014/main" id="{AF5110EE-AEE5-2033-C318-A8E9D7447F55}"/>
              </a:ext>
            </a:extLst>
          </p:cNvPr>
          <p:cNvCxnSpPr/>
          <p:nvPr/>
        </p:nvCxnSpPr>
        <p:spPr>
          <a:xfrm rot="10800000">
            <a:off x="6112133" y="5324013"/>
            <a:ext cx="0" cy="353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" name="Google Shape;273;p23">
            <a:extLst>
              <a:ext uri="{FF2B5EF4-FFF2-40B4-BE49-F238E27FC236}">
                <a16:creationId xmlns:a16="http://schemas.microsoft.com/office/drawing/2014/main" id="{30BAC9E2-8DC2-57F7-8227-EF5EDA0C1EB4}"/>
              </a:ext>
            </a:extLst>
          </p:cNvPr>
          <p:cNvSpPr txBox="1"/>
          <p:nvPr/>
        </p:nvSpPr>
        <p:spPr>
          <a:xfrm>
            <a:off x="5900200" y="5492384"/>
            <a:ext cx="4888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y</a:t>
            </a:r>
            <a:r>
              <a:rPr kumimoji="0" lang="en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1</a:t>
            </a:r>
            <a:endParaRPr kumimoji="0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Nunito"/>
              <a:cs typeface="Nunito"/>
              <a:sym typeface="Nunito"/>
            </a:endParaRPr>
          </a:p>
        </p:txBody>
      </p:sp>
      <p:cxnSp>
        <p:nvCxnSpPr>
          <p:cNvPr id="25" name="Google Shape;274;p23">
            <a:extLst>
              <a:ext uri="{FF2B5EF4-FFF2-40B4-BE49-F238E27FC236}">
                <a16:creationId xmlns:a16="http://schemas.microsoft.com/office/drawing/2014/main" id="{3CF01874-D409-E0A0-F7C4-F2A80356723B}"/>
              </a:ext>
            </a:extLst>
          </p:cNvPr>
          <p:cNvCxnSpPr/>
          <p:nvPr/>
        </p:nvCxnSpPr>
        <p:spPr>
          <a:xfrm rot="10800000">
            <a:off x="6112133" y="3914720"/>
            <a:ext cx="0" cy="353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" name="Google Shape;275;p23">
            <a:extLst>
              <a:ext uri="{FF2B5EF4-FFF2-40B4-BE49-F238E27FC236}">
                <a16:creationId xmlns:a16="http://schemas.microsoft.com/office/drawing/2014/main" id="{CD1AE07B-12D9-E8A5-BBA1-0501D9B3AC21}"/>
              </a:ext>
            </a:extLst>
          </p:cNvPr>
          <p:cNvSpPr/>
          <p:nvPr/>
        </p:nvSpPr>
        <p:spPr>
          <a:xfrm>
            <a:off x="5866932" y="3390974"/>
            <a:ext cx="522051" cy="517583"/>
          </a:xfrm>
          <a:prstGeom prst="rect">
            <a:avLst/>
          </a:prstGeom>
          <a:solidFill>
            <a:srgbClr val="D5A6BD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q</a:t>
            </a:r>
            <a:r>
              <a:rPr kumimoji="0" lang="en" sz="18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1</a:t>
            </a:r>
            <a:endParaRPr kumimoji="0" sz="1800" b="0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Nunito"/>
              <a:cs typeface="Nunito"/>
              <a:sym typeface="Nunito"/>
            </a:endParaRPr>
          </a:p>
        </p:txBody>
      </p:sp>
      <p:cxnSp>
        <p:nvCxnSpPr>
          <p:cNvPr id="27" name="Google Shape;276;p23">
            <a:extLst>
              <a:ext uri="{FF2B5EF4-FFF2-40B4-BE49-F238E27FC236}">
                <a16:creationId xmlns:a16="http://schemas.microsoft.com/office/drawing/2014/main" id="{9778402A-1E87-A150-52F5-45B6E15AF265}"/>
              </a:ext>
            </a:extLst>
          </p:cNvPr>
          <p:cNvCxnSpPr/>
          <p:nvPr/>
        </p:nvCxnSpPr>
        <p:spPr>
          <a:xfrm>
            <a:off x="5341333" y="4834228"/>
            <a:ext cx="5256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6" name="Google Shape;305;p23">
            <a:extLst>
              <a:ext uri="{FF2B5EF4-FFF2-40B4-BE49-F238E27FC236}">
                <a16:creationId xmlns:a16="http://schemas.microsoft.com/office/drawing/2014/main" id="{0C1D14CF-434A-B947-39EC-B352729799BE}"/>
              </a:ext>
            </a:extLst>
          </p:cNvPr>
          <p:cNvSpPr txBox="1">
            <a:spLocks/>
          </p:cNvSpPr>
          <p:nvPr/>
        </p:nvSpPr>
        <p:spPr bwMode="auto">
          <a:xfrm>
            <a:off x="7405034" y="2762589"/>
            <a:ext cx="3990554" cy="114596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vert="horz" wrap="square" lIns="121900" tIns="121900" rIns="121900" bIns="121900" numCol="1" anchor="ctr" anchorCtr="0" compatLnSpc="1">
            <a:prstTxWarp prst="textNoShape">
              <a:avLst/>
            </a:prstTxWarp>
            <a:no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ts val="1600"/>
              </a:spcAft>
              <a:buClrTx/>
              <a:buSzPts val="1018"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Query vectors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 represent what information we are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looking for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 at each decoder time step.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B05C40E-5EAF-C559-7D0F-4E57C93098F3}"/>
              </a:ext>
            </a:extLst>
          </p:cNvPr>
          <p:cNvSpPr txBox="1"/>
          <p:nvPr/>
        </p:nvSpPr>
        <p:spPr>
          <a:xfrm>
            <a:off x="2954100" y="5909183"/>
            <a:ext cx="2385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Input Sequence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3BCC74E-2B99-5A98-11A7-57824DFE94B9}"/>
              </a:ext>
            </a:extLst>
          </p:cNvPr>
          <p:cNvSpPr txBox="1"/>
          <p:nvPr/>
        </p:nvSpPr>
        <p:spPr>
          <a:xfrm>
            <a:off x="6212218" y="4504122"/>
            <a:ext cx="2385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Decoding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990297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9CB17-CDA2-45DA-86A5-300A5DDBA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325" y="-468827"/>
            <a:ext cx="11307763" cy="1325562"/>
          </a:xfrm>
        </p:spPr>
        <p:txBody>
          <a:bodyPr/>
          <a:lstStyle/>
          <a:p>
            <a:r>
              <a:rPr lang="en-US" dirty="0"/>
              <a:t>Attention</a:t>
            </a:r>
            <a:endParaRPr lang="en-IN" dirty="0"/>
          </a:p>
        </p:txBody>
      </p:sp>
      <p:sp>
        <p:nvSpPr>
          <p:cNvPr id="4" name="Google Shape;251;p23">
            <a:extLst>
              <a:ext uri="{FF2B5EF4-FFF2-40B4-BE49-F238E27FC236}">
                <a16:creationId xmlns:a16="http://schemas.microsoft.com/office/drawing/2014/main" id="{743C9473-9559-A7EE-8A36-46773815D8B5}"/>
              </a:ext>
            </a:extLst>
          </p:cNvPr>
          <p:cNvSpPr txBox="1">
            <a:spLocks/>
          </p:cNvSpPr>
          <p:nvPr/>
        </p:nvSpPr>
        <p:spPr bwMode="auto">
          <a:xfrm>
            <a:off x="7405034" y="1456930"/>
            <a:ext cx="3990554" cy="8125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vert="horz" wrap="square" lIns="121900" tIns="121900" rIns="121900" bIns="121900" numCol="1" anchor="ctr" anchorCtr="0" compatLnSpc="1">
            <a:prstTxWarp prst="textNoShape">
              <a:avLst/>
            </a:prstTxWarp>
            <a:no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ts val="1600"/>
              </a:spcAft>
              <a:buClrTx/>
              <a:buSzPts val="1018"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Softmax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 converts the similarity scores into a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probability distribution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.</a:t>
            </a:r>
          </a:p>
        </p:txBody>
      </p:sp>
      <p:sp>
        <p:nvSpPr>
          <p:cNvPr id="5" name="Google Shape;254;p23">
            <a:extLst>
              <a:ext uri="{FF2B5EF4-FFF2-40B4-BE49-F238E27FC236}">
                <a16:creationId xmlns:a16="http://schemas.microsoft.com/office/drawing/2014/main" id="{1DE84891-CFE3-844F-5DF2-A4F7727FA81B}"/>
              </a:ext>
            </a:extLst>
          </p:cNvPr>
          <p:cNvSpPr/>
          <p:nvPr/>
        </p:nvSpPr>
        <p:spPr>
          <a:xfrm>
            <a:off x="2818933" y="4280087"/>
            <a:ext cx="488800" cy="1015928"/>
          </a:xfrm>
          <a:prstGeom prst="rect">
            <a:avLst/>
          </a:prstGeom>
          <a:solidFill>
            <a:srgbClr val="FFE599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h</a:t>
            </a:r>
            <a:r>
              <a:rPr kumimoji="0" lang="en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1</a:t>
            </a:r>
            <a:endParaRPr kumimoji="0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Nunito"/>
              <a:cs typeface="Nunito"/>
              <a:sym typeface="Nunito"/>
            </a:endParaRPr>
          </a:p>
        </p:txBody>
      </p:sp>
      <p:cxnSp>
        <p:nvCxnSpPr>
          <p:cNvPr id="6" name="Google Shape;255;p23">
            <a:extLst>
              <a:ext uri="{FF2B5EF4-FFF2-40B4-BE49-F238E27FC236}">
                <a16:creationId xmlns:a16="http://schemas.microsoft.com/office/drawing/2014/main" id="{A3F02AEB-6CB8-5260-2699-F312DB4297C5}"/>
              </a:ext>
            </a:extLst>
          </p:cNvPr>
          <p:cNvCxnSpPr/>
          <p:nvPr/>
        </p:nvCxnSpPr>
        <p:spPr>
          <a:xfrm rot="10800000">
            <a:off x="3064133" y="5324013"/>
            <a:ext cx="0" cy="353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" name="Google Shape;256;p23">
            <a:extLst>
              <a:ext uri="{FF2B5EF4-FFF2-40B4-BE49-F238E27FC236}">
                <a16:creationId xmlns:a16="http://schemas.microsoft.com/office/drawing/2014/main" id="{D9A7CAFD-976D-51C9-3C3B-AD7B5237B930}"/>
              </a:ext>
            </a:extLst>
          </p:cNvPr>
          <p:cNvSpPr txBox="1"/>
          <p:nvPr/>
        </p:nvSpPr>
        <p:spPr>
          <a:xfrm>
            <a:off x="2852200" y="5492384"/>
            <a:ext cx="4888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x</a:t>
            </a:r>
            <a:r>
              <a:rPr kumimoji="0" lang="en" sz="18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1</a:t>
            </a:r>
            <a:endParaRPr kumimoji="0" sz="1800" b="0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Nunito"/>
              <a:cs typeface="Nunito"/>
              <a:sym typeface="Nunito"/>
            </a:endParaRPr>
          </a:p>
        </p:txBody>
      </p:sp>
      <p:sp>
        <p:nvSpPr>
          <p:cNvPr id="8" name="Google Shape;257;p23">
            <a:extLst>
              <a:ext uri="{FF2B5EF4-FFF2-40B4-BE49-F238E27FC236}">
                <a16:creationId xmlns:a16="http://schemas.microsoft.com/office/drawing/2014/main" id="{9404FDBA-8BB7-C977-236E-EF42768F838F}"/>
              </a:ext>
            </a:extLst>
          </p:cNvPr>
          <p:cNvSpPr/>
          <p:nvPr/>
        </p:nvSpPr>
        <p:spPr>
          <a:xfrm>
            <a:off x="3834933" y="4280087"/>
            <a:ext cx="488800" cy="1015928"/>
          </a:xfrm>
          <a:prstGeom prst="rect">
            <a:avLst/>
          </a:prstGeom>
          <a:solidFill>
            <a:srgbClr val="FFE599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h</a:t>
            </a:r>
            <a:r>
              <a:rPr kumimoji="0" lang="en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2</a:t>
            </a:r>
            <a:endParaRPr kumimoji="0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Nunito"/>
              <a:cs typeface="Nunito"/>
              <a:sym typeface="Nunito"/>
            </a:endParaRPr>
          </a:p>
        </p:txBody>
      </p:sp>
      <p:cxnSp>
        <p:nvCxnSpPr>
          <p:cNvPr id="9" name="Google Shape;258;p23">
            <a:extLst>
              <a:ext uri="{FF2B5EF4-FFF2-40B4-BE49-F238E27FC236}">
                <a16:creationId xmlns:a16="http://schemas.microsoft.com/office/drawing/2014/main" id="{DFE0AEF8-035C-CDDC-7739-CF336C1BD991}"/>
              </a:ext>
            </a:extLst>
          </p:cNvPr>
          <p:cNvCxnSpPr/>
          <p:nvPr/>
        </p:nvCxnSpPr>
        <p:spPr>
          <a:xfrm rot="10800000">
            <a:off x="4080133" y="5324013"/>
            <a:ext cx="0" cy="353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" name="Google Shape;259;p23">
            <a:extLst>
              <a:ext uri="{FF2B5EF4-FFF2-40B4-BE49-F238E27FC236}">
                <a16:creationId xmlns:a16="http://schemas.microsoft.com/office/drawing/2014/main" id="{56BCD904-2049-888D-FADB-7882A6D7C855}"/>
              </a:ext>
            </a:extLst>
          </p:cNvPr>
          <p:cNvSpPr txBox="1"/>
          <p:nvPr/>
        </p:nvSpPr>
        <p:spPr>
          <a:xfrm>
            <a:off x="3868200" y="5492384"/>
            <a:ext cx="4888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x</a:t>
            </a:r>
            <a:r>
              <a:rPr kumimoji="0" lang="en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2</a:t>
            </a:r>
            <a:endParaRPr kumimoji="0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Nunito"/>
              <a:cs typeface="Nunito"/>
              <a:sym typeface="Nunito"/>
            </a:endParaRPr>
          </a:p>
        </p:txBody>
      </p:sp>
      <p:sp>
        <p:nvSpPr>
          <p:cNvPr id="11" name="Google Shape;260;p23">
            <a:extLst>
              <a:ext uri="{FF2B5EF4-FFF2-40B4-BE49-F238E27FC236}">
                <a16:creationId xmlns:a16="http://schemas.microsoft.com/office/drawing/2014/main" id="{D54640C2-6B44-EA59-41E8-CC5B1BDF9B54}"/>
              </a:ext>
            </a:extLst>
          </p:cNvPr>
          <p:cNvSpPr/>
          <p:nvPr/>
        </p:nvSpPr>
        <p:spPr>
          <a:xfrm>
            <a:off x="4850933" y="4280087"/>
            <a:ext cx="488800" cy="1015928"/>
          </a:xfrm>
          <a:prstGeom prst="rect">
            <a:avLst/>
          </a:prstGeom>
          <a:solidFill>
            <a:srgbClr val="FFE599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h</a:t>
            </a:r>
            <a:r>
              <a:rPr kumimoji="0" lang="en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3</a:t>
            </a:r>
            <a:endParaRPr kumimoji="0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Nunito"/>
              <a:cs typeface="Nunito"/>
              <a:sym typeface="Nunito"/>
            </a:endParaRPr>
          </a:p>
        </p:txBody>
      </p:sp>
      <p:cxnSp>
        <p:nvCxnSpPr>
          <p:cNvPr id="12" name="Google Shape;261;p23">
            <a:extLst>
              <a:ext uri="{FF2B5EF4-FFF2-40B4-BE49-F238E27FC236}">
                <a16:creationId xmlns:a16="http://schemas.microsoft.com/office/drawing/2014/main" id="{20CEA0A4-E3DF-D0BE-B40E-27906DB7F240}"/>
              </a:ext>
            </a:extLst>
          </p:cNvPr>
          <p:cNvCxnSpPr/>
          <p:nvPr/>
        </p:nvCxnSpPr>
        <p:spPr>
          <a:xfrm rot="10800000">
            <a:off x="5096133" y="5324013"/>
            <a:ext cx="0" cy="353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" name="Google Shape;262;p23">
            <a:extLst>
              <a:ext uri="{FF2B5EF4-FFF2-40B4-BE49-F238E27FC236}">
                <a16:creationId xmlns:a16="http://schemas.microsoft.com/office/drawing/2014/main" id="{1691FB65-3891-76E9-16A7-36BD006C0521}"/>
              </a:ext>
            </a:extLst>
          </p:cNvPr>
          <p:cNvSpPr txBox="1"/>
          <p:nvPr/>
        </p:nvSpPr>
        <p:spPr>
          <a:xfrm>
            <a:off x="4884200" y="5492384"/>
            <a:ext cx="4888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x</a:t>
            </a:r>
            <a:r>
              <a:rPr kumimoji="0" lang="en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3</a:t>
            </a:r>
            <a:endParaRPr kumimoji="0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Nunito"/>
              <a:cs typeface="Nunito"/>
              <a:sym typeface="Nunito"/>
            </a:endParaRPr>
          </a:p>
        </p:txBody>
      </p:sp>
      <p:cxnSp>
        <p:nvCxnSpPr>
          <p:cNvPr id="14" name="Google Shape;263;p23">
            <a:extLst>
              <a:ext uri="{FF2B5EF4-FFF2-40B4-BE49-F238E27FC236}">
                <a16:creationId xmlns:a16="http://schemas.microsoft.com/office/drawing/2014/main" id="{DEFD259F-4E18-B90A-2B1A-E14140EBE3FD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>
            <a:off x="3307733" y="4788051"/>
            <a:ext cx="5272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" name="Google Shape;264;p23">
            <a:extLst>
              <a:ext uri="{FF2B5EF4-FFF2-40B4-BE49-F238E27FC236}">
                <a16:creationId xmlns:a16="http://schemas.microsoft.com/office/drawing/2014/main" id="{D9A70D6C-A725-B0E7-AFDF-8DA03DA31BD5}"/>
              </a:ext>
            </a:extLst>
          </p:cNvPr>
          <p:cNvCxnSpPr/>
          <p:nvPr/>
        </p:nvCxnSpPr>
        <p:spPr>
          <a:xfrm>
            <a:off x="4325333" y="4814565"/>
            <a:ext cx="5256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" name="Google Shape;265;p23">
            <a:extLst>
              <a:ext uri="{FF2B5EF4-FFF2-40B4-BE49-F238E27FC236}">
                <a16:creationId xmlns:a16="http://schemas.microsoft.com/office/drawing/2014/main" id="{EB06AD7D-8973-583C-47C9-2A7E42F871AA}"/>
              </a:ext>
            </a:extLst>
          </p:cNvPr>
          <p:cNvCxnSpPr/>
          <p:nvPr/>
        </p:nvCxnSpPr>
        <p:spPr>
          <a:xfrm rot="10800000">
            <a:off x="3064133" y="3914720"/>
            <a:ext cx="0" cy="353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" name="Google Shape;266;p23">
            <a:extLst>
              <a:ext uri="{FF2B5EF4-FFF2-40B4-BE49-F238E27FC236}">
                <a16:creationId xmlns:a16="http://schemas.microsoft.com/office/drawing/2014/main" id="{EB93655A-1E45-DFA9-3584-DDA22CC2CE16}"/>
              </a:ext>
            </a:extLst>
          </p:cNvPr>
          <p:cNvSpPr/>
          <p:nvPr/>
        </p:nvSpPr>
        <p:spPr>
          <a:xfrm>
            <a:off x="2818932" y="3390974"/>
            <a:ext cx="522051" cy="517583"/>
          </a:xfrm>
          <a:prstGeom prst="rect">
            <a:avLst/>
          </a:prstGeom>
          <a:solidFill>
            <a:srgbClr val="F9CB9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k</a:t>
            </a:r>
            <a:r>
              <a:rPr kumimoji="0" lang="en" sz="18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1</a:t>
            </a:r>
            <a:endParaRPr kumimoji="0" sz="1800" b="0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Nunito"/>
              <a:cs typeface="Nunito"/>
              <a:sym typeface="Nunito"/>
            </a:endParaRPr>
          </a:p>
        </p:txBody>
      </p:sp>
      <p:cxnSp>
        <p:nvCxnSpPr>
          <p:cNvPr id="18" name="Google Shape;267;p23">
            <a:extLst>
              <a:ext uri="{FF2B5EF4-FFF2-40B4-BE49-F238E27FC236}">
                <a16:creationId xmlns:a16="http://schemas.microsoft.com/office/drawing/2014/main" id="{CCA39B40-3032-DC08-8483-3399A503AD5B}"/>
              </a:ext>
            </a:extLst>
          </p:cNvPr>
          <p:cNvCxnSpPr/>
          <p:nvPr/>
        </p:nvCxnSpPr>
        <p:spPr>
          <a:xfrm rot="10800000">
            <a:off x="4080133" y="3914720"/>
            <a:ext cx="0" cy="353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" name="Google Shape;268;p23">
            <a:extLst>
              <a:ext uri="{FF2B5EF4-FFF2-40B4-BE49-F238E27FC236}">
                <a16:creationId xmlns:a16="http://schemas.microsoft.com/office/drawing/2014/main" id="{E112941D-7878-BBFB-60FE-45EE5972C2C7}"/>
              </a:ext>
            </a:extLst>
          </p:cNvPr>
          <p:cNvSpPr/>
          <p:nvPr/>
        </p:nvSpPr>
        <p:spPr>
          <a:xfrm>
            <a:off x="3834932" y="3390974"/>
            <a:ext cx="522051" cy="517583"/>
          </a:xfrm>
          <a:prstGeom prst="rect">
            <a:avLst/>
          </a:prstGeom>
          <a:solidFill>
            <a:srgbClr val="F9CB9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k</a:t>
            </a:r>
            <a:r>
              <a:rPr kumimoji="0" lang="en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2</a:t>
            </a:r>
            <a:endParaRPr kumimoji="0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Nunito"/>
              <a:cs typeface="Nunito"/>
              <a:sym typeface="Nunito"/>
            </a:endParaRPr>
          </a:p>
        </p:txBody>
      </p:sp>
      <p:cxnSp>
        <p:nvCxnSpPr>
          <p:cNvPr id="20" name="Google Shape;269;p23">
            <a:extLst>
              <a:ext uri="{FF2B5EF4-FFF2-40B4-BE49-F238E27FC236}">
                <a16:creationId xmlns:a16="http://schemas.microsoft.com/office/drawing/2014/main" id="{36FE0742-89B8-6116-0F69-580DB27E7EA8}"/>
              </a:ext>
            </a:extLst>
          </p:cNvPr>
          <p:cNvCxnSpPr/>
          <p:nvPr/>
        </p:nvCxnSpPr>
        <p:spPr>
          <a:xfrm rot="10800000">
            <a:off x="5096133" y="3914720"/>
            <a:ext cx="0" cy="353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" name="Google Shape;270;p23">
            <a:extLst>
              <a:ext uri="{FF2B5EF4-FFF2-40B4-BE49-F238E27FC236}">
                <a16:creationId xmlns:a16="http://schemas.microsoft.com/office/drawing/2014/main" id="{95A9E9C9-6A99-C988-DAF2-58296677EF97}"/>
              </a:ext>
            </a:extLst>
          </p:cNvPr>
          <p:cNvSpPr/>
          <p:nvPr/>
        </p:nvSpPr>
        <p:spPr>
          <a:xfrm>
            <a:off x="4850932" y="3390974"/>
            <a:ext cx="522051" cy="517583"/>
          </a:xfrm>
          <a:prstGeom prst="rect">
            <a:avLst/>
          </a:prstGeom>
          <a:solidFill>
            <a:srgbClr val="F9CB9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k</a:t>
            </a:r>
            <a:r>
              <a:rPr kumimoji="0" lang="en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3</a:t>
            </a:r>
            <a:endParaRPr kumimoji="0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Nunito"/>
              <a:cs typeface="Nunito"/>
              <a:sym typeface="Nunito"/>
            </a:endParaRPr>
          </a:p>
        </p:txBody>
      </p:sp>
      <p:sp>
        <p:nvSpPr>
          <p:cNvPr id="22" name="Google Shape;271;p23">
            <a:extLst>
              <a:ext uri="{FF2B5EF4-FFF2-40B4-BE49-F238E27FC236}">
                <a16:creationId xmlns:a16="http://schemas.microsoft.com/office/drawing/2014/main" id="{05E45D65-A6D9-AC62-E63E-6C64A4A68AED}"/>
              </a:ext>
            </a:extLst>
          </p:cNvPr>
          <p:cNvSpPr/>
          <p:nvPr/>
        </p:nvSpPr>
        <p:spPr>
          <a:xfrm>
            <a:off x="5866933" y="4280087"/>
            <a:ext cx="488800" cy="1015928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s</a:t>
            </a:r>
            <a:r>
              <a:rPr kumimoji="0" lang="en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0</a:t>
            </a:r>
            <a:endParaRPr kumimoji="0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Nunito"/>
              <a:cs typeface="Nunito"/>
              <a:sym typeface="Nunito"/>
            </a:endParaRPr>
          </a:p>
        </p:txBody>
      </p:sp>
      <p:cxnSp>
        <p:nvCxnSpPr>
          <p:cNvPr id="23" name="Google Shape;272;p23">
            <a:extLst>
              <a:ext uri="{FF2B5EF4-FFF2-40B4-BE49-F238E27FC236}">
                <a16:creationId xmlns:a16="http://schemas.microsoft.com/office/drawing/2014/main" id="{AF5110EE-AEE5-2033-C318-A8E9D7447F55}"/>
              </a:ext>
            </a:extLst>
          </p:cNvPr>
          <p:cNvCxnSpPr/>
          <p:nvPr/>
        </p:nvCxnSpPr>
        <p:spPr>
          <a:xfrm rot="10800000">
            <a:off x="6112133" y="5324013"/>
            <a:ext cx="0" cy="353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" name="Google Shape;273;p23">
            <a:extLst>
              <a:ext uri="{FF2B5EF4-FFF2-40B4-BE49-F238E27FC236}">
                <a16:creationId xmlns:a16="http://schemas.microsoft.com/office/drawing/2014/main" id="{30BAC9E2-8DC2-57F7-8227-EF5EDA0C1EB4}"/>
              </a:ext>
            </a:extLst>
          </p:cNvPr>
          <p:cNvSpPr txBox="1"/>
          <p:nvPr/>
        </p:nvSpPr>
        <p:spPr>
          <a:xfrm>
            <a:off x="5900200" y="5492384"/>
            <a:ext cx="4888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y</a:t>
            </a:r>
            <a:r>
              <a:rPr kumimoji="0" lang="en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1</a:t>
            </a:r>
            <a:endParaRPr kumimoji="0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Nunito"/>
              <a:cs typeface="Nunito"/>
              <a:sym typeface="Nunito"/>
            </a:endParaRPr>
          </a:p>
        </p:txBody>
      </p:sp>
      <p:cxnSp>
        <p:nvCxnSpPr>
          <p:cNvPr id="25" name="Google Shape;274;p23">
            <a:extLst>
              <a:ext uri="{FF2B5EF4-FFF2-40B4-BE49-F238E27FC236}">
                <a16:creationId xmlns:a16="http://schemas.microsoft.com/office/drawing/2014/main" id="{3CF01874-D409-E0A0-F7C4-F2A80356723B}"/>
              </a:ext>
            </a:extLst>
          </p:cNvPr>
          <p:cNvCxnSpPr/>
          <p:nvPr/>
        </p:nvCxnSpPr>
        <p:spPr>
          <a:xfrm rot="10800000">
            <a:off x="6112133" y="3914720"/>
            <a:ext cx="0" cy="353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" name="Google Shape;275;p23">
            <a:extLst>
              <a:ext uri="{FF2B5EF4-FFF2-40B4-BE49-F238E27FC236}">
                <a16:creationId xmlns:a16="http://schemas.microsoft.com/office/drawing/2014/main" id="{CD1AE07B-12D9-E8A5-BBA1-0501D9B3AC21}"/>
              </a:ext>
            </a:extLst>
          </p:cNvPr>
          <p:cNvSpPr/>
          <p:nvPr/>
        </p:nvSpPr>
        <p:spPr>
          <a:xfrm>
            <a:off x="5866932" y="3390974"/>
            <a:ext cx="522051" cy="517583"/>
          </a:xfrm>
          <a:prstGeom prst="rect">
            <a:avLst/>
          </a:prstGeom>
          <a:solidFill>
            <a:srgbClr val="D5A6BD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q</a:t>
            </a:r>
            <a:r>
              <a:rPr kumimoji="0" lang="en" sz="18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1</a:t>
            </a:r>
            <a:endParaRPr kumimoji="0" sz="1800" b="0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Nunito"/>
              <a:cs typeface="Nunito"/>
              <a:sym typeface="Nunito"/>
            </a:endParaRPr>
          </a:p>
        </p:txBody>
      </p:sp>
      <p:cxnSp>
        <p:nvCxnSpPr>
          <p:cNvPr id="27" name="Google Shape;276;p23">
            <a:extLst>
              <a:ext uri="{FF2B5EF4-FFF2-40B4-BE49-F238E27FC236}">
                <a16:creationId xmlns:a16="http://schemas.microsoft.com/office/drawing/2014/main" id="{9778402A-1E87-A150-52F5-45B6E15AF265}"/>
              </a:ext>
            </a:extLst>
          </p:cNvPr>
          <p:cNvCxnSpPr/>
          <p:nvPr/>
        </p:nvCxnSpPr>
        <p:spPr>
          <a:xfrm>
            <a:off x="5341333" y="4834228"/>
            <a:ext cx="5256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" name="Google Shape;277;p23">
            <a:extLst>
              <a:ext uri="{FF2B5EF4-FFF2-40B4-BE49-F238E27FC236}">
                <a16:creationId xmlns:a16="http://schemas.microsoft.com/office/drawing/2014/main" id="{DCE8349E-DE81-EABE-7CA7-92B6A6FF0748}"/>
              </a:ext>
            </a:extLst>
          </p:cNvPr>
          <p:cNvCxnSpPr/>
          <p:nvPr/>
        </p:nvCxnSpPr>
        <p:spPr>
          <a:xfrm rot="10800000">
            <a:off x="3063333" y="2885774"/>
            <a:ext cx="0" cy="505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9" name="Google Shape;278;p23">
            <a:extLst>
              <a:ext uri="{FF2B5EF4-FFF2-40B4-BE49-F238E27FC236}">
                <a16:creationId xmlns:a16="http://schemas.microsoft.com/office/drawing/2014/main" id="{4A37AB23-307B-C115-8129-D53354C4149B}"/>
              </a:ext>
            </a:extLst>
          </p:cNvPr>
          <p:cNvSpPr/>
          <p:nvPr/>
        </p:nvSpPr>
        <p:spPr>
          <a:xfrm>
            <a:off x="2885333" y="2494658"/>
            <a:ext cx="357600" cy="367600"/>
          </a:xfrm>
          <a:prstGeom prst="donut">
            <a:avLst>
              <a:gd name="adj" fmla="val 44068"/>
            </a:avLst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0" name="Google Shape;279;p23">
            <a:extLst>
              <a:ext uri="{FF2B5EF4-FFF2-40B4-BE49-F238E27FC236}">
                <a16:creationId xmlns:a16="http://schemas.microsoft.com/office/drawing/2014/main" id="{FC6EFF43-DDFD-396D-B98E-F134D33F4393}"/>
              </a:ext>
            </a:extLst>
          </p:cNvPr>
          <p:cNvSpPr/>
          <p:nvPr/>
        </p:nvSpPr>
        <p:spPr>
          <a:xfrm>
            <a:off x="3901333" y="2494658"/>
            <a:ext cx="357600" cy="367600"/>
          </a:xfrm>
          <a:prstGeom prst="donut">
            <a:avLst>
              <a:gd name="adj" fmla="val 44068"/>
            </a:avLst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1" name="Google Shape;280;p23">
            <a:extLst>
              <a:ext uri="{FF2B5EF4-FFF2-40B4-BE49-F238E27FC236}">
                <a16:creationId xmlns:a16="http://schemas.microsoft.com/office/drawing/2014/main" id="{7D1E9477-173E-8EE1-630A-A1B65DFA14A9}"/>
              </a:ext>
            </a:extLst>
          </p:cNvPr>
          <p:cNvSpPr/>
          <p:nvPr/>
        </p:nvSpPr>
        <p:spPr>
          <a:xfrm>
            <a:off x="4917333" y="2494658"/>
            <a:ext cx="357600" cy="367600"/>
          </a:xfrm>
          <a:prstGeom prst="donut">
            <a:avLst>
              <a:gd name="adj" fmla="val 44068"/>
            </a:avLst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cxnSp>
        <p:nvCxnSpPr>
          <p:cNvPr id="32" name="Google Shape;281;p23">
            <a:extLst>
              <a:ext uri="{FF2B5EF4-FFF2-40B4-BE49-F238E27FC236}">
                <a16:creationId xmlns:a16="http://schemas.microsoft.com/office/drawing/2014/main" id="{3108ED09-7C0D-B41A-ABAE-D57D047B6F34}"/>
              </a:ext>
            </a:extLst>
          </p:cNvPr>
          <p:cNvCxnSpPr>
            <a:endCxn id="29" idx="5"/>
          </p:cNvCxnSpPr>
          <p:nvPr/>
        </p:nvCxnSpPr>
        <p:spPr>
          <a:xfrm rot="10800000">
            <a:off x="3190564" y="2808424"/>
            <a:ext cx="2920800" cy="582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" name="Google Shape;282;p23">
            <a:extLst>
              <a:ext uri="{FF2B5EF4-FFF2-40B4-BE49-F238E27FC236}">
                <a16:creationId xmlns:a16="http://schemas.microsoft.com/office/drawing/2014/main" id="{C281962B-B36D-7DF7-6506-A4B2FEF9336D}"/>
              </a:ext>
            </a:extLst>
          </p:cNvPr>
          <p:cNvCxnSpPr>
            <a:endCxn id="30" idx="5"/>
          </p:cNvCxnSpPr>
          <p:nvPr/>
        </p:nvCxnSpPr>
        <p:spPr>
          <a:xfrm rot="10800000">
            <a:off x="4206564" y="2808424"/>
            <a:ext cx="1904800" cy="582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" name="Google Shape;283;p23">
            <a:extLst>
              <a:ext uri="{FF2B5EF4-FFF2-40B4-BE49-F238E27FC236}">
                <a16:creationId xmlns:a16="http://schemas.microsoft.com/office/drawing/2014/main" id="{E7A670A5-DE03-4BDE-D9F5-18BF22A21F75}"/>
              </a:ext>
            </a:extLst>
          </p:cNvPr>
          <p:cNvCxnSpPr>
            <a:endCxn id="31" idx="5"/>
          </p:cNvCxnSpPr>
          <p:nvPr/>
        </p:nvCxnSpPr>
        <p:spPr>
          <a:xfrm rot="10800000">
            <a:off x="5222564" y="2808424"/>
            <a:ext cx="888800" cy="582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" name="Google Shape;284;p23">
            <a:extLst>
              <a:ext uri="{FF2B5EF4-FFF2-40B4-BE49-F238E27FC236}">
                <a16:creationId xmlns:a16="http://schemas.microsoft.com/office/drawing/2014/main" id="{E233CB42-4817-EDF9-06EB-C66E60907B36}"/>
              </a:ext>
            </a:extLst>
          </p:cNvPr>
          <p:cNvCxnSpPr/>
          <p:nvPr/>
        </p:nvCxnSpPr>
        <p:spPr>
          <a:xfrm rot="10800000">
            <a:off x="4079333" y="2885774"/>
            <a:ext cx="0" cy="505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" name="Google Shape;285;p23">
            <a:extLst>
              <a:ext uri="{FF2B5EF4-FFF2-40B4-BE49-F238E27FC236}">
                <a16:creationId xmlns:a16="http://schemas.microsoft.com/office/drawing/2014/main" id="{DCC408EF-D758-C593-75C6-D0479ADBDCC9}"/>
              </a:ext>
            </a:extLst>
          </p:cNvPr>
          <p:cNvCxnSpPr/>
          <p:nvPr/>
        </p:nvCxnSpPr>
        <p:spPr>
          <a:xfrm rot="10800000">
            <a:off x="5095333" y="2885774"/>
            <a:ext cx="0" cy="505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" name="Google Shape;286;p23">
            <a:extLst>
              <a:ext uri="{FF2B5EF4-FFF2-40B4-BE49-F238E27FC236}">
                <a16:creationId xmlns:a16="http://schemas.microsoft.com/office/drawing/2014/main" id="{7ECAA2BF-B290-E0E4-0187-DB8ABC9D5B0C}"/>
              </a:ext>
            </a:extLst>
          </p:cNvPr>
          <p:cNvCxnSpPr/>
          <p:nvPr/>
        </p:nvCxnSpPr>
        <p:spPr>
          <a:xfrm rot="10800000">
            <a:off x="3064133" y="2121968"/>
            <a:ext cx="0" cy="353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" name="Google Shape;287;p23">
            <a:extLst>
              <a:ext uri="{FF2B5EF4-FFF2-40B4-BE49-F238E27FC236}">
                <a16:creationId xmlns:a16="http://schemas.microsoft.com/office/drawing/2014/main" id="{E3EFD28B-EB66-86D9-EF0E-1614B7023AF9}"/>
              </a:ext>
            </a:extLst>
          </p:cNvPr>
          <p:cNvCxnSpPr/>
          <p:nvPr/>
        </p:nvCxnSpPr>
        <p:spPr>
          <a:xfrm rot="10800000">
            <a:off x="4080133" y="2121968"/>
            <a:ext cx="0" cy="353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" name="Google Shape;288;p23">
            <a:extLst>
              <a:ext uri="{FF2B5EF4-FFF2-40B4-BE49-F238E27FC236}">
                <a16:creationId xmlns:a16="http://schemas.microsoft.com/office/drawing/2014/main" id="{49AC15DA-9227-574D-C227-A76530C6695F}"/>
              </a:ext>
            </a:extLst>
          </p:cNvPr>
          <p:cNvCxnSpPr/>
          <p:nvPr/>
        </p:nvCxnSpPr>
        <p:spPr>
          <a:xfrm rot="10800000">
            <a:off x="5096133" y="2121968"/>
            <a:ext cx="0" cy="353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" name="Google Shape;289;p23">
            <a:extLst>
              <a:ext uri="{FF2B5EF4-FFF2-40B4-BE49-F238E27FC236}">
                <a16:creationId xmlns:a16="http://schemas.microsoft.com/office/drawing/2014/main" id="{87720993-51B2-0CF6-D7C9-D2040802CCA8}"/>
              </a:ext>
            </a:extLst>
          </p:cNvPr>
          <p:cNvCxnSpPr/>
          <p:nvPr/>
        </p:nvCxnSpPr>
        <p:spPr>
          <a:xfrm rot="10800000">
            <a:off x="3064133" y="1528754"/>
            <a:ext cx="0" cy="353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" name="Google Shape;290;p23">
            <a:extLst>
              <a:ext uri="{FF2B5EF4-FFF2-40B4-BE49-F238E27FC236}">
                <a16:creationId xmlns:a16="http://schemas.microsoft.com/office/drawing/2014/main" id="{0EA192F1-60B3-80CA-70E3-A991D2216E60}"/>
              </a:ext>
            </a:extLst>
          </p:cNvPr>
          <p:cNvCxnSpPr/>
          <p:nvPr/>
        </p:nvCxnSpPr>
        <p:spPr>
          <a:xfrm rot="10800000">
            <a:off x="4080133" y="1528754"/>
            <a:ext cx="0" cy="353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" name="Google Shape;291;p23">
            <a:extLst>
              <a:ext uri="{FF2B5EF4-FFF2-40B4-BE49-F238E27FC236}">
                <a16:creationId xmlns:a16="http://schemas.microsoft.com/office/drawing/2014/main" id="{0849B3EB-9424-9EE5-FA89-96B727892FA2}"/>
              </a:ext>
            </a:extLst>
          </p:cNvPr>
          <p:cNvCxnSpPr/>
          <p:nvPr/>
        </p:nvCxnSpPr>
        <p:spPr>
          <a:xfrm rot="10800000">
            <a:off x="5096133" y="1528754"/>
            <a:ext cx="0" cy="353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3" name="Google Shape;292;p23">
            <a:extLst>
              <a:ext uri="{FF2B5EF4-FFF2-40B4-BE49-F238E27FC236}">
                <a16:creationId xmlns:a16="http://schemas.microsoft.com/office/drawing/2014/main" id="{AB73D4D9-CBE5-D550-8E0A-47D2FABC0764}"/>
              </a:ext>
            </a:extLst>
          </p:cNvPr>
          <p:cNvSpPr txBox="1"/>
          <p:nvPr/>
        </p:nvSpPr>
        <p:spPr>
          <a:xfrm>
            <a:off x="2852200" y="1746288"/>
            <a:ext cx="4888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e</a:t>
            </a:r>
            <a:r>
              <a:rPr kumimoji="0" lang="en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1</a:t>
            </a:r>
            <a:endParaRPr kumimoji="0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Nunito"/>
              <a:cs typeface="Nunito"/>
              <a:sym typeface="Nunito"/>
            </a:endParaRPr>
          </a:p>
        </p:txBody>
      </p:sp>
      <p:sp>
        <p:nvSpPr>
          <p:cNvPr id="44" name="Google Shape;293;p23">
            <a:extLst>
              <a:ext uri="{FF2B5EF4-FFF2-40B4-BE49-F238E27FC236}">
                <a16:creationId xmlns:a16="http://schemas.microsoft.com/office/drawing/2014/main" id="{FF330D4F-90ED-0971-61F3-AADA96B1D4A0}"/>
              </a:ext>
            </a:extLst>
          </p:cNvPr>
          <p:cNvSpPr txBox="1"/>
          <p:nvPr/>
        </p:nvSpPr>
        <p:spPr>
          <a:xfrm>
            <a:off x="3868200" y="1746288"/>
            <a:ext cx="4888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e</a:t>
            </a:r>
            <a:r>
              <a:rPr kumimoji="0" lang="en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2</a:t>
            </a:r>
            <a:endParaRPr kumimoji="0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Nunito"/>
              <a:cs typeface="Nunito"/>
              <a:sym typeface="Nunito"/>
            </a:endParaRPr>
          </a:p>
        </p:txBody>
      </p:sp>
      <p:sp>
        <p:nvSpPr>
          <p:cNvPr id="45" name="Google Shape;294;p23">
            <a:extLst>
              <a:ext uri="{FF2B5EF4-FFF2-40B4-BE49-F238E27FC236}">
                <a16:creationId xmlns:a16="http://schemas.microsoft.com/office/drawing/2014/main" id="{E38B4A3F-655B-1BCE-7FFD-89B36156A893}"/>
              </a:ext>
            </a:extLst>
          </p:cNvPr>
          <p:cNvSpPr txBox="1"/>
          <p:nvPr/>
        </p:nvSpPr>
        <p:spPr>
          <a:xfrm>
            <a:off x="4884200" y="1746288"/>
            <a:ext cx="4888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e</a:t>
            </a:r>
            <a:r>
              <a:rPr kumimoji="0" lang="en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3</a:t>
            </a:r>
            <a:endParaRPr kumimoji="0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Nunito"/>
              <a:cs typeface="Nunito"/>
              <a:sym typeface="Nunito"/>
            </a:endParaRPr>
          </a:p>
        </p:txBody>
      </p:sp>
      <p:sp>
        <p:nvSpPr>
          <p:cNvPr id="46" name="Google Shape;295;p23">
            <a:extLst>
              <a:ext uri="{FF2B5EF4-FFF2-40B4-BE49-F238E27FC236}">
                <a16:creationId xmlns:a16="http://schemas.microsoft.com/office/drawing/2014/main" id="{66455E88-6F52-7B5B-DF23-69B83ED3A2BA}"/>
              </a:ext>
            </a:extLst>
          </p:cNvPr>
          <p:cNvSpPr/>
          <p:nvPr/>
        </p:nvSpPr>
        <p:spPr>
          <a:xfrm>
            <a:off x="2954100" y="1192585"/>
            <a:ext cx="2268400" cy="2948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softmax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Nunito"/>
              <a:cs typeface="Nunito"/>
              <a:sym typeface="Nunito"/>
            </a:endParaRPr>
          </a:p>
        </p:txBody>
      </p:sp>
      <p:sp>
        <p:nvSpPr>
          <p:cNvPr id="47" name="Google Shape;296;p23">
            <a:extLst>
              <a:ext uri="{FF2B5EF4-FFF2-40B4-BE49-F238E27FC236}">
                <a16:creationId xmlns:a16="http://schemas.microsoft.com/office/drawing/2014/main" id="{112C78CE-AD68-FC69-5D6F-76F787B4E415}"/>
              </a:ext>
            </a:extLst>
          </p:cNvPr>
          <p:cNvSpPr txBox="1"/>
          <p:nvPr/>
        </p:nvSpPr>
        <p:spPr>
          <a:xfrm>
            <a:off x="2852200" y="658185"/>
            <a:ext cx="646400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highlight>
                  <a:srgbClr val="FFFFFF"/>
                </a:highlight>
                <a:uLnTx/>
                <a:uFillTx/>
                <a:latin typeface="Nunito"/>
                <a:ea typeface="Nunito"/>
                <a:cs typeface="Nunito"/>
                <a:sym typeface="Nunito"/>
              </a:rPr>
              <a:t>α</a:t>
            </a:r>
            <a:r>
              <a:rPr kumimoji="0" lang="en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rPr>
              <a:t>1</a:t>
            </a:r>
            <a:endParaRPr kumimoji="0" sz="2000" b="0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8" name="Google Shape;297;p23">
            <a:extLst>
              <a:ext uri="{FF2B5EF4-FFF2-40B4-BE49-F238E27FC236}">
                <a16:creationId xmlns:a16="http://schemas.microsoft.com/office/drawing/2014/main" id="{1BDE1B92-2E57-B65C-DFF2-5665A40A2AFB}"/>
              </a:ext>
            </a:extLst>
          </p:cNvPr>
          <p:cNvSpPr txBox="1"/>
          <p:nvPr/>
        </p:nvSpPr>
        <p:spPr>
          <a:xfrm>
            <a:off x="3868200" y="658185"/>
            <a:ext cx="618400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highlight>
                  <a:srgbClr val="FFFFFF"/>
                </a:highlight>
                <a:uLnTx/>
                <a:uFillTx/>
                <a:latin typeface="Nunito"/>
                <a:ea typeface="Nunito"/>
                <a:cs typeface="Nunito"/>
                <a:sym typeface="Nunito"/>
              </a:rPr>
              <a:t>α</a:t>
            </a:r>
            <a:r>
              <a:rPr kumimoji="0" lang="en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rPr>
              <a:t>2</a:t>
            </a:r>
            <a:endParaRPr kumimoji="0" sz="2000" b="0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9" name="Google Shape;298;p23">
            <a:extLst>
              <a:ext uri="{FF2B5EF4-FFF2-40B4-BE49-F238E27FC236}">
                <a16:creationId xmlns:a16="http://schemas.microsoft.com/office/drawing/2014/main" id="{7F45D354-E0C3-E5D6-A38D-C58258C96288}"/>
              </a:ext>
            </a:extLst>
          </p:cNvPr>
          <p:cNvSpPr txBox="1"/>
          <p:nvPr/>
        </p:nvSpPr>
        <p:spPr>
          <a:xfrm>
            <a:off x="4681000" y="658185"/>
            <a:ext cx="618400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>
                <a:ln>
                  <a:noFill/>
                </a:ln>
                <a:solidFill>
                  <a:srgbClr val="202124"/>
                </a:solidFill>
                <a:effectLst/>
                <a:highlight>
                  <a:srgbClr val="FFFFFF"/>
                </a:highlight>
                <a:uLnTx/>
                <a:uFillTx/>
                <a:latin typeface="Nunito"/>
                <a:ea typeface="Nunito"/>
                <a:cs typeface="Nunito"/>
                <a:sym typeface="Nunito"/>
              </a:rPr>
              <a:t>α</a:t>
            </a:r>
            <a:r>
              <a:rPr kumimoji="0" lang="en" sz="20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rPr>
              <a:t>3</a:t>
            </a:r>
            <a:endParaRPr kumimoji="0" sz="20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6" name="Google Shape;305;p23">
            <a:extLst>
              <a:ext uri="{FF2B5EF4-FFF2-40B4-BE49-F238E27FC236}">
                <a16:creationId xmlns:a16="http://schemas.microsoft.com/office/drawing/2014/main" id="{0C1D14CF-434A-B947-39EC-B352729799BE}"/>
              </a:ext>
            </a:extLst>
          </p:cNvPr>
          <p:cNvSpPr txBox="1">
            <a:spLocks/>
          </p:cNvSpPr>
          <p:nvPr/>
        </p:nvSpPr>
        <p:spPr bwMode="auto">
          <a:xfrm>
            <a:off x="7405034" y="2762590"/>
            <a:ext cx="3990554" cy="8125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vert="horz" wrap="square" lIns="121900" tIns="121900" rIns="121900" bIns="121900" numCol="1" anchor="ctr" anchorCtr="0" compatLnSpc="1">
            <a:prstTxWarp prst="textNoShape">
              <a:avLst/>
            </a:prstTxWarp>
            <a:no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ts val="1600"/>
              </a:spcAft>
              <a:buClrTx/>
              <a:buSzPts val="1018"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Dot product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 between query vector and every key vector gives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similarity score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.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B05C40E-5EAF-C559-7D0F-4E57C93098F3}"/>
              </a:ext>
            </a:extLst>
          </p:cNvPr>
          <p:cNvSpPr txBox="1"/>
          <p:nvPr/>
        </p:nvSpPr>
        <p:spPr>
          <a:xfrm>
            <a:off x="2954100" y="5909183"/>
            <a:ext cx="2385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Input Sequence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7FBEC9-1436-B92A-0F21-3FA0ED422BF4}"/>
              </a:ext>
            </a:extLst>
          </p:cNvPr>
          <p:cNvSpPr txBox="1"/>
          <p:nvPr/>
        </p:nvSpPr>
        <p:spPr>
          <a:xfrm>
            <a:off x="6212218" y="4504122"/>
            <a:ext cx="2385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Decoding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176106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9CB17-CDA2-45DA-86A5-300A5DDBA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325" y="-468827"/>
            <a:ext cx="11307763" cy="1325562"/>
          </a:xfrm>
        </p:spPr>
        <p:txBody>
          <a:bodyPr/>
          <a:lstStyle/>
          <a:p>
            <a:r>
              <a:rPr lang="en-US" dirty="0"/>
              <a:t>Attention</a:t>
            </a:r>
            <a:endParaRPr lang="en-IN" dirty="0"/>
          </a:p>
        </p:txBody>
      </p:sp>
      <p:sp>
        <p:nvSpPr>
          <p:cNvPr id="4" name="Google Shape;251;p23">
            <a:extLst>
              <a:ext uri="{FF2B5EF4-FFF2-40B4-BE49-F238E27FC236}">
                <a16:creationId xmlns:a16="http://schemas.microsoft.com/office/drawing/2014/main" id="{743C9473-9559-A7EE-8A36-46773815D8B5}"/>
              </a:ext>
            </a:extLst>
          </p:cNvPr>
          <p:cNvSpPr txBox="1">
            <a:spLocks/>
          </p:cNvSpPr>
          <p:nvPr/>
        </p:nvSpPr>
        <p:spPr bwMode="auto">
          <a:xfrm>
            <a:off x="7405034" y="1456930"/>
            <a:ext cx="3990554" cy="8125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vert="horz" wrap="square" lIns="121900" tIns="121900" rIns="121900" bIns="121900" numCol="1" anchor="ctr" anchorCtr="0" compatLnSpc="1">
            <a:prstTxWarp prst="textNoShape">
              <a:avLst/>
            </a:prstTxWarp>
            <a:no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ts val="1600"/>
              </a:spcAft>
              <a:buClrTx/>
              <a:buSzPts val="1018"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The output of attention mechanism is the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weighted sum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 of hidden vectors.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5" name="Google Shape;254;p23">
            <a:extLst>
              <a:ext uri="{FF2B5EF4-FFF2-40B4-BE49-F238E27FC236}">
                <a16:creationId xmlns:a16="http://schemas.microsoft.com/office/drawing/2014/main" id="{1DE84891-CFE3-844F-5DF2-A4F7727FA81B}"/>
              </a:ext>
            </a:extLst>
          </p:cNvPr>
          <p:cNvSpPr/>
          <p:nvPr/>
        </p:nvSpPr>
        <p:spPr>
          <a:xfrm>
            <a:off x="2818933" y="4280087"/>
            <a:ext cx="488800" cy="1015928"/>
          </a:xfrm>
          <a:prstGeom prst="rect">
            <a:avLst/>
          </a:prstGeom>
          <a:solidFill>
            <a:srgbClr val="FFE599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h</a:t>
            </a:r>
            <a:r>
              <a:rPr kumimoji="0" lang="en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1</a:t>
            </a:r>
            <a:endParaRPr kumimoji="0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Nunito"/>
              <a:cs typeface="Nunito"/>
              <a:sym typeface="Nunito"/>
            </a:endParaRPr>
          </a:p>
        </p:txBody>
      </p:sp>
      <p:cxnSp>
        <p:nvCxnSpPr>
          <p:cNvPr id="6" name="Google Shape;255;p23">
            <a:extLst>
              <a:ext uri="{FF2B5EF4-FFF2-40B4-BE49-F238E27FC236}">
                <a16:creationId xmlns:a16="http://schemas.microsoft.com/office/drawing/2014/main" id="{A3F02AEB-6CB8-5260-2699-F312DB4297C5}"/>
              </a:ext>
            </a:extLst>
          </p:cNvPr>
          <p:cNvCxnSpPr/>
          <p:nvPr/>
        </p:nvCxnSpPr>
        <p:spPr>
          <a:xfrm rot="10800000">
            <a:off x="3064133" y="5324013"/>
            <a:ext cx="0" cy="353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" name="Google Shape;256;p23">
            <a:extLst>
              <a:ext uri="{FF2B5EF4-FFF2-40B4-BE49-F238E27FC236}">
                <a16:creationId xmlns:a16="http://schemas.microsoft.com/office/drawing/2014/main" id="{D9A7CAFD-976D-51C9-3C3B-AD7B5237B930}"/>
              </a:ext>
            </a:extLst>
          </p:cNvPr>
          <p:cNvSpPr txBox="1"/>
          <p:nvPr/>
        </p:nvSpPr>
        <p:spPr>
          <a:xfrm>
            <a:off x="2852200" y="5492384"/>
            <a:ext cx="4888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x</a:t>
            </a:r>
            <a:r>
              <a:rPr kumimoji="0" lang="en" sz="18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1</a:t>
            </a:r>
            <a:endParaRPr kumimoji="0" sz="1800" b="0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Nunito"/>
              <a:cs typeface="Nunito"/>
              <a:sym typeface="Nunito"/>
            </a:endParaRPr>
          </a:p>
        </p:txBody>
      </p:sp>
      <p:sp>
        <p:nvSpPr>
          <p:cNvPr id="8" name="Google Shape;257;p23">
            <a:extLst>
              <a:ext uri="{FF2B5EF4-FFF2-40B4-BE49-F238E27FC236}">
                <a16:creationId xmlns:a16="http://schemas.microsoft.com/office/drawing/2014/main" id="{9404FDBA-8BB7-C977-236E-EF42768F838F}"/>
              </a:ext>
            </a:extLst>
          </p:cNvPr>
          <p:cNvSpPr/>
          <p:nvPr/>
        </p:nvSpPr>
        <p:spPr>
          <a:xfrm>
            <a:off x="3834933" y="4280087"/>
            <a:ext cx="488800" cy="1015928"/>
          </a:xfrm>
          <a:prstGeom prst="rect">
            <a:avLst/>
          </a:prstGeom>
          <a:solidFill>
            <a:srgbClr val="FFE599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h</a:t>
            </a:r>
            <a:r>
              <a:rPr kumimoji="0" lang="en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2</a:t>
            </a:r>
            <a:endParaRPr kumimoji="0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Nunito"/>
              <a:cs typeface="Nunito"/>
              <a:sym typeface="Nunito"/>
            </a:endParaRPr>
          </a:p>
        </p:txBody>
      </p:sp>
      <p:cxnSp>
        <p:nvCxnSpPr>
          <p:cNvPr id="9" name="Google Shape;258;p23">
            <a:extLst>
              <a:ext uri="{FF2B5EF4-FFF2-40B4-BE49-F238E27FC236}">
                <a16:creationId xmlns:a16="http://schemas.microsoft.com/office/drawing/2014/main" id="{DFE0AEF8-035C-CDDC-7739-CF336C1BD991}"/>
              </a:ext>
            </a:extLst>
          </p:cNvPr>
          <p:cNvCxnSpPr/>
          <p:nvPr/>
        </p:nvCxnSpPr>
        <p:spPr>
          <a:xfrm rot="10800000">
            <a:off x="4080133" y="5324013"/>
            <a:ext cx="0" cy="353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" name="Google Shape;259;p23">
            <a:extLst>
              <a:ext uri="{FF2B5EF4-FFF2-40B4-BE49-F238E27FC236}">
                <a16:creationId xmlns:a16="http://schemas.microsoft.com/office/drawing/2014/main" id="{56BCD904-2049-888D-FADB-7882A6D7C855}"/>
              </a:ext>
            </a:extLst>
          </p:cNvPr>
          <p:cNvSpPr txBox="1"/>
          <p:nvPr/>
        </p:nvSpPr>
        <p:spPr>
          <a:xfrm>
            <a:off x="3868200" y="5492384"/>
            <a:ext cx="4888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x</a:t>
            </a:r>
            <a:r>
              <a:rPr kumimoji="0" lang="en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2</a:t>
            </a:r>
            <a:endParaRPr kumimoji="0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Nunito"/>
              <a:cs typeface="Nunito"/>
              <a:sym typeface="Nunito"/>
            </a:endParaRPr>
          </a:p>
        </p:txBody>
      </p:sp>
      <p:sp>
        <p:nvSpPr>
          <p:cNvPr id="11" name="Google Shape;260;p23">
            <a:extLst>
              <a:ext uri="{FF2B5EF4-FFF2-40B4-BE49-F238E27FC236}">
                <a16:creationId xmlns:a16="http://schemas.microsoft.com/office/drawing/2014/main" id="{D54640C2-6B44-EA59-41E8-CC5B1BDF9B54}"/>
              </a:ext>
            </a:extLst>
          </p:cNvPr>
          <p:cNvSpPr/>
          <p:nvPr/>
        </p:nvSpPr>
        <p:spPr>
          <a:xfrm>
            <a:off x="4850933" y="4280087"/>
            <a:ext cx="488800" cy="1015928"/>
          </a:xfrm>
          <a:prstGeom prst="rect">
            <a:avLst/>
          </a:prstGeom>
          <a:solidFill>
            <a:srgbClr val="FFE599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h</a:t>
            </a:r>
            <a:r>
              <a:rPr kumimoji="0" lang="en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3</a:t>
            </a:r>
            <a:endParaRPr kumimoji="0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Nunito"/>
              <a:cs typeface="Nunito"/>
              <a:sym typeface="Nunito"/>
            </a:endParaRPr>
          </a:p>
        </p:txBody>
      </p:sp>
      <p:cxnSp>
        <p:nvCxnSpPr>
          <p:cNvPr id="12" name="Google Shape;261;p23">
            <a:extLst>
              <a:ext uri="{FF2B5EF4-FFF2-40B4-BE49-F238E27FC236}">
                <a16:creationId xmlns:a16="http://schemas.microsoft.com/office/drawing/2014/main" id="{20CEA0A4-E3DF-D0BE-B40E-27906DB7F240}"/>
              </a:ext>
            </a:extLst>
          </p:cNvPr>
          <p:cNvCxnSpPr/>
          <p:nvPr/>
        </p:nvCxnSpPr>
        <p:spPr>
          <a:xfrm rot="10800000">
            <a:off x="5096133" y="5324013"/>
            <a:ext cx="0" cy="353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" name="Google Shape;262;p23">
            <a:extLst>
              <a:ext uri="{FF2B5EF4-FFF2-40B4-BE49-F238E27FC236}">
                <a16:creationId xmlns:a16="http://schemas.microsoft.com/office/drawing/2014/main" id="{1691FB65-3891-76E9-16A7-36BD006C0521}"/>
              </a:ext>
            </a:extLst>
          </p:cNvPr>
          <p:cNvSpPr txBox="1"/>
          <p:nvPr/>
        </p:nvSpPr>
        <p:spPr>
          <a:xfrm>
            <a:off x="4884200" y="5492384"/>
            <a:ext cx="4888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x</a:t>
            </a:r>
            <a:r>
              <a:rPr kumimoji="0" lang="en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3</a:t>
            </a:r>
            <a:endParaRPr kumimoji="0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Nunito"/>
              <a:cs typeface="Nunito"/>
              <a:sym typeface="Nunito"/>
            </a:endParaRPr>
          </a:p>
        </p:txBody>
      </p:sp>
      <p:cxnSp>
        <p:nvCxnSpPr>
          <p:cNvPr id="14" name="Google Shape;263;p23">
            <a:extLst>
              <a:ext uri="{FF2B5EF4-FFF2-40B4-BE49-F238E27FC236}">
                <a16:creationId xmlns:a16="http://schemas.microsoft.com/office/drawing/2014/main" id="{DEFD259F-4E18-B90A-2B1A-E14140EBE3FD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>
            <a:off x="3307733" y="4788051"/>
            <a:ext cx="5272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" name="Google Shape;264;p23">
            <a:extLst>
              <a:ext uri="{FF2B5EF4-FFF2-40B4-BE49-F238E27FC236}">
                <a16:creationId xmlns:a16="http://schemas.microsoft.com/office/drawing/2014/main" id="{D9A70D6C-A725-B0E7-AFDF-8DA03DA31BD5}"/>
              </a:ext>
            </a:extLst>
          </p:cNvPr>
          <p:cNvCxnSpPr/>
          <p:nvPr/>
        </p:nvCxnSpPr>
        <p:spPr>
          <a:xfrm>
            <a:off x="4325333" y="4814565"/>
            <a:ext cx="5256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" name="Google Shape;265;p23">
            <a:extLst>
              <a:ext uri="{FF2B5EF4-FFF2-40B4-BE49-F238E27FC236}">
                <a16:creationId xmlns:a16="http://schemas.microsoft.com/office/drawing/2014/main" id="{EB06AD7D-8973-583C-47C9-2A7E42F871AA}"/>
              </a:ext>
            </a:extLst>
          </p:cNvPr>
          <p:cNvCxnSpPr/>
          <p:nvPr/>
        </p:nvCxnSpPr>
        <p:spPr>
          <a:xfrm rot="10800000">
            <a:off x="3064133" y="3914720"/>
            <a:ext cx="0" cy="353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" name="Google Shape;266;p23">
            <a:extLst>
              <a:ext uri="{FF2B5EF4-FFF2-40B4-BE49-F238E27FC236}">
                <a16:creationId xmlns:a16="http://schemas.microsoft.com/office/drawing/2014/main" id="{EB93655A-1E45-DFA9-3584-DDA22CC2CE16}"/>
              </a:ext>
            </a:extLst>
          </p:cNvPr>
          <p:cNvSpPr/>
          <p:nvPr/>
        </p:nvSpPr>
        <p:spPr>
          <a:xfrm>
            <a:off x="2818932" y="3390974"/>
            <a:ext cx="522051" cy="517583"/>
          </a:xfrm>
          <a:prstGeom prst="rect">
            <a:avLst/>
          </a:prstGeom>
          <a:solidFill>
            <a:srgbClr val="F9CB9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k</a:t>
            </a:r>
            <a:r>
              <a:rPr kumimoji="0" lang="en" sz="18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1</a:t>
            </a:r>
            <a:endParaRPr kumimoji="0" sz="1800" b="0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Nunito"/>
              <a:cs typeface="Nunito"/>
              <a:sym typeface="Nunito"/>
            </a:endParaRPr>
          </a:p>
        </p:txBody>
      </p:sp>
      <p:cxnSp>
        <p:nvCxnSpPr>
          <p:cNvPr id="18" name="Google Shape;267;p23">
            <a:extLst>
              <a:ext uri="{FF2B5EF4-FFF2-40B4-BE49-F238E27FC236}">
                <a16:creationId xmlns:a16="http://schemas.microsoft.com/office/drawing/2014/main" id="{CCA39B40-3032-DC08-8483-3399A503AD5B}"/>
              </a:ext>
            </a:extLst>
          </p:cNvPr>
          <p:cNvCxnSpPr/>
          <p:nvPr/>
        </p:nvCxnSpPr>
        <p:spPr>
          <a:xfrm rot="10800000">
            <a:off x="4080133" y="3914720"/>
            <a:ext cx="0" cy="353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" name="Google Shape;268;p23">
            <a:extLst>
              <a:ext uri="{FF2B5EF4-FFF2-40B4-BE49-F238E27FC236}">
                <a16:creationId xmlns:a16="http://schemas.microsoft.com/office/drawing/2014/main" id="{E112941D-7878-BBFB-60FE-45EE5972C2C7}"/>
              </a:ext>
            </a:extLst>
          </p:cNvPr>
          <p:cNvSpPr/>
          <p:nvPr/>
        </p:nvSpPr>
        <p:spPr>
          <a:xfrm>
            <a:off x="3834932" y="3390974"/>
            <a:ext cx="522051" cy="517583"/>
          </a:xfrm>
          <a:prstGeom prst="rect">
            <a:avLst/>
          </a:prstGeom>
          <a:solidFill>
            <a:srgbClr val="F9CB9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k</a:t>
            </a:r>
            <a:r>
              <a:rPr kumimoji="0" lang="en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2</a:t>
            </a:r>
            <a:endParaRPr kumimoji="0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Nunito"/>
              <a:cs typeface="Nunito"/>
              <a:sym typeface="Nunito"/>
            </a:endParaRPr>
          </a:p>
        </p:txBody>
      </p:sp>
      <p:cxnSp>
        <p:nvCxnSpPr>
          <p:cNvPr id="20" name="Google Shape;269;p23">
            <a:extLst>
              <a:ext uri="{FF2B5EF4-FFF2-40B4-BE49-F238E27FC236}">
                <a16:creationId xmlns:a16="http://schemas.microsoft.com/office/drawing/2014/main" id="{36FE0742-89B8-6116-0F69-580DB27E7EA8}"/>
              </a:ext>
            </a:extLst>
          </p:cNvPr>
          <p:cNvCxnSpPr/>
          <p:nvPr/>
        </p:nvCxnSpPr>
        <p:spPr>
          <a:xfrm rot="10800000">
            <a:off x="5096133" y="3914720"/>
            <a:ext cx="0" cy="353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" name="Google Shape;270;p23">
            <a:extLst>
              <a:ext uri="{FF2B5EF4-FFF2-40B4-BE49-F238E27FC236}">
                <a16:creationId xmlns:a16="http://schemas.microsoft.com/office/drawing/2014/main" id="{95A9E9C9-6A99-C988-DAF2-58296677EF97}"/>
              </a:ext>
            </a:extLst>
          </p:cNvPr>
          <p:cNvSpPr/>
          <p:nvPr/>
        </p:nvSpPr>
        <p:spPr>
          <a:xfrm>
            <a:off x="4850932" y="3390974"/>
            <a:ext cx="522051" cy="517583"/>
          </a:xfrm>
          <a:prstGeom prst="rect">
            <a:avLst/>
          </a:prstGeom>
          <a:solidFill>
            <a:srgbClr val="F9CB9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k</a:t>
            </a:r>
            <a:r>
              <a:rPr kumimoji="0" lang="en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3</a:t>
            </a:r>
            <a:endParaRPr kumimoji="0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Nunito"/>
              <a:cs typeface="Nunito"/>
              <a:sym typeface="Nunito"/>
            </a:endParaRPr>
          </a:p>
        </p:txBody>
      </p:sp>
      <p:sp>
        <p:nvSpPr>
          <p:cNvPr id="22" name="Google Shape;271;p23">
            <a:extLst>
              <a:ext uri="{FF2B5EF4-FFF2-40B4-BE49-F238E27FC236}">
                <a16:creationId xmlns:a16="http://schemas.microsoft.com/office/drawing/2014/main" id="{05E45D65-A6D9-AC62-E63E-6C64A4A68AED}"/>
              </a:ext>
            </a:extLst>
          </p:cNvPr>
          <p:cNvSpPr/>
          <p:nvPr/>
        </p:nvSpPr>
        <p:spPr>
          <a:xfrm>
            <a:off x="5866933" y="4280087"/>
            <a:ext cx="488800" cy="1015928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s</a:t>
            </a:r>
            <a:r>
              <a:rPr kumimoji="0" lang="en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0</a:t>
            </a:r>
            <a:endParaRPr kumimoji="0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Nunito"/>
              <a:cs typeface="Nunito"/>
              <a:sym typeface="Nunito"/>
            </a:endParaRPr>
          </a:p>
        </p:txBody>
      </p:sp>
      <p:cxnSp>
        <p:nvCxnSpPr>
          <p:cNvPr id="23" name="Google Shape;272;p23">
            <a:extLst>
              <a:ext uri="{FF2B5EF4-FFF2-40B4-BE49-F238E27FC236}">
                <a16:creationId xmlns:a16="http://schemas.microsoft.com/office/drawing/2014/main" id="{AF5110EE-AEE5-2033-C318-A8E9D7447F55}"/>
              </a:ext>
            </a:extLst>
          </p:cNvPr>
          <p:cNvCxnSpPr/>
          <p:nvPr/>
        </p:nvCxnSpPr>
        <p:spPr>
          <a:xfrm rot="10800000">
            <a:off x="6112133" y="5324013"/>
            <a:ext cx="0" cy="353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" name="Google Shape;273;p23">
            <a:extLst>
              <a:ext uri="{FF2B5EF4-FFF2-40B4-BE49-F238E27FC236}">
                <a16:creationId xmlns:a16="http://schemas.microsoft.com/office/drawing/2014/main" id="{30BAC9E2-8DC2-57F7-8227-EF5EDA0C1EB4}"/>
              </a:ext>
            </a:extLst>
          </p:cNvPr>
          <p:cNvSpPr txBox="1"/>
          <p:nvPr/>
        </p:nvSpPr>
        <p:spPr>
          <a:xfrm>
            <a:off x="5900200" y="5492384"/>
            <a:ext cx="4888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y</a:t>
            </a:r>
            <a:r>
              <a:rPr kumimoji="0" lang="en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1</a:t>
            </a:r>
            <a:endParaRPr kumimoji="0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Nunito"/>
              <a:cs typeface="Nunito"/>
              <a:sym typeface="Nunito"/>
            </a:endParaRPr>
          </a:p>
        </p:txBody>
      </p:sp>
      <p:cxnSp>
        <p:nvCxnSpPr>
          <p:cNvPr id="25" name="Google Shape;274;p23">
            <a:extLst>
              <a:ext uri="{FF2B5EF4-FFF2-40B4-BE49-F238E27FC236}">
                <a16:creationId xmlns:a16="http://schemas.microsoft.com/office/drawing/2014/main" id="{3CF01874-D409-E0A0-F7C4-F2A80356723B}"/>
              </a:ext>
            </a:extLst>
          </p:cNvPr>
          <p:cNvCxnSpPr/>
          <p:nvPr/>
        </p:nvCxnSpPr>
        <p:spPr>
          <a:xfrm rot="10800000">
            <a:off x="6112133" y="3914720"/>
            <a:ext cx="0" cy="353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" name="Google Shape;275;p23">
            <a:extLst>
              <a:ext uri="{FF2B5EF4-FFF2-40B4-BE49-F238E27FC236}">
                <a16:creationId xmlns:a16="http://schemas.microsoft.com/office/drawing/2014/main" id="{CD1AE07B-12D9-E8A5-BBA1-0501D9B3AC21}"/>
              </a:ext>
            </a:extLst>
          </p:cNvPr>
          <p:cNvSpPr/>
          <p:nvPr/>
        </p:nvSpPr>
        <p:spPr>
          <a:xfrm>
            <a:off x="5866932" y="3390974"/>
            <a:ext cx="522051" cy="517583"/>
          </a:xfrm>
          <a:prstGeom prst="rect">
            <a:avLst/>
          </a:prstGeom>
          <a:solidFill>
            <a:srgbClr val="D5A6BD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q</a:t>
            </a:r>
            <a:r>
              <a:rPr kumimoji="0" lang="en" sz="18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1</a:t>
            </a:r>
            <a:endParaRPr kumimoji="0" sz="1800" b="0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Nunito"/>
              <a:cs typeface="Nunito"/>
              <a:sym typeface="Nunito"/>
            </a:endParaRPr>
          </a:p>
        </p:txBody>
      </p:sp>
      <p:cxnSp>
        <p:nvCxnSpPr>
          <p:cNvPr id="27" name="Google Shape;276;p23">
            <a:extLst>
              <a:ext uri="{FF2B5EF4-FFF2-40B4-BE49-F238E27FC236}">
                <a16:creationId xmlns:a16="http://schemas.microsoft.com/office/drawing/2014/main" id="{9778402A-1E87-A150-52F5-45B6E15AF265}"/>
              </a:ext>
            </a:extLst>
          </p:cNvPr>
          <p:cNvCxnSpPr/>
          <p:nvPr/>
        </p:nvCxnSpPr>
        <p:spPr>
          <a:xfrm>
            <a:off x="5341333" y="4834228"/>
            <a:ext cx="5256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" name="Google Shape;277;p23">
            <a:extLst>
              <a:ext uri="{FF2B5EF4-FFF2-40B4-BE49-F238E27FC236}">
                <a16:creationId xmlns:a16="http://schemas.microsoft.com/office/drawing/2014/main" id="{DCE8349E-DE81-EABE-7CA7-92B6A6FF0748}"/>
              </a:ext>
            </a:extLst>
          </p:cNvPr>
          <p:cNvCxnSpPr/>
          <p:nvPr/>
        </p:nvCxnSpPr>
        <p:spPr>
          <a:xfrm rot="10800000">
            <a:off x="3063333" y="2885774"/>
            <a:ext cx="0" cy="505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9" name="Google Shape;278;p23">
            <a:extLst>
              <a:ext uri="{FF2B5EF4-FFF2-40B4-BE49-F238E27FC236}">
                <a16:creationId xmlns:a16="http://schemas.microsoft.com/office/drawing/2014/main" id="{4A37AB23-307B-C115-8129-D53354C4149B}"/>
              </a:ext>
            </a:extLst>
          </p:cNvPr>
          <p:cNvSpPr/>
          <p:nvPr/>
        </p:nvSpPr>
        <p:spPr>
          <a:xfrm>
            <a:off x="2885333" y="2494658"/>
            <a:ext cx="357600" cy="367600"/>
          </a:xfrm>
          <a:prstGeom prst="donut">
            <a:avLst>
              <a:gd name="adj" fmla="val 44068"/>
            </a:avLst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0" name="Google Shape;279;p23">
            <a:extLst>
              <a:ext uri="{FF2B5EF4-FFF2-40B4-BE49-F238E27FC236}">
                <a16:creationId xmlns:a16="http://schemas.microsoft.com/office/drawing/2014/main" id="{FC6EFF43-DDFD-396D-B98E-F134D33F4393}"/>
              </a:ext>
            </a:extLst>
          </p:cNvPr>
          <p:cNvSpPr/>
          <p:nvPr/>
        </p:nvSpPr>
        <p:spPr>
          <a:xfrm>
            <a:off x="3901333" y="2494658"/>
            <a:ext cx="357600" cy="367600"/>
          </a:xfrm>
          <a:prstGeom prst="donut">
            <a:avLst>
              <a:gd name="adj" fmla="val 44068"/>
            </a:avLst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1" name="Google Shape;280;p23">
            <a:extLst>
              <a:ext uri="{FF2B5EF4-FFF2-40B4-BE49-F238E27FC236}">
                <a16:creationId xmlns:a16="http://schemas.microsoft.com/office/drawing/2014/main" id="{7D1E9477-173E-8EE1-630A-A1B65DFA14A9}"/>
              </a:ext>
            </a:extLst>
          </p:cNvPr>
          <p:cNvSpPr/>
          <p:nvPr/>
        </p:nvSpPr>
        <p:spPr>
          <a:xfrm>
            <a:off x="4917333" y="2494658"/>
            <a:ext cx="357600" cy="367600"/>
          </a:xfrm>
          <a:prstGeom prst="donut">
            <a:avLst>
              <a:gd name="adj" fmla="val 44068"/>
            </a:avLst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cxnSp>
        <p:nvCxnSpPr>
          <p:cNvPr id="32" name="Google Shape;281;p23">
            <a:extLst>
              <a:ext uri="{FF2B5EF4-FFF2-40B4-BE49-F238E27FC236}">
                <a16:creationId xmlns:a16="http://schemas.microsoft.com/office/drawing/2014/main" id="{3108ED09-7C0D-B41A-ABAE-D57D047B6F34}"/>
              </a:ext>
            </a:extLst>
          </p:cNvPr>
          <p:cNvCxnSpPr>
            <a:endCxn id="29" idx="5"/>
          </p:cNvCxnSpPr>
          <p:nvPr/>
        </p:nvCxnSpPr>
        <p:spPr>
          <a:xfrm rot="10800000">
            <a:off x="3190564" y="2808424"/>
            <a:ext cx="2920800" cy="582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" name="Google Shape;282;p23">
            <a:extLst>
              <a:ext uri="{FF2B5EF4-FFF2-40B4-BE49-F238E27FC236}">
                <a16:creationId xmlns:a16="http://schemas.microsoft.com/office/drawing/2014/main" id="{C281962B-B36D-7DF7-6506-A4B2FEF9336D}"/>
              </a:ext>
            </a:extLst>
          </p:cNvPr>
          <p:cNvCxnSpPr>
            <a:endCxn id="30" idx="5"/>
          </p:cNvCxnSpPr>
          <p:nvPr/>
        </p:nvCxnSpPr>
        <p:spPr>
          <a:xfrm rot="10800000">
            <a:off x="4206564" y="2808424"/>
            <a:ext cx="1904800" cy="582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" name="Google Shape;283;p23">
            <a:extLst>
              <a:ext uri="{FF2B5EF4-FFF2-40B4-BE49-F238E27FC236}">
                <a16:creationId xmlns:a16="http://schemas.microsoft.com/office/drawing/2014/main" id="{E7A670A5-DE03-4BDE-D9F5-18BF22A21F75}"/>
              </a:ext>
            </a:extLst>
          </p:cNvPr>
          <p:cNvCxnSpPr>
            <a:endCxn id="31" idx="5"/>
          </p:cNvCxnSpPr>
          <p:nvPr/>
        </p:nvCxnSpPr>
        <p:spPr>
          <a:xfrm rot="10800000">
            <a:off x="5222564" y="2808424"/>
            <a:ext cx="888800" cy="582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" name="Google Shape;284;p23">
            <a:extLst>
              <a:ext uri="{FF2B5EF4-FFF2-40B4-BE49-F238E27FC236}">
                <a16:creationId xmlns:a16="http://schemas.microsoft.com/office/drawing/2014/main" id="{E233CB42-4817-EDF9-06EB-C66E60907B36}"/>
              </a:ext>
            </a:extLst>
          </p:cNvPr>
          <p:cNvCxnSpPr/>
          <p:nvPr/>
        </p:nvCxnSpPr>
        <p:spPr>
          <a:xfrm rot="10800000">
            <a:off x="4079333" y="2885774"/>
            <a:ext cx="0" cy="505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" name="Google Shape;285;p23">
            <a:extLst>
              <a:ext uri="{FF2B5EF4-FFF2-40B4-BE49-F238E27FC236}">
                <a16:creationId xmlns:a16="http://schemas.microsoft.com/office/drawing/2014/main" id="{DCC408EF-D758-C593-75C6-D0479ADBDCC9}"/>
              </a:ext>
            </a:extLst>
          </p:cNvPr>
          <p:cNvCxnSpPr/>
          <p:nvPr/>
        </p:nvCxnSpPr>
        <p:spPr>
          <a:xfrm rot="10800000">
            <a:off x="5095333" y="2885774"/>
            <a:ext cx="0" cy="505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" name="Google Shape;286;p23">
            <a:extLst>
              <a:ext uri="{FF2B5EF4-FFF2-40B4-BE49-F238E27FC236}">
                <a16:creationId xmlns:a16="http://schemas.microsoft.com/office/drawing/2014/main" id="{7ECAA2BF-B290-E0E4-0187-DB8ABC9D5B0C}"/>
              </a:ext>
            </a:extLst>
          </p:cNvPr>
          <p:cNvCxnSpPr/>
          <p:nvPr/>
        </p:nvCxnSpPr>
        <p:spPr>
          <a:xfrm rot="10800000">
            <a:off x="3064133" y="2121968"/>
            <a:ext cx="0" cy="353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" name="Google Shape;287;p23">
            <a:extLst>
              <a:ext uri="{FF2B5EF4-FFF2-40B4-BE49-F238E27FC236}">
                <a16:creationId xmlns:a16="http://schemas.microsoft.com/office/drawing/2014/main" id="{E3EFD28B-EB66-86D9-EF0E-1614B7023AF9}"/>
              </a:ext>
            </a:extLst>
          </p:cNvPr>
          <p:cNvCxnSpPr/>
          <p:nvPr/>
        </p:nvCxnSpPr>
        <p:spPr>
          <a:xfrm rot="10800000">
            <a:off x="4080133" y="2121968"/>
            <a:ext cx="0" cy="353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" name="Google Shape;288;p23">
            <a:extLst>
              <a:ext uri="{FF2B5EF4-FFF2-40B4-BE49-F238E27FC236}">
                <a16:creationId xmlns:a16="http://schemas.microsoft.com/office/drawing/2014/main" id="{49AC15DA-9227-574D-C227-A76530C6695F}"/>
              </a:ext>
            </a:extLst>
          </p:cNvPr>
          <p:cNvCxnSpPr/>
          <p:nvPr/>
        </p:nvCxnSpPr>
        <p:spPr>
          <a:xfrm rot="10800000">
            <a:off x="5096133" y="2121968"/>
            <a:ext cx="0" cy="353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" name="Google Shape;289;p23">
            <a:extLst>
              <a:ext uri="{FF2B5EF4-FFF2-40B4-BE49-F238E27FC236}">
                <a16:creationId xmlns:a16="http://schemas.microsoft.com/office/drawing/2014/main" id="{87720993-51B2-0CF6-D7C9-D2040802CCA8}"/>
              </a:ext>
            </a:extLst>
          </p:cNvPr>
          <p:cNvCxnSpPr/>
          <p:nvPr/>
        </p:nvCxnSpPr>
        <p:spPr>
          <a:xfrm rot="10800000">
            <a:off x="3064133" y="1528754"/>
            <a:ext cx="0" cy="353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" name="Google Shape;290;p23">
            <a:extLst>
              <a:ext uri="{FF2B5EF4-FFF2-40B4-BE49-F238E27FC236}">
                <a16:creationId xmlns:a16="http://schemas.microsoft.com/office/drawing/2014/main" id="{0EA192F1-60B3-80CA-70E3-A991D2216E60}"/>
              </a:ext>
            </a:extLst>
          </p:cNvPr>
          <p:cNvCxnSpPr/>
          <p:nvPr/>
        </p:nvCxnSpPr>
        <p:spPr>
          <a:xfrm rot="10800000">
            <a:off x="4080133" y="1528754"/>
            <a:ext cx="0" cy="353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" name="Google Shape;291;p23">
            <a:extLst>
              <a:ext uri="{FF2B5EF4-FFF2-40B4-BE49-F238E27FC236}">
                <a16:creationId xmlns:a16="http://schemas.microsoft.com/office/drawing/2014/main" id="{0849B3EB-9424-9EE5-FA89-96B727892FA2}"/>
              </a:ext>
            </a:extLst>
          </p:cNvPr>
          <p:cNvCxnSpPr/>
          <p:nvPr/>
        </p:nvCxnSpPr>
        <p:spPr>
          <a:xfrm rot="10800000">
            <a:off x="5096133" y="1528754"/>
            <a:ext cx="0" cy="353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3" name="Google Shape;292;p23">
            <a:extLst>
              <a:ext uri="{FF2B5EF4-FFF2-40B4-BE49-F238E27FC236}">
                <a16:creationId xmlns:a16="http://schemas.microsoft.com/office/drawing/2014/main" id="{AB73D4D9-CBE5-D550-8E0A-47D2FABC0764}"/>
              </a:ext>
            </a:extLst>
          </p:cNvPr>
          <p:cNvSpPr txBox="1"/>
          <p:nvPr/>
        </p:nvSpPr>
        <p:spPr>
          <a:xfrm>
            <a:off x="2852200" y="1746288"/>
            <a:ext cx="4888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e</a:t>
            </a:r>
            <a:r>
              <a:rPr kumimoji="0" lang="en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1</a:t>
            </a:r>
            <a:endParaRPr kumimoji="0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Nunito"/>
              <a:cs typeface="Nunito"/>
              <a:sym typeface="Nunito"/>
            </a:endParaRPr>
          </a:p>
        </p:txBody>
      </p:sp>
      <p:sp>
        <p:nvSpPr>
          <p:cNvPr id="44" name="Google Shape;293;p23">
            <a:extLst>
              <a:ext uri="{FF2B5EF4-FFF2-40B4-BE49-F238E27FC236}">
                <a16:creationId xmlns:a16="http://schemas.microsoft.com/office/drawing/2014/main" id="{FF330D4F-90ED-0971-61F3-AADA96B1D4A0}"/>
              </a:ext>
            </a:extLst>
          </p:cNvPr>
          <p:cNvSpPr txBox="1"/>
          <p:nvPr/>
        </p:nvSpPr>
        <p:spPr>
          <a:xfrm>
            <a:off x="3868200" y="1746288"/>
            <a:ext cx="4888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e</a:t>
            </a:r>
            <a:r>
              <a:rPr kumimoji="0" lang="en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2</a:t>
            </a:r>
            <a:endParaRPr kumimoji="0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Nunito"/>
              <a:cs typeface="Nunito"/>
              <a:sym typeface="Nunito"/>
            </a:endParaRPr>
          </a:p>
        </p:txBody>
      </p:sp>
      <p:sp>
        <p:nvSpPr>
          <p:cNvPr id="45" name="Google Shape;294;p23">
            <a:extLst>
              <a:ext uri="{FF2B5EF4-FFF2-40B4-BE49-F238E27FC236}">
                <a16:creationId xmlns:a16="http://schemas.microsoft.com/office/drawing/2014/main" id="{E38B4A3F-655B-1BCE-7FFD-89B36156A893}"/>
              </a:ext>
            </a:extLst>
          </p:cNvPr>
          <p:cNvSpPr txBox="1"/>
          <p:nvPr/>
        </p:nvSpPr>
        <p:spPr>
          <a:xfrm>
            <a:off x="4884200" y="1746288"/>
            <a:ext cx="4888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e</a:t>
            </a:r>
            <a:r>
              <a:rPr kumimoji="0" lang="en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3</a:t>
            </a:r>
            <a:endParaRPr kumimoji="0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Nunito"/>
              <a:cs typeface="Nunito"/>
              <a:sym typeface="Nunito"/>
            </a:endParaRPr>
          </a:p>
        </p:txBody>
      </p:sp>
      <p:sp>
        <p:nvSpPr>
          <p:cNvPr id="46" name="Google Shape;295;p23">
            <a:extLst>
              <a:ext uri="{FF2B5EF4-FFF2-40B4-BE49-F238E27FC236}">
                <a16:creationId xmlns:a16="http://schemas.microsoft.com/office/drawing/2014/main" id="{66455E88-6F52-7B5B-DF23-69B83ED3A2BA}"/>
              </a:ext>
            </a:extLst>
          </p:cNvPr>
          <p:cNvSpPr/>
          <p:nvPr/>
        </p:nvSpPr>
        <p:spPr>
          <a:xfrm>
            <a:off x="2954100" y="1192585"/>
            <a:ext cx="2268400" cy="2948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softmax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Nunito"/>
              <a:cs typeface="Nunito"/>
              <a:sym typeface="Nunito"/>
            </a:endParaRPr>
          </a:p>
        </p:txBody>
      </p:sp>
      <p:sp>
        <p:nvSpPr>
          <p:cNvPr id="47" name="Google Shape;296;p23">
            <a:extLst>
              <a:ext uri="{FF2B5EF4-FFF2-40B4-BE49-F238E27FC236}">
                <a16:creationId xmlns:a16="http://schemas.microsoft.com/office/drawing/2014/main" id="{112C78CE-AD68-FC69-5D6F-76F787B4E415}"/>
              </a:ext>
            </a:extLst>
          </p:cNvPr>
          <p:cNvSpPr txBox="1"/>
          <p:nvPr/>
        </p:nvSpPr>
        <p:spPr>
          <a:xfrm>
            <a:off x="2852200" y="658185"/>
            <a:ext cx="646400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highlight>
                  <a:srgbClr val="FFFFFF"/>
                </a:highlight>
                <a:uLnTx/>
                <a:uFillTx/>
                <a:latin typeface="Nunito"/>
                <a:ea typeface="Nunito"/>
                <a:cs typeface="Nunito"/>
                <a:sym typeface="Nunito"/>
              </a:rPr>
              <a:t>α</a:t>
            </a:r>
            <a:r>
              <a:rPr kumimoji="0" lang="en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rPr>
              <a:t>1</a:t>
            </a:r>
            <a:endParaRPr kumimoji="0" sz="2000" b="0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8" name="Google Shape;297;p23">
            <a:extLst>
              <a:ext uri="{FF2B5EF4-FFF2-40B4-BE49-F238E27FC236}">
                <a16:creationId xmlns:a16="http://schemas.microsoft.com/office/drawing/2014/main" id="{1BDE1B92-2E57-B65C-DFF2-5665A40A2AFB}"/>
              </a:ext>
            </a:extLst>
          </p:cNvPr>
          <p:cNvSpPr txBox="1"/>
          <p:nvPr/>
        </p:nvSpPr>
        <p:spPr>
          <a:xfrm>
            <a:off x="3868200" y="658185"/>
            <a:ext cx="618400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highlight>
                  <a:srgbClr val="FFFFFF"/>
                </a:highlight>
                <a:uLnTx/>
                <a:uFillTx/>
                <a:latin typeface="Nunito"/>
                <a:ea typeface="Nunito"/>
                <a:cs typeface="Nunito"/>
                <a:sym typeface="Nunito"/>
              </a:rPr>
              <a:t>α</a:t>
            </a:r>
            <a:r>
              <a:rPr kumimoji="0" lang="en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rPr>
              <a:t>2</a:t>
            </a:r>
            <a:endParaRPr kumimoji="0" sz="2000" b="0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9" name="Google Shape;298;p23">
            <a:extLst>
              <a:ext uri="{FF2B5EF4-FFF2-40B4-BE49-F238E27FC236}">
                <a16:creationId xmlns:a16="http://schemas.microsoft.com/office/drawing/2014/main" id="{7F45D354-E0C3-E5D6-A38D-C58258C96288}"/>
              </a:ext>
            </a:extLst>
          </p:cNvPr>
          <p:cNvSpPr txBox="1"/>
          <p:nvPr/>
        </p:nvSpPr>
        <p:spPr>
          <a:xfrm>
            <a:off x="4681000" y="658185"/>
            <a:ext cx="618400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>
                <a:ln>
                  <a:noFill/>
                </a:ln>
                <a:solidFill>
                  <a:srgbClr val="202124"/>
                </a:solidFill>
                <a:effectLst/>
                <a:highlight>
                  <a:srgbClr val="FFFFFF"/>
                </a:highlight>
                <a:uLnTx/>
                <a:uFillTx/>
                <a:latin typeface="Nunito"/>
                <a:ea typeface="Nunito"/>
                <a:cs typeface="Nunito"/>
                <a:sym typeface="Nunito"/>
              </a:rPr>
              <a:t>α</a:t>
            </a:r>
            <a:r>
              <a:rPr kumimoji="0" lang="en" sz="20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rPr>
              <a:t>3</a:t>
            </a:r>
            <a:endParaRPr kumimoji="0" sz="20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50" name="Google Shape;299;p23">
            <a:extLst>
              <a:ext uri="{FF2B5EF4-FFF2-40B4-BE49-F238E27FC236}">
                <a16:creationId xmlns:a16="http://schemas.microsoft.com/office/drawing/2014/main" id="{2B019F2B-CE6C-0522-3444-C233FAD873D0}"/>
              </a:ext>
            </a:extLst>
          </p:cNvPr>
          <p:cNvCxnSpPr/>
          <p:nvPr/>
        </p:nvCxnSpPr>
        <p:spPr>
          <a:xfrm rot="10800000" flipH="1">
            <a:off x="3357333" y="2635841"/>
            <a:ext cx="3162400" cy="1758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" name="Google Shape;300;p23">
            <a:extLst>
              <a:ext uri="{FF2B5EF4-FFF2-40B4-BE49-F238E27FC236}">
                <a16:creationId xmlns:a16="http://schemas.microsoft.com/office/drawing/2014/main" id="{D75B0F61-67CD-2899-EFAD-24F15D437DC9}"/>
              </a:ext>
            </a:extLst>
          </p:cNvPr>
          <p:cNvCxnSpPr/>
          <p:nvPr/>
        </p:nvCxnSpPr>
        <p:spPr>
          <a:xfrm rot="10800000" flipH="1">
            <a:off x="4385000" y="2690208"/>
            <a:ext cx="2175200" cy="1652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" name="Google Shape;301;p23">
            <a:extLst>
              <a:ext uri="{FF2B5EF4-FFF2-40B4-BE49-F238E27FC236}">
                <a16:creationId xmlns:a16="http://schemas.microsoft.com/office/drawing/2014/main" id="{395579EC-E20D-625D-263A-25F9B207B574}"/>
              </a:ext>
            </a:extLst>
          </p:cNvPr>
          <p:cNvCxnSpPr/>
          <p:nvPr/>
        </p:nvCxnSpPr>
        <p:spPr>
          <a:xfrm rot="10800000" flipH="1">
            <a:off x="5381200" y="2744908"/>
            <a:ext cx="1247200" cy="1586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" name="Google Shape;302;p23">
            <a:extLst>
              <a:ext uri="{FF2B5EF4-FFF2-40B4-BE49-F238E27FC236}">
                <a16:creationId xmlns:a16="http://schemas.microsoft.com/office/drawing/2014/main" id="{13A1D189-3B5F-7745-73CF-9E3A9A0F1138}"/>
              </a:ext>
            </a:extLst>
          </p:cNvPr>
          <p:cNvCxnSpPr>
            <a:cxnSpLocks/>
          </p:cNvCxnSpPr>
          <p:nvPr/>
        </p:nvCxnSpPr>
        <p:spPr>
          <a:xfrm>
            <a:off x="5987845" y="1310148"/>
            <a:ext cx="654322" cy="1080726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" name="Google Shape;303;p23">
            <a:extLst>
              <a:ext uri="{FF2B5EF4-FFF2-40B4-BE49-F238E27FC236}">
                <a16:creationId xmlns:a16="http://schemas.microsoft.com/office/drawing/2014/main" id="{951D8B8E-60FE-369B-1EF0-8D310C8AC2D1}"/>
              </a:ext>
            </a:extLst>
          </p:cNvPr>
          <p:cNvCxnSpPr>
            <a:cxnSpLocks/>
          </p:cNvCxnSpPr>
          <p:nvPr/>
        </p:nvCxnSpPr>
        <p:spPr>
          <a:xfrm>
            <a:off x="5381199" y="1310148"/>
            <a:ext cx="606646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" name="Google Shape;304;p23">
            <a:extLst>
              <a:ext uri="{FF2B5EF4-FFF2-40B4-BE49-F238E27FC236}">
                <a16:creationId xmlns:a16="http://schemas.microsoft.com/office/drawing/2014/main" id="{0B36E97A-3CE4-F74A-201C-672EAF90DEEC}"/>
              </a:ext>
            </a:extLst>
          </p:cNvPr>
          <p:cNvSpPr txBox="1"/>
          <p:nvPr/>
        </p:nvSpPr>
        <p:spPr>
          <a:xfrm>
            <a:off x="6439733" y="2276608"/>
            <a:ext cx="13188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Σ</a:t>
            </a:r>
            <a:r>
              <a:rPr kumimoji="0" lang="en" sz="18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t</a:t>
            </a:r>
            <a:r>
              <a:rPr kumimoji="0" lang="e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 </a:t>
            </a:r>
            <a:r>
              <a:rPr kumimoji="0" lang="en" sz="1800" b="0" i="0" u="none" strike="noStrike" kern="1200" cap="none" spc="0" normalizeH="0" baseline="0" noProof="0">
                <a:ln>
                  <a:noFill/>
                </a:ln>
                <a:solidFill>
                  <a:srgbClr val="202124"/>
                </a:solidFill>
                <a:effectLst/>
                <a:highlight>
                  <a:srgbClr val="FFFFFF"/>
                </a:highlight>
                <a:uLnTx/>
                <a:uFillTx/>
                <a:latin typeface="Aptos Display"/>
                <a:ea typeface="Nunito"/>
                <a:cs typeface="Nunito"/>
                <a:sym typeface="Nunito"/>
              </a:rPr>
              <a:t>α</a:t>
            </a:r>
            <a:r>
              <a:rPr kumimoji="0" lang="en" sz="1800" b="0" i="0" u="none" strike="noStrike" kern="1200" cap="none" spc="0" normalizeH="0" baseline="-25000" noProof="0">
                <a:ln>
                  <a:noFill/>
                </a:ln>
                <a:solidFill>
                  <a:srgbClr val="202124"/>
                </a:solidFill>
                <a:effectLst/>
                <a:highlight>
                  <a:srgbClr val="FFFFFF"/>
                </a:highlight>
                <a:uLnTx/>
                <a:uFillTx/>
                <a:latin typeface="Aptos Display"/>
                <a:ea typeface="Nunito"/>
                <a:cs typeface="Nunito"/>
                <a:sym typeface="Nunito"/>
              </a:rPr>
              <a:t>t</a:t>
            </a:r>
            <a:r>
              <a:rPr kumimoji="0" lang="en" sz="1800" b="0" i="0" u="none" strike="noStrike" kern="1200" cap="none" spc="0" normalizeH="0" baseline="0" noProof="0">
                <a:ln>
                  <a:noFill/>
                </a:ln>
                <a:solidFill>
                  <a:srgbClr val="202124"/>
                </a:solidFill>
                <a:effectLst/>
                <a:highlight>
                  <a:srgbClr val="FFFFFF"/>
                </a:highlight>
                <a:uLnTx/>
                <a:uFillTx/>
                <a:latin typeface="Aptos Display"/>
                <a:ea typeface="Nunito"/>
                <a:cs typeface="Nunito"/>
                <a:sym typeface="Nunito"/>
              </a:rPr>
              <a:t>h</a:t>
            </a:r>
            <a:r>
              <a:rPr kumimoji="0" lang="en" sz="1800" b="0" i="0" u="none" strike="noStrike" kern="1200" cap="none" spc="0" normalizeH="0" baseline="-25000" noProof="0">
                <a:ln>
                  <a:noFill/>
                </a:ln>
                <a:solidFill>
                  <a:srgbClr val="202124"/>
                </a:solidFill>
                <a:effectLst/>
                <a:highlight>
                  <a:srgbClr val="FFFFFF"/>
                </a:highlight>
                <a:uLnTx/>
                <a:uFillTx/>
                <a:latin typeface="Aptos Display"/>
                <a:ea typeface="Nunito"/>
                <a:cs typeface="Nunito"/>
                <a:sym typeface="Nunito"/>
              </a:rPr>
              <a:t>t</a:t>
            </a:r>
            <a:r>
              <a:rPr kumimoji="0" lang="e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Nunito"/>
                <a:cs typeface="Nunito"/>
                <a:sym typeface="Nunito"/>
              </a:rPr>
              <a:t> 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Nunito"/>
              <a:cs typeface="Nunito"/>
              <a:sym typeface="Nunito"/>
            </a:endParaRPr>
          </a:p>
        </p:txBody>
      </p:sp>
      <p:sp>
        <p:nvSpPr>
          <p:cNvPr id="56" name="Google Shape;305;p23">
            <a:extLst>
              <a:ext uri="{FF2B5EF4-FFF2-40B4-BE49-F238E27FC236}">
                <a16:creationId xmlns:a16="http://schemas.microsoft.com/office/drawing/2014/main" id="{0C1D14CF-434A-B947-39EC-B352729799BE}"/>
              </a:ext>
            </a:extLst>
          </p:cNvPr>
          <p:cNvSpPr txBox="1">
            <a:spLocks/>
          </p:cNvSpPr>
          <p:nvPr/>
        </p:nvSpPr>
        <p:spPr bwMode="auto">
          <a:xfrm>
            <a:off x="7405034" y="2762589"/>
            <a:ext cx="3990554" cy="165200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vert="horz" wrap="square" lIns="121900" tIns="121900" rIns="121900" bIns="121900" numCol="1" anchor="ctr" anchorCtr="0" compatLnSpc="1">
            <a:prstTxWarp prst="textNoShape">
              <a:avLst/>
            </a:prstTxWarp>
            <a:no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ts val="1600"/>
              </a:spcAft>
              <a:buClrTx/>
              <a:buSzPts val="1018"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Instead of simply summing up the hidden vectors, we can transform them using a learned function to generate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value vectors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 and then compute a weighted sum.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B05C40E-5EAF-C559-7D0F-4E57C93098F3}"/>
              </a:ext>
            </a:extLst>
          </p:cNvPr>
          <p:cNvSpPr txBox="1"/>
          <p:nvPr/>
        </p:nvSpPr>
        <p:spPr>
          <a:xfrm>
            <a:off x="2954100" y="5909183"/>
            <a:ext cx="2385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Input Sequence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06B096-8EAB-300E-08C4-826008A33BFD}"/>
              </a:ext>
            </a:extLst>
          </p:cNvPr>
          <p:cNvSpPr txBox="1"/>
          <p:nvPr/>
        </p:nvSpPr>
        <p:spPr>
          <a:xfrm>
            <a:off x="6212218" y="4504122"/>
            <a:ext cx="2385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Decoding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977283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DE697-1916-8020-979A-9F8D3BAC4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Variants of Attention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ABCF71-3556-D628-D1B7-0B97B031173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917"/>
          <a:stretch/>
        </p:blipFill>
        <p:spPr>
          <a:xfrm>
            <a:off x="441325" y="1808163"/>
            <a:ext cx="8342121" cy="39594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91EDA3-0AA8-F74A-7258-55B531238510}"/>
              </a:ext>
            </a:extLst>
          </p:cNvPr>
          <p:cNvSpPr txBox="1"/>
          <p:nvPr/>
        </p:nvSpPr>
        <p:spPr>
          <a:xfrm>
            <a:off x="441325" y="5444216"/>
            <a:ext cx="527131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More information: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“Deep Learning for NLP Best Practices”, Ruder, 2017.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  <a:hlinkClick r:id="rId3"/>
              </a:rPr>
              <a:t>http://ruder.io/deep-learning-nlp-best-practices/index.html#attention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“Massive Exploration of Neural Machine Translation Architectures”,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Britz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 et al, 2017,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n-ea"/>
                <a:cs typeface="+mn-cs"/>
                <a:hlinkClick r:id="rId4"/>
              </a:rPr>
              <a:t>https://arxiv.org/pdf/1703.03906.pdf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8588405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iitd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C21717"/>
      </a:accent1>
      <a:accent2>
        <a:srgbClr val="F1E3E3"/>
      </a:accent2>
      <a:accent3>
        <a:srgbClr val="A5A5A5"/>
      </a:accent3>
      <a:accent4>
        <a:srgbClr val="333333"/>
      </a:accent4>
      <a:accent5>
        <a:srgbClr val="5B9BD5"/>
      </a:accent5>
      <a:accent6>
        <a:srgbClr val="E08080"/>
      </a:accent6>
      <a:hlink>
        <a:srgbClr val="0563C1"/>
      </a:hlink>
      <a:folHlink>
        <a:srgbClr val="954F72"/>
      </a:folHlink>
    </a:clrScheme>
    <a:fontScheme name="Aptos">
      <a:majorFont>
        <a:latin typeface="Aptos Display"/>
        <a:ea typeface=""/>
        <a:cs typeface=""/>
      </a:majorFont>
      <a:minorFont>
        <a:latin typeface="Aptos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PTEL_Template" id="{72BF9E85-8B8F-4CE9-AF86-2CBDCD1E42BB}" vid="{A0DDCCD4-7BEC-4733-93A9-5C3A01269457}"/>
    </a:ext>
  </a:extLst>
</a:theme>
</file>

<file path=ppt/theme/theme2.xml><?xml version="1.0" encoding="utf-8"?>
<a:theme xmlns:a="http://schemas.openxmlformats.org/drawingml/2006/main" name="1_Office Theme">
  <a:themeElements>
    <a:clrScheme name="iitd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C21717"/>
      </a:accent1>
      <a:accent2>
        <a:srgbClr val="F1E3E3"/>
      </a:accent2>
      <a:accent3>
        <a:srgbClr val="A5A5A5"/>
      </a:accent3>
      <a:accent4>
        <a:srgbClr val="333333"/>
      </a:accent4>
      <a:accent5>
        <a:srgbClr val="5B9BD5"/>
      </a:accent5>
      <a:accent6>
        <a:srgbClr val="E08080"/>
      </a:accent6>
      <a:hlink>
        <a:srgbClr val="0563C1"/>
      </a:hlink>
      <a:folHlink>
        <a:srgbClr val="954F72"/>
      </a:folHlink>
    </a:clrScheme>
    <a:fontScheme name="Aptos">
      <a:majorFont>
        <a:latin typeface="Aptos Display"/>
        <a:ea typeface=""/>
        <a:cs typeface=""/>
      </a:majorFont>
      <a:minorFont>
        <a:latin typeface="Aptos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PTEL_Template" id="{72BF9E85-8B8F-4CE9-AF86-2CBDCD1E42BB}" vid="{A7857C27-2FA7-4FAB-87E8-8FEF05CF6BE9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NPTEL_Template</Template>
  <TotalTime>2882</TotalTime>
  <Words>4407</Words>
  <Application>Microsoft Macintosh PowerPoint</Application>
  <PresentationFormat>Widescreen</PresentationFormat>
  <Paragraphs>1079</Paragraphs>
  <Slides>76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76</vt:i4>
      </vt:variant>
    </vt:vector>
  </HeadingPairs>
  <TitlesOfParts>
    <vt:vector size="87" baseType="lpstr">
      <vt:lpstr>Aptos Display</vt:lpstr>
      <vt:lpstr>Arial</vt:lpstr>
      <vt:lpstr>Arial MT</vt:lpstr>
      <vt:lpstr>Calibri</vt:lpstr>
      <vt:lpstr>Cambria Math</vt:lpstr>
      <vt:lpstr>MathJax_Main</vt:lpstr>
      <vt:lpstr>Nunito</vt:lpstr>
      <vt:lpstr>Nunito SemiBold</vt:lpstr>
      <vt:lpstr>Times New Roman</vt:lpstr>
      <vt:lpstr>2_Office Theme</vt:lpstr>
      <vt:lpstr>1_Office Theme</vt:lpstr>
      <vt:lpstr>PowerPoint Presentation</vt:lpstr>
      <vt:lpstr>Language Modeling</vt:lpstr>
      <vt:lpstr>Language Modeling</vt:lpstr>
      <vt:lpstr>How to Build a Neural Language Model?</vt:lpstr>
      <vt:lpstr>A Fixed-window Neural Language Model</vt:lpstr>
      <vt:lpstr>A Fixed-window Neural Language Model</vt:lpstr>
      <vt:lpstr>A Fixed-window Neural Language Model</vt:lpstr>
      <vt:lpstr>Recurrent Neural Networks (RNN)</vt:lpstr>
      <vt:lpstr>A Simple RNN Language Model</vt:lpstr>
      <vt:lpstr>RNN Language Models</vt:lpstr>
      <vt:lpstr>Training an RNN Language Model</vt:lpstr>
      <vt:lpstr>Training an RNN Language Model</vt:lpstr>
      <vt:lpstr>PowerPoint Presentation</vt:lpstr>
      <vt:lpstr>Training a RNN Language Model</vt:lpstr>
      <vt:lpstr>Problems with RNNs</vt:lpstr>
      <vt:lpstr>Vanishing and Exploding Gradients</vt:lpstr>
      <vt:lpstr>Effect of Vanishing Gradient on RNN-LM</vt:lpstr>
      <vt:lpstr>How to Fix the Vanishing Gradient Problem?</vt:lpstr>
      <vt:lpstr>LSTMs &amp; GRUs</vt:lpstr>
      <vt:lpstr>Long Short-Term Memory (LSTM)</vt:lpstr>
      <vt:lpstr>LSTM</vt:lpstr>
      <vt:lpstr>Gated Recurrent Units (GRUs)</vt:lpstr>
      <vt:lpstr>LSTM vs GRU</vt:lpstr>
      <vt:lpstr>PowerPoint Presentation</vt:lpstr>
      <vt:lpstr>Neural Machine Translation?</vt:lpstr>
      <vt:lpstr>Neural Machine Translation (NMT)</vt:lpstr>
      <vt:lpstr>Neural Machine Translation (NMT)</vt:lpstr>
      <vt:lpstr>Neural Machine Translation (NMT)</vt:lpstr>
      <vt:lpstr>Training an NMT System</vt:lpstr>
      <vt:lpstr>Greedy decoding</vt:lpstr>
      <vt:lpstr>Problems With Greedy Decoding</vt:lpstr>
      <vt:lpstr>Exhaustive Search Decoding</vt:lpstr>
      <vt:lpstr>Beam Search Decoding</vt:lpstr>
      <vt:lpstr>Beam Search Decoding: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Beam Search Decoding: Stopping Criterion</vt:lpstr>
      <vt:lpstr>Beam Search Decoding: Finishing Up</vt:lpstr>
      <vt:lpstr>Issues With RNN</vt:lpstr>
      <vt:lpstr>Attention</vt:lpstr>
      <vt:lpstr>Sequence-to-Sequence: The Bottleneck Problem</vt:lpstr>
      <vt:lpstr>Sequence-to-Sequence: The Bottleneck Problem</vt:lpstr>
      <vt:lpstr>Attention</vt:lpstr>
      <vt:lpstr>Sequence-to-Sequence With Attention</vt:lpstr>
      <vt:lpstr>Sequence-to-Sequence With Attention</vt:lpstr>
      <vt:lpstr>Sequence-to-Sequence With Attention</vt:lpstr>
      <vt:lpstr>Sequence-to-Sequence With Attention</vt:lpstr>
      <vt:lpstr>Sequence-to-Sequence With Attention</vt:lpstr>
      <vt:lpstr>Sequence-to-Sequence With Attention</vt:lpstr>
      <vt:lpstr>Sequence-to-Sequence With Attention</vt:lpstr>
      <vt:lpstr>Sequence-to-Sequence With Attention</vt:lpstr>
      <vt:lpstr>Sequence-to-Sequence With Attention</vt:lpstr>
      <vt:lpstr>Sequence-to-Sequence With Attention</vt:lpstr>
      <vt:lpstr>Sequence-to-Sequence With Attention</vt:lpstr>
      <vt:lpstr>Sequence-to-Sequence With Attention</vt:lpstr>
      <vt:lpstr>Attention: In Equations</vt:lpstr>
      <vt:lpstr>Attention is Great</vt:lpstr>
      <vt:lpstr>Seq2Seq+Attention for LM</vt:lpstr>
      <vt:lpstr>Attention is a General Deep Learning Technique</vt:lpstr>
      <vt:lpstr>Attention</vt:lpstr>
      <vt:lpstr>Attention</vt:lpstr>
      <vt:lpstr>Attention</vt:lpstr>
      <vt:lpstr>Attention</vt:lpstr>
      <vt:lpstr>Attention</vt:lpstr>
      <vt:lpstr>Variants of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Anwoy Chatterjee</dc:creator>
  <cp:lastModifiedBy>Tanmoy Chakraborty</cp:lastModifiedBy>
  <cp:revision>139</cp:revision>
  <dcterms:created xsi:type="dcterms:W3CDTF">2024-07-16T15:20:45Z</dcterms:created>
  <dcterms:modified xsi:type="dcterms:W3CDTF">2025-10-25T04:05:38Z</dcterms:modified>
</cp:coreProperties>
</file>