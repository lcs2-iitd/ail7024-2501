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8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9T12:00:07.368"/>
    </inkml:context>
    <inkml:brush xml:id="br0">
      <inkml:brushProperty name="height" value="0.053" units="cm"/>
      <inkml:brushProperty name="color" value="#FF0000"/>
    </inkml:brush>
  </inkml:definitions>
  <inkml:trace contextRef="#ctx0" brushRef="#br0">30441 9241 20463,'0'-10'-6198,"0"1"4240,-7 6 1643,6-4 0,-7 3 549,3-1-314,4 0-457,-6 5 1348,7 0-913,-6 0 596,4 0 1,-2-2-447,8-2 1,4 1 408,6-7 1,7 5 2,3-4 1,2-1-2,3-4 1,-1 5 303,1-1 0,-2 2-671,-4-1 0,3-4-25,-7 4 1,1 1 20,-1-2 1,-8 6 425,3-6 0,-3 5-518,4-4 1,-6 6-12,1-2-44,-7-3-148,3 7 0,-6-7-1021,0 3 129,0 3-251,0-4-270,0 6 1360,0 0 1,0 6 0,0 2 0</inkml:trace>
  <inkml:trace contextRef="#ctx0" brushRef="#br0" timeOffset="1">29147 11302 7869,'-8'-8'-378,"2"-4"1,1 8 621,0-5-188,0 6 1,5-5-3,0 3 0,0 2-127,0-7 1,5 6 93,0-6 1,6 1-127,-2-5 0,4 4 79,1 1 0,0-1 3,1-4 1,-1 0 5,0-1 1,0 3-33,1 2 30,-1-2 14,0 4 0,-5 0 63,1 3-57,-7-3 217,3 7-194,-6-6 117,0 7-174,0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4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4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4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5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5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3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7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0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4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3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7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8D0CE-C232-4DC6-9626-2DDE4543FD4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E0232-C507-444A-BE91-77A4E5994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ldml.com/2015/11/understanding-convolutional-neural-networks-for-nlp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s231n.github.io/convolutional-network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review-dilated-convolution-semantic-segmentation-9d5a5bd768f5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ildml.com/2015/11/understanding-convolutional-neural-networks-for-nlp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54098364/understanding-channel-in-convolution-neural-network-cnn-input-shape-and-output" TargetMode="External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eb.stanford.edu/class/cs224n/" TargetMode="External"/><Relationship Id="rId2" Type="http://schemas.openxmlformats.org/officeDocument/2006/relationships/hyperlink" Target="https://arxiv.org/pdf/1408.5882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Convolutional Neural Networks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5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 the sentiment (positive, negative, or neutral) of sentences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i="1" dirty="0"/>
              <a:t>Part of the </a:t>
            </a:r>
            <a:r>
              <a:rPr lang="en-US" i="1" dirty="0">
                <a:solidFill>
                  <a:schemeClr val="accent6"/>
                </a:solidFill>
              </a:rPr>
              <a:t>charm</a:t>
            </a:r>
            <a:r>
              <a:rPr lang="en-US" i="1" dirty="0"/>
              <a:t> of Mickey Mouse is that it avoids the obvious with humor and </a:t>
            </a:r>
            <a:r>
              <a:rPr lang="en-US" i="1" dirty="0">
                <a:solidFill>
                  <a:srgbClr val="FF0000"/>
                </a:solidFill>
              </a:rPr>
              <a:t>lightness</a:t>
            </a:r>
            <a:r>
              <a:rPr lang="en-US" i="1" dirty="0"/>
              <a:t>.</a:t>
            </a:r>
          </a:p>
          <a:p>
            <a:pPr marL="0" indent="0">
              <a:buNone/>
            </a:pPr>
            <a:r>
              <a:rPr lang="en-US" i="1" dirty="0"/>
              <a:t>• </a:t>
            </a:r>
            <a:r>
              <a:rPr lang="en-US" i="1" dirty="0">
                <a:solidFill>
                  <a:srgbClr val="FF0000"/>
                </a:solidFill>
              </a:rPr>
              <a:t>Still</a:t>
            </a:r>
            <a:r>
              <a:rPr lang="en-US" i="1" dirty="0"/>
              <a:t>, this </a:t>
            </a:r>
            <a:r>
              <a:rPr lang="en-US" i="1" dirty="0">
                <a:solidFill>
                  <a:srgbClr val="FF0000"/>
                </a:solidFill>
              </a:rPr>
              <a:t>flick</a:t>
            </a:r>
            <a:r>
              <a:rPr lang="en-US" i="1" dirty="0"/>
              <a:t> is </a:t>
            </a:r>
            <a:r>
              <a:rPr lang="en-US" i="1" dirty="0">
                <a:solidFill>
                  <a:schemeClr val="accent6"/>
                </a:solidFill>
              </a:rPr>
              <a:t>fun</a:t>
            </a:r>
            <a:r>
              <a:rPr lang="en-US" i="1" dirty="0"/>
              <a:t> and host to some truly </a:t>
            </a:r>
            <a:r>
              <a:rPr lang="en-US" i="1" dirty="0">
                <a:solidFill>
                  <a:schemeClr val="accent6"/>
                </a:solidFill>
              </a:rPr>
              <a:t>excellent</a:t>
            </a:r>
            <a:r>
              <a:rPr lang="en-US" i="1" dirty="0"/>
              <a:t> sequences.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AC6D89-D8EC-CB42-8D57-47CF4CB51E2A}"/>
                  </a:ext>
                </a:extLst>
              </p14:cNvPr>
              <p14:cNvContentPartPr/>
              <p14:nvPr/>
            </p14:nvContentPartPr>
            <p14:xfrm>
              <a:off x="10482480" y="3239640"/>
              <a:ext cx="604440" cy="82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AC6D89-D8EC-CB42-8D57-47CF4CB51E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3120" y="3230280"/>
                <a:ext cx="623160" cy="8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055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Order matters!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CBOW/</a:t>
            </a:r>
            <a:r>
              <a:rPr lang="en-US" dirty="0" err="1"/>
              <a:t>SkipGram</a:t>
            </a:r>
            <a:r>
              <a:rPr lang="en-US" dirty="0"/>
              <a:t>  ignores the ordering information completely and will give same sentiment to both the following sentences: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	it was not good, it was actually quite bad</a:t>
            </a:r>
          </a:p>
          <a:p>
            <a:pPr marL="0" indent="0">
              <a:buNone/>
            </a:pPr>
            <a:r>
              <a:rPr lang="en-US" i="1" dirty="0"/>
              <a:t>	It was not bad, it was actually quite good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The local ordering of the words (that the word “</a:t>
            </a:r>
            <a:r>
              <a:rPr lang="en-US" i="1" dirty="0"/>
              <a:t>not</a:t>
            </a:r>
            <a:r>
              <a:rPr lang="en-US" dirty="0"/>
              <a:t>” appears right before the word “</a:t>
            </a:r>
            <a:r>
              <a:rPr lang="en-US" i="1" dirty="0"/>
              <a:t>bad</a:t>
            </a:r>
            <a:r>
              <a:rPr lang="en-US" dirty="0"/>
              <a:t>”) is very important</a:t>
            </a:r>
          </a:p>
        </p:txBody>
      </p:sp>
    </p:spTree>
    <p:extLst>
      <p:ext uri="{BB962C8B-B14F-4D97-AF65-F5344CB8AC3E}">
        <p14:creationId xmlns:p14="http://schemas.microsoft.com/office/powerpoint/2010/main" val="151893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Solution 1: n-gram embedding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 word-pairs (bi-grams) or word-triplets (trigrams) rather than words, and building a CBOW over the embedded n-grams</a:t>
            </a:r>
          </a:p>
          <a:p>
            <a:endParaRPr lang="en-US" dirty="0"/>
          </a:p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It will result huge embedding matrices</a:t>
            </a:r>
          </a:p>
          <a:p>
            <a:pPr lvl="1"/>
            <a:r>
              <a:rPr lang="en-US" dirty="0"/>
              <a:t>It will not scale for longer n-grams</a:t>
            </a:r>
          </a:p>
          <a:p>
            <a:pPr lvl="1"/>
            <a:r>
              <a:rPr lang="en-US" dirty="0"/>
              <a:t>It will suffer from data sparsity problems as it does not share statistical strength between different n-grams (“</a:t>
            </a:r>
            <a:r>
              <a:rPr lang="en-US" i="1" dirty="0"/>
              <a:t>quite good</a:t>
            </a:r>
            <a:r>
              <a:rPr lang="en-US" dirty="0"/>
              <a:t>” vs. “</a:t>
            </a:r>
            <a:r>
              <a:rPr lang="en-US" i="1" dirty="0"/>
              <a:t>very good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67358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Solution 2: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3250"/>
            <a:ext cx="833437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BASIC CONVOLUTION + POOLING</a:t>
            </a:r>
          </a:p>
          <a:p>
            <a:r>
              <a:rPr lang="en-US" dirty="0"/>
              <a:t>Apply a </a:t>
            </a:r>
            <a:r>
              <a:rPr lang="en-US" b="1" dirty="0">
                <a:solidFill>
                  <a:srgbClr val="FF0000"/>
                </a:solidFill>
              </a:rPr>
              <a:t>nonlinear (learned) function </a:t>
            </a:r>
            <a:r>
              <a:rPr lang="en-US" dirty="0"/>
              <a:t>over each instantiation of a k-word sliding window over the sentence</a:t>
            </a:r>
          </a:p>
          <a:p>
            <a:pPr lvl="1"/>
            <a:r>
              <a:rPr lang="en-US" dirty="0"/>
              <a:t>Nonlinear </a:t>
            </a:r>
            <a:r>
              <a:rPr lang="en-US" b="1" u="sng" dirty="0"/>
              <a:t>function/filter/kernel</a:t>
            </a:r>
            <a:r>
              <a:rPr lang="en-US" dirty="0"/>
              <a:t> transforms a window of </a:t>
            </a:r>
            <a:r>
              <a:rPr lang="en-US" i="1" dirty="0"/>
              <a:t>k</a:t>
            </a:r>
            <a:r>
              <a:rPr lang="en-US" dirty="0"/>
              <a:t> words into a scalar value</a:t>
            </a:r>
          </a:p>
          <a:p>
            <a:pPr lvl="1"/>
            <a:endParaRPr lang="en-US" dirty="0"/>
          </a:p>
          <a:p>
            <a:r>
              <a:rPr lang="en-US" dirty="0"/>
              <a:t>Several such filters can be applied, resulting in </a:t>
            </a:r>
            <a:r>
              <a:rPr lang="en-US" i="1" dirty="0"/>
              <a:t>l</a:t>
            </a:r>
            <a:r>
              <a:rPr lang="en-US" dirty="0"/>
              <a:t> dimensional vector</a:t>
            </a:r>
          </a:p>
          <a:p>
            <a:r>
              <a:rPr lang="en-US" dirty="0"/>
              <a:t>Focus on the most important “features” in the sentence, regardless of their location</a:t>
            </a:r>
          </a:p>
          <a:p>
            <a:pPr lvl="1"/>
            <a:r>
              <a:rPr lang="en-US" dirty="0"/>
              <a:t>each filter extracts a different indicator from the window, and the pooling operation zooms in on the important indicators</a:t>
            </a:r>
          </a:p>
        </p:txBody>
      </p:sp>
      <p:pic>
        <p:nvPicPr>
          <p:cNvPr id="4" name="Picture 2" descr="https://miro.medium.com/max/658/1*GcI7G-JLAQiEoCON7xFbhg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950" y="1891159"/>
            <a:ext cx="3454400" cy="252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15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1D Convolutions over Text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discuss on whiteboard </a:t>
            </a:r>
          </a:p>
        </p:txBody>
      </p:sp>
    </p:spTree>
    <p:extLst>
      <p:ext uri="{BB962C8B-B14F-4D97-AF65-F5344CB8AC3E}">
        <p14:creationId xmlns:p14="http://schemas.microsoft.com/office/powerpoint/2010/main" val="6461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Narrow vs. Wide Convolutions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06150" cy="4351338"/>
          </a:xfrm>
        </p:spPr>
        <p:txBody>
          <a:bodyPr/>
          <a:lstStyle/>
          <a:p>
            <a:r>
              <a:rPr lang="en-US" dirty="0"/>
              <a:t>How many vectors p</a:t>
            </a:r>
            <a:r>
              <a:rPr lang="en-US" baseline="-25000" dirty="0"/>
              <a:t>i</a:t>
            </a:r>
            <a:r>
              <a:rPr lang="en-US" dirty="0"/>
              <a:t> do we have? </a:t>
            </a:r>
          </a:p>
          <a:p>
            <a:endParaRPr lang="en-US" dirty="0"/>
          </a:p>
          <a:p>
            <a:r>
              <a:rPr lang="en-US" dirty="0"/>
              <a:t>For a sentence of length n with a window of size k, there are n-k+1 positions in which to start the sequence, and we get n-k+1 vectors p</a:t>
            </a:r>
            <a:r>
              <a:rPr lang="en-US" baseline="-25000" dirty="0"/>
              <a:t>1:n-k+1</a:t>
            </a:r>
            <a:r>
              <a:rPr lang="en-US" dirty="0"/>
              <a:t>. This is called a </a:t>
            </a:r>
            <a:r>
              <a:rPr lang="en-US" i="1" dirty="0">
                <a:solidFill>
                  <a:srgbClr val="FF0000"/>
                </a:solidFill>
              </a:rPr>
              <a:t>narrow convolution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 alternative is to pad the sentence with k-1 padding-words to each side, resulting in n</a:t>
            </a:r>
            <a:r>
              <a:rPr lang="en-US"/>
              <a:t>+k-1 </a:t>
            </a:r>
            <a:r>
              <a:rPr lang="en-US" dirty="0"/>
              <a:t>vectors p</a:t>
            </a:r>
            <a:r>
              <a:rPr lang="en-US" baseline="-25000" dirty="0"/>
              <a:t>1:n</a:t>
            </a:r>
            <a:r>
              <a:rPr lang="en-US" baseline="-25000"/>
              <a:t>+k-1</a:t>
            </a:r>
            <a:r>
              <a:rPr lang="en-US" dirty="0"/>
              <a:t>. This is called a </a:t>
            </a:r>
            <a:r>
              <a:rPr lang="en-US" i="1" dirty="0">
                <a:solidFill>
                  <a:srgbClr val="FF0000"/>
                </a:solidFill>
              </a:rPr>
              <a:t>wide convolution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03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An Alternative Formulation of Convolutions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87" y="1538287"/>
            <a:ext cx="64293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1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050" cy="1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050" cy="1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Vector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Applying the convolution over the text results in m vectors </a:t>
            </a:r>
            <a:r>
              <a:rPr lang="en-US" i="1" dirty="0"/>
              <a:t>p</a:t>
            </a:r>
            <a:r>
              <a:rPr lang="en-US" i="1" baseline="-25000" dirty="0"/>
              <a:t>1:m</a:t>
            </a:r>
            <a:r>
              <a:rPr lang="en-US" dirty="0"/>
              <a:t>. These vectors are then combined (</a:t>
            </a:r>
            <a:r>
              <a:rPr lang="en-US" i="1" dirty="0"/>
              <a:t>pooled</a:t>
            </a:r>
            <a:r>
              <a:rPr lang="en-US" dirty="0"/>
              <a:t>) into a single vector </a:t>
            </a:r>
            <a:r>
              <a:rPr lang="en-US" i="1" dirty="0"/>
              <a:t>c</a:t>
            </a:r>
            <a:r>
              <a:rPr lang="en-US" dirty="0"/>
              <a:t>, representing the entire sequence.</a:t>
            </a:r>
          </a:p>
          <a:p>
            <a:endParaRPr lang="en-US" dirty="0"/>
          </a:p>
          <a:p>
            <a:r>
              <a:rPr lang="en-US" dirty="0"/>
              <a:t>During training, the vector </a:t>
            </a:r>
            <a:r>
              <a:rPr lang="en-US" i="1" dirty="0"/>
              <a:t>c</a:t>
            </a:r>
            <a:r>
              <a:rPr lang="en-US" dirty="0"/>
              <a:t> is fed into downstream network layers (i.e., an MLP), culminating in an output layer which is used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195414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Vector Pooling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1774" y="2521684"/>
            <a:ext cx="4479565" cy="6406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3449" y="1690688"/>
            <a:ext cx="98012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most common pooling operation is </a:t>
            </a:r>
            <a:r>
              <a:rPr lang="en-US" sz="2400" i="1" dirty="0"/>
              <a:t>max pooling</a:t>
            </a:r>
            <a:r>
              <a:rPr lang="en-US" sz="2400" dirty="0"/>
              <a:t>, taking the maximum value across each dimension.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174" y="3461725"/>
            <a:ext cx="8227175" cy="33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2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Vector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9105"/>
            <a:ext cx="10515600" cy="3802456"/>
          </a:xfrm>
        </p:spPr>
        <p:txBody>
          <a:bodyPr/>
          <a:lstStyle/>
          <a:p>
            <a:r>
              <a:rPr lang="en-US" b="1" dirty="0"/>
              <a:t>Average pooling:</a:t>
            </a:r>
          </a:p>
          <a:p>
            <a:endParaRPr lang="en-US" dirty="0"/>
          </a:p>
          <a:p>
            <a:r>
              <a:rPr lang="en-US" b="1" dirty="0"/>
              <a:t>K-max pooling</a:t>
            </a:r>
            <a:r>
              <a:rPr lang="en-US" dirty="0"/>
              <a:t>: the top k values in each dimension are retained instead of only the best one, while preserving the order in which they appeared in the text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50" y="1523274"/>
            <a:ext cx="1936960" cy="9532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25" y="4134075"/>
            <a:ext cx="1086750" cy="1407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354" y="4563543"/>
            <a:ext cx="936691" cy="54855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266950" y="4837818"/>
            <a:ext cx="2181225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91599" y="4420069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2-max pooling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754" y="4611818"/>
            <a:ext cx="2066941" cy="355166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543045" y="4789401"/>
            <a:ext cx="2181225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46398" y="4433754"/>
            <a:ext cx="1419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Concatenate 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279" y="5767419"/>
            <a:ext cx="112260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prstClr val="black"/>
                </a:solidFill>
              </a:rPr>
              <a:t>Dynamic Pooling: </a:t>
            </a:r>
            <a:r>
              <a:rPr lang="en-US" sz="2800" dirty="0">
                <a:solidFill>
                  <a:prstClr val="black"/>
                </a:solidFill>
              </a:rPr>
              <a:t>Split the vectors into r distinct groups and apply pooling on each group separately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331"/>
            <a:ext cx="10515600" cy="158135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5625"/>
            <a:ext cx="5075583" cy="4351338"/>
          </a:xfrm>
        </p:spPr>
        <p:txBody>
          <a:bodyPr/>
          <a:lstStyle/>
          <a:p>
            <a:r>
              <a:rPr lang="en-US" dirty="0"/>
              <a:t>We may have four different convolutional layers, each with a different window size in the range 2–5, capturing k-gram sequences of varying lengths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513" y="65399"/>
            <a:ext cx="7248939" cy="6632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88165" y="57152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effectLst/>
                <a:latin typeface="medium-content-sans-serif-font"/>
              </a:rPr>
              <a:t>Image Reference : </a:t>
            </a:r>
            <a:r>
              <a:rPr lang="en-US" b="0" i="0" u="none" strike="noStrike" dirty="0">
                <a:effectLst/>
                <a:latin typeface="medium-content-sans-serif-font"/>
                <a:hlinkClick r:id="rId3"/>
              </a:rPr>
              <a:t>http://www.wildml.com/2015/11/understanding-convolutional-neural-networks-for-nlp/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75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Hierarchical Convolutions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759532" cy="444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1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Strides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349" y="1282700"/>
            <a:ext cx="4566451" cy="30569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7349" y="4444484"/>
            <a:ext cx="5128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Strides. (a–c) Convolution layer with k=3 and stride sizes 1, 2, 3.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829" y="1967984"/>
            <a:ext cx="5718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ora"/>
              </a:rPr>
              <a:t>how much you want to shift your filter at each step. 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6705" y="2744420"/>
            <a:ext cx="37265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ora"/>
              </a:rPr>
              <a:t>A larger stride size leads to fewer applications of the filter and a smaller output size. </a:t>
            </a:r>
            <a:endParaRPr lang="en-US" dirty="0"/>
          </a:p>
        </p:txBody>
      </p:sp>
      <p:pic>
        <p:nvPicPr>
          <p:cNvPr id="1026" name="Picture 2" descr="Convolution Stride Size. Left: Stride size 1. Right: Stride size 2. Source: http://cs231n.github.io/convolutional-networks/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02" y="4524376"/>
            <a:ext cx="5962486" cy="146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56705" y="5985884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i="1" dirty="0">
                <a:solidFill>
                  <a:srgbClr val="666666"/>
                </a:solidFill>
                <a:latin typeface="Lora"/>
              </a:rPr>
              <a:t>Convolution Stride Size. Left: Stride size 1. Right: Stride size 2. Source: </a:t>
            </a:r>
            <a:r>
              <a:rPr lang="en-US" sz="1600" i="1" dirty="0">
                <a:solidFill>
                  <a:srgbClr val="222222"/>
                </a:solidFill>
                <a:latin typeface="Lora"/>
                <a:hlinkClick r:id="rId4"/>
              </a:rPr>
              <a:t>http://cs231n.github.io/convolutional-networks/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2579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Dilation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952"/>
            <a:ext cx="5476875" cy="16054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3514725"/>
            <a:ext cx="5657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dilated convolution architecture, the hierarchy of convolution layers each has a stride of k-1.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allows an exponential growth in the effective window size as a function of the number of layers.</a:t>
            </a:r>
          </a:p>
        </p:txBody>
      </p:sp>
      <p:pic>
        <p:nvPicPr>
          <p:cNvPr id="1026" name="Picture 2" descr="https://miro.medium.com/max/494/0*oX5IPr7TlVM2NpEU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78" y="0"/>
            <a:ext cx="2846888" cy="274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miro.medium.com/max/494/0*3cTXIemm0k3Sbask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484" y="-105506"/>
            <a:ext cx="2754238" cy="265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481617" y="2687232"/>
            <a:ext cx="2695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Standard Convolution (l=1)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619188" y="2680053"/>
            <a:ext cx="25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Dilated Convolution (l=2)</a:t>
            </a:r>
          </a:p>
        </p:txBody>
      </p:sp>
      <p:pic>
        <p:nvPicPr>
          <p:cNvPr id="1030" name="Picture 6" descr="https://miro.medium.com/max/911/1*tnDNIyPePgHvb8JIx8Sbq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617" y="3400570"/>
            <a:ext cx="5159375" cy="170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7389692" y="5272727"/>
            <a:ext cx="3303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l=1 (left), l=2 (Middle), l=4 (Right)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0" y="61697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6"/>
              </a:rPr>
              <a:t>https://towardsdatascience.com/review-dilated-convolution-semantic-segmentation-9d5a5bd768f5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51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Channels are different “views” of your input data.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example, in image recognition you typically have RGB (red, green, blue) channels. You can apply convolutions across channels, either with different or equal weights. </a:t>
            </a:r>
          </a:p>
          <a:p>
            <a:endParaRPr lang="en-US" dirty="0"/>
          </a:p>
          <a:p>
            <a:r>
              <a:rPr lang="en-US" dirty="0"/>
              <a:t>In NLP you could imagine having various channels as well: You could have a separate channels for different word </a:t>
            </a:r>
            <a:r>
              <a:rPr lang="en-US" dirty="0" err="1"/>
              <a:t>embeddings</a:t>
            </a:r>
            <a:r>
              <a:rPr lang="en-US" dirty="0"/>
              <a:t> (e.g., word2vec and </a:t>
            </a:r>
            <a:r>
              <a:rPr lang="en-US" dirty="0" err="1"/>
              <a:t>GloVe</a:t>
            </a:r>
            <a:r>
              <a:rPr lang="en-US" dirty="0"/>
              <a:t>), or you could have a channel for the same sentence represented in different languages, or phrased in different ways.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76650" y="6420535"/>
            <a:ext cx="972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http://www.wildml.com/2015/11/understanding-convolutional-neural-networks-for-nlp/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20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nter image description her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4" y="233362"/>
            <a:ext cx="10591797" cy="595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5419" y="584388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https://stackoverflow.com/questions/54098364/understanding-channel-in-convolution-neural-network-cnn-input-shape-and-output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CNN for sentence classification (Kim,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Sentence classification:</a:t>
            </a:r>
          </a:p>
          <a:p>
            <a:pPr lvl="1"/>
            <a:r>
              <a:rPr lang="en-US" dirty="0"/>
              <a:t>Mainly positive or negative sentiment of a sentence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• Other tasks like:</a:t>
            </a:r>
          </a:p>
          <a:p>
            <a:pPr lvl="2"/>
            <a:r>
              <a:rPr lang="en-US" dirty="0"/>
              <a:t>Subjective or objective language sentence</a:t>
            </a:r>
          </a:p>
          <a:p>
            <a:pPr lvl="2"/>
            <a:r>
              <a:rPr lang="en-US" dirty="0"/>
              <a:t>Question classification: about person, location,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43575" y="585379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EMNLP 2014. https://arxiv.org/pdf/1408.5882.pdf</a:t>
            </a:r>
          </a:p>
          <a:p>
            <a:r>
              <a:rPr lang="en-US" dirty="0">
                <a:latin typeface="Calibri" panose="020F0502020204030204" pitchFamily="34" charset="0"/>
              </a:rPr>
              <a:t>Code: </a:t>
            </a:r>
            <a:r>
              <a:rPr lang="en-US" dirty="0">
                <a:latin typeface="Calibri" panose="020F0502020204030204" pitchFamily="34" charset="0"/>
                <a:hlinkClick r:id="rId2"/>
              </a:rPr>
              <a:t>https://arxiv.org/pdf/1408.5882.pdf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Slide: </a:t>
            </a:r>
            <a:r>
              <a:rPr lang="en-US" dirty="0">
                <a:hlinkClick r:id="rId3"/>
              </a:rPr>
              <a:t>http://web.stanford.edu/class/cs224n/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75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984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Single Layer CNN for Sentence Classification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33525"/>
            <a:ext cx="8311602" cy="3009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809" y="4543425"/>
            <a:ext cx="5024991" cy="206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8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Single-Layer CNN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25563"/>
            <a:ext cx="9144000" cy="3314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4796075"/>
            <a:ext cx="5985176" cy="167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66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Pooling and Channels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49" y="1690688"/>
            <a:ext cx="8429800" cy="476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0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Multi-channel Input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5074"/>
            <a:ext cx="7471992" cy="29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17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Classification after one CNN layer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6949"/>
            <a:ext cx="9054224" cy="38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88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941</Words>
  <Application>Microsoft Macintosh PowerPoint</Application>
  <PresentationFormat>Widescreen</PresentationFormat>
  <Paragraphs>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Lora</vt:lpstr>
      <vt:lpstr>medium-content-sans-serif-font</vt:lpstr>
      <vt:lpstr>Office Theme</vt:lpstr>
      <vt:lpstr>Convolutional Neural Networks</vt:lpstr>
      <vt:lpstr>PowerPoint Presentation</vt:lpstr>
      <vt:lpstr>Order matters!</vt:lpstr>
      <vt:lpstr>Solution 1: n-gram embedding </vt:lpstr>
      <vt:lpstr>Solution 2: CNN</vt:lpstr>
      <vt:lpstr>1D Convolutions over Text</vt:lpstr>
      <vt:lpstr>Narrow vs. Wide Convolutions</vt:lpstr>
      <vt:lpstr>An Alternative Formulation of Convolutions</vt:lpstr>
      <vt:lpstr>Vector Pooling</vt:lpstr>
      <vt:lpstr>Vector Pooling</vt:lpstr>
      <vt:lpstr>Vector Pooling</vt:lpstr>
      <vt:lpstr>Variations</vt:lpstr>
      <vt:lpstr>Hierarchical Convolutions</vt:lpstr>
      <vt:lpstr>Strides</vt:lpstr>
      <vt:lpstr>Dilation </vt:lpstr>
      <vt:lpstr>Channel</vt:lpstr>
      <vt:lpstr>PowerPoint Presentation</vt:lpstr>
      <vt:lpstr>CNN for sentence classification (Kim, 2014)</vt:lpstr>
      <vt:lpstr>Single Layer CNN for Sentence Classification</vt:lpstr>
      <vt:lpstr>Single-Layer CNN</vt:lpstr>
      <vt:lpstr>Pooling and Channels</vt:lpstr>
      <vt:lpstr>Multi-channel Input</vt:lpstr>
      <vt:lpstr>Classification after one CNN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Tanmoy Chakraborty</dc:creator>
  <cp:lastModifiedBy>Tanmoy Chakraborty</cp:lastModifiedBy>
  <cp:revision>36</cp:revision>
  <dcterms:created xsi:type="dcterms:W3CDTF">2019-10-29T13:42:27Z</dcterms:created>
  <dcterms:modified xsi:type="dcterms:W3CDTF">2025-10-16T04:22:01Z</dcterms:modified>
</cp:coreProperties>
</file>